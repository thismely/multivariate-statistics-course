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5.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6.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164"/>
  </p:notesMasterIdLst>
  <p:sldIdLst>
    <p:sldId id="297" r:id="rId5"/>
    <p:sldId id="331" r:id="rId6"/>
    <p:sldId id="625" r:id="rId7"/>
    <p:sldId id="418" r:id="rId8"/>
    <p:sldId id="382" r:id="rId9"/>
    <p:sldId id="443" r:id="rId10"/>
    <p:sldId id="444" r:id="rId11"/>
    <p:sldId id="445" r:id="rId12"/>
    <p:sldId id="446" r:id="rId13"/>
    <p:sldId id="626" r:id="rId14"/>
    <p:sldId id="645" r:id="rId15"/>
    <p:sldId id="646" r:id="rId16"/>
    <p:sldId id="447" r:id="rId17"/>
    <p:sldId id="448" r:id="rId18"/>
    <p:sldId id="449" r:id="rId19"/>
    <p:sldId id="450" r:id="rId20"/>
    <p:sldId id="451" r:id="rId21"/>
    <p:sldId id="452" r:id="rId22"/>
    <p:sldId id="634" r:id="rId23"/>
    <p:sldId id="633" r:id="rId24"/>
    <p:sldId id="630" r:id="rId25"/>
    <p:sldId id="627" r:id="rId26"/>
    <p:sldId id="628" r:id="rId27"/>
    <p:sldId id="629" r:id="rId28"/>
    <p:sldId id="631" r:id="rId29"/>
    <p:sldId id="632" r:id="rId30"/>
    <p:sldId id="635" r:id="rId31"/>
    <p:sldId id="636" r:id="rId32"/>
    <p:sldId id="637" r:id="rId33"/>
    <p:sldId id="638" r:id="rId34"/>
    <p:sldId id="639" r:id="rId35"/>
    <p:sldId id="640" r:id="rId36"/>
    <p:sldId id="641" r:id="rId37"/>
    <p:sldId id="642" r:id="rId38"/>
    <p:sldId id="643" r:id="rId39"/>
    <p:sldId id="644" r:id="rId40"/>
    <p:sldId id="647" r:id="rId41"/>
    <p:sldId id="453" r:id="rId42"/>
    <p:sldId id="385" r:id="rId43"/>
    <p:sldId id="454" r:id="rId44"/>
    <p:sldId id="456" r:id="rId45"/>
    <p:sldId id="457" r:id="rId46"/>
    <p:sldId id="458" r:id="rId47"/>
    <p:sldId id="459" r:id="rId48"/>
    <p:sldId id="460" r:id="rId49"/>
    <p:sldId id="461" r:id="rId50"/>
    <p:sldId id="462" r:id="rId51"/>
    <p:sldId id="463" r:id="rId52"/>
    <p:sldId id="464" r:id="rId53"/>
    <p:sldId id="465" r:id="rId54"/>
    <p:sldId id="466" r:id="rId55"/>
    <p:sldId id="467" r:id="rId56"/>
    <p:sldId id="468" r:id="rId57"/>
    <p:sldId id="469" r:id="rId58"/>
    <p:sldId id="470" r:id="rId59"/>
    <p:sldId id="471" r:id="rId60"/>
    <p:sldId id="472" r:id="rId61"/>
    <p:sldId id="473" r:id="rId62"/>
    <p:sldId id="474" r:id="rId63"/>
    <p:sldId id="475" r:id="rId64"/>
    <p:sldId id="477" r:id="rId65"/>
    <p:sldId id="478" r:id="rId66"/>
    <p:sldId id="479" r:id="rId67"/>
    <p:sldId id="480" r:id="rId68"/>
    <p:sldId id="481" r:id="rId69"/>
    <p:sldId id="482" r:id="rId70"/>
    <p:sldId id="483" r:id="rId71"/>
    <p:sldId id="484" r:id="rId72"/>
    <p:sldId id="485" r:id="rId73"/>
    <p:sldId id="486" r:id="rId74"/>
    <p:sldId id="487" r:id="rId75"/>
    <p:sldId id="488" r:id="rId76"/>
    <p:sldId id="490" r:id="rId77"/>
    <p:sldId id="491" r:id="rId78"/>
    <p:sldId id="492" r:id="rId79"/>
    <p:sldId id="493" r:id="rId80"/>
    <p:sldId id="494" r:id="rId81"/>
    <p:sldId id="495" r:id="rId82"/>
    <p:sldId id="496" r:id="rId83"/>
    <p:sldId id="497" r:id="rId84"/>
    <p:sldId id="498" r:id="rId85"/>
    <p:sldId id="499" r:id="rId86"/>
    <p:sldId id="500" r:id="rId87"/>
    <p:sldId id="501" r:id="rId88"/>
    <p:sldId id="502" r:id="rId89"/>
    <p:sldId id="504" r:id="rId90"/>
    <p:sldId id="505" r:id="rId91"/>
    <p:sldId id="506" r:id="rId92"/>
    <p:sldId id="507" r:id="rId93"/>
    <p:sldId id="508" r:id="rId94"/>
    <p:sldId id="510" r:id="rId95"/>
    <p:sldId id="511" r:id="rId96"/>
    <p:sldId id="512" r:id="rId97"/>
    <p:sldId id="513" r:id="rId98"/>
    <p:sldId id="514" r:id="rId99"/>
    <p:sldId id="515" r:id="rId100"/>
    <p:sldId id="517" r:id="rId101"/>
    <p:sldId id="519" r:id="rId102"/>
    <p:sldId id="520" r:id="rId103"/>
    <p:sldId id="521" r:id="rId104"/>
    <p:sldId id="522" r:id="rId105"/>
    <p:sldId id="523" r:id="rId106"/>
    <p:sldId id="524" r:id="rId107"/>
    <p:sldId id="525" r:id="rId108"/>
    <p:sldId id="526" r:id="rId109"/>
    <p:sldId id="527" r:id="rId110"/>
    <p:sldId id="528" r:id="rId111"/>
    <p:sldId id="531" r:id="rId112"/>
    <p:sldId id="530" r:id="rId113"/>
    <p:sldId id="532" r:id="rId114"/>
    <p:sldId id="533" r:id="rId115"/>
    <p:sldId id="534" r:id="rId116"/>
    <p:sldId id="535" r:id="rId117"/>
    <p:sldId id="536" r:id="rId118"/>
    <p:sldId id="537" r:id="rId119"/>
    <p:sldId id="538" r:id="rId120"/>
    <p:sldId id="539" r:id="rId121"/>
    <p:sldId id="540" r:id="rId122"/>
    <p:sldId id="541" r:id="rId123"/>
    <p:sldId id="542" r:id="rId124"/>
    <p:sldId id="543" r:id="rId125"/>
    <p:sldId id="544" r:id="rId126"/>
    <p:sldId id="545" r:id="rId127"/>
    <p:sldId id="546" r:id="rId128"/>
    <p:sldId id="547" r:id="rId129"/>
    <p:sldId id="548" r:id="rId130"/>
    <p:sldId id="550" r:id="rId131"/>
    <p:sldId id="552" r:id="rId132"/>
    <p:sldId id="553" r:id="rId133"/>
    <p:sldId id="595" r:id="rId134"/>
    <p:sldId id="557" r:id="rId135"/>
    <p:sldId id="558" r:id="rId136"/>
    <p:sldId id="560" r:id="rId137"/>
    <p:sldId id="562" r:id="rId138"/>
    <p:sldId id="563" r:id="rId139"/>
    <p:sldId id="564" r:id="rId140"/>
    <p:sldId id="565" r:id="rId141"/>
    <p:sldId id="566" r:id="rId142"/>
    <p:sldId id="567" r:id="rId143"/>
    <p:sldId id="569" r:id="rId144"/>
    <p:sldId id="572" r:id="rId145"/>
    <p:sldId id="573" r:id="rId146"/>
    <p:sldId id="574" r:id="rId147"/>
    <p:sldId id="575" r:id="rId148"/>
    <p:sldId id="576" r:id="rId149"/>
    <p:sldId id="578" r:id="rId150"/>
    <p:sldId id="579" r:id="rId151"/>
    <p:sldId id="580" r:id="rId152"/>
    <p:sldId id="581" r:id="rId153"/>
    <p:sldId id="582" r:id="rId154"/>
    <p:sldId id="584" r:id="rId155"/>
    <p:sldId id="585" r:id="rId156"/>
    <p:sldId id="586" r:id="rId157"/>
    <p:sldId id="587" r:id="rId158"/>
    <p:sldId id="588" r:id="rId159"/>
    <p:sldId id="590" r:id="rId160"/>
    <p:sldId id="592" r:id="rId161"/>
    <p:sldId id="594" r:id="rId162"/>
    <p:sldId id="439" r:id="rId163"/>
  </p:sldIdLst>
  <p:sldSz cx="12192000" cy="6858000"/>
  <p:notesSz cx="9777413" cy="6646863"/>
  <p:custDataLst>
    <p:tags r:id="rId165"/>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331"/>
            <p14:sldId id="625"/>
            <p14:sldId id="418"/>
            <p14:sldId id="382"/>
            <p14:sldId id="443"/>
            <p14:sldId id="444"/>
            <p14:sldId id="445"/>
            <p14:sldId id="446"/>
            <p14:sldId id="626"/>
            <p14:sldId id="645"/>
            <p14:sldId id="646"/>
            <p14:sldId id="447"/>
            <p14:sldId id="448"/>
            <p14:sldId id="449"/>
            <p14:sldId id="450"/>
            <p14:sldId id="451"/>
            <p14:sldId id="452"/>
            <p14:sldId id="634"/>
            <p14:sldId id="633"/>
            <p14:sldId id="630"/>
            <p14:sldId id="627"/>
            <p14:sldId id="628"/>
            <p14:sldId id="629"/>
            <p14:sldId id="631"/>
            <p14:sldId id="632"/>
            <p14:sldId id="635"/>
            <p14:sldId id="636"/>
            <p14:sldId id="637"/>
            <p14:sldId id="638"/>
            <p14:sldId id="639"/>
            <p14:sldId id="640"/>
            <p14:sldId id="641"/>
            <p14:sldId id="642"/>
            <p14:sldId id="643"/>
            <p14:sldId id="644"/>
            <p14:sldId id="647"/>
            <p14:sldId id="453"/>
            <p14:sldId id="385"/>
            <p14:sldId id="454"/>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7"/>
            <p14:sldId id="478"/>
            <p14:sldId id="479"/>
            <p14:sldId id="480"/>
            <p14:sldId id="481"/>
            <p14:sldId id="482"/>
            <p14:sldId id="483"/>
            <p14:sldId id="484"/>
            <p14:sldId id="485"/>
            <p14:sldId id="486"/>
            <p14:sldId id="487"/>
            <p14:sldId id="488"/>
            <p14:sldId id="490"/>
            <p14:sldId id="491"/>
            <p14:sldId id="492"/>
            <p14:sldId id="493"/>
            <p14:sldId id="494"/>
            <p14:sldId id="495"/>
            <p14:sldId id="496"/>
            <p14:sldId id="497"/>
            <p14:sldId id="498"/>
            <p14:sldId id="499"/>
            <p14:sldId id="500"/>
            <p14:sldId id="501"/>
            <p14:sldId id="502"/>
            <p14:sldId id="504"/>
            <p14:sldId id="505"/>
            <p14:sldId id="506"/>
            <p14:sldId id="507"/>
            <p14:sldId id="508"/>
            <p14:sldId id="510"/>
            <p14:sldId id="511"/>
            <p14:sldId id="512"/>
            <p14:sldId id="513"/>
            <p14:sldId id="514"/>
            <p14:sldId id="515"/>
            <p14:sldId id="517"/>
            <p14:sldId id="519"/>
            <p14:sldId id="520"/>
            <p14:sldId id="521"/>
            <p14:sldId id="522"/>
            <p14:sldId id="523"/>
            <p14:sldId id="524"/>
            <p14:sldId id="525"/>
            <p14:sldId id="526"/>
            <p14:sldId id="527"/>
            <p14:sldId id="528"/>
            <p14:sldId id="531"/>
            <p14:sldId id="530"/>
            <p14:sldId id="532"/>
            <p14:sldId id="533"/>
            <p14:sldId id="534"/>
            <p14:sldId id="535"/>
            <p14:sldId id="536"/>
            <p14:sldId id="537"/>
            <p14:sldId id="538"/>
            <p14:sldId id="539"/>
            <p14:sldId id="540"/>
            <p14:sldId id="541"/>
            <p14:sldId id="542"/>
            <p14:sldId id="543"/>
            <p14:sldId id="544"/>
            <p14:sldId id="545"/>
            <p14:sldId id="546"/>
            <p14:sldId id="547"/>
            <p14:sldId id="548"/>
            <p14:sldId id="550"/>
            <p14:sldId id="552"/>
            <p14:sldId id="553"/>
            <p14:sldId id="595"/>
            <p14:sldId id="557"/>
            <p14:sldId id="558"/>
            <p14:sldId id="560"/>
            <p14:sldId id="562"/>
            <p14:sldId id="563"/>
            <p14:sldId id="564"/>
            <p14:sldId id="565"/>
            <p14:sldId id="566"/>
            <p14:sldId id="567"/>
            <p14:sldId id="569"/>
            <p14:sldId id="572"/>
            <p14:sldId id="573"/>
            <p14:sldId id="574"/>
            <p14:sldId id="575"/>
            <p14:sldId id="576"/>
            <p14:sldId id="578"/>
            <p14:sldId id="579"/>
            <p14:sldId id="580"/>
            <p14:sldId id="581"/>
            <p14:sldId id="582"/>
            <p14:sldId id="584"/>
            <p14:sldId id="585"/>
            <p14:sldId id="586"/>
            <p14:sldId id="587"/>
            <p14:sldId id="588"/>
            <p14:sldId id="590"/>
            <p14:sldId id="592"/>
            <p14:sldId id="594"/>
            <p14:sldId id="439"/>
          </p14:sldIdLst>
        </p14:section>
      </p14:sectionLst>
    </p:ext>
    <p:ext uri="{EFAFB233-063F-42B5-8137-9DF3F51BA10A}">
      <p15:sldGuideLst xmlns:p15="http://schemas.microsoft.com/office/powerpoint/2012/main">
        <p15:guide id="1" orient="horz" pos="2133" userDrawn="1">
          <p15:clr>
            <a:srgbClr val="A4A3A4"/>
          </p15:clr>
        </p15:guide>
        <p15:guide id="2" pos="38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53EC"/>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60"/>
  </p:normalViewPr>
  <p:slideViewPr>
    <p:cSldViewPr showGuides="1">
      <p:cViewPr varScale="1">
        <p:scale>
          <a:sx n="127" d="100"/>
          <a:sy n="127" d="100"/>
        </p:scale>
        <p:origin x="216" y="360"/>
      </p:cViewPr>
      <p:guideLst>
        <p:guide orient="horz" pos="2133"/>
        <p:guide pos="3878"/>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tableStyles" Target="tableStyle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slide" Target="slides/slide157.xml"/><Relationship Id="rId16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notesMaster" Target="notesMasters/notesMaster1.xml"/><Relationship Id="rId16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tags" Target="tags/tag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37038" cy="331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38788" y="0"/>
            <a:ext cx="4237037" cy="331788"/>
          </a:xfrm>
          <a:prstGeom prst="rect">
            <a:avLst/>
          </a:prstGeom>
        </p:spPr>
        <p:txBody>
          <a:bodyPr vert="horz" lIns="91440" tIns="45720" rIns="91440" bIns="45720" rtlCol="0"/>
          <a:lstStyle>
            <a:lvl1pPr algn="r">
              <a:defRPr sz="1200"/>
            </a:lvl1pPr>
          </a:lstStyle>
          <a:p>
            <a:fld id="{2DFA6F9E-B85E-4D17-B612-CE7DED70D2FE}" type="datetimeFigureOut">
              <a:rPr lang="zh-CN" altLang="en-US" smtClean="0"/>
              <a:t>2026/4/16</a:t>
            </a:fld>
            <a:endParaRPr lang="zh-CN" altLang="en-US"/>
          </a:p>
        </p:txBody>
      </p:sp>
      <p:sp>
        <p:nvSpPr>
          <p:cNvPr id="4" name="幻灯片图像占位符 3"/>
          <p:cNvSpPr>
            <a:spLocks noGrp="1" noRot="1" noChangeAspect="1"/>
          </p:cNvSpPr>
          <p:nvPr>
            <p:ph type="sldImg" idx="2"/>
          </p:nvPr>
        </p:nvSpPr>
        <p:spPr>
          <a:xfrm>
            <a:off x="2673350" y="498475"/>
            <a:ext cx="4432300" cy="24923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77900" y="3157538"/>
            <a:ext cx="7821613" cy="29908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13488"/>
            <a:ext cx="4237038" cy="331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38788" y="6313488"/>
            <a:ext cx="4237037" cy="331787"/>
          </a:xfrm>
          <a:prstGeom prst="rect">
            <a:avLst/>
          </a:prstGeom>
        </p:spPr>
        <p:txBody>
          <a:bodyPr vert="horz" lIns="91440" tIns="45720" rIns="91440" bIns="45720" rtlCol="0" anchor="b"/>
          <a:lstStyle>
            <a:lvl1pPr algn="r">
              <a:defRPr sz="1200"/>
            </a:lvl1pPr>
          </a:lstStyle>
          <a:p>
            <a:fld id="{4BD86AF3-8256-4548-83F4-F43F0214449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4914-736C-66E1-D2F5-CB484DD5A6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1FCD99-EA03-21CA-A9CC-6D4BD05ADDED}"/>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96B0479C-1C73-748D-1293-4D2B149F9FC0}"/>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35222E12-FF77-BE4E-FFCE-DF67EA7CEED2}"/>
              </a:ext>
            </a:extLst>
          </p:cNvPr>
          <p:cNvSpPr>
            <a:spLocks noGrp="1"/>
          </p:cNvSpPr>
          <p:nvPr>
            <p:ph type="body" sz="quarter"/>
          </p:nvPr>
        </p:nvSpPr>
        <p:spPr>
          <a:xfrm>
            <a:off x="977773" y="3198955"/>
            <a:ext cx="7822184" cy="2617327"/>
          </a:xfrm>
          <a:prstGeom prst="rect">
            <a:avLst/>
          </a:prstGeom>
        </p:spPr>
        <p:txBody>
          <a:bodyPr/>
          <a:lstStyle/>
          <a:p>
            <a:endParaRPr lang="en-US" altLang="zh-CN" dirty="0"/>
          </a:p>
        </p:txBody>
      </p:sp>
    </p:spTree>
    <p:extLst>
      <p:ext uri="{BB962C8B-B14F-4D97-AF65-F5344CB8AC3E}">
        <p14:creationId xmlns:p14="http://schemas.microsoft.com/office/powerpoint/2010/main" val="777654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5AA5D-972D-88CA-6F8E-DA1AA133FC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3ACB5C-4AE1-C22A-2841-52A53EBC0A22}"/>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5D60595D-BA8A-2D86-9854-44E593FED6BB}"/>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840CCF2D-8049-60BE-46CC-F07C8EA3780C}"/>
              </a:ext>
            </a:extLst>
          </p:cNvPr>
          <p:cNvSpPr>
            <a:spLocks noGrp="1"/>
          </p:cNvSpPr>
          <p:nvPr>
            <p:ph type="body" sz="quarter"/>
          </p:nvPr>
        </p:nvSpPr>
        <p:spPr>
          <a:xfrm>
            <a:off x="977773" y="3198955"/>
            <a:ext cx="7822184" cy="2617327"/>
          </a:xfrm>
          <a:prstGeom prst="rect">
            <a:avLst/>
          </a:prstGeom>
        </p:spPr>
        <p:txBody>
          <a:bodyPr/>
          <a:lstStyle/>
          <a:p>
            <a:endParaRPr lang="en-US" altLang="zh-CN" dirty="0"/>
          </a:p>
        </p:txBody>
      </p:sp>
    </p:spTree>
    <p:extLst>
      <p:ext uri="{BB962C8B-B14F-4D97-AF65-F5344CB8AC3E}">
        <p14:creationId xmlns:p14="http://schemas.microsoft.com/office/powerpoint/2010/main" val="4081135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91320-4178-8566-6C7D-CA8CEBF823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BFF04C-3B0A-6455-707B-32C703029D55}"/>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D9FF1FEB-BD50-68C5-FCCF-1942898C2058}"/>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12C6754A-E87F-6E58-341C-1E10B09596C9}"/>
              </a:ext>
            </a:extLst>
          </p:cNvPr>
          <p:cNvSpPr>
            <a:spLocks noGrp="1"/>
          </p:cNvSpPr>
          <p:nvPr>
            <p:ph type="body" sz="quarter"/>
          </p:nvPr>
        </p:nvSpPr>
        <p:spPr>
          <a:xfrm>
            <a:off x="977773" y="3198955"/>
            <a:ext cx="7822184" cy="2617327"/>
          </a:xfrm>
          <a:prstGeom prst="rect">
            <a:avLst/>
          </a:prstGeom>
        </p:spPr>
        <p:txBody>
          <a:bodyPr/>
          <a:lstStyle/>
          <a:p>
            <a:endParaRPr lang="en-US" altLang="zh-CN" dirty="0"/>
          </a:p>
        </p:txBody>
      </p:sp>
    </p:spTree>
    <p:extLst>
      <p:ext uri="{BB962C8B-B14F-4D97-AF65-F5344CB8AC3E}">
        <p14:creationId xmlns:p14="http://schemas.microsoft.com/office/powerpoint/2010/main" val="1645645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96F2-A689-93DB-8A0A-DF71436781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D7EBDD-D4FB-3E52-79E0-7DEA28BF3878}"/>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F77C3433-AAA9-9852-22AF-348AADC09580}"/>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19</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EC733653-00BA-EF8E-21FF-A887F38BEE68}"/>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469254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E0F08-4DD1-49DD-8D97-A5D9B8FE67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728640-D03B-EAB8-74AE-EE246F62BEAE}"/>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445C70BD-A4FA-FFC2-1ADD-9D57263A1748}"/>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20</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28E2A4C0-D7E3-5863-55EE-328DC5F0CF7C}"/>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2974004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291E-3864-2E8A-71AB-7EFA2F6FA3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15A2F0-AF9E-1A55-0EE4-4CC48F6F7350}"/>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B7B79927-D95A-06B1-332D-AC20AB25CFFB}"/>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21</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A7DC61BC-D300-F245-365C-3010776F8565}"/>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709430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D097-F015-20BA-73BA-7385133535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CE9300-970B-CC0C-2C9A-EBF8C972DAD8}"/>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3E187A19-88AF-D602-D7B1-F78D198A12C4}"/>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22</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4FDE4ACB-1773-8519-F07E-CB930F4CE58E}"/>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2020152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9A8B9-3C4A-203F-A9A0-895C515B4B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B32C56-4884-4FDB-C38C-26D290890F25}"/>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8608485E-3FBF-0298-BCFC-D6A2FF1AEE36}"/>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23</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E6041CAC-B06B-7D14-6FF6-15BD9D1C99B5}"/>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814726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0C45E-CFB8-CF4E-5E84-7E025FC3A8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0457C7-C342-1428-5604-BE733FE3495F}"/>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BCF94EA0-0D8D-4F34-DD3B-14B117644AA1}"/>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24</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0712BE90-7E60-01C2-3A7A-7550C6F8CB6E}"/>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265800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47420-3DC0-BA36-7D15-4DEEE5A24C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C87E55-FF0D-C4EA-E641-9F7DA4207DCF}"/>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C13995C8-F806-23DE-90BB-50D4002EC79E}"/>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25</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0C741DF3-2083-A510-DCB4-25C6CBF789BA}"/>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216427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0BCA-01AC-06D8-8C68-8C2E6A81FC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A6AD6C-C276-06C6-FFA0-2F986A0F0FBD}"/>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F9A3A755-78FF-2094-EC37-18C9E8AE47A2}"/>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26</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4FF7F11D-FA72-4F06-24C3-C259A05DFE45}"/>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595977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912FF-243A-4918-D047-FC624FC07D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2FE968-9E1A-606C-6040-5FE4CA1B8B08}"/>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CBE7E99D-2C6C-46D5-68A6-97297AE125CC}"/>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27</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990433E4-380D-30AF-925A-D21EA6A8233C}"/>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8060210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CF39-DAE8-C058-9E59-607D4E44D2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06C4A6-CE58-B1A9-05D4-389F57A706A6}"/>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5B2CAA03-66CF-C080-D7AD-38C894138A0B}"/>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28</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1488219F-B367-B0A3-2805-DE4403F057F6}"/>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470081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809DC-5CD6-780C-04A3-7C2B3BC9D1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5911D9-548B-C7A8-79C6-34CDB179C040}"/>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9C4864CC-CA85-77B0-709B-0159C5115D01}"/>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29</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557979F1-7471-1D08-6FFE-BA7CBF67C208}"/>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381363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00DF8-CCF5-A225-0C04-672EE8D5E7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140E50-74C2-B391-18F3-057E5CA74F39}"/>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7CD85ABF-DE3B-DBB0-33D6-133D6D1ACAFD}"/>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30</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ADFDD20F-C98E-5D12-C3A9-9D8B8DB759AB}"/>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5951281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BA2D9-8785-99CF-D12D-10BE95D64A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1C7DEE-A0C2-F471-A084-74A814D009A1}"/>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325BF338-DAAE-87AF-EFC3-C73455B116FF}"/>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31</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B2605289-6FD1-0BFD-C246-C25D1EC85EE2}"/>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60222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6C618-DE80-7660-435B-FE6FD9E9FE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6F3755-EA59-7EA9-960E-08601800800B}"/>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11B26469-7543-AEDE-1184-90C2FA3E0A6B}"/>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32</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F663B309-7AED-2488-9442-94F4E6A6D6B4}"/>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31584793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BA71-BDB0-1E61-70EC-0A85B19A73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065874-D6B4-E4BA-CB10-7D6F211DC640}"/>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FBE2138D-4BA9-E072-2C66-D2AB75715F20}"/>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33</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2F215906-2017-063E-42B8-D595CE0D3F56}"/>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4945257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16FBB-7F3A-F4B1-E103-8F965395E9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B8A6A3-42A1-C3B9-99F5-EDE0C714A16F}"/>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611194E0-75F1-E2F4-20CE-D2919C486E96}"/>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34</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8D721DE3-A414-8189-AFFF-F8584D29C9E2}"/>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2421421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55ED-3E70-D5F9-8290-D2011FFA75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7A9B6B-32B7-A9C3-9CBC-90158A5CA8B1}"/>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A93479B8-7CEF-E7D5-B712-F9C1EA655915}"/>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35</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562893EF-94C4-E3C8-3959-F6DCFC859CA5}"/>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20755224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25DAF-7906-C00D-D3D7-C1C2A0ED56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9BF3D9-0B25-C1B1-2ADB-41832DDFF2C7}"/>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F5ABA337-D989-7EEE-9E78-A8790AC16832}"/>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36</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5387FC20-D6D4-E75F-22B5-4E8D24E63C2B}"/>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2604773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752A3-C73F-29B5-17F0-BF763925BA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0B8266-1194-89DD-E1A5-80D3AE64BCF7}"/>
              </a:ext>
            </a:extLst>
          </p:cNvPr>
          <p:cNvSpPr>
            <a:spLocks noGrp="1" noRot="1" noChangeAspect="1"/>
          </p:cNvSpPr>
          <p:nvPr>
            <p:ph type="sldImg" idx="2"/>
          </p:nvPr>
        </p:nvSpPr>
        <p:spPr/>
      </p:sp>
      <p:sp>
        <p:nvSpPr>
          <p:cNvPr id="3" name="灯片编号占位符 2">
            <a:extLst>
              <a:ext uri="{FF2B5EF4-FFF2-40B4-BE49-F238E27FC236}">
                <a16:creationId xmlns:a16="http://schemas.microsoft.com/office/drawing/2014/main" id="{384F3791-A7AF-835A-ECBF-0ED494AE8078}"/>
              </a:ext>
            </a:extLst>
          </p:cNvPr>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37</a:t>
            </a:fld>
            <a:endParaRPr lang="zh-CN" altLang="en-US" sz="1200" dirty="0">
              <a:ea typeface="宋体" panose="02010600030101010101" pitchFamily="2" charset="-122"/>
            </a:endParaRPr>
          </a:p>
        </p:txBody>
      </p:sp>
      <p:sp>
        <p:nvSpPr>
          <p:cNvPr id="4" name="文本占位符 3">
            <a:extLst>
              <a:ext uri="{FF2B5EF4-FFF2-40B4-BE49-F238E27FC236}">
                <a16:creationId xmlns:a16="http://schemas.microsoft.com/office/drawing/2014/main" id="{7D91FBB4-755B-C8E5-C228-626853398B73}"/>
              </a:ext>
            </a:extLst>
          </p:cNvPr>
          <p:cNvSpPr>
            <a:spLocks noGrp="1"/>
          </p:cNvSpPr>
          <p:nvPr>
            <p:ph type="body" sz="quarter"/>
          </p:nvPr>
        </p:nvSpPr>
        <p:spPr>
          <a:xfrm>
            <a:off x="977773" y="3198955"/>
            <a:ext cx="7822184" cy="2617327"/>
          </a:xfrm>
          <a:prstGeom prst="rect">
            <a:avLst/>
          </a:prstGeom>
        </p:spPr>
        <p:txBody>
          <a:bodyPr/>
          <a:lstStyle/>
          <a:p>
            <a:endParaRPr lang="en-US" altLang="zh-CN"/>
          </a:p>
        </p:txBody>
      </p:sp>
    </p:spTree>
    <p:extLst>
      <p:ext uri="{BB962C8B-B14F-4D97-AF65-F5344CB8AC3E}">
        <p14:creationId xmlns:p14="http://schemas.microsoft.com/office/powerpoint/2010/main" val="1864688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2026/4/16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2026/4/16</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2026/4/16</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2026/4/16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2026/4/16</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2026/4/16</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90.png"/></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50.png"/></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12.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66.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370.png"/></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420.png"/></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58.png"/><Relationship Id="rId4" Type="http://schemas.openxmlformats.org/officeDocument/2006/relationships/image" Target="../media/image57.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97.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8.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6.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1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7.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12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tile tx="0" ty="0" sx="100000" sy="100000" flip="none" algn="tl"/>
        </a:blipFill>
        <a:effectLst/>
      </p:bgPr>
    </p:bg>
    <p:spTree>
      <p:nvGrpSpPr>
        <p:cNvPr id="1" name=""/>
        <p:cNvGrpSpPr/>
        <p:nvPr/>
      </p:nvGrpSpPr>
      <p:grpSpPr>
        <a:xfrm>
          <a:off x="0" y="0"/>
          <a:ext cx="0" cy="0"/>
          <a:chOff x="0" y="0"/>
          <a:chExt cx="0" cy="0"/>
        </a:xfrm>
      </p:grpSpPr>
      <p:sp>
        <p:nvSpPr>
          <p:cNvPr id="5122" name="Rectangle 9"/>
          <p:cNvSpPr>
            <a:spLocks noGrp="1"/>
          </p:cNvSpPr>
          <p:nvPr>
            <p:ph type="subTitle"/>
          </p:nvPr>
        </p:nvSpPr>
        <p:spPr>
          <a:xfrm>
            <a:off x="3114812" y="4450845"/>
            <a:ext cx="6579595" cy="630555"/>
          </a:xfrm>
        </p:spPr>
        <p:txBody>
          <a:bodyPr wrap="square" anchor="t">
            <a:noAutofit/>
          </a:bodyPr>
          <a:lstStyle>
            <a:lvl1pPr lvl="0">
              <a:defRPr kern="1200"/>
            </a:lvl1pPr>
            <a:lvl2pPr lvl="1">
              <a:defRPr kern="1200"/>
            </a:lvl2pPr>
            <a:lvl3pPr lvl="2">
              <a:defRPr kern="1200"/>
            </a:lvl3pPr>
            <a:lvl4pPr lvl="3">
              <a:defRPr kern="1200"/>
            </a:lvl4pPr>
            <a:lvl5pPr lvl="4">
              <a:defRPr kern="1200"/>
            </a:lvl5pPr>
          </a:lstStyle>
          <a:p>
            <a:pPr marL="1905" lvl="0" indent="-344805">
              <a:lnSpc>
                <a:spcPct val="90000"/>
              </a:lnSpc>
              <a:spcBef>
                <a:spcPct val="50000"/>
              </a:spcBef>
              <a:buNone/>
            </a:pPr>
            <a:r>
              <a:rPr lang="zh-CN" altLang="en-US" sz="34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第 </a:t>
            </a:r>
            <a:r>
              <a:rPr lang="en-US" altLang="zh-CN" sz="34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7 </a:t>
            </a:r>
            <a:r>
              <a:rPr lang="zh-CN" altLang="en-US" sz="34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4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34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5123" name="WordArt 10"/>
          <p:cNvSpPr>
            <a:spLocks noTextEdit="1"/>
          </p:cNvSpPr>
          <p:nvPr/>
        </p:nvSpPr>
        <p:spPr>
          <a:xfrm>
            <a:off x="2797810" y="4220845"/>
            <a:ext cx="7213600" cy="737870"/>
          </a:xfrm>
          <a:prstGeom prst="rect">
            <a:avLst/>
          </a:prstGeom>
        </p:spPr>
        <p:txBody>
          <a:bodyPr wrap="none" fromWordArt="1">
            <a:prstTxWarp prst="textPlain">
              <a:avLst>
                <a:gd name="adj" fmla="val 50000"/>
              </a:avLst>
            </a:prstTxWarp>
            <a:normAutofit/>
          </a:bodyPr>
          <a:lstStyle/>
          <a:p>
            <a:pPr algn="ctr"/>
            <a:endParaRPr lang="zh-CN" altLang="en-US" sz="3600" i="1">
              <a:noFill/>
              <a:latin typeface="宋体" panose="02010600030101010101" pitchFamily="2" charset="-122"/>
              <a:ea typeface="宋体" panose="02010600030101010101" pitchFamily="2" charset="-122"/>
            </a:endParaRPr>
          </a:p>
        </p:txBody>
      </p:sp>
      <p:sp>
        <p:nvSpPr>
          <p:cNvPr id="5124" name="矩形 7"/>
          <p:cNvSpPr/>
          <p:nvPr/>
        </p:nvSpPr>
        <p:spPr>
          <a:xfrm>
            <a:off x="2242185" y="2980055"/>
            <a:ext cx="7769860" cy="769441"/>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 calcmode="lin" valueType="num">
                                      <p:cBhvr additive="base">
                                        <p:cTn id="7" dur="500" fill="hold"/>
                                        <p:tgtEl>
                                          <p:spTgt spid="51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7" name="TextBox 28"/>
          <p:cNvSpPr/>
          <p:nvPr/>
        </p:nvSpPr>
        <p:spPr>
          <a:xfrm>
            <a:off x="153034" y="179070"/>
            <a:ext cx="5450205"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6046170" y="193675"/>
            <a:ext cx="545020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7</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11" name="右箭头 10"/>
          <p:cNvSpPr/>
          <p:nvPr/>
        </p:nvSpPr>
        <p:spPr>
          <a:xfrm>
            <a:off x="5514675" y="37084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4"/>
          <a:stretch>
            <a:fillRect/>
          </a:stretch>
        </p:blipFill>
        <p:spPr>
          <a:xfrm>
            <a:off x="6499225" y="1769110"/>
            <a:ext cx="5373370" cy="4653280"/>
          </a:xfrm>
          <a:prstGeom prst="rect">
            <a:avLst/>
          </a:prstGeom>
        </p:spPr>
      </p:pic>
      <p:pic>
        <p:nvPicPr>
          <p:cNvPr id="6" name="图片 5"/>
          <p:cNvPicPr>
            <a:picLocks noChangeAspect="1"/>
          </p:cNvPicPr>
          <p:nvPr>
            <p:custDataLst>
              <p:tags r:id="rId1"/>
            </p:custDataLst>
          </p:nvPr>
        </p:nvPicPr>
        <p:blipFill>
          <a:blip r:embed="rId5"/>
          <a:stretch>
            <a:fillRect/>
          </a:stretch>
        </p:blipFill>
        <p:spPr>
          <a:xfrm>
            <a:off x="766445" y="1031875"/>
            <a:ext cx="5511165" cy="582739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TextBox 1"/>
          <p:cNvSpPr/>
          <p:nvPr/>
        </p:nvSpPr>
        <p:spPr>
          <a:xfrm flipH="1">
            <a:off x="168077" y="2806997"/>
            <a:ext cx="800100" cy="2062103"/>
          </a:xfrm>
          <a:prstGeom prst="rect">
            <a:avLst/>
          </a:prstGeom>
          <a:noFill/>
          <a:ln w="9525">
            <a:noFill/>
          </a:ln>
        </p:spPr>
        <p:txBody>
          <a:bodyPr wrap="square">
            <a:spAutoFit/>
          </a:bodyPr>
          <a:lstStyle/>
          <a:p>
            <a:pPr lvl="0" algn="ctr">
              <a:lnSpc>
                <a:spcPct val="100000"/>
              </a:lnSpc>
            </a:pPr>
            <a:r>
              <a:rPr lang="zh-CN" altLang="en-US" sz="320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基本要求</a:t>
            </a:r>
            <a:endPar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6" name="矩形 7"/>
          <p:cNvSpPr/>
          <p:nvPr/>
        </p:nvSpPr>
        <p:spPr>
          <a:xfrm>
            <a:off x="695626" y="1772885"/>
            <a:ext cx="11304784" cy="4271234"/>
          </a:xfrm>
          <a:prstGeom prst="rect">
            <a:avLst/>
          </a:prstGeom>
          <a:noFill/>
          <a:ln w="9525">
            <a:noFill/>
          </a:ln>
        </p:spPr>
        <p:txBody>
          <a:bodyPr wrap="square">
            <a:spAutoFit/>
          </a:bodyPr>
          <a:lstStyle/>
          <a:p>
            <a:pPr marL="800100" lvl="1" indent="-342900" algn="just">
              <a:lnSpc>
                <a:spcPct val="200000"/>
              </a:lnSpc>
              <a:buFont typeface="Wingdings" panose="05000000000000000000" pitchFamily="2" charset="2"/>
              <a:buChar char="Ø"/>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了解因子分析的目的和实际意义，特别是因子分析模型的统计思想。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800100" lvl="1" indent="-342900" algn="just">
              <a:lnSpc>
                <a:spcPct val="200000"/>
              </a:lnSpc>
              <a:buFont typeface="Wingdings" panose="05000000000000000000" pitchFamily="2" charset="2"/>
              <a:buChar char="Ø"/>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熟悉因子分析数学模型建模的假设条件和各个分量的实际统计意义。</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800100" lvl="1" indent="-342900" algn="just">
              <a:lnSpc>
                <a:spcPct val="200000"/>
              </a:lnSpc>
              <a:buFont typeface="Wingdings" panose="05000000000000000000" pitchFamily="2" charset="2"/>
              <a:buChar char="Ø"/>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掌握由主成分方法估计因子载荷阵的步骤以及基本性质。</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800100" lvl="1" indent="-342900" algn="just">
              <a:lnSpc>
                <a:spcPct val="200000"/>
              </a:lnSpc>
              <a:buFont typeface="Wingdings" panose="05000000000000000000" pitchFamily="2" charset="2"/>
              <a:buChar char="Ø"/>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能够利用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编程解决实际中的因子分析问题，同时能给出初步的统计分析报告。</a:t>
            </a:r>
          </a:p>
        </p:txBody>
      </p:sp>
      <p:sp>
        <p:nvSpPr>
          <p:cNvPr id="7" name="TextBox 28"/>
          <p:cNvSpPr/>
          <p:nvPr/>
        </p:nvSpPr>
        <p:spPr>
          <a:xfrm>
            <a:off x="153034" y="179070"/>
            <a:ext cx="5450205"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6046170" y="193675"/>
            <a:ext cx="545020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7</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11" name="右箭头 10"/>
          <p:cNvSpPr/>
          <p:nvPr/>
        </p:nvSpPr>
        <p:spPr>
          <a:xfrm>
            <a:off x="5514675" y="37084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 name="直接连接符 10"/>
          <p:cNvSpPr/>
          <p:nvPr/>
        </p:nvSpPr>
        <p:spPr>
          <a:xfrm>
            <a:off x="1055650" y="1861665"/>
            <a:ext cx="0" cy="4159515"/>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基本内容</a:t>
            </a:r>
          </a:p>
        </p:txBody>
      </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5" name="矩形 6"/>
          <p:cNvSpPr/>
          <p:nvPr/>
        </p:nvSpPr>
        <p:spPr>
          <a:xfrm>
            <a:off x="925129" y="1525806"/>
            <a:ext cx="10787261" cy="4437305"/>
          </a:xfrm>
          <a:prstGeom prst="rect">
            <a:avLst/>
          </a:prstGeom>
          <a:noFill/>
          <a:ln w="9525">
            <a:noFill/>
          </a:ln>
        </p:spPr>
        <p:txBody>
          <a:bodyPr wrap="square">
            <a:spAutoFit/>
          </a:bodyPr>
          <a:lstStyle/>
          <a:p>
            <a:pPr marL="914400" lvl="1" indent="-457200" algn="just">
              <a:lnSpc>
                <a:spcPct val="150000"/>
              </a:lnSpc>
              <a:buFont typeface="Wingdings" panose="05000000000000000000" pitchFamily="2" charset="2"/>
              <a:buChar char="Ø"/>
            </a:pPr>
            <a:r>
              <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因子分析模型的基本思想，与主成分分析模型在本质上的区别。因子分析的数学模型，基本假定，因子载荷的估计方法，因子旋转，因子得分。</a:t>
            </a:r>
            <a:endParaRPr lang="en-US" altLang="zh-CN"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914400" lvl="1" indent="-457200" algn="just">
              <a:lnSpc>
                <a:spcPct val="150000"/>
              </a:lnSpc>
              <a:buFont typeface="Wingdings" panose="05000000000000000000" pitchFamily="2" charset="2"/>
              <a:buChar char="Ø"/>
            </a:pPr>
            <a:r>
              <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了解因子旋转（主要是方差最大正交旋转方法）和因子得分的实际统计意义，</a:t>
            </a:r>
            <a:r>
              <a:rPr lang="en-US" altLang="zh-CN"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计算程序中有关因子分析的算法基础。</a:t>
            </a:r>
            <a:endParaRPr lang="en-US" altLang="zh-CN"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7" name="TextBox 28"/>
          <p:cNvSpPr/>
          <p:nvPr/>
        </p:nvSpPr>
        <p:spPr>
          <a:xfrm>
            <a:off x="153034" y="179070"/>
            <a:ext cx="5450205"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9" name="TextBox 27"/>
          <p:cNvSpPr/>
          <p:nvPr/>
        </p:nvSpPr>
        <p:spPr>
          <a:xfrm>
            <a:off x="6046170" y="193675"/>
            <a:ext cx="545020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7</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11" name="右箭头 10"/>
          <p:cNvSpPr/>
          <p:nvPr/>
        </p:nvSpPr>
        <p:spPr>
          <a:xfrm>
            <a:off x="5514675" y="370840"/>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8" name="直接连接符 10"/>
          <p:cNvSpPr/>
          <p:nvPr/>
        </p:nvSpPr>
        <p:spPr>
          <a:xfrm>
            <a:off x="1199660" y="1700880"/>
            <a:ext cx="0" cy="4087159"/>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nodePh="1">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454053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因子概念的提出</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主成分分析通过线性组合将原变量综合成几个主成分，用较少的综合指标来代替原来较多的指标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变量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(Factor Analysis)</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就是寻找这些公共因子的模型分析方法，它是在主成分的基础上构筑若干意义较为明确的公因子，以它们为框架分解原变量，以此考察原变量间的联系与区别。</a:t>
            </a:r>
            <a:endPar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因子概念</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3247877"/>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因子分析的用途</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因子分析主要用途在于：</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、减少分析变量个数；</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、通过对变量间相关关系探测，将原始变量进行分类。即将相关性高的变量分为一组，用共性因子代替该组变量。</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因子分析的用途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88950" y="1052835"/>
            <a:ext cx="10220900" cy="5833200"/>
          </a:xfrm>
          <a:prstGeom prst="rect">
            <a:avLst/>
          </a:prstGeom>
          <a:noFill/>
          <a:ln w="9525">
            <a:noFill/>
          </a:ln>
        </p:spPr>
        <p:txBody>
          <a:bodyPr wrap="square">
            <a:spAutoFit/>
          </a:bodyPr>
          <a:lstStyle/>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就统计上而言，主成分分析所侧重的在于如何“转换”原始变量使之成为一些综合性的新指标，而其关键在“变异数”问题。</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主成分分析不同的是，因子分析重视的是如何解变量之间的“共变异数”问题。因每一变量均为一些“共同因子变量”和“特殊性变量”的线性函数。其中“共同因子变量”可产生变量之间的共变量，而特殊性变量部分则只对其所属的变量之变异数有所贡献，所以主成分分析是“变异数”导向的方法，因子分析则是“共变异数”导向的方法。</a:t>
            </a:r>
            <a:endPar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因子分析的用途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88950" y="1185765"/>
            <a:ext cx="10220900" cy="1955215"/>
          </a:xfrm>
          <a:prstGeom prst="rect">
            <a:avLst/>
          </a:prstGeom>
          <a:noFill/>
          <a:ln w="9525">
            <a:noFill/>
          </a:ln>
        </p:spPr>
        <p:txBody>
          <a:bodyPr wrap="square">
            <a:spAutoFit/>
          </a:bodyPr>
          <a:lstStyle/>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因子分析也是数据压缩的一种多变量分析方法，它是基于信息损失最小化而提出的一种非常有效的方法。它把众多的指标综合成几个为数较少的公共指标，这些指标即因子。</a:t>
            </a:r>
            <a:endPar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因子分析的用途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88950" y="1052835"/>
            <a:ext cx="10220900" cy="5833200"/>
          </a:xfrm>
          <a:prstGeom prst="rect">
            <a:avLst/>
          </a:prstGeom>
          <a:noFill/>
          <a:ln w="9525">
            <a:noFill/>
          </a:ln>
        </p:spPr>
        <p:txBody>
          <a:bodyPr wrap="square">
            <a:spAutoFit/>
          </a:bodyPr>
          <a:lstStyle/>
          <a:p>
            <a:pPr lvl="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因子的特点是：</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第一，因子变量的数量远远少于原始变量的个数；</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第二，因子变量并非原始变量的简单取舍，而是一种新的综合；</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第三，因子变量之间没有线性关系；</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第四，因子变量具有明确的解释性，可以最大限度地发挥专业分析的作用。</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因子分析就是以最少的信息损失，将众多的原始变量浓缩成为少数几个因子变量，使得变量具有更高的可解释性的一种数据缩减方法，是多变量分析的主干技术之一。</a:t>
            </a:r>
            <a:endParaRPr lang="zh-CN" altLang="en-US" sz="32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因子分析的用途</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A6D2-89EF-21C6-DD83-AB5B59418BA7}"/>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EFD5F357-006C-4AFA-E04C-5B37E9435068}"/>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064B2A6F-F0B6-7ADB-CE1D-4C66F57C2534}"/>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68E45BF5-4FEC-A155-EA03-69DAA9EE7851}"/>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A3B6017C-79E4-52EC-1DB4-7FDE1709E285}"/>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146F37A0-84B9-9D71-9142-A61E7E8355DE}"/>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3F6B00BB-A8B8-F035-8157-31DBD396A657}"/>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14155727-2F0D-C86F-74EC-C2D4AE5F40DC}"/>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F8E36D1E-24CB-610C-2174-868A79D17F4D}"/>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FA529F22-4A41-A002-305F-983AD36C0FFD}"/>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3C18D451-1452-1263-869E-76983C7673D6}"/>
              </a:ext>
            </a:extLst>
          </p:cNvPr>
          <p:cNvSpPr/>
          <p:nvPr/>
        </p:nvSpPr>
        <p:spPr>
          <a:xfrm>
            <a:off x="1459345" y="1052835"/>
            <a:ext cx="10250505" cy="2530949"/>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因子模型的提出</a:t>
            </a:r>
            <a:endPar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endParaRPr>
          </a:p>
          <a:p>
            <a:pPr lvl="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为了对因子分析的基本理论有一个完整的认识</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我们先给出查尔斯</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斯皮尔曼</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1904</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年用到的例子。斯皮尔曼在该例中研究了</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33</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名学生古典语</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(C)</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、法语</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、英语</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(E)</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、数学</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、判别</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和音乐</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(Mu)6</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门考试成绩之间的相关性</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并得到如下相关矩阵</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p>
          <a:p>
            <a:pPr lvl="0" algn="just">
              <a:lnSpc>
                <a:spcPct val="150000"/>
              </a:lnSpc>
            </a:pP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95939948-8E37-D6D1-6D9B-07304EBD70FA}"/>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pic>
        <p:nvPicPr>
          <p:cNvPr id="7" name="图片 6">
            <a:extLst>
              <a:ext uri="{FF2B5EF4-FFF2-40B4-BE49-F238E27FC236}">
                <a16:creationId xmlns:a16="http://schemas.microsoft.com/office/drawing/2014/main" id="{7EF75743-D50B-FD59-D37F-3AE99DED56F4}"/>
              </a:ext>
            </a:extLst>
          </p:cNvPr>
          <p:cNvPicPr>
            <a:picLocks noChangeAspect="1"/>
          </p:cNvPicPr>
          <p:nvPr/>
        </p:nvPicPr>
        <p:blipFill>
          <a:blip r:embed="rId3"/>
          <a:stretch>
            <a:fillRect/>
          </a:stretch>
        </p:blipFill>
        <p:spPr>
          <a:xfrm>
            <a:off x="3080468" y="3210847"/>
            <a:ext cx="6654800" cy="3378200"/>
          </a:xfrm>
          <a:prstGeom prst="rect">
            <a:avLst/>
          </a:prstGeom>
        </p:spPr>
      </p:pic>
    </p:spTree>
    <p:extLst>
      <p:ext uri="{BB962C8B-B14F-4D97-AF65-F5344CB8AC3E}">
        <p14:creationId xmlns:p14="http://schemas.microsoft.com/office/powerpoint/2010/main" val="3237436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ED35C-B026-52E0-E83C-4CB429D41640}"/>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4119364E-BB91-9018-9677-335D1017F44C}"/>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9758F444-F582-E650-7735-921D0BC1174B}"/>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EAF17B24-DF37-B6AE-3E7D-27C156FF2D21}"/>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DA7D25E2-2374-79C3-A517-6DB9540EA63C}"/>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1943E8B2-0F9D-D0A7-9DE4-B76D42EFD1E3}"/>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0C320CE9-3DB8-10EA-B60B-7C7F62FBECD1}"/>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6BDEF7FC-D946-0607-CAA5-DB17D7C76415}"/>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E0D83A79-746E-BD91-EDA9-EBCE65BD7828}"/>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E978E7FD-9375-868B-9659-E14A9A56CBFC}"/>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B3B0B5E9-C7D0-A8E9-AA50-A3521233AC12}"/>
              </a:ext>
            </a:extLst>
          </p:cNvPr>
          <p:cNvSpPr/>
          <p:nvPr/>
        </p:nvSpPr>
        <p:spPr>
          <a:xfrm>
            <a:off x="1275473" y="1081045"/>
            <a:ext cx="5355435" cy="5300875"/>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因子模型的提出</a:t>
            </a:r>
            <a:endPar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endParaRPr>
          </a:p>
          <a:p>
            <a:pPr>
              <a:lnSpc>
                <a:spcPct val="150000"/>
              </a:lnSpc>
            </a:pPr>
            <a:r>
              <a:rPr lang="zh-CN" altLang="en-US" sz="2000" dirty="0">
                <a:solidFill>
                  <a:srgbClr val="3399FF"/>
                </a:solidFill>
              </a:rPr>
              <a:t>假设我们现在有 </a:t>
            </a:r>
            <a:r>
              <a:rPr lang="en-US" altLang="zh-CN" sz="2000" dirty="0">
                <a:solidFill>
                  <a:srgbClr val="3399FF"/>
                </a:solidFill>
              </a:rPr>
              <a:t>6 </a:t>
            </a:r>
            <a:r>
              <a:rPr lang="zh-CN" altLang="en-US" sz="2000" dirty="0">
                <a:solidFill>
                  <a:srgbClr val="3399FF"/>
                </a:solidFill>
              </a:rPr>
              <a:t>门课成绩：</a:t>
            </a:r>
          </a:p>
          <a:p>
            <a:pPr>
              <a:lnSpc>
                <a:spcPct val="150000"/>
              </a:lnSpc>
            </a:pPr>
            <a:r>
              <a:rPr lang="zh-CN" altLang="en-US" sz="2000" dirty="0">
                <a:solidFill>
                  <a:srgbClr val="3399FF"/>
                </a:solidFill>
              </a:rPr>
              <a:t>语文  英语  数学  物理  化学  生物 </a:t>
            </a:r>
            <a:endParaRPr lang="en-US" altLang="zh-CN" sz="2000" dirty="0">
              <a:solidFill>
                <a:srgbClr val="3399FF"/>
              </a:solidFill>
            </a:endParaRPr>
          </a:p>
          <a:p>
            <a:pPr>
              <a:lnSpc>
                <a:spcPct val="150000"/>
              </a:lnSpc>
            </a:pPr>
            <a:endParaRPr lang="zh-CN" altLang="en-US" sz="2000" dirty="0">
              <a:solidFill>
                <a:srgbClr val="3399FF"/>
              </a:solidFill>
            </a:endParaRPr>
          </a:p>
          <a:p>
            <a:pPr>
              <a:lnSpc>
                <a:spcPct val="150000"/>
              </a:lnSpc>
            </a:pPr>
            <a:r>
              <a:rPr lang="zh-CN" altLang="en-US" sz="2000" dirty="0"/>
              <a:t>如果我们把这 </a:t>
            </a:r>
            <a:r>
              <a:rPr lang="en-US" altLang="zh-CN" sz="2000" dirty="0"/>
              <a:t>6 </a:t>
            </a:r>
            <a:r>
              <a:rPr lang="zh-CN" altLang="en-US" sz="2000" dirty="0"/>
              <a:t>门课看成 </a:t>
            </a:r>
            <a:r>
              <a:rPr lang="en-US" altLang="zh-CN" sz="2000" dirty="0"/>
              <a:t>6 </a:t>
            </a:r>
            <a:r>
              <a:rPr lang="zh-CN" altLang="en-US" sz="2000" dirty="0"/>
              <a:t>个变量，那么请问：</a:t>
            </a:r>
            <a:br>
              <a:rPr lang="zh-CN" altLang="en-US" sz="2000" dirty="0"/>
            </a:br>
            <a:r>
              <a:rPr lang="zh-CN" altLang="en-US" sz="2000" dirty="0">
                <a:solidFill>
                  <a:srgbClr val="3399FF"/>
                </a:solidFill>
              </a:rPr>
              <a:t>这 </a:t>
            </a:r>
            <a:r>
              <a:rPr lang="en-US" altLang="zh-CN" sz="2000" dirty="0">
                <a:solidFill>
                  <a:srgbClr val="3399FF"/>
                </a:solidFill>
              </a:rPr>
              <a:t>6 </a:t>
            </a:r>
            <a:r>
              <a:rPr lang="zh-CN" altLang="en-US" sz="2000" dirty="0">
                <a:solidFill>
                  <a:srgbClr val="3399FF"/>
                </a:solidFill>
              </a:rPr>
              <a:t>个变量会不会彼此完全独立？</a:t>
            </a:r>
            <a:endParaRPr lang="en-US" altLang="zh-CN" sz="2000" dirty="0">
              <a:solidFill>
                <a:srgbClr val="3399FF"/>
              </a:solidFill>
            </a:endParaRPr>
          </a:p>
          <a:p>
            <a:pPr>
              <a:lnSpc>
                <a:spcPct val="150000"/>
              </a:lnSpc>
            </a:pPr>
            <a:endParaRPr lang="zh-CN" altLang="en-US" sz="2000" dirty="0">
              <a:solidFill>
                <a:srgbClr val="3399FF"/>
              </a:solidFill>
            </a:endParaRPr>
          </a:p>
          <a:p>
            <a:pPr>
              <a:lnSpc>
                <a:spcPct val="150000"/>
              </a:lnSpc>
            </a:pPr>
            <a:r>
              <a:rPr lang="zh-CN" altLang="en-US" sz="2000" dirty="0"/>
              <a:t>显然不会。</a:t>
            </a:r>
            <a:br>
              <a:rPr lang="zh-CN" altLang="en-US" sz="2000" dirty="0"/>
            </a:br>
            <a:r>
              <a:rPr lang="zh-CN" altLang="en-US" sz="2000" dirty="0"/>
              <a:t>数学好的人，物理、化学往往也不差；</a:t>
            </a:r>
            <a:br>
              <a:rPr lang="zh-CN" altLang="en-US" sz="2000" dirty="0"/>
            </a:br>
            <a:r>
              <a:rPr lang="zh-CN" altLang="en-US" sz="2000" dirty="0"/>
              <a:t>语文、英语成绩之间通常也会有一定关系。</a:t>
            </a:r>
          </a:p>
          <a:p>
            <a:pPr lvl="0" algn="just">
              <a:lnSpc>
                <a:spcPct val="150000"/>
              </a:lnSpc>
            </a:pP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F16A2F21-C927-9740-4F59-50537ED9A91F}"/>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
        <p:nvSpPr>
          <p:cNvPr id="8" name="文本框 7">
            <a:extLst>
              <a:ext uri="{FF2B5EF4-FFF2-40B4-BE49-F238E27FC236}">
                <a16:creationId xmlns:a16="http://schemas.microsoft.com/office/drawing/2014/main" id="{9E1D4781-60AA-AD31-17ED-4A360FC4F993}"/>
              </a:ext>
            </a:extLst>
          </p:cNvPr>
          <p:cNvSpPr txBox="1"/>
          <p:nvPr/>
        </p:nvSpPr>
        <p:spPr>
          <a:xfrm>
            <a:off x="6917061" y="1942272"/>
            <a:ext cx="5083704" cy="3782446"/>
          </a:xfrm>
          <a:prstGeom prst="rect">
            <a:avLst/>
          </a:prstGeom>
          <a:noFill/>
        </p:spPr>
        <p:txBody>
          <a:bodyPr wrap="square">
            <a:spAutoFit/>
          </a:bodyPr>
          <a:lstStyle/>
          <a:p>
            <a:pPr>
              <a:lnSpc>
                <a:spcPct val="150000"/>
              </a:lnSpc>
            </a:pPr>
            <a:r>
              <a:rPr lang="zh-CN" altLang="en-US" sz="1800" dirty="0"/>
              <a:t>   </a:t>
            </a:r>
            <a:r>
              <a:rPr lang="zh-CN" altLang="en-US" sz="1800" dirty="0">
                <a:solidFill>
                  <a:srgbClr val="3399FF"/>
                </a:solidFill>
              </a:rPr>
              <a:t>那为什么会相关？</a:t>
            </a:r>
          </a:p>
          <a:p>
            <a:pPr>
              <a:lnSpc>
                <a:spcPct val="150000"/>
              </a:lnSpc>
            </a:pPr>
            <a:r>
              <a:rPr lang="zh-CN" altLang="en-US" sz="1800" dirty="0"/>
              <a:t>    因为这些成绩背后，可能存在某些</a:t>
            </a:r>
            <a:r>
              <a:rPr lang="zh-CN" altLang="en-US" sz="1800" b="1" dirty="0"/>
              <a:t>共同能力</a:t>
            </a:r>
            <a:r>
              <a:rPr lang="zh-CN" altLang="en-US" sz="1800" dirty="0"/>
              <a:t>：</a:t>
            </a:r>
          </a:p>
          <a:p>
            <a:pPr>
              <a:lnSpc>
                <a:spcPct val="150000"/>
              </a:lnSpc>
            </a:pPr>
            <a:r>
              <a:rPr lang="zh-CN" altLang="en-US" sz="1800" dirty="0">
                <a:solidFill>
                  <a:srgbClr val="3399FF"/>
                </a:solidFill>
              </a:rPr>
              <a:t>     一个是语言能力 </a:t>
            </a:r>
          </a:p>
          <a:p>
            <a:pPr>
              <a:lnSpc>
                <a:spcPct val="150000"/>
              </a:lnSpc>
            </a:pPr>
            <a:r>
              <a:rPr lang="zh-CN" altLang="en-US" sz="1800" dirty="0">
                <a:solidFill>
                  <a:srgbClr val="3399FF"/>
                </a:solidFill>
              </a:rPr>
              <a:t>     一个是理科能力 </a:t>
            </a:r>
          </a:p>
          <a:p>
            <a:pPr>
              <a:lnSpc>
                <a:spcPct val="150000"/>
              </a:lnSpc>
            </a:pPr>
            <a:r>
              <a:rPr lang="zh-CN" altLang="en-US" sz="1800" dirty="0"/>
              <a:t>     这两个能力我们看不见，也不能直接测量，但它们却会同时影响多个成绩变量。</a:t>
            </a:r>
          </a:p>
          <a:p>
            <a:pPr>
              <a:lnSpc>
                <a:spcPct val="150000"/>
              </a:lnSpc>
            </a:pPr>
            <a:r>
              <a:rPr lang="zh-CN" altLang="en-US" sz="1800" dirty="0"/>
              <a:t>     所以，因子分析的第一句话就是：</a:t>
            </a:r>
          </a:p>
          <a:p>
            <a:pPr>
              <a:lnSpc>
                <a:spcPct val="150000"/>
              </a:lnSpc>
            </a:pPr>
            <a:r>
              <a:rPr lang="zh-CN" altLang="en-US" sz="1800" b="1" dirty="0"/>
              <a:t>     表面上有很多变量，背后可能只有少数几个潜在因子在起作用。</a:t>
            </a:r>
            <a:endParaRPr lang="zh-CN" altLang="en-US" sz="1800" dirty="0"/>
          </a:p>
        </p:txBody>
      </p:sp>
    </p:spTree>
    <p:extLst>
      <p:ext uri="{BB962C8B-B14F-4D97-AF65-F5344CB8AC3E}">
        <p14:creationId xmlns:p14="http://schemas.microsoft.com/office/powerpoint/2010/main" val="909390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605E4-411B-ABC6-34C4-5985F401FDB5}"/>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9B9294C1-BB1F-5A9B-1F34-C36E28A6D663}"/>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0E424AE9-D366-CCA3-38E0-1AF0F4460006}"/>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141FEE4D-F4FA-B6B3-3096-3F491CE996D7}"/>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3A79B933-E86B-508B-7DF3-16B74ADC7619}"/>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EDCD60DE-FF18-C009-C054-AA4ADF4857F8}"/>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7C42005B-FB96-BBDB-D970-3BDDEE34624A}"/>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3308D760-01A6-9359-7086-73AA04C5B07C}"/>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7B35BA5B-BE15-38AC-C1BB-76DBACF4C1DA}"/>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2019B8AB-A4D3-F179-3B80-12EBF4F656BF}"/>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069EBDEB-E9C7-A026-2F44-E001F50C0390}"/>
              </a:ext>
            </a:extLst>
          </p:cNvPr>
          <p:cNvSpPr/>
          <p:nvPr/>
        </p:nvSpPr>
        <p:spPr>
          <a:xfrm>
            <a:off x="1275473" y="1081045"/>
            <a:ext cx="5355435" cy="1661993"/>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因子模型的提出</a:t>
            </a:r>
            <a:endPar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endParaRPr>
          </a:p>
          <a:p>
            <a:r>
              <a:rPr lang="zh-CN" altLang="en-US" sz="2000" dirty="0"/>
              <a:t>现在我们只看一个变量，比如“数学成绩”。</a:t>
            </a:r>
          </a:p>
          <a:p>
            <a:r>
              <a:rPr lang="zh-CN" altLang="en-US" sz="2000" dirty="0"/>
              <a:t>为什么一个学生数学成绩高？</a:t>
            </a:r>
            <a:br>
              <a:rPr lang="zh-CN" altLang="en-US" sz="2000" dirty="0"/>
            </a:br>
            <a:r>
              <a:rPr lang="zh-CN" altLang="en-US" sz="2000" dirty="0"/>
              <a:t>可能有两类原因：</a:t>
            </a:r>
          </a:p>
        </p:txBody>
      </p:sp>
      <p:sp>
        <p:nvSpPr>
          <p:cNvPr id="6" name="TextBox 1">
            <a:extLst>
              <a:ext uri="{FF2B5EF4-FFF2-40B4-BE49-F238E27FC236}">
                <a16:creationId xmlns:a16="http://schemas.microsoft.com/office/drawing/2014/main" id="{221731A5-3855-9DA3-FF7D-DA1A5AB0B1C4}"/>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
        <p:nvSpPr>
          <p:cNvPr id="7" name="文本框 6">
            <a:extLst>
              <a:ext uri="{FF2B5EF4-FFF2-40B4-BE49-F238E27FC236}">
                <a16:creationId xmlns:a16="http://schemas.microsoft.com/office/drawing/2014/main" id="{B2D17A26-83BF-D4B6-EA5A-75828D3842C2}"/>
              </a:ext>
            </a:extLst>
          </p:cNvPr>
          <p:cNvSpPr txBox="1"/>
          <p:nvPr/>
        </p:nvSpPr>
        <p:spPr>
          <a:xfrm>
            <a:off x="7485309" y="2739938"/>
            <a:ext cx="4113780" cy="2951449"/>
          </a:xfrm>
          <a:prstGeom prst="rect">
            <a:avLst/>
          </a:prstGeom>
          <a:noFill/>
          <a:ln>
            <a:solidFill>
              <a:schemeClr val="tx1"/>
            </a:solidFill>
            <a:prstDash val="solid"/>
          </a:ln>
        </p:spPr>
        <p:txBody>
          <a:bodyPr wrap="square">
            <a:spAutoFit/>
          </a:bodyPr>
          <a:lstStyle/>
          <a:p>
            <a:pPr>
              <a:lnSpc>
                <a:spcPct val="150000"/>
              </a:lnSpc>
            </a:pPr>
            <a:r>
              <a:rPr lang="zh-CN" altLang="en-US" sz="1800" b="1" dirty="0"/>
              <a:t>第二类：特殊原因</a:t>
            </a:r>
          </a:p>
          <a:p>
            <a:pPr>
              <a:lnSpc>
                <a:spcPct val="150000"/>
              </a:lnSpc>
            </a:pPr>
            <a:r>
              <a:rPr lang="zh-CN" altLang="en-US" sz="1800" dirty="0"/>
              <a:t>比如：</a:t>
            </a:r>
          </a:p>
          <a:p>
            <a:pPr>
              <a:lnSpc>
                <a:spcPct val="150000"/>
              </a:lnSpc>
            </a:pPr>
            <a:r>
              <a:rPr lang="zh-CN" altLang="en-US" sz="1800" dirty="0"/>
              <a:t>这次题目刚好做过 </a:t>
            </a:r>
          </a:p>
          <a:p>
            <a:pPr>
              <a:lnSpc>
                <a:spcPct val="150000"/>
              </a:lnSpc>
            </a:pPr>
            <a:r>
              <a:rPr lang="zh-CN" altLang="en-US" sz="1800" dirty="0"/>
              <a:t>当天状态好 </a:t>
            </a:r>
          </a:p>
          <a:p>
            <a:pPr>
              <a:lnSpc>
                <a:spcPct val="150000"/>
              </a:lnSpc>
            </a:pPr>
            <a:r>
              <a:rPr lang="zh-CN" altLang="en-US" sz="1800" dirty="0"/>
              <a:t>数学老师的题型更适合他 </a:t>
            </a:r>
          </a:p>
          <a:p>
            <a:pPr>
              <a:lnSpc>
                <a:spcPct val="150000"/>
              </a:lnSpc>
            </a:pPr>
            <a:r>
              <a:rPr lang="zh-CN" altLang="en-US" sz="1800" dirty="0"/>
              <a:t>这些因素不一定影响其他科目。</a:t>
            </a:r>
          </a:p>
          <a:p>
            <a:pPr>
              <a:lnSpc>
                <a:spcPct val="150000"/>
              </a:lnSpc>
            </a:pPr>
            <a:r>
              <a:rPr lang="zh-CN" altLang="en-US" sz="1800" dirty="0"/>
              <a:t>所以，一个变量可以拆成：</a:t>
            </a:r>
          </a:p>
        </p:txBody>
      </p:sp>
      <p:sp>
        <p:nvSpPr>
          <p:cNvPr id="10" name="文本框 9">
            <a:extLst>
              <a:ext uri="{FF2B5EF4-FFF2-40B4-BE49-F238E27FC236}">
                <a16:creationId xmlns:a16="http://schemas.microsoft.com/office/drawing/2014/main" id="{96813D64-2835-076D-AE54-99FA2FBE529F}"/>
              </a:ext>
            </a:extLst>
          </p:cNvPr>
          <p:cNvSpPr txBox="1"/>
          <p:nvPr/>
        </p:nvSpPr>
        <p:spPr>
          <a:xfrm>
            <a:off x="3431815" y="5805244"/>
            <a:ext cx="6134518" cy="646331"/>
          </a:xfrm>
          <a:prstGeom prst="rect">
            <a:avLst/>
          </a:prstGeom>
          <a:noFill/>
          <a:ln>
            <a:solidFill>
              <a:schemeClr val="tx1"/>
            </a:solidFill>
            <a:prstDash val="solid"/>
          </a:ln>
        </p:spPr>
        <p:txBody>
          <a:bodyPr wrap="square">
            <a:spAutoFit/>
          </a:bodyPr>
          <a:lstStyle/>
          <a:p>
            <a:r>
              <a:rPr lang="zh-CN" altLang="en-US" sz="1800" b="1" dirty="0"/>
              <a:t>公共部分 </a:t>
            </a:r>
            <a:r>
              <a:rPr lang="en-US" altLang="zh-CN" sz="1800" b="1" dirty="0"/>
              <a:t>+ </a:t>
            </a:r>
            <a:r>
              <a:rPr lang="zh-CN" altLang="en-US" sz="1800" b="1" dirty="0"/>
              <a:t>特殊部分</a:t>
            </a:r>
            <a:endParaRPr lang="zh-CN" altLang="en-US" sz="1800" dirty="0"/>
          </a:p>
          <a:p>
            <a:r>
              <a:rPr lang="zh-CN" altLang="en-US" sz="1800" dirty="0"/>
              <a:t>这就是因子分析最核心的统计思想。</a:t>
            </a:r>
          </a:p>
        </p:txBody>
      </p:sp>
      <p:sp>
        <p:nvSpPr>
          <p:cNvPr id="12" name="文本框 11">
            <a:extLst>
              <a:ext uri="{FF2B5EF4-FFF2-40B4-BE49-F238E27FC236}">
                <a16:creationId xmlns:a16="http://schemas.microsoft.com/office/drawing/2014/main" id="{A30124B1-35EA-9DBD-554D-D3896EFA1285}"/>
              </a:ext>
            </a:extLst>
          </p:cNvPr>
          <p:cNvSpPr txBox="1"/>
          <p:nvPr/>
        </p:nvSpPr>
        <p:spPr>
          <a:xfrm>
            <a:off x="1487680" y="2846987"/>
            <a:ext cx="5088627" cy="2535951"/>
          </a:xfrm>
          <a:prstGeom prst="rect">
            <a:avLst/>
          </a:prstGeom>
          <a:noFill/>
          <a:ln>
            <a:solidFill>
              <a:schemeClr val="tx1"/>
            </a:solidFill>
          </a:ln>
        </p:spPr>
        <p:txBody>
          <a:bodyPr wrap="square">
            <a:spAutoFit/>
          </a:bodyPr>
          <a:lstStyle/>
          <a:p>
            <a:pPr>
              <a:lnSpc>
                <a:spcPct val="150000"/>
              </a:lnSpc>
            </a:pPr>
            <a:r>
              <a:rPr lang="zh-CN" altLang="en-US" sz="1800" b="1" dirty="0"/>
              <a:t>第一类：共同原因</a:t>
            </a:r>
          </a:p>
          <a:p>
            <a:pPr>
              <a:lnSpc>
                <a:spcPct val="150000"/>
              </a:lnSpc>
            </a:pPr>
            <a:r>
              <a:rPr lang="zh-CN" altLang="en-US" sz="1800" dirty="0"/>
              <a:t>比如：</a:t>
            </a:r>
          </a:p>
          <a:p>
            <a:pPr>
              <a:lnSpc>
                <a:spcPct val="150000"/>
              </a:lnSpc>
            </a:pPr>
            <a:r>
              <a:rPr lang="zh-CN" altLang="en-US" sz="1800" dirty="0"/>
              <a:t>抽象思维能力强 </a:t>
            </a:r>
          </a:p>
          <a:p>
            <a:pPr>
              <a:lnSpc>
                <a:spcPct val="150000"/>
              </a:lnSpc>
            </a:pPr>
            <a:r>
              <a:rPr lang="zh-CN" altLang="en-US" sz="1800" dirty="0"/>
              <a:t>逻辑推理能力强 </a:t>
            </a:r>
          </a:p>
          <a:p>
            <a:pPr>
              <a:lnSpc>
                <a:spcPct val="150000"/>
              </a:lnSpc>
            </a:pPr>
            <a:r>
              <a:rPr lang="zh-CN" altLang="en-US" sz="1800" dirty="0"/>
              <a:t>学习态度好 </a:t>
            </a:r>
          </a:p>
          <a:p>
            <a:pPr>
              <a:lnSpc>
                <a:spcPct val="150000"/>
              </a:lnSpc>
            </a:pPr>
            <a:r>
              <a:rPr lang="zh-CN" altLang="en-US" sz="1800" dirty="0"/>
              <a:t>这些因素不仅影响数学，也会影响物理、化学。</a:t>
            </a:r>
          </a:p>
        </p:txBody>
      </p:sp>
    </p:spTree>
    <p:extLst>
      <p:ext uri="{BB962C8B-B14F-4D97-AF65-F5344CB8AC3E}">
        <p14:creationId xmlns:p14="http://schemas.microsoft.com/office/powerpoint/2010/main" val="31094434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052835"/>
            <a:ext cx="10250505" cy="5833200"/>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7.1.3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因子模型的提出</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因子分析法是从研究变量内部相关的依赖关系出发，把一些具有错综复杂关系的变量归结为少数几个综合因子的一种多变量统计分析方法。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它的基本思想是将观测变量进行分类，将相关性较高，即联系比较紧密的分在同一类中，而不同类变量之间的相关性则较低，那么每一类变量实际上就代表了一个基本结构，即公共因子。对于所研究的问题就是试图用最少个数的不可测的所谓公共因子的线性函数与特殊因子之和来描述原来观测的每一分量。</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117188"/>
            <a:ext cx="10250505" cy="3247877"/>
          </a:xfrm>
          <a:prstGeom prst="rect">
            <a:avLst/>
          </a:prstGeom>
          <a:noFill/>
          <a:ln w="9525">
            <a:noFill/>
          </a:ln>
        </p:spPr>
        <p:txBody>
          <a:bodyPr wrap="square">
            <a:spAutoFit/>
          </a:bodyPr>
          <a:lstStyle/>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它还可用于对变量或样品分类处理。根据因子得分值，在因子轴所构成的空间中把变量或样品点画出来，达到形象直观的分类目的。研究样品间的相互关系的因子分析称为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Q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型因子分析，而研究变量间相互关系的因子分析称为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R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型因子分析，下面主要讨论并运用的是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R</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型因子分析。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dirty="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117188"/>
            <a:ext cx="10250505" cy="5186869"/>
          </a:xfrm>
          <a:prstGeom prst="rect">
            <a:avLst/>
          </a:prstGeom>
          <a:noFill/>
          <a:ln w="9525">
            <a:noFill/>
          </a:ln>
        </p:spPr>
        <p:txBody>
          <a:bodyPr wrap="square">
            <a:spAutoFit/>
          </a:bodyPr>
          <a:lstStyle/>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 (x</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t>
            </a:r>
            <a:r>
              <a:rPr lang="en-US" altLang="zh-CN" sz="2800" baseline="-250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＇是可观测随机向量，均值向量Ｅ</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，协方差阵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Cov</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，且协方差阵与相关矩阵等价（只要将变量标准化即可实现）。</a:t>
            </a: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 = (F</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＇（ｍ</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&lt;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ｐ）是不可测的向量，其均值向量Ｅ</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，协方差矩阵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Cov</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Ｉ，即向量的各分量是相互独立的。</a:t>
            </a: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＇与Ｆ相互独立</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且Ｅ</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的协方差阵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是对角阵，即各分量</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之间是相互独立的，则模型：</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66900" y="3633935"/>
            <a:ext cx="1025050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称为因子分析模型，由于该模型是针对变量进行的，各因子又是正交的，所以也称为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R</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型正交因子模型。</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其矩阵形式为</a:t>
            </a:r>
            <a:r>
              <a:rPr lang="en-US" altLang="zh-CN" sz="2800"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 X =AF + </a:t>
            </a:r>
            <a:r>
              <a:rPr lang="el-GR" altLang="zh-CN" sz="2800"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其中：</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pic>
        <p:nvPicPr>
          <p:cNvPr id="8" name="圖片 7"/>
          <p:cNvPicPr>
            <a:picLocks noChangeAspect="1"/>
          </p:cNvPicPr>
          <p:nvPr/>
        </p:nvPicPr>
        <p:blipFill>
          <a:blip r:embed="rId3"/>
          <a:stretch>
            <a:fillRect/>
          </a:stretch>
        </p:blipFill>
        <p:spPr>
          <a:xfrm>
            <a:off x="3250648" y="1435971"/>
            <a:ext cx="5810250" cy="200977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pic>
        <p:nvPicPr>
          <p:cNvPr id="5" name="图片 4"/>
          <p:cNvPicPr>
            <a:picLocks noChangeAspect="1"/>
          </p:cNvPicPr>
          <p:nvPr>
            <p:custDataLst>
              <p:tags r:id="rId1"/>
            </p:custDataLst>
          </p:nvPr>
        </p:nvPicPr>
        <p:blipFill>
          <a:blip r:embed="rId4"/>
          <a:stretch>
            <a:fillRect/>
          </a:stretch>
        </p:blipFill>
        <p:spPr>
          <a:xfrm>
            <a:off x="1703705" y="1268730"/>
            <a:ext cx="9918700" cy="514667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90962" y="1393826"/>
            <a:ext cx="1025050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我们把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的公共因子或潜在因子，矩阵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称为因子载荷矩阵，</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的特殊因子。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为因子载荷。数学上可以证明，因子载荷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就是第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变量与第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因子的相关系数，反映了第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变量在第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因子上的重要性。</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因子模型的提出</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2AC4D-52CE-D3F6-9D74-462A55D8BB86}"/>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9A4C0D56-820B-D4B8-3D66-AA36420D4459}"/>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99B2A2DC-A9B6-B9B0-940E-55DBE5056214}"/>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8CF920B9-A6B3-C5B8-7A90-57D073F8AE78}"/>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80BEE553-FEB8-14D0-2CD9-BA9A431AC4AA}"/>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1172E472-0CFA-973E-05BB-DC09767549E2}"/>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A7ADD2D4-DA9C-180F-D94B-EBDF0B04DC0B}"/>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FB044030-787D-1DED-616D-78636090FDC1}"/>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12A1E9F8-65B9-45EE-7606-77A31FA29C15}"/>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79D87D8C-F40D-8E92-1578-1F51B9FEB75E}"/>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1A542927-CE06-0A49-7D06-5C6147177EFB}"/>
              </a:ext>
            </a:extLst>
          </p:cNvPr>
          <p:cNvSpPr/>
          <p:nvPr/>
        </p:nvSpPr>
        <p:spPr>
          <a:xfrm>
            <a:off x="1534710" y="941019"/>
            <a:ext cx="10250505" cy="662489"/>
          </a:xfrm>
          <a:prstGeom prst="rect">
            <a:avLst/>
          </a:prstGeom>
          <a:noFill/>
          <a:ln w="9525">
            <a:noFill/>
          </a:ln>
        </p:spPr>
        <p:txBody>
          <a:bodyPr wrap="square">
            <a:spAutoFit/>
          </a:bodyPr>
          <a:lstStyle/>
          <a:p>
            <a:pPr marL="457200" lvl="0" indent="-457200" algn="just">
              <a:lnSpc>
                <a:spcPct val="150000"/>
              </a:lnSpc>
              <a:buFont typeface="Wingdings" pitchFamily="2" charset="2"/>
              <a:buChar char="l"/>
            </a:pP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模型假定</a:t>
            </a: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C6A86724-0F54-61EA-6F33-9139E8444927}"/>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因子模型的性质</a:t>
            </a:r>
          </a:p>
        </p:txBody>
      </p:sp>
      <p:pic>
        <p:nvPicPr>
          <p:cNvPr id="7" name="图片 6">
            <a:extLst>
              <a:ext uri="{FF2B5EF4-FFF2-40B4-BE49-F238E27FC236}">
                <a16:creationId xmlns:a16="http://schemas.microsoft.com/office/drawing/2014/main" id="{157EDCA3-7F1A-DEEF-B52E-2D5A5A34CD85}"/>
              </a:ext>
            </a:extLst>
          </p:cNvPr>
          <p:cNvPicPr>
            <a:picLocks noChangeAspect="1"/>
          </p:cNvPicPr>
          <p:nvPr/>
        </p:nvPicPr>
        <p:blipFill>
          <a:blip r:embed="rId3"/>
          <a:stretch>
            <a:fillRect/>
          </a:stretch>
        </p:blipFill>
        <p:spPr>
          <a:xfrm>
            <a:off x="3054350" y="1904999"/>
            <a:ext cx="6855374" cy="3434843"/>
          </a:xfrm>
          <a:prstGeom prst="rect">
            <a:avLst/>
          </a:prstGeom>
        </p:spPr>
      </p:pic>
      <p:pic>
        <p:nvPicPr>
          <p:cNvPr id="9" name="图片 8">
            <a:extLst>
              <a:ext uri="{FF2B5EF4-FFF2-40B4-BE49-F238E27FC236}">
                <a16:creationId xmlns:a16="http://schemas.microsoft.com/office/drawing/2014/main" id="{41C34389-B051-D4EE-BAF9-46182081A242}"/>
              </a:ext>
            </a:extLst>
          </p:cNvPr>
          <p:cNvPicPr>
            <a:picLocks noChangeAspect="1"/>
          </p:cNvPicPr>
          <p:nvPr/>
        </p:nvPicPr>
        <p:blipFill>
          <a:blip r:embed="rId4"/>
          <a:stretch>
            <a:fillRect/>
          </a:stretch>
        </p:blipFill>
        <p:spPr>
          <a:xfrm>
            <a:off x="3138554" y="5166584"/>
            <a:ext cx="6954174" cy="1500794"/>
          </a:xfrm>
          <a:prstGeom prst="rect">
            <a:avLst/>
          </a:prstGeom>
        </p:spPr>
      </p:pic>
    </p:spTree>
    <p:extLst>
      <p:ext uri="{BB962C8B-B14F-4D97-AF65-F5344CB8AC3E}">
        <p14:creationId xmlns:p14="http://schemas.microsoft.com/office/powerpoint/2010/main" val="1853216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756D-5F8A-8549-A776-67A4A1A06B2E}"/>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B9C93067-2277-9B83-D6E8-29272C480A5B}"/>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46BD6E70-E135-E908-4FD9-5D03D4CDFEFC}"/>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B71B63BB-7811-CAF3-71DC-14D3C0B9AE4A}"/>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CB5B236E-986D-0D91-9FC4-7DDF7655B51D}"/>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23E4FD7E-0801-1DD6-929C-CA8437944BDD}"/>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1E11E424-5A8B-B9C6-CF72-C95027EBA37B}"/>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86DC7D09-F7C1-0E92-F423-6EBB063FB71A}"/>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4BAB5296-F85B-71A2-0F59-9C047D14BD85}"/>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1F8AD83E-4B57-CF56-E20B-83FE5237EB4B}"/>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E5DA1B45-5581-F1D9-5003-ABEF60168100}"/>
              </a:ext>
            </a:extLst>
          </p:cNvPr>
          <p:cNvSpPr/>
          <p:nvPr/>
        </p:nvSpPr>
        <p:spPr>
          <a:xfrm>
            <a:off x="1534710" y="941019"/>
            <a:ext cx="10250505" cy="1308884"/>
          </a:xfrm>
          <a:prstGeom prst="rect">
            <a:avLst/>
          </a:prstGeom>
          <a:noFill/>
          <a:ln w="9525">
            <a:noFill/>
          </a:ln>
        </p:spPr>
        <p:txBody>
          <a:bodyPr wrap="square">
            <a:spAutoFit/>
          </a:bodyPr>
          <a:lstStyle/>
          <a:p>
            <a:pPr marL="457200" lvl="0" indent="-457200" algn="just">
              <a:lnSpc>
                <a:spcPct val="150000"/>
              </a:lnSpc>
              <a:buFont typeface="Wingdings" pitchFamily="2" charset="2"/>
              <a:buChar char="l"/>
            </a:pP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正交因子模型与线性模型比较</a:t>
            </a: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5CD002C5-192E-8204-6C40-CE8056F61C80}"/>
              </a:ext>
            </a:extLst>
          </p:cNvPr>
          <p:cNvSpPr/>
          <p:nvPr/>
        </p:nvSpPr>
        <p:spPr>
          <a:xfrm flipH="1">
            <a:off x="154233" y="1216031"/>
            <a:ext cx="800100" cy="5262979"/>
          </a:xfrm>
          <a:prstGeom prst="rect">
            <a:avLst/>
          </a:prstGeom>
          <a:noFill/>
          <a:ln w="9525">
            <a:noFill/>
          </a:ln>
        </p:spPr>
        <p:txBody>
          <a:bodyPr wrap="square">
            <a:spAutoFit/>
          </a:bodyPr>
          <a:lstStyle/>
          <a:p>
            <a:pPr lvl="0" algn="ctr">
              <a:lnSpc>
                <a:spcPct val="100000"/>
              </a:lnSpc>
            </a:pPr>
            <a:r>
              <a:rPr lang="zh-CN" altLang="en-US" sz="28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因子模型的与线性模型比较</a:t>
            </a:r>
          </a:p>
        </p:txBody>
      </p:sp>
      <p:pic>
        <p:nvPicPr>
          <p:cNvPr id="7" name="图片 6">
            <a:extLst>
              <a:ext uri="{FF2B5EF4-FFF2-40B4-BE49-F238E27FC236}">
                <a16:creationId xmlns:a16="http://schemas.microsoft.com/office/drawing/2014/main" id="{C435C97E-E957-B1A9-5C73-C13865DDBCE1}"/>
              </a:ext>
            </a:extLst>
          </p:cNvPr>
          <p:cNvPicPr>
            <a:picLocks noChangeAspect="1"/>
          </p:cNvPicPr>
          <p:nvPr/>
        </p:nvPicPr>
        <p:blipFill>
          <a:blip r:embed="rId3"/>
          <a:stretch>
            <a:fillRect/>
          </a:stretch>
        </p:blipFill>
        <p:spPr>
          <a:xfrm>
            <a:off x="1854087" y="2655822"/>
            <a:ext cx="9611749" cy="3131697"/>
          </a:xfrm>
          <a:prstGeom prst="rect">
            <a:avLst/>
          </a:prstGeom>
        </p:spPr>
      </p:pic>
      <p:sp>
        <p:nvSpPr>
          <p:cNvPr id="12" name="文本框 11">
            <a:extLst>
              <a:ext uri="{FF2B5EF4-FFF2-40B4-BE49-F238E27FC236}">
                <a16:creationId xmlns:a16="http://schemas.microsoft.com/office/drawing/2014/main" id="{B0DA156E-81F6-E253-B239-A6217A72AA4A}"/>
              </a:ext>
            </a:extLst>
          </p:cNvPr>
          <p:cNvSpPr txBox="1"/>
          <p:nvPr/>
        </p:nvSpPr>
        <p:spPr>
          <a:xfrm>
            <a:off x="2147625" y="1819740"/>
            <a:ext cx="6134582" cy="369332"/>
          </a:xfrm>
          <a:prstGeom prst="rect">
            <a:avLst/>
          </a:prstGeom>
          <a:noFill/>
        </p:spPr>
        <p:txBody>
          <a:bodyPr wrap="square">
            <a:spAutoFit/>
          </a:bodyPr>
          <a:lstStyle/>
          <a:p>
            <a:r>
              <a:rPr lang="zh-CN" altLang="en-US" dirty="0"/>
              <a:t>因子模型：  𝑋 = 𝜇 + 𝐴𝐹 + 𝜀</a:t>
            </a:r>
          </a:p>
        </p:txBody>
      </p:sp>
    </p:spTree>
    <p:extLst>
      <p:ext uri="{BB962C8B-B14F-4D97-AF65-F5344CB8AC3E}">
        <p14:creationId xmlns:p14="http://schemas.microsoft.com/office/powerpoint/2010/main" val="1804208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EBD13-9CF6-A6F2-7DB6-175C2AAB8A90}"/>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D249B303-CF8A-43BA-8249-5C36E9A54A7E}"/>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CC0CDC14-4270-2EAE-B70F-CD692AF9A5B9}"/>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42B76A43-391D-5BF1-DD5F-251E37E7B64D}"/>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C40E86B5-A775-8DB1-5791-894320E035AB}"/>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6A28AC6B-6B13-641B-62C3-BEEF1687C534}"/>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AD245E9C-2B00-6AD6-7FDD-EE2893F22F16}"/>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E7E29308-6F63-35AF-1B05-0D084BE3386F}"/>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90E83D1B-3F0B-7F72-968F-2DE279F8F5B0}"/>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2152FA05-D4E2-17F7-AE5F-43089417746E}"/>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9172CB43-02B7-F601-7654-C7348772C41F}"/>
              </a:ext>
            </a:extLst>
          </p:cNvPr>
          <p:cNvSpPr/>
          <p:nvPr/>
        </p:nvSpPr>
        <p:spPr>
          <a:xfrm>
            <a:off x="1534710" y="941019"/>
            <a:ext cx="10250505" cy="1308884"/>
          </a:xfrm>
          <a:prstGeom prst="rect">
            <a:avLst/>
          </a:prstGeom>
          <a:noFill/>
          <a:ln w="9525">
            <a:noFill/>
          </a:ln>
        </p:spPr>
        <p:txBody>
          <a:bodyPr wrap="square">
            <a:spAutoFit/>
          </a:bodyPr>
          <a:lstStyle/>
          <a:p>
            <a:pPr marL="457200" lvl="0" indent="-457200" algn="just">
              <a:lnSpc>
                <a:spcPct val="150000"/>
              </a:lnSpc>
              <a:buFont typeface="Wingdings" pitchFamily="2" charset="2"/>
              <a:buChar char="l"/>
            </a:pP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正交因子模型的协方差结构</a:t>
            </a: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1A15662F-96CB-F802-DC33-1B0AAE36866A}"/>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因子模型的性质</a:t>
            </a:r>
          </a:p>
        </p:txBody>
      </p:sp>
      <p:pic>
        <p:nvPicPr>
          <p:cNvPr id="3" name="图片 2">
            <a:extLst>
              <a:ext uri="{FF2B5EF4-FFF2-40B4-BE49-F238E27FC236}">
                <a16:creationId xmlns:a16="http://schemas.microsoft.com/office/drawing/2014/main" id="{177924DC-CA89-D3F9-B6D7-F8B4928EE187}"/>
              </a:ext>
            </a:extLst>
          </p:cNvPr>
          <p:cNvPicPr>
            <a:picLocks noChangeAspect="1"/>
          </p:cNvPicPr>
          <p:nvPr/>
        </p:nvPicPr>
        <p:blipFill>
          <a:blip r:embed="rId3"/>
          <a:stretch>
            <a:fillRect/>
          </a:stretch>
        </p:blipFill>
        <p:spPr>
          <a:xfrm>
            <a:off x="3520523" y="1521211"/>
            <a:ext cx="5270500" cy="2705100"/>
          </a:xfrm>
          <a:prstGeom prst="rect">
            <a:avLst/>
          </a:prstGeom>
        </p:spPr>
      </p:pic>
      <p:sp>
        <p:nvSpPr>
          <p:cNvPr id="8" name="文本框 7">
            <a:extLst>
              <a:ext uri="{FF2B5EF4-FFF2-40B4-BE49-F238E27FC236}">
                <a16:creationId xmlns:a16="http://schemas.microsoft.com/office/drawing/2014/main" id="{E3842258-315A-656F-D757-EBA7358FE6AA}"/>
              </a:ext>
            </a:extLst>
          </p:cNvPr>
          <p:cNvSpPr txBox="1"/>
          <p:nvPr/>
        </p:nvSpPr>
        <p:spPr>
          <a:xfrm>
            <a:off x="2089473" y="4216853"/>
            <a:ext cx="8636790" cy="2585323"/>
          </a:xfrm>
          <a:prstGeom prst="rect">
            <a:avLst/>
          </a:prstGeom>
          <a:noFill/>
        </p:spPr>
        <p:txBody>
          <a:bodyPr wrap="square">
            <a:spAutoFit/>
          </a:bodyPr>
          <a:lstStyle/>
          <a:p>
            <a:r>
              <a:rPr lang="zh-CN" altLang="en-US" dirty="0"/>
              <a:t>从</a:t>
            </a:r>
            <a:r>
              <a:rPr lang="en-US" altLang="zh-CN" dirty="0"/>
              <a:t>Var(X</a:t>
            </a:r>
            <a:r>
              <a:rPr lang="en-US" altLang="zh-CN" baseline="-25000" dirty="0"/>
              <a:t>i</a:t>
            </a:r>
            <a:r>
              <a:rPr lang="en-US" altLang="zh-CN" dirty="0"/>
              <a:t>)</a:t>
            </a:r>
            <a:r>
              <a:rPr lang="zh-CN" altLang="en-US" dirty="0"/>
              <a:t>的表达式看出, 𝑋</a:t>
            </a:r>
            <a:r>
              <a:rPr lang="en-US" altLang="zh-CN" baseline="-25000" dirty="0" err="1"/>
              <a:t>i</a:t>
            </a:r>
            <a:r>
              <a:rPr lang="zh-CN" altLang="en-US" dirty="0"/>
              <a:t>的方差由两部分构成: 𝑚 个公共因子和一个特殊因子的贡献，其中 𝑎 𝑖𝑗 2 表示第 𝑗 个公共因子对第 𝑖 个原始变量的方差贡献，𝜙</a:t>
            </a:r>
            <a:r>
              <a:rPr lang="zh-CN" altLang="en-US" baseline="-25000" dirty="0"/>
              <a:t>𝑖</a:t>
            </a:r>
            <a:r>
              <a:rPr lang="zh-CN" altLang="en-US" dirty="0"/>
              <a:t> 是特殊因子对第 𝑖 个原 始变量的方差贡献。</a:t>
            </a:r>
            <a:endParaRPr lang="en-US" altLang="zh-CN" dirty="0"/>
          </a:p>
          <a:p>
            <a:endParaRPr lang="en-US" altLang="zh-CN" dirty="0"/>
          </a:p>
          <a:p>
            <a:r>
              <a:rPr lang="zh-CN" altLang="en-US" dirty="0"/>
              <a:t>记                                表示 𝑚 个公共因子对原始变量 𝑋 𝑖 的方差贡献总和，</a:t>
            </a:r>
          </a:p>
          <a:p>
            <a:r>
              <a:rPr lang="zh-CN" altLang="en-US" dirty="0"/>
              <a:t>称为</a:t>
            </a:r>
            <a:r>
              <a:rPr lang="en-US" altLang="zh-CN" dirty="0"/>
              <a:t>X</a:t>
            </a:r>
            <a:r>
              <a:rPr lang="en-US" altLang="zh-CN" baseline="-25000" dirty="0"/>
              <a:t>i</a:t>
            </a:r>
            <a:r>
              <a:rPr lang="zh-CN" altLang="en-US" dirty="0"/>
              <a:t>第 𝑖 个共同度</a:t>
            </a:r>
            <a:r>
              <a:rPr lang="en-US" altLang="zh-CN" dirty="0"/>
              <a:t>, </a:t>
            </a:r>
            <a:r>
              <a:rPr lang="zh-CN" altLang="en-US" dirty="0"/>
              <a:t>是载荷矩阵 𝐴 的第 𝑖 行的平方和。 </a:t>
            </a:r>
            <a:endParaRPr lang="en-US" altLang="zh-CN" dirty="0"/>
          </a:p>
          <a:p>
            <a:endParaRPr lang="en-US" altLang="zh-CN" dirty="0"/>
          </a:p>
          <a:p>
            <a:r>
              <a:rPr lang="zh-CN" altLang="en-US" dirty="0"/>
              <a:t>𝜙</a:t>
            </a:r>
            <a:r>
              <a:rPr lang="zh-CN" altLang="en-US" baseline="-25000" dirty="0"/>
              <a:t>𝑖</a:t>
            </a:r>
            <a:r>
              <a:rPr lang="zh-CN" altLang="en-US" dirty="0"/>
              <a:t> 称为第 𝑖 个特殊度。</a:t>
            </a:r>
            <a:endParaRPr lang="en-US" altLang="zh-CN" dirty="0"/>
          </a:p>
          <a:p>
            <a:endParaRPr lang="zh-CN" altLang="en-US" dirty="0"/>
          </a:p>
        </p:txBody>
      </p:sp>
      <p:pic>
        <p:nvPicPr>
          <p:cNvPr id="10" name="图片 9">
            <a:extLst>
              <a:ext uri="{FF2B5EF4-FFF2-40B4-BE49-F238E27FC236}">
                <a16:creationId xmlns:a16="http://schemas.microsoft.com/office/drawing/2014/main" id="{40EAB1FD-95AA-D46E-B920-AEB60F7E7832}"/>
              </a:ext>
            </a:extLst>
          </p:cNvPr>
          <p:cNvPicPr>
            <a:picLocks noChangeAspect="1"/>
          </p:cNvPicPr>
          <p:nvPr/>
        </p:nvPicPr>
        <p:blipFill>
          <a:blip r:embed="rId4"/>
          <a:stretch>
            <a:fillRect/>
          </a:stretch>
        </p:blipFill>
        <p:spPr>
          <a:xfrm>
            <a:off x="2423745" y="5312061"/>
            <a:ext cx="1944135" cy="317410"/>
          </a:xfrm>
          <a:prstGeom prst="rect">
            <a:avLst/>
          </a:prstGeom>
        </p:spPr>
      </p:pic>
    </p:spTree>
    <p:extLst>
      <p:ext uri="{BB962C8B-B14F-4D97-AF65-F5344CB8AC3E}">
        <p14:creationId xmlns:p14="http://schemas.microsoft.com/office/powerpoint/2010/main" val="2299093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C93D-9C71-E8D5-6EB6-7DAD51959B7C}"/>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E8A7EC0E-E704-916A-55FD-3D35CA74E5D6}"/>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54711C52-2510-2AB1-2493-1369A80CBF18}"/>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6F1548E8-A537-44AA-3A15-2F4EC3DE451A}"/>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81C1F0C6-3B7B-2D93-572B-E31879B40B86}"/>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3C3BD98C-1C71-0DF9-D3C9-AAD2366F5EBE}"/>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0B79B5C1-41C2-972D-02FD-A55FF3D48EE7}"/>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E277367D-4192-5C22-A4F6-4AC5797A9E6B}"/>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4CA18D0A-5A86-400D-9E21-A434AA7022FB}"/>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98578EC4-0690-8674-C534-46BCEF2EF888}"/>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CB40703B-912A-9D16-5909-2DFC1369DEC7}"/>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因子载荷的含义</a:t>
            </a:r>
          </a:p>
        </p:txBody>
      </p:sp>
      <p:pic>
        <p:nvPicPr>
          <p:cNvPr id="9" name="图片 8">
            <a:extLst>
              <a:ext uri="{FF2B5EF4-FFF2-40B4-BE49-F238E27FC236}">
                <a16:creationId xmlns:a16="http://schemas.microsoft.com/office/drawing/2014/main" id="{7A930444-8C45-2B57-1DEC-1DAB03B9E918}"/>
              </a:ext>
            </a:extLst>
          </p:cNvPr>
          <p:cNvPicPr>
            <a:picLocks noChangeAspect="1"/>
          </p:cNvPicPr>
          <p:nvPr>
            <p:custDataLst>
              <p:tags r:id="rId1"/>
            </p:custDataLst>
          </p:nvPr>
        </p:nvPicPr>
        <p:blipFill>
          <a:blip r:embed="rId4"/>
          <a:stretch>
            <a:fillRect/>
          </a:stretch>
        </p:blipFill>
        <p:spPr>
          <a:xfrm>
            <a:off x="1559560" y="1268730"/>
            <a:ext cx="10396855" cy="5185410"/>
          </a:xfrm>
          <a:prstGeom prst="rect">
            <a:avLst/>
          </a:prstGeom>
        </p:spPr>
      </p:pic>
    </p:spTree>
    <p:extLst>
      <p:ext uri="{BB962C8B-B14F-4D97-AF65-F5344CB8AC3E}">
        <p14:creationId xmlns:p14="http://schemas.microsoft.com/office/powerpoint/2010/main" val="7199251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4540-4E79-6454-CBCD-EC29D492DF98}"/>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0ADBA4B8-AD38-5D70-02EA-04E3FDC2B5C6}"/>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76A816BE-C252-DF4D-CD18-DCC0D067DFEF}"/>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1F293A20-E269-9B78-F8BE-A59B94609706}"/>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C50EE1E1-8EA2-7665-B2D4-D1CEC250BFF1}"/>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18E72A82-6DDA-59BB-05F5-D72CF09DE67C}"/>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19E0463A-D95C-F2D4-6DA0-764AF1C9B092}"/>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98A43985-E5F6-06F6-BEC5-8948F3CC90A3}"/>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1F3C6AE1-0122-D380-ABC8-F63A8DCB027F}"/>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E1DCBDFE-9AF3-FD0A-7E60-E4248A07E763}"/>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F9A2628C-5B6E-2AC4-9886-B54E0459EEA4}"/>
              </a:ext>
            </a:extLst>
          </p:cNvPr>
          <p:cNvSpPr/>
          <p:nvPr/>
        </p:nvSpPr>
        <p:spPr>
          <a:xfrm>
            <a:off x="1490962" y="1205983"/>
            <a:ext cx="1025050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记因子载荷矩阵Ａ的第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列的各元素平方和为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g</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a:t>
            </a:r>
            <a:r>
              <a:rPr lang="en-US" altLang="zh-CN" sz="2800" baseline="30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，称为公因子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的方差贡献。</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3F551812-CB4E-CA1F-5B4C-E7C659B2A205}"/>
              </a:ext>
            </a:extLst>
          </p:cNvPr>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方差贡献率</a:t>
            </a:r>
          </a:p>
        </p:txBody>
      </p:sp>
      <p:pic>
        <p:nvPicPr>
          <p:cNvPr id="14" name="圖片 13">
            <a:extLst>
              <a:ext uri="{FF2B5EF4-FFF2-40B4-BE49-F238E27FC236}">
                <a16:creationId xmlns:a16="http://schemas.microsoft.com/office/drawing/2014/main" id="{896E9D66-86BE-B9DF-5339-C1155E00512A}"/>
              </a:ext>
            </a:extLst>
          </p:cNvPr>
          <p:cNvPicPr>
            <a:picLocks noChangeAspect="1"/>
          </p:cNvPicPr>
          <p:nvPr/>
        </p:nvPicPr>
        <p:blipFill>
          <a:blip r:embed="rId3"/>
          <a:stretch>
            <a:fillRect/>
          </a:stretch>
        </p:blipFill>
        <p:spPr>
          <a:xfrm>
            <a:off x="3359785" y="2974340"/>
            <a:ext cx="5142865" cy="2842260"/>
          </a:xfrm>
          <a:prstGeom prst="rect">
            <a:avLst/>
          </a:prstGeom>
        </p:spPr>
      </p:pic>
    </p:spTree>
    <p:extLst>
      <p:ext uri="{BB962C8B-B14F-4D97-AF65-F5344CB8AC3E}">
        <p14:creationId xmlns:p14="http://schemas.microsoft.com/office/powerpoint/2010/main" val="609375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317AF-C10E-ADD3-41DC-A955C9386C23}"/>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A83254DD-4739-D6AC-BAFF-D2C6E3265792}"/>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FDD5E540-B4EA-D375-23DC-C05D4ED832BF}"/>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F4CB0ED1-881E-6D7D-BDB9-6F9CA03E5B2D}"/>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E38DBDF2-0854-9E3A-0779-5818EB28D187}"/>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A984FCD2-191B-86CD-0A86-818F4DDA94C7}"/>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5AF89E72-2B18-E1FC-4314-24503D66A34C}"/>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499BE242-8B11-8CB6-C986-614A4F9DD359}"/>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48033D27-6141-4BD8-3DB6-104C8C21CF16}"/>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6BB7BFE8-A300-5A2C-40EE-A9FB78259C34}"/>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mc:AlternateContent xmlns:mc="http://schemas.openxmlformats.org/markup-compatibility/2006" xmlns:a14="http://schemas.microsoft.com/office/drawing/2010/main">
        <mc:Choice Requires="a14">
          <p:sp>
            <p:nvSpPr>
              <p:cNvPr id="5" name="矩形 6">
                <a:extLst>
                  <a:ext uri="{FF2B5EF4-FFF2-40B4-BE49-F238E27FC236}">
                    <a16:creationId xmlns:a16="http://schemas.microsoft.com/office/drawing/2014/main" id="{FE92E592-3A59-798E-5C25-45F430055305}"/>
                  </a:ext>
                </a:extLst>
              </p:cNvPr>
              <p:cNvSpPr/>
              <p:nvPr/>
            </p:nvSpPr>
            <p:spPr>
              <a:xfrm>
                <a:off x="1490962" y="1205983"/>
                <a:ext cx="10250505" cy="4218527"/>
              </a:xfrm>
              <a:prstGeom prst="rect">
                <a:avLst/>
              </a:prstGeom>
              <a:noFill/>
              <a:ln w="9525">
                <a:noFill/>
              </a:ln>
            </p:spPr>
            <p:txBody>
              <a:bodyPr wrap="square">
                <a:spAutoFit/>
              </a:bodyPr>
              <a:lstStyle/>
              <a:p>
                <a:pPr lvl="0" indent="457200" algn="just">
                  <a:lnSpc>
                    <a:spcPct val="150000"/>
                  </a:lnSpc>
                </a:pPr>
                <a14:m>
                  <m:oMath xmlns:m="http://schemas.openxmlformats.org/officeDocument/2006/math">
                    <m:sSubSup>
                      <m:sSubSupPr>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就表示第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的每一分量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=1,2,…,p)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所提供方差的总和，它是衡量公共因子相对重要性的指标。</a:t>
                </a:r>
                <a14:m>
                  <m:oMath xmlns:m="http://schemas.openxmlformats.org/officeDocument/2006/math">
                    <m:sSubSup>
                      <m:sSubSupPr>
                        <m:ctrlP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越大，表明公共因子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的贡献越大，或者说对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的影响和作用就越大。如果将因子载荷矩阵Ａ的所有</a:t>
                </a:r>
                <a14:m>
                  <m:oMath xmlns:m="http://schemas.openxmlformats.org/officeDocument/2006/math">
                    <m:sSubSup>
                      <m:sSubSupPr>
                        <m:ctrlP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j =1,2,…,m)</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都计算出来，使其按照大小排序，就可以依此提炼出最有影响力的公共因子。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5" name="矩形 6"/>
              <p:cNvSpPr>
                <a:spLocks noRot="1" noChangeAspect="1" noMove="1" noResize="1" noEditPoints="1" noAdjustHandles="1" noChangeArrowheads="1" noChangeShapeType="1" noTextEdit="1"/>
              </p:cNvSpPr>
              <p:nvPr/>
            </p:nvSpPr>
            <p:spPr>
              <a:xfrm>
                <a:off x="1490962" y="1205983"/>
                <a:ext cx="10250505" cy="4218527"/>
              </a:xfrm>
              <a:prstGeom prst="rect">
                <a:avLst/>
              </a:prstGeom>
              <a:blipFill rotWithShape="1">
                <a:blip r:embed="rId3"/>
                <a:stretch>
                  <a:fillRect l="-6" t="-3" r="3" b="-2686"/>
                </a:stretch>
              </a:blipFill>
              <a:ln w="9525">
                <a:noFill/>
              </a:ln>
            </p:spPr>
            <p:txBody>
              <a:bodyPr/>
              <a:lstStyle/>
              <a:p>
                <a:r>
                  <a:rPr lang="zh-CN" altLang="en-US">
                    <a:noFill/>
                  </a:rPr>
                  <a:t> </a:t>
                </a:r>
              </a:p>
            </p:txBody>
          </p:sp>
        </mc:Fallback>
      </mc:AlternateContent>
      <p:sp>
        <p:nvSpPr>
          <p:cNvPr id="6" name="TextBox 1">
            <a:extLst>
              <a:ext uri="{FF2B5EF4-FFF2-40B4-BE49-F238E27FC236}">
                <a16:creationId xmlns:a16="http://schemas.microsoft.com/office/drawing/2014/main" id="{837BE669-FB0C-65A1-61B2-D7269F4FB6D9}"/>
              </a:ext>
            </a:extLst>
          </p:cNvPr>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方差贡献率</a:t>
            </a:r>
          </a:p>
        </p:txBody>
      </p:sp>
    </p:spTree>
    <p:extLst>
      <p:ext uri="{BB962C8B-B14F-4D97-AF65-F5344CB8AC3E}">
        <p14:creationId xmlns:p14="http://schemas.microsoft.com/office/powerpoint/2010/main" val="820011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E948-57C3-E3EF-5E1B-3930EA7BB765}"/>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E2A1D57C-6334-54C6-C31B-01868D4B966B}"/>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E3BED772-BC37-85AB-F9EF-7C562B738C6F}"/>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7E2B4764-CDFF-2F65-FB76-D04C285304EA}"/>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47D43099-B025-F885-0737-5ED149E80820}"/>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D69281E5-F754-3E0B-A5CD-ABDAE4EBC884}"/>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FC2EA42A-5015-A7FE-F1E9-9E07287E9595}"/>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CF4BA944-6F48-D072-FDC5-8C8378D3B090}"/>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C2AC9FFC-87F0-4B2B-F8A1-8D83328FE094}"/>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379B316A-34BA-2E73-0237-2EC6A40DA177}"/>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E6150803-D522-A8E0-C180-678632D9774A}"/>
              </a:ext>
            </a:extLst>
          </p:cNvPr>
          <p:cNvSpPr/>
          <p:nvPr/>
        </p:nvSpPr>
        <p:spPr>
          <a:xfrm>
            <a:off x="1534710" y="941019"/>
            <a:ext cx="10250505" cy="1308884"/>
          </a:xfrm>
          <a:prstGeom prst="rect">
            <a:avLst/>
          </a:prstGeom>
          <a:noFill/>
          <a:ln w="9525">
            <a:noFill/>
          </a:ln>
        </p:spPr>
        <p:txBody>
          <a:bodyPr wrap="square">
            <a:spAutoFit/>
          </a:bodyPr>
          <a:lstStyle/>
          <a:p>
            <a:pPr marL="457200" lvl="0" indent="-457200" algn="just">
              <a:lnSpc>
                <a:spcPct val="150000"/>
              </a:lnSpc>
              <a:buFont typeface="Wingdings" pitchFamily="2" charset="2"/>
              <a:buChar char="l"/>
            </a:pP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正交因子模型的伸缩不变性</a:t>
            </a: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E5CC557D-96E8-813C-D7D8-4655D7D9D5AB}"/>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因子模型的性质</a:t>
            </a:r>
          </a:p>
        </p:txBody>
      </p:sp>
      <p:pic>
        <p:nvPicPr>
          <p:cNvPr id="7" name="图片 6">
            <a:extLst>
              <a:ext uri="{FF2B5EF4-FFF2-40B4-BE49-F238E27FC236}">
                <a16:creationId xmlns:a16="http://schemas.microsoft.com/office/drawing/2014/main" id="{6EC48114-8E6C-3BD2-9C35-45719EED57AE}"/>
              </a:ext>
            </a:extLst>
          </p:cNvPr>
          <p:cNvPicPr>
            <a:picLocks noChangeAspect="1"/>
          </p:cNvPicPr>
          <p:nvPr/>
        </p:nvPicPr>
        <p:blipFill>
          <a:blip r:embed="rId3"/>
          <a:stretch>
            <a:fillRect/>
          </a:stretch>
        </p:blipFill>
        <p:spPr>
          <a:xfrm>
            <a:off x="2326385" y="1700880"/>
            <a:ext cx="7658776" cy="4043045"/>
          </a:xfrm>
          <a:prstGeom prst="rect">
            <a:avLst/>
          </a:prstGeom>
        </p:spPr>
      </p:pic>
    </p:spTree>
    <p:extLst>
      <p:ext uri="{BB962C8B-B14F-4D97-AF65-F5344CB8AC3E}">
        <p14:creationId xmlns:p14="http://schemas.microsoft.com/office/powerpoint/2010/main" val="2583220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B1D36-419E-AEA2-EED9-0825BAA539A8}"/>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59C15865-0AD8-4771-D480-DB20A9386547}"/>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F68568D1-8CF4-E016-70F6-AF8DE4A0B07A}"/>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6EB59747-B454-3AE6-4DF3-5C539244E9F6}"/>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681FF542-A63A-01BD-6CB5-652EA9C3B96F}"/>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08A97999-F6A5-F790-2EFA-5314ED50746B}"/>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612EBDB7-13FF-1FB8-34DB-5C7968633107}"/>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63C12596-29CD-149F-64E6-74F3CE8D9726}"/>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6A1203B8-1AA4-D9BD-A732-E2FD0163E885}"/>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6923413D-F999-3F68-B5BD-973445054207}"/>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7BE19485-4D66-5ACA-E4CB-7C82B38933EF}"/>
              </a:ext>
            </a:extLst>
          </p:cNvPr>
          <p:cNvSpPr/>
          <p:nvPr/>
        </p:nvSpPr>
        <p:spPr>
          <a:xfrm>
            <a:off x="1534710" y="941019"/>
            <a:ext cx="10250505" cy="1308884"/>
          </a:xfrm>
          <a:prstGeom prst="rect">
            <a:avLst/>
          </a:prstGeom>
          <a:noFill/>
          <a:ln w="9525">
            <a:noFill/>
          </a:ln>
        </p:spPr>
        <p:txBody>
          <a:bodyPr wrap="square">
            <a:spAutoFit/>
          </a:bodyPr>
          <a:lstStyle/>
          <a:p>
            <a:pPr marL="457200" lvl="0" indent="-457200" algn="just">
              <a:lnSpc>
                <a:spcPct val="150000"/>
              </a:lnSpc>
              <a:buFont typeface="Wingdings" pitchFamily="2" charset="2"/>
              <a:buChar char="l"/>
            </a:pPr>
            <a:r>
              <a:rPr lang="zh-CN" altLang="en-US" sz="2800" b="1" dirty="0">
                <a:latin typeface="微软雅黑" panose="020B0503020204020204" pitchFamily="2" charset="-122"/>
                <a:ea typeface="微软雅黑" panose="020B0503020204020204" pitchFamily="2" charset="-122"/>
                <a:sym typeface="微软雅黑" panose="020B0503020204020204" pitchFamily="2" charset="-122"/>
              </a:rPr>
              <a:t>正交因子模型中因子表示的不唯一性</a:t>
            </a: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endParaRPr lang="en-US" altLang="zh-CN" sz="2800" b="1" dirty="0">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3786D43C-63BB-DEF0-29BE-086DC82FA4A5}"/>
              </a:ext>
            </a:extLst>
          </p:cNvPr>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因子模型的性质</a:t>
            </a:r>
          </a:p>
        </p:txBody>
      </p:sp>
      <p:pic>
        <p:nvPicPr>
          <p:cNvPr id="3" name="图片 2">
            <a:extLst>
              <a:ext uri="{FF2B5EF4-FFF2-40B4-BE49-F238E27FC236}">
                <a16:creationId xmlns:a16="http://schemas.microsoft.com/office/drawing/2014/main" id="{928D41A5-BB94-5125-D9F1-0E3562C38D34}"/>
              </a:ext>
            </a:extLst>
          </p:cNvPr>
          <p:cNvPicPr>
            <a:picLocks noChangeAspect="1"/>
          </p:cNvPicPr>
          <p:nvPr/>
        </p:nvPicPr>
        <p:blipFill>
          <a:blip r:embed="rId3"/>
          <a:stretch>
            <a:fillRect/>
          </a:stretch>
        </p:blipFill>
        <p:spPr>
          <a:xfrm>
            <a:off x="3709988" y="1521062"/>
            <a:ext cx="5763830" cy="5021638"/>
          </a:xfrm>
          <a:prstGeom prst="rect">
            <a:avLst/>
          </a:prstGeom>
        </p:spPr>
      </p:pic>
    </p:spTree>
    <p:extLst>
      <p:ext uri="{BB962C8B-B14F-4D97-AF65-F5344CB8AC3E}">
        <p14:creationId xmlns:p14="http://schemas.microsoft.com/office/powerpoint/2010/main" val="2483338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19EB-99EB-90E4-673E-B4F77EB087DC}"/>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858FCCD6-14FD-FCCA-5FA7-0A50C589DF86}"/>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E4C1B119-1B0D-7310-C19F-131426FD510F}"/>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a:extLst>
              <a:ext uri="{FF2B5EF4-FFF2-40B4-BE49-F238E27FC236}">
                <a16:creationId xmlns:a16="http://schemas.microsoft.com/office/drawing/2014/main" id="{34F822B5-36B7-4C8C-7993-3BC78DA635D7}"/>
              </a:ext>
            </a:extLst>
          </p:cNvPr>
          <p:cNvGrpSpPr/>
          <p:nvPr/>
        </p:nvGrpSpPr>
        <p:grpSpPr>
          <a:xfrm>
            <a:off x="3709988" y="1989138"/>
            <a:ext cx="4662487" cy="2650363"/>
            <a:chOff x="0" y="0"/>
            <a:chExt cx="4662264" cy="2650025"/>
          </a:xfrm>
        </p:grpSpPr>
        <p:sp>
          <p:nvSpPr>
            <p:cNvPr id="8202" name="矩形 2">
              <a:extLst>
                <a:ext uri="{FF2B5EF4-FFF2-40B4-BE49-F238E27FC236}">
                  <a16:creationId xmlns:a16="http://schemas.microsoft.com/office/drawing/2014/main" id="{42A7E6AF-ACED-71C0-E2BD-BAA8EC9D6A1D}"/>
                </a:ext>
              </a:extLst>
            </p:cNvPr>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a:extLst>
                <a:ext uri="{FF2B5EF4-FFF2-40B4-BE49-F238E27FC236}">
                  <a16:creationId xmlns:a16="http://schemas.microsoft.com/office/drawing/2014/main" id="{4BB6B6F2-0ABA-5796-4852-24FDD82B174A}"/>
                </a:ext>
              </a:extLst>
            </p:cNvPr>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a:extLst>
                <a:ext uri="{FF2B5EF4-FFF2-40B4-BE49-F238E27FC236}">
                  <a16:creationId xmlns:a16="http://schemas.microsoft.com/office/drawing/2014/main" id="{C2F17218-CA15-BA83-7AAE-019CCAE2BF7E}"/>
                </a:ext>
              </a:extLst>
            </p:cNvPr>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a:extLst>
              <a:ext uri="{FF2B5EF4-FFF2-40B4-BE49-F238E27FC236}">
                <a16:creationId xmlns:a16="http://schemas.microsoft.com/office/drawing/2014/main" id="{EC9AA494-CBD6-01B9-8358-55EE0CDFA156}"/>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1022657B-F450-CD60-818B-B3D5225AB1EA}"/>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19C021DF-E7C2-8253-0FA5-C1375CDB2101}"/>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a:extLst>
              <a:ext uri="{FF2B5EF4-FFF2-40B4-BE49-F238E27FC236}">
                <a16:creationId xmlns:a16="http://schemas.microsoft.com/office/drawing/2014/main" id="{4E40E29A-E2B0-4D59-4763-012C4DB1D730}"/>
              </a:ext>
            </a:extLst>
          </p:cNvPr>
          <p:cNvSpPr/>
          <p:nvPr/>
        </p:nvSpPr>
        <p:spPr>
          <a:xfrm>
            <a:off x="1459345" y="1336632"/>
            <a:ext cx="10250505" cy="454053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7.2.1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主因子估计法</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要建立实际问题的因子模型，关键是要根据样本数据估计因子的载荷矩阵，其中使用最为普遍的方法是主因子法（也称主成分法）。</a:t>
            </a: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设随机向量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的协方差阵为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 ≥…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的特征根，</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，为对应的标准正交化特征向量，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的谱分解为：</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a:extLst>
              <a:ext uri="{FF2B5EF4-FFF2-40B4-BE49-F238E27FC236}">
                <a16:creationId xmlns:a16="http://schemas.microsoft.com/office/drawing/2014/main" id="{8A8F9CEF-A180-BE2B-306D-9CF41CC0E342}"/>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Tree>
    <p:extLst>
      <p:ext uri="{BB962C8B-B14F-4D97-AF65-F5344CB8AC3E}">
        <p14:creationId xmlns:p14="http://schemas.microsoft.com/office/powerpoint/2010/main" val="3487685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B26EF-2EA1-8FA7-E7BF-912D9D24A6B7}"/>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4B835D03-6A62-6C72-EEE4-E27984871524}"/>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A7FC6ECC-11FE-D1F6-F2C6-E395E44C752E}"/>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97FE7288-0327-17A6-3C31-52D8DBD01C95}"/>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F8C50174-8548-6F5C-F011-1D3ACCF05433}"/>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914B19F0-CF28-63AB-E143-EB0A4DE27DDB}"/>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D976E967-4865-270F-5C3F-322A443C189E}"/>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pic>
        <p:nvPicPr>
          <p:cNvPr id="8" name="圖片 7">
            <a:extLst>
              <a:ext uri="{FF2B5EF4-FFF2-40B4-BE49-F238E27FC236}">
                <a16:creationId xmlns:a16="http://schemas.microsoft.com/office/drawing/2014/main" id="{47F4AC14-A566-D25B-C4CA-FC7A672C9236}"/>
              </a:ext>
            </a:extLst>
          </p:cNvPr>
          <p:cNvPicPr>
            <a:picLocks noChangeAspect="1"/>
          </p:cNvPicPr>
          <p:nvPr/>
        </p:nvPicPr>
        <p:blipFill>
          <a:blip r:embed="rId3"/>
          <a:stretch>
            <a:fillRect/>
          </a:stretch>
        </p:blipFill>
        <p:spPr>
          <a:xfrm>
            <a:off x="1787814" y="1393886"/>
            <a:ext cx="9984270" cy="2611154"/>
          </a:xfrm>
          <a:prstGeom prst="rect">
            <a:avLst/>
          </a:prstGeom>
        </p:spPr>
      </p:pic>
      <p:sp>
        <p:nvSpPr>
          <p:cNvPr id="9" name="矩形 6">
            <a:extLst>
              <a:ext uri="{FF2B5EF4-FFF2-40B4-BE49-F238E27FC236}">
                <a16:creationId xmlns:a16="http://schemas.microsoft.com/office/drawing/2014/main" id="{9D7D2ED1-0C85-5793-CB0D-884F2B3E3F52}"/>
              </a:ext>
            </a:extLst>
          </p:cNvPr>
          <p:cNvSpPr/>
          <p:nvPr/>
        </p:nvSpPr>
        <p:spPr>
          <a:xfrm>
            <a:off x="1370647" y="4437070"/>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上面的分解式是当因子个数与变量个数一样多，特殊因子方差为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时，因子模型中协方差阵的结构。</a:t>
            </a:r>
          </a:p>
        </p:txBody>
      </p:sp>
    </p:spTree>
    <p:extLst>
      <p:ext uri="{BB962C8B-B14F-4D97-AF65-F5344CB8AC3E}">
        <p14:creationId xmlns:p14="http://schemas.microsoft.com/office/powerpoint/2010/main" val="4011579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CBDC-C977-8D6A-B142-2C15C282C5BC}"/>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4E008151-CA72-3FD4-A8D0-330B5019C2B8}"/>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803444DB-9309-A301-10CF-07140AC1D7AE}"/>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6D050F36-2D32-897A-025F-911A558A8B22}"/>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C33FECF4-8D0C-0F9B-7DFA-53784A51C7FC}"/>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963D3191-1F81-C72A-1E0C-95A7A53165A5}"/>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03868B6C-0D0B-F93B-66B8-F7EF940BC853}"/>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mc:AlternateContent xmlns:mc="http://schemas.openxmlformats.org/markup-compatibility/2006" xmlns:a14="http://schemas.microsoft.com/office/drawing/2010/main">
        <mc:Choice Requires="a14">
          <p:sp>
            <p:nvSpPr>
              <p:cNvPr id="9" name="矩形 6">
                <a:extLst>
                  <a:ext uri="{FF2B5EF4-FFF2-40B4-BE49-F238E27FC236}">
                    <a16:creationId xmlns:a16="http://schemas.microsoft.com/office/drawing/2014/main" id="{8FF2662C-A678-FE2E-0BC7-0EC888061A83}"/>
                  </a:ext>
                </a:extLst>
              </p:cNvPr>
              <p:cNvSpPr/>
              <p:nvPr/>
            </p:nvSpPr>
            <p:spPr>
              <a:xfrm>
                <a:off x="1370647" y="1246100"/>
                <a:ext cx="10584735" cy="3384260"/>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此时因子模型为：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X=AF</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，其中</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Var(F)=</a:t>
                </a:r>
                <a:r>
                  <a:rPr lang="en-US" altLang="zh-CN" sz="2800" b="1"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，于是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Var(X)=Var(AF)=</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AVar</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＇，对照</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的分解式，则因子载荷阵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列应该是</a:t>
                </a:r>
                <a14:m>
                  <m:oMath xmlns:m="http://schemas.openxmlformats.org/officeDocument/2006/math">
                    <m:rad>
                      <m:radPr>
                        <m:degHide m:val="on"/>
                        <m:ctrlPr>
                          <a:rPr lang="zh-CN" altLang="en-US"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，也就是说除常数</a:t>
                </a:r>
                <a14:m>
                  <m:oMath xmlns:m="http://schemas.openxmlformats.org/officeDocument/2006/math">
                    <m:rad>
                      <m:radPr>
                        <m:degHide m:val="on"/>
                        <m:ctrlPr>
                          <a:rPr lang="zh-CN" altLang="en-US"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外，第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列因子载荷恰好是第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个主成分的系数，故该估计方法称为主成分法。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9" name="矩形 6">
                <a:extLst>
                  <a:ext uri="{FF2B5EF4-FFF2-40B4-BE49-F238E27FC236}">
                    <a16:creationId xmlns:a16="http://schemas.microsoft.com/office/drawing/2014/main" id="{8FF2662C-A678-FE2E-0BC7-0EC888061A83}"/>
                  </a:ext>
                </a:extLst>
              </p:cNvPr>
              <p:cNvSpPr>
                <a:spLocks noRot="1" noChangeAspect="1" noMove="1" noResize="1" noEditPoints="1" noAdjustHandles="1" noChangeArrowheads="1" noChangeShapeType="1" noTextEdit="1"/>
              </p:cNvSpPr>
              <p:nvPr/>
            </p:nvSpPr>
            <p:spPr>
              <a:xfrm>
                <a:off x="1370647" y="1246100"/>
                <a:ext cx="10584735" cy="3384260"/>
              </a:xfrm>
              <a:prstGeom prst="rect">
                <a:avLst/>
              </a:prstGeom>
              <a:blipFill>
                <a:blip r:embed="rId3"/>
                <a:stretch>
                  <a:fillRect l="-1319" r="-1199" b="-4104"/>
                </a:stretch>
              </a:blipFill>
              <a:ln w="9525">
                <a:noFill/>
              </a:ln>
            </p:spPr>
            <p:txBody>
              <a:bodyPr/>
              <a:lstStyle/>
              <a:p>
                <a:r>
                  <a:rPr lang="zh-CN" altLang="en-US">
                    <a:noFill/>
                  </a:rPr>
                  <a:t> </a:t>
                </a:r>
              </a:p>
            </p:txBody>
          </p:sp>
        </mc:Fallback>
      </mc:AlternateContent>
    </p:spTree>
    <p:extLst>
      <p:ext uri="{BB962C8B-B14F-4D97-AF65-F5344CB8AC3E}">
        <p14:creationId xmlns:p14="http://schemas.microsoft.com/office/powerpoint/2010/main" val="20686991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561EC-CF0A-1CAC-B907-553F3CD6835D}"/>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E37D3EA0-D674-2737-4087-373817DA6B15}"/>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FDC72BBA-9B38-3CF6-9EB5-C799F8E6A6E4}"/>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162886DB-E0C0-878F-3F76-863EB1D91FFB}"/>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E027A09F-6FA8-79F5-C826-B4310AA31E23}"/>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1B1FAF1F-51EE-A3FA-F2BB-0BE2197D7F97}"/>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C3245908-202A-CE6F-0D32-977BB3E2071F}"/>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a:extLst>
              <a:ext uri="{FF2B5EF4-FFF2-40B4-BE49-F238E27FC236}">
                <a16:creationId xmlns:a16="http://schemas.microsoft.com/office/drawing/2014/main" id="{C4C9DE41-7EE1-CB4D-7627-52FD53D469C6}"/>
              </a:ext>
            </a:extLst>
          </p:cNvPr>
          <p:cNvSpPr/>
          <p:nvPr/>
        </p:nvSpPr>
        <p:spPr>
          <a:xfrm>
            <a:off x="1370647" y="1246100"/>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上边给出的是</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的精确表达式，但实际中总是希望公共因子数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小于变量个数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，当最后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个特征根较小时，可省略，即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a:extLst>
              <a:ext uri="{FF2B5EF4-FFF2-40B4-BE49-F238E27FC236}">
                <a16:creationId xmlns:a16="http://schemas.microsoft.com/office/drawing/2014/main" id="{6075C2AC-CD49-BA6F-61CA-D6C58DEEEC14}"/>
              </a:ext>
            </a:extLst>
          </p:cNvPr>
          <p:cNvPicPr>
            <a:picLocks noChangeAspect="1"/>
          </p:cNvPicPr>
          <p:nvPr/>
        </p:nvPicPr>
        <p:blipFill>
          <a:blip r:embed="rId3"/>
          <a:stretch>
            <a:fillRect/>
          </a:stretch>
        </p:blipFill>
        <p:spPr>
          <a:xfrm>
            <a:off x="1638685" y="2996970"/>
            <a:ext cx="10042555" cy="2331592"/>
          </a:xfrm>
          <a:prstGeom prst="rect">
            <a:avLst/>
          </a:prstGeom>
        </p:spPr>
      </p:pic>
      <p:sp>
        <p:nvSpPr>
          <p:cNvPr id="8" name="矩形 6">
            <a:extLst>
              <a:ext uri="{FF2B5EF4-FFF2-40B4-BE49-F238E27FC236}">
                <a16:creationId xmlns:a16="http://schemas.microsoft.com/office/drawing/2014/main" id="{1FCEC187-D918-8DC3-DD74-56EA47F91E2B}"/>
              </a:ext>
            </a:extLst>
          </p:cNvPr>
          <p:cNvSpPr/>
          <p:nvPr/>
        </p:nvSpPr>
        <p:spPr>
          <a:xfrm>
            <a:off x="1370647" y="5549116"/>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上式也表示了在因子分析模型中特殊因子是不重要的，在计算中将其忽略掉。</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extLst>
      <p:ext uri="{BB962C8B-B14F-4D97-AF65-F5344CB8AC3E}">
        <p14:creationId xmlns:p14="http://schemas.microsoft.com/office/powerpoint/2010/main" val="15814032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1000" fill="hold"/>
                                        <p:tgtEl>
                                          <p:spTgt spid="8"/>
                                        </p:tgtEl>
                                        <p:attrNameLst>
                                          <p:attrName>ppt_x</p:attrName>
                                        </p:attrNameLst>
                                      </p:cBhvr>
                                      <p:tavLst>
                                        <p:tav tm="0">
                                          <p:val>
                                            <p:strVal val="#ppt_x"/>
                                          </p:val>
                                        </p:tav>
                                        <p:tav tm="100000">
                                          <p:val>
                                            <p:strVal val="#ppt_x"/>
                                          </p:val>
                                        </p:tav>
                                      </p:tavLst>
                                    </p:anim>
                                    <p:anim calcmode="lin" valueType="num">
                                      <p:cBhvr additive="base">
                                        <p:cTn id="1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642D2-5E66-CD42-DC90-3AE1148300AA}"/>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F3DFAD66-7F10-72FF-0C91-FE22262EC1C1}"/>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7850CEE8-CB3B-1067-3E14-57670AAB5179}"/>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FD5AA993-889F-A566-3090-2A9009ADD044}"/>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8D431D52-93BD-6CB1-D190-0F530BA937EA}"/>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56472A8F-C200-7601-3B21-7B21DB14BBDC}"/>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FCE8D25A-F206-61B3-96D7-88FE4136416B}"/>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a:extLst>
              <a:ext uri="{FF2B5EF4-FFF2-40B4-BE49-F238E27FC236}">
                <a16:creationId xmlns:a16="http://schemas.microsoft.com/office/drawing/2014/main" id="{E887EF92-9F62-94A0-8048-227FBF443370}"/>
              </a:ext>
            </a:extLst>
          </p:cNvPr>
          <p:cNvSpPr/>
          <p:nvPr/>
        </p:nvSpPr>
        <p:spPr>
          <a:xfrm>
            <a:off x="1370647" y="1246100"/>
            <a:ext cx="10584735" cy="66255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如果需要考虑特殊因子的作用，此时协方差阵可分解为：</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 name="矩形 6">
            <a:extLst>
              <a:ext uri="{FF2B5EF4-FFF2-40B4-BE49-F238E27FC236}">
                <a16:creationId xmlns:a16="http://schemas.microsoft.com/office/drawing/2014/main" id="{CF577E26-1432-6E44-D11F-E49C860B0ACD}"/>
              </a:ext>
            </a:extLst>
          </p:cNvPr>
          <p:cNvSpPr/>
          <p:nvPr/>
        </p:nvSpPr>
        <p:spPr>
          <a:xfrm>
            <a:off x="1370647" y="4601061"/>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通常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是未知的，需事先估计，这样主因子法就比主成份法使用困难些。</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10" name="圖片 9">
            <a:extLst>
              <a:ext uri="{FF2B5EF4-FFF2-40B4-BE49-F238E27FC236}">
                <a16:creationId xmlns:a16="http://schemas.microsoft.com/office/drawing/2014/main" id="{FADA9D17-D9AE-50A7-0C3D-877D776FE31A}"/>
              </a:ext>
            </a:extLst>
          </p:cNvPr>
          <p:cNvPicPr>
            <a:picLocks noChangeAspect="1"/>
          </p:cNvPicPr>
          <p:nvPr/>
        </p:nvPicPr>
        <p:blipFill>
          <a:blip r:embed="rId3"/>
          <a:stretch>
            <a:fillRect/>
          </a:stretch>
        </p:blipFill>
        <p:spPr>
          <a:xfrm>
            <a:off x="2066260" y="2571298"/>
            <a:ext cx="9548776" cy="1813369"/>
          </a:xfrm>
          <a:prstGeom prst="rect">
            <a:avLst/>
          </a:prstGeom>
        </p:spPr>
      </p:pic>
    </p:spTree>
    <p:extLst>
      <p:ext uri="{BB962C8B-B14F-4D97-AF65-F5344CB8AC3E}">
        <p14:creationId xmlns:p14="http://schemas.microsoft.com/office/powerpoint/2010/main" val="741408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F2BF3-BE25-F89E-F73C-FB3499D95080}"/>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675B92AE-D60B-6DAF-E023-BC5FA251618C}"/>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1F88B7BF-80FB-CB93-07F6-3754099CA55B}"/>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1270B06E-2093-1F49-4AA2-5FE54A34154B}"/>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9837E382-5A87-BBEE-38BC-6BF6814D7FBD}"/>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434B34D2-F7F8-F760-6D84-600808651D9C}"/>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C638F270-D706-AE22-EF7C-D6C7D5AE0B32}"/>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a:extLst>
              <a:ext uri="{FF2B5EF4-FFF2-40B4-BE49-F238E27FC236}">
                <a16:creationId xmlns:a16="http://schemas.microsoft.com/office/drawing/2014/main" id="{FDC90938-7920-7B90-5509-DEFDBC837EA1}"/>
              </a:ext>
            </a:extLst>
          </p:cNvPr>
          <p:cNvSpPr/>
          <p:nvPr/>
        </p:nvSpPr>
        <p:spPr>
          <a:xfrm>
            <a:off x="1370647" y="1246100"/>
            <a:ext cx="1058473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当</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未知时，可用样本协方差阵去代替，如果数据已经标准化，则此时协方差阵相等于相关阵（相差一个常数），仍可作上面类似的表示，所以因子分析通常用标准化数据。</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于是可得前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个因子载荷阵的估计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a:extLst>
              <a:ext uri="{FF2B5EF4-FFF2-40B4-BE49-F238E27FC236}">
                <a16:creationId xmlns:a16="http://schemas.microsoft.com/office/drawing/2014/main" id="{61C21202-3706-B4D5-9970-33A6E8AFEA19}"/>
              </a:ext>
            </a:extLst>
          </p:cNvPr>
          <p:cNvPicPr>
            <a:picLocks noChangeAspect="1"/>
          </p:cNvPicPr>
          <p:nvPr/>
        </p:nvPicPr>
        <p:blipFill rotWithShape="1">
          <a:blip r:embed="rId3"/>
          <a:srcRect t="9581"/>
          <a:stretch>
            <a:fillRect/>
          </a:stretch>
        </p:blipFill>
        <p:spPr>
          <a:xfrm>
            <a:off x="1399832" y="4315326"/>
            <a:ext cx="10659811" cy="801148"/>
          </a:xfrm>
          <a:prstGeom prst="rect">
            <a:avLst/>
          </a:prstGeom>
        </p:spPr>
      </p:pic>
    </p:spTree>
    <p:extLst>
      <p:ext uri="{BB962C8B-B14F-4D97-AF65-F5344CB8AC3E}">
        <p14:creationId xmlns:p14="http://schemas.microsoft.com/office/powerpoint/2010/main" val="2078188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7B499-2C6F-E6ED-CB2D-C85A1767BEF4}"/>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6B313E3D-8BD2-A051-BE91-962E8616FA63}"/>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6DC0DA87-F5BD-280E-6362-27173F37FC41}"/>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89F08846-9B5D-6E56-7F0C-7132CCFB639D}"/>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BDC902F1-C311-B479-0FF0-33872BBA61A2}"/>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B9BEAB53-76F2-6ABF-36F7-D60C8801A5C9}"/>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0FF61DB6-1B21-D0E0-F3EA-D66ABE79EA69}"/>
              </a:ext>
            </a:extLst>
          </p:cNvPr>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8" name="矩形 6">
            <a:extLst>
              <a:ext uri="{FF2B5EF4-FFF2-40B4-BE49-F238E27FC236}">
                <a16:creationId xmlns:a16="http://schemas.microsoft.com/office/drawing/2014/main" id="{CC9C7E13-C663-F463-0741-6A03B4BB9528}"/>
              </a:ext>
            </a:extLst>
          </p:cNvPr>
          <p:cNvSpPr/>
          <p:nvPr/>
        </p:nvSpPr>
        <p:spPr>
          <a:xfrm>
            <a:off x="1533573" y="1389482"/>
            <a:ext cx="10584735"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从上面分析可知：</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）主成分分析的数学模型实质上是一种变换，而因子分析模型是描述原变量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协方差阵结构的一种模型。</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）主成分分析中每个主成分相应的系数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是唯一确定的，而在因子分析中每个因子的相应系数不是唯一的，与公共因子个数及特殊因子取值有关。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extLst>
      <p:ext uri="{BB962C8B-B14F-4D97-AF65-F5344CB8AC3E}">
        <p14:creationId xmlns:p14="http://schemas.microsoft.com/office/powerpoint/2010/main" val="2102162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3A55F-8C1E-B654-C8F2-3C0B427C97CB}"/>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222E36C7-B793-8699-6CCA-0BFEC44055A8}"/>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E9759D9A-D0AF-CDE3-DEB1-A9C9CE3A3627}"/>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8A372F70-57D0-4F07-3CF5-C0C3F89BB12A}"/>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F3FFEB95-4882-D5BC-7145-6D951FF1946A}"/>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84E44371-BE6B-690D-6A8E-06397EE28ECC}"/>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a:extLst>
              <a:ext uri="{FF2B5EF4-FFF2-40B4-BE49-F238E27FC236}">
                <a16:creationId xmlns:a16="http://schemas.microsoft.com/office/drawing/2014/main" id="{F67E6791-65D7-3060-9248-F0CD7C54654F}"/>
              </a:ext>
            </a:extLst>
          </p:cNvPr>
          <p:cNvSpPr/>
          <p:nvPr/>
        </p:nvSpPr>
        <p:spPr>
          <a:xfrm flipH="1">
            <a:off x="180432" y="1094283"/>
            <a:ext cx="800100" cy="5478423"/>
          </a:xfrm>
          <a:prstGeom prst="rect">
            <a:avLst/>
          </a:prstGeom>
          <a:noFill/>
          <a:ln w="9525">
            <a:noFill/>
          </a:ln>
        </p:spPr>
        <p:txBody>
          <a:bodyPr wrap="square">
            <a:spAutoFit/>
          </a:bodyPr>
          <a:lstStyle/>
          <a:p>
            <a:pPr lvl="0" algn="ctr">
              <a:lnSpc>
                <a:spcPct val="100000"/>
              </a:lnSpc>
            </a:pPr>
            <a:r>
              <a:rPr lang="zh-CN" altLang="en-US" sz="25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主成分分析与因子分析的异同点</a:t>
            </a:r>
          </a:p>
        </p:txBody>
      </p:sp>
      <p:sp>
        <p:nvSpPr>
          <p:cNvPr id="7" name="文本框 6">
            <a:extLst>
              <a:ext uri="{FF2B5EF4-FFF2-40B4-BE49-F238E27FC236}">
                <a16:creationId xmlns:a16="http://schemas.microsoft.com/office/drawing/2014/main" id="{F6CCFC31-B236-10CD-EFFF-5BCB453A89DF}"/>
              </a:ext>
            </a:extLst>
          </p:cNvPr>
          <p:cNvSpPr txBox="1"/>
          <p:nvPr/>
        </p:nvSpPr>
        <p:spPr>
          <a:xfrm>
            <a:off x="2783770" y="1412746"/>
            <a:ext cx="6134582" cy="4524315"/>
          </a:xfrm>
          <a:prstGeom prst="rect">
            <a:avLst/>
          </a:prstGeom>
          <a:noFill/>
        </p:spPr>
        <p:txBody>
          <a:bodyPr wrap="square">
            <a:spAutoFit/>
          </a:bodyPr>
          <a:lstStyle/>
          <a:p>
            <a:pPr marL="285750" indent="-285750">
              <a:buFont typeface="Wingdings" pitchFamily="2" charset="2"/>
              <a:buChar char="u"/>
            </a:pPr>
            <a:r>
              <a:rPr lang="zh-CN" altLang="en-US" dirty="0"/>
              <a:t>都能起到压缩数据的作用，主成分得分或者因子得分可以概括多个变量中的 某些潜在影响因素。</a:t>
            </a:r>
          </a:p>
          <a:p>
            <a:endParaRPr lang="zh-CN" altLang="en-US" dirty="0"/>
          </a:p>
          <a:p>
            <a:pPr marL="285750" indent="-285750">
              <a:buFont typeface="Wingdings" pitchFamily="2" charset="2"/>
              <a:buChar char="u"/>
            </a:pPr>
            <a:r>
              <a:rPr lang="zh-CN" altLang="en-US" dirty="0"/>
              <a:t>•主成分分析中的 𝐺</a:t>
            </a:r>
            <a:r>
              <a:rPr lang="zh-CN" altLang="en-US" baseline="-25000" dirty="0"/>
              <a:t>𝑝×𝑚 </a:t>
            </a:r>
            <a:r>
              <a:rPr lang="zh-CN" altLang="en-US" dirty="0"/>
              <a:t>和因子分析中的 𝐴 都称为载荷阵，主成分分析中 𝐺 的每一列可以作为 𝑋 的线性组合系数产生一个主成分，而因子分析中的载荷 阵的列向量不能作为 𝑋 的线性组合系数。</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•主成分分析中 𝑌</a:t>
            </a:r>
            <a:r>
              <a:rPr lang="zh-CN" altLang="en-US" baseline="-25000" dirty="0"/>
              <a:t>𝑚×1</a:t>
            </a:r>
            <a:r>
              <a:rPr lang="zh-CN" altLang="en-US" dirty="0"/>
              <a:t> 是 𝑋 的线性组合，而因子分析中 𝐹 不是。</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•主成分分析中 Var(𝑌 𝑚×1 ) = diag(𝜆</a:t>
            </a:r>
            <a:r>
              <a:rPr lang="zh-CN" altLang="en-US" baseline="-25000" dirty="0"/>
              <a:t>1</a:t>
            </a:r>
            <a:r>
              <a:rPr lang="zh-CN" altLang="en-US" dirty="0"/>
              <a:t> , … , 𝜆</a:t>
            </a:r>
            <a:r>
              <a:rPr lang="zh-CN" altLang="en-US" baseline="-25000" dirty="0"/>
              <a:t>𝑚</a:t>
            </a:r>
            <a:r>
              <a:rPr lang="zh-CN" altLang="en-US" dirty="0"/>
              <a:t> )，其中 𝜆</a:t>
            </a:r>
            <a:r>
              <a:rPr lang="zh-CN" altLang="en-US" baseline="-25000" dirty="0"/>
              <a:t>1</a:t>
            </a:r>
            <a:r>
              <a:rPr lang="zh-CN" altLang="en-US" dirty="0"/>
              <a:t> , … , 𝜆</a:t>
            </a:r>
            <a:r>
              <a:rPr lang="zh-CN" altLang="en-US" baseline="-25000" dirty="0"/>
              <a:t>𝑚</a:t>
            </a:r>
            <a:r>
              <a:rPr lang="zh-CN" altLang="en-US" dirty="0"/>
              <a:t> 是 Var(𝑋)</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的从大到小的 𝑚 个最大特征值，而因子分析中 Var(𝐹) = 𝐼</a:t>
            </a:r>
            <a:r>
              <a:rPr lang="zh-CN" altLang="en-US" baseline="-25000" dirty="0"/>
              <a:t>𝑚</a:t>
            </a:r>
            <a:r>
              <a:rPr lang="zh-CN" altLang="en-US" dirty="0"/>
              <a:t> 。</a:t>
            </a:r>
          </a:p>
        </p:txBody>
      </p:sp>
    </p:spTree>
    <p:extLst>
      <p:ext uri="{BB962C8B-B14F-4D97-AF65-F5344CB8AC3E}">
        <p14:creationId xmlns:p14="http://schemas.microsoft.com/office/powerpoint/2010/main" val="377483422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CF1B-E4B5-F238-C9DA-2D3B470DB220}"/>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52E2DE61-EE64-3F64-2302-E125FB7DB8A2}"/>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15572998-10C4-1659-67CC-8D4D02DA4871}"/>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0343A1EB-5BDE-CB65-BAAB-6BFBE1EBB389}"/>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07729769-6F5F-E094-283F-8C4C56555394}"/>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CE4057A6-3E8D-945D-B327-55FA4132485A}"/>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7" name="文本框 6">
            <a:extLst>
              <a:ext uri="{FF2B5EF4-FFF2-40B4-BE49-F238E27FC236}">
                <a16:creationId xmlns:a16="http://schemas.microsoft.com/office/drawing/2014/main" id="{0A731AFA-C84B-CB4C-0B20-FE574C5C50DE}"/>
              </a:ext>
            </a:extLst>
          </p:cNvPr>
          <p:cNvSpPr txBox="1"/>
          <p:nvPr/>
        </p:nvSpPr>
        <p:spPr>
          <a:xfrm>
            <a:off x="2947511" y="1556870"/>
            <a:ext cx="6134582" cy="4247317"/>
          </a:xfrm>
          <a:prstGeom prst="rect">
            <a:avLst/>
          </a:prstGeom>
          <a:noFill/>
        </p:spPr>
        <p:txBody>
          <a:bodyPr wrap="square">
            <a:spAutoFit/>
          </a:bodyPr>
          <a:lstStyle/>
          <a:p>
            <a:pPr marL="285750" indent="-285750">
              <a:buFont typeface="Wingdings" pitchFamily="2" charset="2"/>
              <a:buChar char="u"/>
            </a:pPr>
            <a:r>
              <a:rPr lang="zh-CN" altLang="en-US" dirty="0"/>
              <a:t>选择不同的因子个数，得到的因子是不同的，而主成分分析中得到的主成分是 相同的。</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主成分得分可以很容易用原始变量值的线性组合计算，而因子得分则比较复 杂，计算方法也有多种。</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主成分分析中 </a:t>
            </a:r>
            <a:r>
              <a:rPr lang="en-US" altLang="zh-CN" dirty="0"/>
              <a:t>Var(𝑋) = U</a:t>
            </a:r>
            <a:r>
              <a:rPr lang="el-GR" altLang="zh-CN" dirty="0"/>
              <a:t>Λ</a:t>
            </a:r>
            <a:r>
              <a:rPr lang="en-US" altLang="zh-CN" dirty="0"/>
              <a:t>U</a:t>
            </a:r>
            <a:r>
              <a:rPr lang="el-GR" altLang="zh-CN" baseline="30000" dirty="0"/>
              <a:t>𝑇</a:t>
            </a:r>
            <a:r>
              <a:rPr lang="el-GR" altLang="zh-CN" dirty="0"/>
              <a:t> </a:t>
            </a:r>
            <a:r>
              <a:rPr lang="zh-CN" altLang="el-GR" dirty="0"/>
              <a:t>，</a:t>
            </a:r>
            <a:r>
              <a:rPr lang="zh-CN" altLang="en-US" dirty="0"/>
              <a:t>而因子分析中 </a:t>
            </a:r>
            <a:r>
              <a:rPr lang="en-US" altLang="zh-CN" dirty="0"/>
              <a:t>Var(𝑋) =𝐴𝐴</a:t>
            </a:r>
            <a:r>
              <a:rPr lang="en-US" altLang="zh-CN" baseline="30000" dirty="0"/>
              <a:t>𝑇</a:t>
            </a:r>
            <a:r>
              <a:rPr lang="en-US" altLang="zh-CN" dirty="0"/>
              <a:t> + </a:t>
            </a:r>
            <a:r>
              <a:rPr lang="el-GR" altLang="zh-CN" dirty="0"/>
              <a:t>Φ</a:t>
            </a:r>
            <a:r>
              <a:rPr lang="zh-CN" altLang="el-GR" dirty="0"/>
              <a:t>。</a:t>
            </a:r>
          </a:p>
          <a:p>
            <a:pPr marL="285750" indent="-285750">
              <a:buFont typeface="Wingdings" pitchFamily="2" charset="2"/>
              <a:buChar char="u"/>
            </a:pPr>
            <a:endParaRPr lang="zh-CN" altLang="el-GR" dirty="0"/>
          </a:p>
          <a:p>
            <a:pPr marL="285750" indent="-285750">
              <a:buFont typeface="Wingdings" pitchFamily="2" charset="2"/>
              <a:buChar char="u"/>
            </a:pPr>
            <a:r>
              <a:rPr lang="zh-CN" altLang="en-US" dirty="0"/>
              <a:t>因子分析具有伸缩不变性，主成分分析当使用相关阵时才有伸缩不变性。</a:t>
            </a:r>
          </a:p>
          <a:p>
            <a:pPr marL="285750" indent="-285750">
              <a:buFont typeface="Wingdings" pitchFamily="2" charset="2"/>
              <a:buChar char="u"/>
            </a:pPr>
            <a:endParaRPr lang="zh-CN" altLang="en-US" dirty="0"/>
          </a:p>
          <a:p>
            <a:pPr marL="285750" indent="-285750">
              <a:buFont typeface="Wingdings" pitchFamily="2" charset="2"/>
              <a:buChar char="u"/>
            </a:pPr>
            <a:r>
              <a:rPr lang="zh-CN" altLang="en-US" dirty="0"/>
              <a:t>因子分析从协方差阵计算与从相关阵计算可以得到相同的公共因子，主成分 分析从协方差阵计算与从相关阵计算得到的主成分不同。</a:t>
            </a:r>
          </a:p>
        </p:txBody>
      </p:sp>
      <p:sp>
        <p:nvSpPr>
          <p:cNvPr id="3" name="TextBox 1">
            <a:extLst>
              <a:ext uri="{FF2B5EF4-FFF2-40B4-BE49-F238E27FC236}">
                <a16:creationId xmlns:a16="http://schemas.microsoft.com/office/drawing/2014/main" id="{C06B7E5C-03C9-810A-8ED5-D12CAA894594}"/>
              </a:ext>
            </a:extLst>
          </p:cNvPr>
          <p:cNvSpPr/>
          <p:nvPr/>
        </p:nvSpPr>
        <p:spPr>
          <a:xfrm flipH="1">
            <a:off x="180432" y="1094283"/>
            <a:ext cx="800100" cy="5478423"/>
          </a:xfrm>
          <a:prstGeom prst="rect">
            <a:avLst/>
          </a:prstGeom>
          <a:noFill/>
          <a:ln w="9525">
            <a:noFill/>
          </a:ln>
        </p:spPr>
        <p:txBody>
          <a:bodyPr wrap="square">
            <a:spAutoFit/>
          </a:bodyPr>
          <a:lstStyle/>
          <a:p>
            <a:pPr lvl="0" algn="ctr">
              <a:lnSpc>
                <a:spcPct val="100000"/>
              </a:lnSpc>
            </a:pPr>
            <a:r>
              <a:rPr lang="zh-CN" altLang="en-US" sz="25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主成分分析与因子分析的异同点</a:t>
            </a:r>
          </a:p>
        </p:txBody>
      </p:sp>
    </p:spTree>
    <p:extLst>
      <p:ext uri="{BB962C8B-B14F-4D97-AF65-F5344CB8AC3E}">
        <p14:creationId xmlns:p14="http://schemas.microsoft.com/office/powerpoint/2010/main" val="239656313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E55E-0C5C-3B63-974A-EDF2BEC7E3BA}"/>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8A6D0105-2A33-9587-B53D-801F2B927CF6}"/>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F37CB600-A896-1568-FBF4-BA0F35D70820}"/>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35BC3EB9-43A7-A126-E78D-BE25921DDD63}"/>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99B3A264-11CA-7F0D-B6B3-446BF9D3912C}"/>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F4066ED9-AA0B-7EFE-D5C9-18D5DEBDA157}"/>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3" name="TextBox 1">
            <a:extLst>
              <a:ext uri="{FF2B5EF4-FFF2-40B4-BE49-F238E27FC236}">
                <a16:creationId xmlns:a16="http://schemas.microsoft.com/office/drawing/2014/main" id="{E80A3ED1-F0EB-EA66-493E-1A99398715D0}"/>
              </a:ext>
            </a:extLst>
          </p:cNvPr>
          <p:cNvSpPr/>
          <p:nvPr/>
        </p:nvSpPr>
        <p:spPr>
          <a:xfrm flipH="1">
            <a:off x="180432" y="1094283"/>
            <a:ext cx="800100" cy="5478423"/>
          </a:xfrm>
          <a:prstGeom prst="rect">
            <a:avLst/>
          </a:prstGeom>
          <a:noFill/>
          <a:ln w="9525">
            <a:noFill/>
          </a:ln>
        </p:spPr>
        <p:txBody>
          <a:bodyPr wrap="square">
            <a:spAutoFit/>
          </a:bodyPr>
          <a:lstStyle/>
          <a:p>
            <a:pPr lvl="0" algn="ctr">
              <a:lnSpc>
                <a:spcPct val="100000"/>
              </a:lnSpc>
            </a:pPr>
            <a:r>
              <a:rPr lang="zh-CN" altLang="en-US" sz="25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主成分分析与因子分析的异同点</a:t>
            </a:r>
          </a:p>
        </p:txBody>
      </p:sp>
      <p:graphicFrame>
        <p:nvGraphicFramePr>
          <p:cNvPr id="5" name="表格 4">
            <a:extLst>
              <a:ext uri="{FF2B5EF4-FFF2-40B4-BE49-F238E27FC236}">
                <a16:creationId xmlns:a16="http://schemas.microsoft.com/office/drawing/2014/main" id="{E89450D4-6BFF-DE6F-1094-2C362870C18A}"/>
              </a:ext>
            </a:extLst>
          </p:cNvPr>
          <p:cNvGraphicFramePr>
            <a:graphicFrameLocks noGrp="1"/>
          </p:cNvGraphicFramePr>
          <p:nvPr>
            <p:extLst>
              <p:ext uri="{D42A27DB-BD31-4B8C-83A1-F6EECF244321}">
                <p14:modId xmlns:p14="http://schemas.microsoft.com/office/powerpoint/2010/main" val="3313900645"/>
              </p:ext>
            </p:extLst>
          </p:nvPr>
        </p:nvGraphicFramePr>
        <p:xfrm>
          <a:off x="1829888" y="1943734"/>
          <a:ext cx="9660150" cy="3230880"/>
        </p:xfrm>
        <a:graphic>
          <a:graphicData uri="http://schemas.openxmlformats.org/drawingml/2006/table">
            <a:tbl>
              <a:tblPr/>
              <a:tblGrid>
                <a:gridCol w="2033957">
                  <a:extLst>
                    <a:ext uri="{9D8B030D-6E8A-4147-A177-3AD203B41FA5}">
                      <a16:colId xmlns:a16="http://schemas.microsoft.com/office/drawing/2014/main" val="2142630720"/>
                    </a:ext>
                  </a:extLst>
                </a:gridCol>
                <a:gridCol w="3600250">
                  <a:extLst>
                    <a:ext uri="{9D8B030D-6E8A-4147-A177-3AD203B41FA5}">
                      <a16:colId xmlns:a16="http://schemas.microsoft.com/office/drawing/2014/main" val="2956227804"/>
                    </a:ext>
                  </a:extLst>
                </a:gridCol>
                <a:gridCol w="4025943">
                  <a:extLst>
                    <a:ext uri="{9D8B030D-6E8A-4147-A177-3AD203B41FA5}">
                      <a16:colId xmlns:a16="http://schemas.microsoft.com/office/drawing/2014/main" val="1555348016"/>
                    </a:ext>
                  </a:extLst>
                </a:gridCol>
              </a:tblGrid>
              <a:tr h="0">
                <a:tc>
                  <a:txBody>
                    <a:bodyPr/>
                    <a:lstStyle/>
                    <a:p>
                      <a:pPr algn="ctr">
                        <a:buNone/>
                      </a:pPr>
                      <a:r>
                        <a:rPr lang="zh-CN" altLang="en-US" sz="2000" b="1" dirty="0"/>
                        <a:t>比较维度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2000" b="1" dirty="0"/>
                        <a:t>主成分分析 </a:t>
                      </a:r>
                      <a:r>
                        <a:rPr lang="en-US" sz="2000" b="1" dirty="0"/>
                        <a:t>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2000" b="1" dirty="0"/>
                        <a:t>因子分析 </a:t>
                      </a:r>
                      <a:r>
                        <a:rPr lang="en-US" sz="2000" b="1" dirty="0"/>
                        <a:t>FA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8834487"/>
                  </a:ext>
                </a:extLst>
              </a:tr>
              <a:tr h="0">
                <a:tc>
                  <a:txBody>
                    <a:bodyPr/>
                    <a:lstStyle/>
                    <a:p>
                      <a:pPr>
                        <a:buNone/>
                      </a:pPr>
                      <a:r>
                        <a:rPr lang="zh-CN" altLang="en-US"/>
                        <a:t>目的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压缩变量，提取综合指标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解释变量相关结构，寻找潜在因子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292580"/>
                  </a:ext>
                </a:extLst>
              </a:tr>
              <a:tr h="0">
                <a:tc>
                  <a:txBody>
                    <a:bodyPr/>
                    <a:lstStyle/>
                    <a:p>
                      <a:pPr>
                        <a:buNone/>
                      </a:pPr>
                      <a:r>
                        <a:rPr lang="zh-CN" altLang="en-US"/>
                        <a:t>核心思想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保留总变异信息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解释共同变异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1074767"/>
                  </a:ext>
                </a:extLst>
              </a:tr>
              <a:tr h="0">
                <a:tc>
                  <a:txBody>
                    <a:bodyPr/>
                    <a:lstStyle/>
                    <a:p>
                      <a:pPr>
                        <a:buNone/>
                      </a:pPr>
                      <a:r>
                        <a:rPr lang="zh-CN" altLang="en-US"/>
                        <a:t>数学形式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dirty="0"/>
                        <a:t>原变量的线性组合（</a:t>
                      </a:r>
                      <a:r>
                        <a:rPr lang="en-US" altLang="zh-CN" sz="1800" kern="1200" baseline="0" dirty="0">
                          <a:solidFill>
                            <a:schemeClr val="tx1"/>
                          </a:solidFill>
                          <a:effectLst/>
                          <a:latin typeface="+mn-lt"/>
                          <a:ea typeface="+mn-ea"/>
                          <a:cs typeface="+mn-cs"/>
                        </a:rPr>
                        <a:t>Y = L′X</a:t>
                      </a:r>
                      <a:r>
                        <a:rPr lang="zh-CN" altLang="zh-CN" dirty="0">
                          <a:effectLst/>
                        </a:rPr>
                        <a:t> </a:t>
                      </a:r>
                      <a:r>
                        <a:rPr lang="zh-CN" alt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dirty="0"/>
                        <a:t>原变量由公共因子和特殊因子构成</a:t>
                      </a:r>
                      <a:endParaRPr lang="en-US" altLang="zh-CN" dirty="0"/>
                    </a:p>
                    <a:p>
                      <a:pPr>
                        <a:buNone/>
                      </a:pPr>
                      <a:r>
                        <a:rPr lang="zh-CN" altLang="en-US" dirty="0"/>
                        <a:t>（</a:t>
                      </a:r>
                      <a:r>
                        <a:rPr lang="en-US" altLang="zh-CN" sz="1800" kern="1200" baseline="0" dirty="0">
                          <a:solidFill>
                            <a:schemeClr val="tx1"/>
                          </a:solidFill>
                          <a:effectLst/>
                          <a:latin typeface="+mn-lt"/>
                          <a:ea typeface="+mn-ea"/>
                          <a:cs typeface="+mn-cs"/>
                        </a:rPr>
                        <a:t>X = AF + </a:t>
                      </a:r>
                      <a:r>
                        <a:rPr lang="en-US" altLang="zh-CN" sz="1800" kern="1200" baseline="0" dirty="0" err="1">
                          <a:solidFill>
                            <a:schemeClr val="tx1"/>
                          </a:solidFill>
                          <a:effectLst/>
                          <a:latin typeface="+mn-lt"/>
                          <a:ea typeface="+mn-ea"/>
                          <a:cs typeface="+mn-cs"/>
                        </a:rPr>
                        <a:t>ε</a:t>
                      </a:r>
                      <a:r>
                        <a:rPr lang="zh-CN" altLang="zh-CN" dirty="0">
                          <a:effectLst/>
                        </a:rPr>
                        <a:t> </a:t>
                      </a:r>
                      <a:r>
                        <a:rPr lang="zh-CN" alt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8722682"/>
                  </a:ext>
                </a:extLst>
              </a:tr>
              <a:tr h="0">
                <a:tc>
                  <a:txBody>
                    <a:bodyPr/>
                    <a:lstStyle/>
                    <a:p>
                      <a:pPr>
                        <a:buNone/>
                      </a:pPr>
                      <a:r>
                        <a:rPr lang="zh-CN" altLang="en-US"/>
                        <a:t>是否区分特殊方差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不区分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区分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0606150"/>
                  </a:ext>
                </a:extLst>
              </a:tr>
              <a:tr h="0">
                <a:tc>
                  <a:txBody>
                    <a:bodyPr/>
                    <a:lstStyle/>
                    <a:p>
                      <a:pPr>
                        <a:buNone/>
                      </a:pPr>
                      <a:r>
                        <a:rPr lang="zh-CN" altLang="en-US"/>
                        <a:t>结果解释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主成分是综合指标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因子是潜在结构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4637218"/>
                  </a:ext>
                </a:extLst>
              </a:tr>
              <a:tr h="0">
                <a:tc>
                  <a:txBody>
                    <a:bodyPr/>
                    <a:lstStyle/>
                    <a:p>
                      <a:pPr>
                        <a:buNone/>
                      </a:pPr>
                      <a:r>
                        <a:rPr lang="zh-CN" altLang="en-US"/>
                        <a:t>变量命名难度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往往较大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旋转后较易解释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673332"/>
                  </a:ext>
                </a:extLst>
              </a:tr>
              <a:tr h="0">
                <a:tc>
                  <a:txBody>
                    <a:bodyPr/>
                    <a:lstStyle/>
                    <a:p>
                      <a:pPr>
                        <a:buNone/>
                      </a:pPr>
                      <a:r>
                        <a:rPr lang="zh-CN" altLang="en-US"/>
                        <a:t>典型用途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a:t>降维、综合评价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dirty="0"/>
                        <a:t>结构识别、维度提炼、量表构建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0027782"/>
                  </a:ext>
                </a:extLst>
              </a:tr>
            </a:tbl>
          </a:graphicData>
        </a:graphic>
      </p:graphicFrame>
    </p:spTree>
    <p:extLst>
      <p:ext uri="{BB962C8B-B14F-4D97-AF65-F5344CB8AC3E}">
        <p14:creationId xmlns:p14="http://schemas.microsoft.com/office/powerpoint/2010/main" val="254774109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D8203-93EC-73CA-FBED-A6D1D16E60E1}"/>
            </a:ext>
          </a:extLst>
        </p:cNvPr>
        <p:cNvGrpSpPr/>
        <p:nvPr/>
      </p:nvGrpSpPr>
      <p:grpSpPr>
        <a:xfrm>
          <a:off x="0" y="0"/>
          <a:ext cx="0" cy="0"/>
          <a:chOff x="0" y="0"/>
          <a:chExt cx="0" cy="0"/>
        </a:xfrm>
      </p:grpSpPr>
      <p:sp>
        <p:nvSpPr>
          <p:cNvPr id="8194" name="TextBox 27">
            <a:extLst>
              <a:ext uri="{FF2B5EF4-FFF2-40B4-BE49-F238E27FC236}">
                <a16:creationId xmlns:a16="http://schemas.microsoft.com/office/drawing/2014/main" id="{73FCD4F0-B0D0-F26C-34F9-74944AE7000A}"/>
              </a:ext>
            </a:extLst>
          </p:cNvPr>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a:extLst>
              <a:ext uri="{FF2B5EF4-FFF2-40B4-BE49-F238E27FC236}">
                <a16:creationId xmlns:a16="http://schemas.microsoft.com/office/drawing/2014/main" id="{B7F8FC36-F7FD-AB1A-F4EF-BE37BB1C4C84}"/>
              </a:ext>
            </a:extLst>
          </p:cNvPr>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a:extLst>
              <a:ext uri="{FF2B5EF4-FFF2-40B4-BE49-F238E27FC236}">
                <a16:creationId xmlns:a16="http://schemas.microsoft.com/office/drawing/2014/main" id="{46BDE7A1-B5FF-363D-60CA-C8B6A7E8FF5F}"/>
              </a:ext>
            </a:extLst>
          </p:cNvPr>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a:extLst>
              <a:ext uri="{FF2B5EF4-FFF2-40B4-BE49-F238E27FC236}">
                <a16:creationId xmlns:a16="http://schemas.microsoft.com/office/drawing/2014/main" id="{140867E1-3F00-DB7E-F3EB-6CEA3E4DA476}"/>
              </a:ext>
            </a:extLst>
          </p:cNvPr>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a:extLst>
              <a:ext uri="{FF2B5EF4-FFF2-40B4-BE49-F238E27FC236}">
                <a16:creationId xmlns:a16="http://schemas.microsoft.com/office/drawing/2014/main" id="{3C69B661-F8C4-9A8D-3972-7B3261E8E073}"/>
              </a:ext>
            </a:extLst>
          </p:cNvPr>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3" name="TextBox 1">
            <a:extLst>
              <a:ext uri="{FF2B5EF4-FFF2-40B4-BE49-F238E27FC236}">
                <a16:creationId xmlns:a16="http://schemas.microsoft.com/office/drawing/2014/main" id="{2BA35036-E03F-1AAA-EE3E-226EF9567240}"/>
              </a:ext>
            </a:extLst>
          </p:cNvPr>
          <p:cNvSpPr/>
          <p:nvPr/>
        </p:nvSpPr>
        <p:spPr>
          <a:xfrm flipH="1">
            <a:off x="180432" y="1094283"/>
            <a:ext cx="800100" cy="5478423"/>
          </a:xfrm>
          <a:prstGeom prst="rect">
            <a:avLst/>
          </a:prstGeom>
          <a:noFill/>
          <a:ln w="9525">
            <a:noFill/>
          </a:ln>
        </p:spPr>
        <p:txBody>
          <a:bodyPr wrap="square">
            <a:spAutoFit/>
          </a:bodyPr>
          <a:lstStyle/>
          <a:p>
            <a:pPr lvl="0" algn="ctr">
              <a:lnSpc>
                <a:spcPct val="100000"/>
              </a:lnSpc>
            </a:pPr>
            <a:r>
              <a:rPr lang="zh-CN" altLang="en-US" sz="25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主成分分析与因子分析的异同点</a:t>
            </a:r>
          </a:p>
        </p:txBody>
      </p:sp>
      <p:graphicFrame>
        <p:nvGraphicFramePr>
          <p:cNvPr id="7" name="表格 6">
            <a:extLst>
              <a:ext uri="{FF2B5EF4-FFF2-40B4-BE49-F238E27FC236}">
                <a16:creationId xmlns:a16="http://schemas.microsoft.com/office/drawing/2014/main" id="{ECF23446-1A57-199F-0C5A-A37D71245E04}"/>
              </a:ext>
            </a:extLst>
          </p:cNvPr>
          <p:cNvGraphicFramePr>
            <a:graphicFrameLocks noGrp="1"/>
          </p:cNvGraphicFramePr>
          <p:nvPr>
            <p:extLst>
              <p:ext uri="{D42A27DB-BD31-4B8C-83A1-F6EECF244321}">
                <p14:modId xmlns:p14="http://schemas.microsoft.com/office/powerpoint/2010/main" val="127848610"/>
              </p:ext>
            </p:extLst>
          </p:nvPr>
        </p:nvGraphicFramePr>
        <p:xfrm>
          <a:off x="1757788" y="1556870"/>
          <a:ext cx="9809322" cy="4742965"/>
        </p:xfrm>
        <a:graphic>
          <a:graphicData uri="http://schemas.openxmlformats.org/drawingml/2006/table">
            <a:tbl>
              <a:tblPr firstRow="1" firstCol="1" bandRow="1">
                <a:tableStyleId>{5C22544A-7EE6-4342-B048-85BDC9FD1C3A}</a:tableStyleId>
              </a:tblPr>
              <a:tblGrid>
                <a:gridCol w="1586527">
                  <a:extLst>
                    <a:ext uri="{9D8B030D-6E8A-4147-A177-3AD203B41FA5}">
                      <a16:colId xmlns:a16="http://schemas.microsoft.com/office/drawing/2014/main" val="2461184197"/>
                    </a:ext>
                  </a:extLst>
                </a:gridCol>
                <a:gridCol w="2120049">
                  <a:extLst>
                    <a:ext uri="{9D8B030D-6E8A-4147-A177-3AD203B41FA5}">
                      <a16:colId xmlns:a16="http://schemas.microsoft.com/office/drawing/2014/main" val="1842341214"/>
                    </a:ext>
                  </a:extLst>
                </a:gridCol>
                <a:gridCol w="2441099">
                  <a:extLst>
                    <a:ext uri="{9D8B030D-6E8A-4147-A177-3AD203B41FA5}">
                      <a16:colId xmlns:a16="http://schemas.microsoft.com/office/drawing/2014/main" val="3492308521"/>
                    </a:ext>
                  </a:extLst>
                </a:gridCol>
                <a:gridCol w="1751263">
                  <a:extLst>
                    <a:ext uri="{9D8B030D-6E8A-4147-A177-3AD203B41FA5}">
                      <a16:colId xmlns:a16="http://schemas.microsoft.com/office/drawing/2014/main" val="4002540823"/>
                    </a:ext>
                  </a:extLst>
                </a:gridCol>
                <a:gridCol w="1910384">
                  <a:extLst>
                    <a:ext uri="{9D8B030D-6E8A-4147-A177-3AD203B41FA5}">
                      <a16:colId xmlns:a16="http://schemas.microsoft.com/office/drawing/2014/main" val="1587479397"/>
                    </a:ext>
                  </a:extLst>
                </a:gridCol>
              </a:tblGrid>
              <a:tr h="450543">
                <a:tc>
                  <a:txBody>
                    <a:bodyPr/>
                    <a:lstStyle/>
                    <a:p>
                      <a:pPr algn="ctr">
                        <a:lnSpc>
                          <a:spcPct val="135000"/>
                        </a:lnSpc>
                        <a:spcAft>
                          <a:spcPts val="600"/>
                        </a:spcAft>
                        <a:buNone/>
                      </a:pPr>
                      <a:r>
                        <a:rPr lang="en-US" sz="1800" dirty="0" err="1">
                          <a:effectLst/>
                          <a:latin typeface="SimHei" panose="02010609060101010101" pitchFamily="49" charset="-122"/>
                          <a:ea typeface="SimHei" panose="02010609060101010101" pitchFamily="49" charset="-122"/>
                        </a:rPr>
                        <a:t>比较维度</a:t>
                      </a:r>
                      <a:endParaRPr lang="zh-CN" sz="20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35000"/>
                        </a:lnSpc>
                        <a:spcAft>
                          <a:spcPts val="600"/>
                        </a:spcAft>
                        <a:buNone/>
                      </a:pPr>
                      <a:r>
                        <a:rPr lang="en-US" sz="1800">
                          <a:effectLst/>
                          <a:latin typeface="SimHei" panose="02010609060101010101" pitchFamily="49" charset="-122"/>
                          <a:ea typeface="SimHei" panose="02010609060101010101" pitchFamily="49" charset="-122"/>
                        </a:rPr>
                        <a:t>主成分分析（PCA）</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35000"/>
                        </a:lnSpc>
                        <a:spcAft>
                          <a:spcPts val="600"/>
                        </a:spcAft>
                        <a:buNone/>
                      </a:pPr>
                      <a:r>
                        <a:rPr lang="en-US" sz="1800">
                          <a:effectLst/>
                          <a:latin typeface="SimHei" panose="02010609060101010101" pitchFamily="49" charset="-122"/>
                          <a:ea typeface="SimHei" panose="02010609060101010101" pitchFamily="49" charset="-122"/>
                        </a:rPr>
                        <a:t>因子分析（FA）</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35000"/>
                        </a:lnSpc>
                        <a:spcAft>
                          <a:spcPts val="600"/>
                        </a:spcAft>
                        <a:buNone/>
                      </a:pPr>
                      <a:r>
                        <a:rPr lang="en-US" sz="1800">
                          <a:effectLst/>
                          <a:latin typeface="SimHei" panose="02010609060101010101" pitchFamily="49" charset="-122"/>
                          <a:ea typeface="SimHei" panose="02010609060101010101" pitchFamily="49" charset="-122"/>
                        </a:rPr>
                        <a:t>课堂讲解关键词</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35000"/>
                        </a:lnSpc>
                        <a:spcAft>
                          <a:spcPts val="600"/>
                        </a:spcAft>
                        <a:buNone/>
                      </a:pPr>
                      <a:r>
                        <a:rPr lang="en-US" sz="1800">
                          <a:effectLst/>
                          <a:latin typeface="SimHei" panose="02010609060101010101" pitchFamily="49" charset="-122"/>
                          <a:ea typeface="SimHei" panose="02010609060101010101" pitchFamily="49" charset="-122"/>
                        </a:rPr>
                        <a:t>易混点提醒</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9750642"/>
                  </a:ext>
                </a:extLst>
              </a:tr>
              <a:tr h="775255">
                <a:tc>
                  <a:txBody>
                    <a:bodyPr/>
                    <a:lstStyle/>
                    <a:p>
                      <a:pPr algn="ctr">
                        <a:lnSpc>
                          <a:spcPct val="115000"/>
                        </a:lnSpc>
                        <a:spcAft>
                          <a:spcPts val="200"/>
                        </a:spcAft>
                        <a:buNone/>
                      </a:pPr>
                      <a:r>
                        <a:rPr lang="en-US" sz="1600">
                          <a:effectLst/>
                          <a:latin typeface="SimHei" panose="02010609060101010101" pitchFamily="49" charset="-122"/>
                          <a:ea typeface="SimHei" panose="02010609060101010101" pitchFamily="49" charset="-122"/>
                        </a:rPr>
                        <a:t>研究目标</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压缩变量、保留信息</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解释相关结构、识别潜在维度</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15000"/>
                        </a:lnSpc>
                        <a:spcAft>
                          <a:spcPts val="200"/>
                        </a:spcAft>
                        <a:buNone/>
                      </a:pPr>
                      <a:r>
                        <a:rPr lang="zh-CN" sz="1600">
                          <a:effectLst/>
                          <a:latin typeface="SimHei" panose="02010609060101010101" pitchFamily="49" charset="-122"/>
                          <a:ea typeface="SimHei" panose="02010609060101010101" pitchFamily="49" charset="-122"/>
                        </a:rPr>
                        <a:t>信息压缩</a:t>
                      </a:r>
                      <a:r>
                        <a:rPr lang="en-US" sz="1600">
                          <a:effectLst/>
                          <a:latin typeface="SimHei" panose="02010609060101010101" pitchFamily="49" charset="-122"/>
                          <a:ea typeface="SimHei" panose="02010609060101010101" pitchFamily="49" charset="-122"/>
                        </a:rPr>
                        <a:t> vs </a:t>
                      </a:r>
                      <a:r>
                        <a:rPr lang="zh-CN" sz="1600">
                          <a:effectLst/>
                          <a:latin typeface="SimHei" panose="02010609060101010101" pitchFamily="49" charset="-122"/>
                          <a:ea typeface="SimHei" panose="02010609060101010101" pitchFamily="49" charset="-122"/>
                        </a:rPr>
                        <a:t>结构解释</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都能降维，但目标不同</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97653581"/>
                  </a:ext>
                </a:extLst>
              </a:tr>
              <a:tr h="775255">
                <a:tc>
                  <a:txBody>
                    <a:bodyPr/>
                    <a:lstStyle/>
                    <a:p>
                      <a:pPr algn="ctr">
                        <a:lnSpc>
                          <a:spcPct val="115000"/>
                        </a:lnSpc>
                        <a:spcAft>
                          <a:spcPts val="200"/>
                        </a:spcAft>
                        <a:buNone/>
                      </a:pPr>
                      <a:r>
                        <a:rPr lang="en-US" sz="1600">
                          <a:effectLst/>
                          <a:latin typeface="SimHei" panose="02010609060101010101" pitchFamily="49" charset="-122"/>
                          <a:ea typeface="SimHei" panose="02010609060101010101" pitchFamily="49" charset="-122"/>
                        </a:rPr>
                        <a:t>数学形式</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Y = L′X</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X = AF + ε</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15000"/>
                        </a:lnSpc>
                        <a:spcAft>
                          <a:spcPts val="200"/>
                        </a:spcAft>
                        <a:buNone/>
                      </a:pPr>
                      <a:r>
                        <a:rPr lang="zh-CN" sz="1600">
                          <a:effectLst/>
                          <a:latin typeface="SimHei" panose="02010609060101010101" pitchFamily="49" charset="-122"/>
                          <a:ea typeface="SimHei" panose="02010609060101010101" pitchFamily="49" charset="-122"/>
                        </a:rPr>
                        <a:t>线性组合</a:t>
                      </a:r>
                      <a:r>
                        <a:rPr lang="en-US" sz="1600">
                          <a:effectLst/>
                          <a:latin typeface="SimHei" panose="02010609060101010101" pitchFamily="49" charset="-122"/>
                          <a:ea typeface="SimHei" panose="02010609060101010101" pitchFamily="49" charset="-122"/>
                        </a:rPr>
                        <a:t> vs </a:t>
                      </a:r>
                      <a:r>
                        <a:rPr lang="zh-CN" sz="1600">
                          <a:effectLst/>
                          <a:latin typeface="SimHei" panose="02010609060101010101" pitchFamily="49" charset="-122"/>
                          <a:ea typeface="SimHei" panose="02010609060101010101" pitchFamily="49" charset="-122"/>
                        </a:rPr>
                        <a:t>结构分解</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不要把载荷矩阵误看成主成分系数</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74373704"/>
                  </a:ext>
                </a:extLst>
              </a:tr>
              <a:tr h="775255">
                <a:tc>
                  <a:txBody>
                    <a:bodyPr/>
                    <a:lstStyle/>
                    <a:p>
                      <a:pPr algn="ctr">
                        <a:lnSpc>
                          <a:spcPct val="115000"/>
                        </a:lnSpc>
                        <a:spcAft>
                          <a:spcPts val="200"/>
                        </a:spcAft>
                        <a:buNone/>
                      </a:pPr>
                      <a:r>
                        <a:rPr lang="en-US" sz="1600">
                          <a:effectLst/>
                          <a:latin typeface="SimHei" panose="02010609060101010101" pitchFamily="49" charset="-122"/>
                          <a:ea typeface="SimHei" panose="02010609060101010101" pitchFamily="49" charset="-122"/>
                        </a:rPr>
                        <a:t>方差处理</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关注总方差</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区分共同方差与特殊方差</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15000"/>
                        </a:lnSpc>
                        <a:spcAft>
                          <a:spcPts val="200"/>
                        </a:spcAft>
                        <a:buNone/>
                      </a:pPr>
                      <a:r>
                        <a:rPr lang="en-US" sz="1600">
                          <a:effectLst/>
                          <a:latin typeface="SimHei" panose="02010609060101010101" pitchFamily="49" charset="-122"/>
                          <a:ea typeface="SimHei" panose="02010609060101010101" pitchFamily="49" charset="-122"/>
                        </a:rPr>
                        <a:t>总变异 vs 共同变异</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这是本质差异</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95390063"/>
                  </a:ext>
                </a:extLst>
              </a:tr>
              <a:tr h="775255">
                <a:tc>
                  <a:txBody>
                    <a:bodyPr/>
                    <a:lstStyle/>
                    <a:p>
                      <a:pPr algn="ctr">
                        <a:lnSpc>
                          <a:spcPct val="115000"/>
                        </a:lnSpc>
                        <a:spcAft>
                          <a:spcPts val="200"/>
                        </a:spcAft>
                        <a:buNone/>
                      </a:pPr>
                      <a:r>
                        <a:rPr lang="en-US" sz="1600">
                          <a:effectLst/>
                          <a:latin typeface="SimHei" panose="02010609060101010101" pitchFamily="49" charset="-122"/>
                          <a:ea typeface="SimHei" panose="02010609060101010101" pitchFamily="49" charset="-122"/>
                        </a:rPr>
                        <a:t>结果解释</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得到综合主成分</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a:effectLst/>
                          <a:latin typeface="SimHei" panose="02010609060101010101" pitchFamily="49" charset="-122"/>
                          <a:ea typeface="SimHei" panose="02010609060101010101" pitchFamily="49" charset="-122"/>
                        </a:rPr>
                        <a:t>得到可命名的公共因子</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15000"/>
                        </a:lnSpc>
                        <a:spcAft>
                          <a:spcPts val="200"/>
                        </a:spcAft>
                        <a:buNone/>
                      </a:pPr>
                      <a:r>
                        <a:rPr lang="zh-CN" sz="1600">
                          <a:effectLst/>
                          <a:latin typeface="SimHei" panose="02010609060101010101" pitchFamily="49" charset="-122"/>
                          <a:ea typeface="SimHei" panose="02010609060101010101" pitchFamily="49" charset="-122"/>
                        </a:rPr>
                        <a:t>综合指标</a:t>
                      </a:r>
                      <a:r>
                        <a:rPr lang="en-US" sz="1600">
                          <a:effectLst/>
                          <a:latin typeface="SimHei" panose="02010609060101010101" pitchFamily="49" charset="-122"/>
                          <a:ea typeface="SimHei" panose="02010609060101010101" pitchFamily="49" charset="-122"/>
                        </a:rPr>
                        <a:t> vs </a:t>
                      </a:r>
                      <a:r>
                        <a:rPr lang="zh-CN" sz="1600">
                          <a:effectLst/>
                          <a:latin typeface="SimHei" panose="02010609060101010101" pitchFamily="49" charset="-122"/>
                          <a:ea typeface="SimHei" panose="02010609060101010101" pitchFamily="49" charset="-122"/>
                        </a:rPr>
                        <a:t>潜在因子</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因子旋转是为了解释更清楚</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1583645"/>
                  </a:ext>
                </a:extLst>
              </a:tr>
              <a:tr h="1191402">
                <a:tc>
                  <a:txBody>
                    <a:bodyPr/>
                    <a:lstStyle/>
                    <a:p>
                      <a:pPr algn="ctr">
                        <a:lnSpc>
                          <a:spcPct val="115000"/>
                        </a:lnSpc>
                        <a:spcAft>
                          <a:spcPts val="200"/>
                        </a:spcAft>
                        <a:buNone/>
                      </a:pPr>
                      <a:r>
                        <a:rPr lang="en-US" sz="1600" dirty="0" err="1">
                          <a:effectLst/>
                          <a:latin typeface="SimHei" panose="02010609060101010101" pitchFamily="49" charset="-122"/>
                          <a:ea typeface="SimHei" panose="02010609060101010101" pitchFamily="49" charset="-122"/>
                        </a:rPr>
                        <a:t>应用场景</a:t>
                      </a:r>
                      <a:endParaRPr lang="zh-CN" sz="20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综合评价、降维预处理</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zh-CN" sz="1600">
                          <a:effectLst/>
                          <a:latin typeface="SimHei" panose="02010609060101010101" pitchFamily="49" charset="-122"/>
                          <a:ea typeface="SimHei" panose="02010609060101010101" pitchFamily="49" charset="-122"/>
                        </a:rPr>
                        <a:t>量表结构、能力维度、风格识别</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gn="ctr">
                        <a:lnSpc>
                          <a:spcPct val="115000"/>
                        </a:lnSpc>
                        <a:spcAft>
                          <a:spcPts val="200"/>
                        </a:spcAft>
                        <a:buNone/>
                      </a:pPr>
                      <a:r>
                        <a:rPr lang="zh-CN" sz="1600">
                          <a:effectLst/>
                          <a:latin typeface="SimHei" panose="02010609060101010101" pitchFamily="49" charset="-122"/>
                          <a:ea typeface="SimHei" panose="02010609060101010101" pitchFamily="49" charset="-122"/>
                        </a:rPr>
                        <a:t>压缩数据</a:t>
                      </a:r>
                      <a:r>
                        <a:rPr lang="en-US" sz="1600">
                          <a:effectLst/>
                          <a:latin typeface="SimHei" panose="02010609060101010101" pitchFamily="49" charset="-122"/>
                          <a:ea typeface="SimHei" panose="02010609060101010101" pitchFamily="49" charset="-122"/>
                        </a:rPr>
                        <a:t> vs </a:t>
                      </a:r>
                      <a:r>
                        <a:rPr lang="zh-CN" sz="1600">
                          <a:effectLst/>
                          <a:latin typeface="SimHei" panose="02010609060101010101" pitchFamily="49" charset="-122"/>
                          <a:ea typeface="SimHei" panose="02010609060101010101" pitchFamily="49" charset="-122"/>
                        </a:rPr>
                        <a:t>解释结构</a:t>
                      </a:r>
                      <a:endParaRPr lang="zh-CN" sz="200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tc>
                  <a:txBody>
                    <a:bodyPr/>
                    <a:lstStyle/>
                    <a:p>
                      <a:pPr>
                        <a:lnSpc>
                          <a:spcPct val="115000"/>
                        </a:lnSpc>
                        <a:spcAft>
                          <a:spcPts val="200"/>
                        </a:spcAft>
                        <a:buNone/>
                      </a:pPr>
                      <a:r>
                        <a:rPr lang="en-US" sz="1600" dirty="0">
                          <a:effectLst/>
                          <a:latin typeface="SimHei" panose="02010609060101010101" pitchFamily="49" charset="-122"/>
                          <a:ea typeface="SimHei" panose="02010609060101010101" pitchFamily="49" charset="-122"/>
                        </a:rPr>
                        <a:t>PCA </a:t>
                      </a:r>
                      <a:r>
                        <a:rPr lang="en-US" sz="1600" dirty="0" err="1">
                          <a:effectLst/>
                          <a:latin typeface="SimHei" panose="02010609060101010101" pitchFamily="49" charset="-122"/>
                          <a:ea typeface="SimHei" panose="02010609060101010101" pitchFamily="49" charset="-122"/>
                        </a:rPr>
                        <a:t>可为</a:t>
                      </a:r>
                      <a:r>
                        <a:rPr lang="en-US" sz="1600" dirty="0">
                          <a:effectLst/>
                          <a:latin typeface="SimHei" panose="02010609060101010101" pitchFamily="49" charset="-122"/>
                          <a:ea typeface="SimHei" panose="02010609060101010101" pitchFamily="49" charset="-122"/>
                        </a:rPr>
                        <a:t> FA </a:t>
                      </a:r>
                      <a:r>
                        <a:rPr lang="en-US" sz="1600" dirty="0" err="1">
                          <a:effectLst/>
                          <a:latin typeface="SimHei" panose="02010609060101010101" pitchFamily="49" charset="-122"/>
                          <a:ea typeface="SimHei" panose="02010609060101010101" pitchFamily="49" charset="-122"/>
                        </a:rPr>
                        <a:t>提供初始解，但并不等同于</a:t>
                      </a:r>
                      <a:r>
                        <a:rPr lang="en-US" sz="1600" dirty="0">
                          <a:effectLst/>
                          <a:latin typeface="SimHei" panose="02010609060101010101" pitchFamily="49" charset="-122"/>
                          <a:ea typeface="SimHei" panose="02010609060101010101" pitchFamily="49" charset="-122"/>
                        </a:rPr>
                        <a:t> FA</a:t>
                      </a:r>
                      <a:endParaRPr lang="zh-CN" sz="2000" dirty="0">
                        <a:effectLst/>
                        <a:latin typeface="SimHei" panose="02010609060101010101" pitchFamily="49" charset="-122"/>
                        <a:ea typeface="SimHe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54744115"/>
                  </a:ext>
                </a:extLst>
              </a:tr>
            </a:tbl>
          </a:graphicData>
        </a:graphic>
      </p:graphicFrame>
    </p:spTree>
    <p:extLst>
      <p:ext uri="{BB962C8B-B14F-4D97-AF65-F5344CB8AC3E}">
        <p14:creationId xmlns:p14="http://schemas.microsoft.com/office/powerpoint/2010/main" val="281305943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623620" y="1393826"/>
            <a:ext cx="11117847" cy="2601546"/>
          </a:xfrm>
          <a:prstGeom prst="rect">
            <a:avLst/>
          </a:prstGeom>
          <a:noFill/>
          <a:ln w="9525">
            <a:noFill/>
          </a:ln>
        </p:spPr>
        <p:txBody>
          <a:bodyPr wrap="square">
            <a:spAutoFit/>
          </a:bodyPr>
          <a:lstStyle/>
          <a:p>
            <a:pPr indent="457200" algn="just">
              <a:lnSpc>
                <a:spcPct val="150000"/>
              </a:lnSpc>
            </a:pPr>
            <a:r>
              <a:rPr lang="en-US" altLang="zh-CN" sz="2800" dirty="0">
                <a:solidFill>
                  <a:srgbClr val="C00000"/>
                </a:solidFill>
              </a:rPr>
              <a:t>【</a:t>
            </a:r>
            <a:r>
              <a:rPr lang="zh-CN" altLang="en-US" sz="2800" dirty="0">
                <a:solidFill>
                  <a:srgbClr val="C00000"/>
                </a:solidFill>
              </a:rPr>
              <a:t>例 </a:t>
            </a:r>
            <a:r>
              <a:rPr lang="en-US" altLang="zh-CN" sz="2800" dirty="0">
                <a:solidFill>
                  <a:srgbClr val="C00000"/>
                </a:solidFill>
              </a:rPr>
              <a:t>7.1】</a:t>
            </a:r>
            <a:r>
              <a:rPr lang="zh-CN" altLang="en-US" sz="2800" dirty="0">
                <a:solidFill>
                  <a:srgbClr val="C00000"/>
                </a:solidFill>
              </a:rPr>
              <a:t>水泥行业上市公司经营业绩因子模型实证分析。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本例选取其中的六个指标进行分析：主营业务利润率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、销售毛利率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，速动比率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、资产负债率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(x4)</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，主营业务收入增长率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、营业利润增长率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(x6)</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pic>
        <p:nvPicPr>
          <p:cNvPr id="7" name="圖片 6"/>
          <p:cNvPicPr>
            <a:picLocks noChangeAspect="1"/>
          </p:cNvPicPr>
          <p:nvPr/>
        </p:nvPicPr>
        <p:blipFill>
          <a:blip r:embed="rId3"/>
          <a:stretch>
            <a:fillRect/>
          </a:stretch>
        </p:blipFill>
        <p:spPr>
          <a:xfrm>
            <a:off x="673314" y="1175703"/>
            <a:ext cx="10844388" cy="5668069"/>
          </a:xfrm>
          <a:prstGeom prst="rect">
            <a:avLst/>
          </a:prstGeom>
        </p:spPr>
      </p:pic>
      <p:sp>
        <p:nvSpPr>
          <p:cNvPr id="9"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11"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651423"/>
            <a:ext cx="12192000" cy="2869768"/>
          </a:xfrm>
          <a:prstGeom prst="rect">
            <a:avLst/>
          </a:prstGeom>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525775" y="980830"/>
            <a:ext cx="11139466" cy="5847184"/>
          </a:xfrm>
          <a:prstGeom prst="rect">
            <a:avLst/>
          </a:prstGeom>
        </p:spPr>
      </p:pic>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7.1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因子分析模型</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980830"/>
            <a:ext cx="12192000" cy="3406801"/>
          </a:xfrm>
          <a:prstGeom prst="rect">
            <a:avLst/>
          </a:prstGeom>
        </p:spPr>
      </p:pic>
      <p:sp>
        <p:nvSpPr>
          <p:cNvPr id="8" name="矩形 6"/>
          <p:cNvSpPr/>
          <p:nvPr/>
        </p:nvSpPr>
        <p:spPr>
          <a:xfrm>
            <a:off x="263595" y="4293060"/>
            <a:ext cx="1173681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从上面的相关矩阵可以看出，主营业务利润率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与销售毛利率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呈高度正相关，速动比率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与资产负债率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x4</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呈较强的负相关。主营业务收入增长率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和营业利润增长率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x6</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呈中度相关关系。为了消除各财务指标之间的相关性，采用因子分析方法并提取因子。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454053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7.2.1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主因子估计法</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要建立实际问题的因子模型，关键是要根据样本数据估计因子的载荷矩阵，其中使用最为普遍的方法是主因子法（也称主成分法）。</a:t>
            </a: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设随机向量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的协方差阵为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 ≥…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的特征根，</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，为对应的标准正交化特征向量，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的谱分解为：</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pic>
        <p:nvPicPr>
          <p:cNvPr id="8" name="圖片 7"/>
          <p:cNvPicPr>
            <a:picLocks noChangeAspect="1"/>
          </p:cNvPicPr>
          <p:nvPr/>
        </p:nvPicPr>
        <p:blipFill>
          <a:blip r:embed="rId3"/>
          <a:stretch>
            <a:fillRect/>
          </a:stretch>
        </p:blipFill>
        <p:spPr>
          <a:xfrm>
            <a:off x="1787814" y="1393886"/>
            <a:ext cx="9984270" cy="2611154"/>
          </a:xfrm>
          <a:prstGeom prst="rect">
            <a:avLst/>
          </a:prstGeom>
        </p:spPr>
      </p:pic>
      <p:sp>
        <p:nvSpPr>
          <p:cNvPr id="9" name="矩形 6"/>
          <p:cNvSpPr/>
          <p:nvPr/>
        </p:nvSpPr>
        <p:spPr>
          <a:xfrm>
            <a:off x="1370647" y="4437070"/>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上面的分解式是当因子个数与变量个数一样多，特殊因子方差为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时，因子模型中协方差阵的结构。</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mc:AlternateContent xmlns:mc="http://schemas.openxmlformats.org/markup-compatibility/2006" xmlns:a14="http://schemas.microsoft.com/office/drawing/2010/main">
        <mc:Choice Requires="a14">
          <p:sp>
            <p:nvSpPr>
              <p:cNvPr id="9" name="矩形 6"/>
              <p:cNvSpPr/>
              <p:nvPr/>
            </p:nvSpPr>
            <p:spPr>
              <a:xfrm>
                <a:off x="1370647" y="1246100"/>
                <a:ext cx="10584735" cy="3384260"/>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此时因子模型为：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X=AF</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，其中</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Var(F)=</a:t>
                </a:r>
                <a:r>
                  <a:rPr lang="en-US" altLang="zh-CN" sz="2800" b="1"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baseline="-25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，于是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Var(X)=Var(AF)=</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AVar</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＇，对照</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的分解式，则因子载荷阵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列应该是</a:t>
                </a:r>
                <a14:m>
                  <m:oMath xmlns:m="http://schemas.openxmlformats.org/officeDocument/2006/math">
                    <m:rad>
                      <m:radPr>
                        <m:degHide m:val="on"/>
                        <m:ctrlPr>
                          <a:rPr lang="zh-CN" altLang="en-US"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，也就是说除常数</a:t>
                </a:r>
                <a14:m>
                  <m:oMath xmlns:m="http://schemas.openxmlformats.org/officeDocument/2006/math">
                    <m:rad>
                      <m:radPr>
                        <m:degHide m:val="on"/>
                        <m:ctrlPr>
                          <a:rPr lang="zh-CN" altLang="en-US"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外，第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列因子载荷恰好是第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个主成分的系数，故该估计方法称为主成分法。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9" name="矩形 6"/>
              <p:cNvSpPr>
                <a:spLocks noRot="1" noChangeAspect="1" noMove="1" noResize="1" noEditPoints="1" noAdjustHandles="1" noChangeArrowheads="1" noChangeShapeType="1" noTextEdit="1"/>
              </p:cNvSpPr>
              <p:nvPr/>
            </p:nvSpPr>
            <p:spPr>
              <a:xfrm>
                <a:off x="1370647" y="1246100"/>
                <a:ext cx="10584735" cy="3384260"/>
              </a:xfrm>
              <a:prstGeom prst="rect">
                <a:avLst/>
              </a:prstGeom>
              <a:blipFill>
                <a:blip r:embed="rId3"/>
                <a:stretch>
                  <a:fillRect l="-1319" r="-1199" b="-4104"/>
                </a:stretch>
              </a:blipFill>
              <a:ln w="9525">
                <a:noFill/>
              </a:ln>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p:cNvSpPr/>
          <p:nvPr/>
        </p:nvSpPr>
        <p:spPr>
          <a:xfrm>
            <a:off x="1370647" y="1246100"/>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上边给出的是</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的精确表达式，但实际中总是希望公共因子数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小于变量个数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，当最后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个特征根较小时，可省略，即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p:cNvPicPr>
            <a:picLocks noChangeAspect="1"/>
          </p:cNvPicPr>
          <p:nvPr/>
        </p:nvPicPr>
        <p:blipFill>
          <a:blip r:embed="rId3"/>
          <a:stretch>
            <a:fillRect/>
          </a:stretch>
        </p:blipFill>
        <p:spPr>
          <a:xfrm>
            <a:off x="1638685" y="2996970"/>
            <a:ext cx="10042555" cy="2331592"/>
          </a:xfrm>
          <a:prstGeom prst="rect">
            <a:avLst/>
          </a:prstGeom>
        </p:spPr>
      </p:pic>
      <p:sp>
        <p:nvSpPr>
          <p:cNvPr id="8" name="矩形 6"/>
          <p:cNvSpPr/>
          <p:nvPr/>
        </p:nvSpPr>
        <p:spPr>
          <a:xfrm>
            <a:off x="1370647" y="5549116"/>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上式也表示了在因子分析模型中特殊因子是不重要的，在计算中将其忽略掉。</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1000" fill="hold"/>
                                        <p:tgtEl>
                                          <p:spTgt spid="8"/>
                                        </p:tgtEl>
                                        <p:attrNameLst>
                                          <p:attrName>ppt_x</p:attrName>
                                        </p:attrNameLst>
                                      </p:cBhvr>
                                      <p:tavLst>
                                        <p:tav tm="0">
                                          <p:val>
                                            <p:strVal val="#ppt_x"/>
                                          </p:val>
                                        </p:tav>
                                        <p:tav tm="100000">
                                          <p:val>
                                            <p:strVal val="#ppt_x"/>
                                          </p:val>
                                        </p:tav>
                                      </p:tavLst>
                                    </p:anim>
                                    <p:anim calcmode="lin" valueType="num">
                                      <p:cBhvr additive="base">
                                        <p:cTn id="1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p:cNvSpPr/>
          <p:nvPr/>
        </p:nvSpPr>
        <p:spPr>
          <a:xfrm>
            <a:off x="1370647" y="1246100"/>
            <a:ext cx="10584735" cy="66255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如果需要考虑特殊因子的作用，此时协方差阵可分解为：</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 name="矩形 6"/>
          <p:cNvSpPr/>
          <p:nvPr/>
        </p:nvSpPr>
        <p:spPr>
          <a:xfrm>
            <a:off x="1370647" y="4601061"/>
            <a:ext cx="1058473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通常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是未知的，需事先估计，这样主因子法就比主成份法使用困难些。</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10" name="圖片 9"/>
          <p:cNvPicPr>
            <a:picLocks noChangeAspect="1"/>
          </p:cNvPicPr>
          <p:nvPr/>
        </p:nvPicPr>
        <p:blipFill>
          <a:blip r:embed="rId3"/>
          <a:stretch>
            <a:fillRect/>
          </a:stretch>
        </p:blipFill>
        <p:spPr>
          <a:xfrm>
            <a:off x="2066260" y="2571298"/>
            <a:ext cx="9548776" cy="181336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9" name="矩形 6"/>
          <p:cNvSpPr/>
          <p:nvPr/>
        </p:nvSpPr>
        <p:spPr>
          <a:xfrm>
            <a:off x="1370647" y="1246100"/>
            <a:ext cx="1058473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当</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未知时，可用样本协方差阵去代替，如果数据已经标准化，则此时协方差阵相等于相关阵（相差一个常数），仍可作上面类似的表示，所以因子分析通常用标准化数据。</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于是可得前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个因子载荷阵的估计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p:cNvPicPr>
            <a:picLocks noChangeAspect="1"/>
          </p:cNvPicPr>
          <p:nvPr/>
        </p:nvPicPr>
        <p:blipFill rotWithShape="1">
          <a:blip r:embed="rId3"/>
          <a:srcRect t="9581"/>
          <a:stretch>
            <a:fillRect/>
          </a:stretch>
        </p:blipFill>
        <p:spPr>
          <a:xfrm>
            <a:off x="1399832" y="4315326"/>
            <a:ext cx="10659811" cy="80114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主因子估计法</a:t>
            </a:r>
          </a:p>
        </p:txBody>
      </p:sp>
      <p:sp>
        <p:nvSpPr>
          <p:cNvPr id="8" name="矩形 6"/>
          <p:cNvSpPr/>
          <p:nvPr/>
        </p:nvSpPr>
        <p:spPr>
          <a:xfrm>
            <a:off x="1533573" y="1389482"/>
            <a:ext cx="10584735"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从上面分析可知：</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）主成分分析的数学模型实质上是一种变换，而因子分析模型是描述原变量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协方差阵结构的一种模型。</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）主成分分析中每个主成分相应的系数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是唯一确定的，而在因子分析中每个因子的相应系数不是唯一的，与公共因子个数及特殊因子取值有关。</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393826"/>
            <a:ext cx="12192000" cy="4607073"/>
          </a:xfrm>
          <a:prstGeom prst="rect">
            <a:avLst/>
          </a:prstGeom>
        </p:spPr>
      </p:pic>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635345"/>
            <a:ext cx="12192000" cy="929595"/>
          </a:xfrm>
          <a:prstGeom prst="rect">
            <a:avLst/>
          </a:prstGeom>
        </p:spPr>
      </p:pic>
      <mc:AlternateContent xmlns:mc="http://schemas.openxmlformats.org/markup-compatibility/2006" xmlns:a14="http://schemas.microsoft.com/office/drawing/2010/main">
        <mc:Choice Requires="a14">
          <p:sp>
            <p:nvSpPr>
              <p:cNvPr id="14" name="矩形 6"/>
              <p:cNvSpPr/>
              <p:nvPr/>
            </p:nvSpPr>
            <p:spPr>
              <a:xfrm>
                <a:off x="227592" y="2857133"/>
                <a:ext cx="11736815" cy="2227982"/>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实际上，在主成分分析中，我们知道主成分负荷</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 </a:t>
                </a:r>
                <a14:m>
                  <m:oMath xmlns:m="http://schemas.openxmlformats.org/officeDocument/2006/math">
                    <m:rad>
                      <m:radPr>
                        <m:degHide m:val="on"/>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 </a:t>
                </a:r>
                <a14:m>
                  <m:oMath xmlns:m="http://schemas.openxmlformats.org/officeDocument/2006/math">
                    <m:rad>
                      <m:radPr>
                        <m:degHide m:val="on"/>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𝜎</m:t>
                        </m:r>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𝑖𝑖</m:t>
                        </m:r>
                      </m:e>
                    </m:rad>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，当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是标准化的，就有</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σ</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ii = 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于是</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aij</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14:m>
                  <m:oMath xmlns:m="http://schemas.openxmlformats.org/officeDocument/2006/math">
                    <m:rad>
                      <m:radPr>
                        <m:degHide m:val="on"/>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radPr>
                      <m:deg/>
                      <m:e>
                        <m:r>
                          <a:rPr lang="el-GR"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𝜆</m:t>
                        </m:r>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e>
                    </m:rad>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uij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，跟因子载荷完全一样，所以也称这种方法是基于主成分的因子分析。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14" name="矩形 6"/>
              <p:cNvSpPr>
                <a:spLocks noRot="1" noChangeAspect="1" noMove="1" noResize="1" noEditPoints="1" noAdjustHandles="1" noChangeArrowheads="1" noChangeShapeType="1" noTextEdit="1"/>
              </p:cNvSpPr>
              <p:nvPr/>
            </p:nvSpPr>
            <p:spPr>
              <a:xfrm>
                <a:off x="227592" y="2857133"/>
                <a:ext cx="11736815" cy="2227982"/>
              </a:xfrm>
              <a:prstGeom prst="rect">
                <a:avLst/>
              </a:prstGeom>
              <a:blipFill rotWithShape="1">
                <a:blip r:embed="rId4"/>
                <a:stretch>
                  <a:fillRect l="-2" t="-12" r="3" b="-5727"/>
                </a:stretch>
              </a:blipFill>
              <a:ln w="9525">
                <a:noFill/>
              </a:ln>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14"/>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700880"/>
            <a:ext cx="12192000" cy="2839351"/>
          </a:xfrm>
          <a:prstGeom prst="rect">
            <a:avLst/>
          </a:prstGeom>
        </p:spPr>
      </p:pic>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2075774"/>
            <a:ext cx="12192000" cy="2706451"/>
          </a:xfrm>
          <a:prstGeom prst="rect">
            <a:avLst/>
          </a:prstGeom>
        </p:spPr>
      </p:pic>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512127"/>
            <a:ext cx="12192000" cy="3833745"/>
          </a:xfrm>
          <a:prstGeom prst="rect">
            <a:avLst/>
          </a:prstGeom>
        </p:spPr>
      </p:pic>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mc:AlternateContent xmlns:mc="http://schemas.openxmlformats.org/markup-compatibility/2006" xmlns:a14="http://schemas.microsoft.com/office/drawing/2010/main">
        <mc:Choice Requires="a14">
          <p:sp>
            <p:nvSpPr>
              <p:cNvPr id="5" name="矩形 6"/>
              <p:cNvSpPr/>
              <p:nvPr/>
            </p:nvSpPr>
            <p:spPr>
              <a:xfrm>
                <a:off x="1459345" y="1336632"/>
                <a:ext cx="10250505" cy="329769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7.2.2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极大似然估计法</a:t>
                </a: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如果假定公共因子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和特殊因子</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服从正态分布，则可以得到因子载荷的极大似然估计。设</a:t>
                </a:r>
                <a14:m>
                  <m:oMath xmlns:m="http://schemas.openxmlformats.org/officeDocument/2006/math">
                    <m:sSub>
                      <m:sSub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1</m:t>
                        </m:r>
                      </m:sub>
                    </m:sSub>
                    <m:r>
                      <a:rPr lang="zh-CN" altLang="en-US"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 </m:t>
                    </m:r>
                    <m:r>
                      <a:rPr lang="zh-CN" altLang="en-US"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m:t>
                    </m:r>
                    <m:sSub>
                      <m:sSub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b>
                    </m:sSub>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14:m>
                  <m:oMath xmlns:m="http://schemas.openxmlformats.org/officeDocument/2006/math">
                    <m:sSub>
                      <m:sSubPr>
                        <m:ctrlP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𝑛</m:t>
                        </m:r>
                      </m:sub>
                    </m:sSub>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为来自正态总体</a:t>
                </a:r>
                <a14:m>
                  <m:oMath xmlns:m="http://schemas.openxmlformats.org/officeDocument/2006/math">
                    <m:sSub>
                      <m:sSub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𝑁</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𝑝</m:t>
                        </m:r>
                      </m:sub>
                    </m:sSub>
                    <m:r>
                      <a:rPr lang="zh-CN" altLang="en-US"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 </m:t>
                    </m:r>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μ</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的随机样本，其中</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p>
              <a:p>
                <a:pPr lvl="0" algn="just">
                  <a:lnSpc>
                    <a:spcPct val="150000"/>
                  </a:lnSpc>
                </a:pP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5" name="矩形 6"/>
              <p:cNvSpPr>
                <a:spLocks noRot="1" noChangeAspect="1" noMove="1" noResize="1" noEditPoints="1" noAdjustHandles="1" noChangeArrowheads="1" noChangeShapeType="1" noTextEdit="1"/>
              </p:cNvSpPr>
              <p:nvPr/>
            </p:nvSpPr>
            <p:spPr>
              <a:xfrm>
                <a:off x="1459345" y="1336632"/>
                <a:ext cx="10250505" cy="3297698"/>
              </a:xfrm>
              <a:prstGeom prst="rect">
                <a:avLst/>
              </a:prstGeom>
              <a:blipFill rotWithShape="1">
                <a:blip r:embed="rId3"/>
                <a:stretch>
                  <a:fillRect l="-1" t="-18" r="4" b="3"/>
                </a:stretch>
              </a:blipFill>
              <a:ln w="9525">
                <a:noFill/>
              </a:ln>
            </p:spPr>
            <p:txBody>
              <a:bodyPr/>
              <a:lstStyle/>
              <a:p>
                <a:r>
                  <a:rPr lang="zh-CN" altLang="en-US">
                    <a:noFill/>
                  </a:rPr>
                  <a:t> </a:t>
                </a:r>
              </a:p>
            </p:txBody>
          </p:sp>
        </mc:Fallback>
      </mc:AlternateContent>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极大似然估计法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66255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从似然函数理论知：</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极大似然估计法</a:t>
            </a:r>
          </a:p>
        </p:txBody>
      </p:sp>
      <p:pic>
        <p:nvPicPr>
          <p:cNvPr id="10" name="圖片 9"/>
          <p:cNvPicPr>
            <a:picLocks noChangeAspect="1"/>
          </p:cNvPicPr>
          <p:nvPr/>
        </p:nvPicPr>
        <p:blipFill>
          <a:blip r:embed="rId3"/>
          <a:stretch>
            <a:fillRect/>
          </a:stretch>
        </p:blipFill>
        <p:spPr>
          <a:xfrm>
            <a:off x="1626851" y="2013054"/>
            <a:ext cx="10250506" cy="954704"/>
          </a:xfrm>
          <a:prstGeom prst="rect">
            <a:avLst/>
          </a:prstGeom>
        </p:spPr>
      </p:pic>
      <mc:AlternateContent xmlns:mc="http://schemas.openxmlformats.org/markup-compatibility/2006" xmlns:a14="http://schemas.microsoft.com/office/drawing/2010/main">
        <mc:Choice Requires="a14">
          <p:sp>
            <p:nvSpPr>
              <p:cNvPr id="11" name="矩形 6"/>
              <p:cNvSpPr/>
              <p:nvPr/>
            </p:nvSpPr>
            <p:spPr>
              <a:xfrm>
                <a:off x="1459345" y="3446292"/>
                <a:ext cx="1025050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它通过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依赖于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，但上面的似然函数并不能惟一确定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，为此，需添加如下条件：</a:t>
                </a:r>
                <a14:m>
                  <m:oMath xmlns:m="http://schemas.openxmlformats.org/officeDocument/2006/math">
                    <m:sSup>
                      <m:sSupPr>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pPr>
                      <m:e>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𝐴</m:t>
                        </m:r>
                      </m:e>
                      <m:sup>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m:t>
                        </m:r>
                      </m:sup>
                    </m:sSup>
                    <m:sSup>
                      <m:sSupPr>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pPr>
                      <m:e>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𝐷</m:t>
                        </m:r>
                      </m:e>
                      <m:sup>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−1</m:t>
                        </m:r>
                      </m:sup>
                    </m:sSup>
                  </m:oMath>
                </a14:m>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Λ</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，其中</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Λ</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是一个对角阵。</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通过用数值极大化的方法可以得到</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D</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的极大似然估计</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Â</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Ď</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，现在已有许多现成的计算机程序得到这些估计。</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11" name="矩形 6"/>
              <p:cNvSpPr>
                <a:spLocks noRot="1" noChangeAspect="1" noMove="1" noResize="1" noEditPoints="1" noAdjustHandles="1" noChangeArrowheads="1" noChangeShapeType="1" noTextEdit="1"/>
              </p:cNvSpPr>
              <p:nvPr/>
            </p:nvSpPr>
            <p:spPr>
              <a:xfrm>
                <a:off x="1459345" y="3446292"/>
                <a:ext cx="10250505" cy="2601546"/>
              </a:xfrm>
              <a:prstGeom prst="rect">
                <a:avLst/>
              </a:prstGeom>
              <a:blipFill rotWithShape="1">
                <a:blip r:embed="rId4"/>
                <a:stretch>
                  <a:fillRect l="-1" t="-6" r="-2573" b="-997"/>
                </a:stretch>
              </a:blipFill>
              <a:ln w="9525">
                <a:noFill/>
              </a:ln>
            </p:spPr>
            <p:txBody>
              <a:bodyPr/>
              <a:lstStyle/>
              <a:p>
                <a:r>
                  <a:rPr lang="zh-CN" altLang="en-US">
                    <a:noFill/>
                  </a:rPr>
                  <a:t> </a:t>
                </a:r>
              </a:p>
            </p:txBody>
          </p:sp>
        </mc:Fallback>
      </mc:AlternateContent>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72708" y="1619528"/>
            <a:ext cx="11972925" cy="4276725"/>
          </a:xfrm>
          <a:prstGeom prst="rect">
            <a:avLst/>
          </a:prstGeom>
        </p:spPr>
      </p:pic>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263987"/>
            <a:ext cx="12192000" cy="842356"/>
          </a:xfrm>
          <a:prstGeom prst="rect">
            <a:avLst/>
          </a:prstGeom>
        </p:spPr>
      </p:pic>
      <p:pic>
        <p:nvPicPr>
          <p:cNvPr id="13" name="圖片 12"/>
          <p:cNvPicPr>
            <a:picLocks noChangeAspect="1"/>
          </p:cNvPicPr>
          <p:nvPr/>
        </p:nvPicPr>
        <p:blipFill>
          <a:blip r:embed="rId4"/>
          <a:stretch>
            <a:fillRect/>
          </a:stretch>
        </p:blipFill>
        <p:spPr>
          <a:xfrm>
            <a:off x="22314" y="2041268"/>
            <a:ext cx="12169686" cy="3187857"/>
          </a:xfrm>
          <a:prstGeom prst="rect">
            <a:avLst/>
          </a:prstGeom>
        </p:spPr>
      </p:pic>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454053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7.2.3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因子载荷的意义</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因子分析模型中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叫做主因子或公共因子，它们是在各个原观测变量的表达式中都共同出现的因子，是相互独立的不可观测的理论变量。公共因子的含义，必须结合具体问题的实际意义而定。</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叫做特殊因子，是向量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的分量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=1,2,…,p)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所特有的因子，各特殊因子之间以及特殊因子与所有公共因子之间都是相互独立的。</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因子载荷的意义</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因子载荷的含义</a:t>
            </a:r>
          </a:p>
        </p:txBody>
      </p:sp>
      <p:pic>
        <p:nvPicPr>
          <p:cNvPr id="9" name="图片 8"/>
          <p:cNvPicPr>
            <a:picLocks noChangeAspect="1"/>
          </p:cNvPicPr>
          <p:nvPr>
            <p:custDataLst>
              <p:tags r:id="rId1"/>
            </p:custDataLst>
          </p:nvPr>
        </p:nvPicPr>
        <p:blipFill>
          <a:blip r:embed="rId4"/>
          <a:stretch>
            <a:fillRect/>
          </a:stretch>
        </p:blipFill>
        <p:spPr>
          <a:xfrm>
            <a:off x="1559560" y="1268730"/>
            <a:ext cx="10396855" cy="5185410"/>
          </a:xfrm>
          <a:prstGeom prst="rect">
            <a:avLst/>
          </a:prstGeom>
        </p:spPr>
      </p:pic>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90962" y="1205983"/>
            <a:ext cx="1025050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记因子载荷矩阵Ａ的第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列的各元素平方和为</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gj2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，称为公因子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的方差贡献。</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方差贡献率</a:t>
            </a:r>
          </a:p>
        </p:txBody>
      </p:sp>
      <p:pic>
        <p:nvPicPr>
          <p:cNvPr id="14" name="圖片 13"/>
          <p:cNvPicPr>
            <a:picLocks noChangeAspect="1"/>
          </p:cNvPicPr>
          <p:nvPr/>
        </p:nvPicPr>
        <p:blipFill>
          <a:blip r:embed="rId3"/>
          <a:stretch>
            <a:fillRect/>
          </a:stretch>
        </p:blipFill>
        <p:spPr>
          <a:xfrm>
            <a:off x="3359785" y="2974340"/>
            <a:ext cx="5142865" cy="284226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mc:AlternateContent xmlns:mc="http://schemas.openxmlformats.org/markup-compatibility/2006" xmlns:a14="http://schemas.microsoft.com/office/drawing/2010/main">
        <mc:Choice Requires="a14">
          <p:sp>
            <p:nvSpPr>
              <p:cNvPr id="5" name="矩形 6"/>
              <p:cNvSpPr/>
              <p:nvPr/>
            </p:nvSpPr>
            <p:spPr>
              <a:xfrm>
                <a:off x="1490962" y="1205983"/>
                <a:ext cx="10250505" cy="4218527"/>
              </a:xfrm>
              <a:prstGeom prst="rect">
                <a:avLst/>
              </a:prstGeom>
              <a:noFill/>
              <a:ln w="9525">
                <a:noFill/>
              </a:ln>
            </p:spPr>
            <p:txBody>
              <a:bodyPr wrap="square">
                <a:spAutoFit/>
              </a:bodyPr>
              <a:lstStyle/>
              <a:p>
                <a:pPr lvl="0" indent="457200" algn="just">
                  <a:lnSpc>
                    <a:spcPct val="150000"/>
                  </a:lnSpc>
                </a:pPr>
                <a14:m>
                  <m:oMath xmlns:m="http://schemas.openxmlformats.org/officeDocument/2006/math">
                    <m:sSubSup>
                      <m:sSubSupPr>
                        <m:ctrlPr>
                          <a:rPr lang="en-US" altLang="zh-CN" sz="28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就表示第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的每一分量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=1,2,…,p)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所提供方差的总和，它是衡量公共因子相对重要性的指标。</a:t>
                </a:r>
                <a14:m>
                  <m:oMath xmlns:m="http://schemas.openxmlformats.org/officeDocument/2006/math">
                    <m:sSubSup>
                      <m:sSubSupPr>
                        <m:ctrlP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越大，表明公共因子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Fj</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的贡献越大，或者说对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的影响和作用就越大。如果将因子载荷矩阵Ａ的所有</a:t>
                </a:r>
                <a14:m>
                  <m:oMath xmlns:m="http://schemas.openxmlformats.org/officeDocument/2006/math">
                    <m:sSubSup>
                      <m:sSubSupPr>
                        <m:ctrlP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j =1,2,…,m)</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都计算出来，使其按照大小排序，就可以依此提炼出最有影响力的公共因子。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5" name="矩形 6"/>
              <p:cNvSpPr>
                <a:spLocks noRot="1" noChangeAspect="1" noMove="1" noResize="1" noEditPoints="1" noAdjustHandles="1" noChangeArrowheads="1" noChangeShapeType="1" noTextEdit="1"/>
              </p:cNvSpPr>
              <p:nvPr/>
            </p:nvSpPr>
            <p:spPr>
              <a:xfrm>
                <a:off x="1490962" y="1205983"/>
                <a:ext cx="10250505" cy="4218527"/>
              </a:xfrm>
              <a:prstGeom prst="rect">
                <a:avLst/>
              </a:prstGeom>
              <a:blipFill rotWithShape="1">
                <a:blip r:embed="rId3"/>
                <a:stretch>
                  <a:fillRect l="-6" t="-3" r="3" b="-2686"/>
                </a:stretch>
              </a:blipFill>
              <a:ln w="9525">
                <a:noFill/>
              </a:ln>
            </p:spPr>
            <p:txBody>
              <a:bodyPr/>
              <a:lstStyle/>
              <a:p>
                <a:r>
                  <a:rPr lang="zh-CN" altLang="en-US">
                    <a:noFill/>
                  </a:rPr>
                  <a:t> </a:t>
                </a:r>
              </a:p>
            </p:txBody>
          </p:sp>
        </mc:Fallback>
      </mc:AlternateContent>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方差贡献率</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8" name="圖片 7"/>
          <p:cNvPicPr>
            <a:picLocks noChangeAspect="1"/>
          </p:cNvPicPr>
          <p:nvPr/>
        </p:nvPicPr>
        <p:blipFill>
          <a:blip r:embed="rId3"/>
          <a:stretch>
            <a:fillRect/>
          </a:stretch>
        </p:blipFill>
        <p:spPr>
          <a:xfrm>
            <a:off x="0" y="1236574"/>
            <a:ext cx="12192000" cy="5372274"/>
          </a:xfrm>
          <a:prstGeom prst="rect">
            <a:avLst/>
          </a:prstGeom>
        </p:spPr>
      </p:pic>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方差贡献率</a:t>
            </a:r>
          </a:p>
        </p:txBody>
      </p:sp>
      <p:sp>
        <p:nvSpPr>
          <p:cNvPr id="7" name="矩形 6"/>
          <p:cNvSpPr/>
          <p:nvPr/>
        </p:nvSpPr>
        <p:spPr>
          <a:xfrm>
            <a:off x="1490962" y="1205983"/>
            <a:ext cx="10250505" cy="454053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由主因子法结果可以看出，主因子法计算得前三个因子的方差贡献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2.5696</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1.7130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1.2491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，前三个因子所解释的方差占整个方差的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92.19</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％以上，基本上能全面地反映六项财务指标的信息。所以我们提取前三个因子作为公因子。</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从结果也可以看出，主因子法要比极大似然法提取效果好些。这是因为极大似然法要求数据来自多元正态分布，这一点一般是很难满足的。</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因子共同度</a:t>
            </a:r>
          </a:p>
        </p:txBody>
      </p:sp>
      <p:sp>
        <p:nvSpPr>
          <p:cNvPr id="7" name="矩形 6"/>
          <p:cNvSpPr/>
          <p:nvPr/>
        </p:nvSpPr>
        <p:spPr>
          <a:xfrm>
            <a:off x="1490962" y="1205983"/>
            <a:ext cx="1025050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由因子分析模型，当仅有一个公因子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时，</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的方差也可分解为两部分</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p>
        </p:txBody>
      </p:sp>
      <p:sp>
        <p:nvSpPr>
          <p:cNvPr id="5" name="矩形 4"/>
          <p:cNvSpPr/>
          <p:nvPr/>
        </p:nvSpPr>
        <p:spPr>
          <a:xfrm>
            <a:off x="1534710" y="3501005"/>
            <a:ext cx="1025050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由于数据已标准化，所以上式左端等于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；右端两项分别记为共性方差和个性方差</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9" name="圖片 8"/>
          <p:cNvPicPr>
            <a:picLocks noChangeAspect="1"/>
          </p:cNvPicPr>
          <p:nvPr/>
        </p:nvPicPr>
        <p:blipFill>
          <a:blip r:embed="rId3"/>
          <a:stretch>
            <a:fillRect/>
          </a:stretch>
        </p:blipFill>
        <p:spPr>
          <a:xfrm>
            <a:off x="2999740" y="2708910"/>
            <a:ext cx="6645910" cy="756285"/>
          </a:xfrm>
          <a:prstGeom prst="rect">
            <a:avLst/>
          </a:prstGeom>
        </p:spPr>
      </p:pic>
      <p:pic>
        <p:nvPicPr>
          <p:cNvPr id="13" name="圖片 12"/>
          <p:cNvPicPr>
            <a:picLocks noChangeAspect="1"/>
          </p:cNvPicPr>
          <p:nvPr/>
        </p:nvPicPr>
        <p:blipFill>
          <a:blip r:embed="rId4"/>
          <a:stretch>
            <a:fillRect/>
          </a:stretch>
        </p:blipFill>
        <p:spPr>
          <a:xfrm>
            <a:off x="2495550" y="5012690"/>
            <a:ext cx="7173595" cy="1289685"/>
          </a:xfrm>
          <a:prstGeom prst="rect">
            <a:avLst/>
          </a:prstGeom>
        </p:spPr>
      </p:pic>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因子共同度</a:t>
            </a:r>
          </a:p>
        </p:txBody>
      </p:sp>
      <mc:AlternateContent xmlns:mc="http://schemas.openxmlformats.org/markup-compatibility/2006" xmlns:a14="http://schemas.microsoft.com/office/drawing/2010/main">
        <mc:Choice Requires="a14">
          <p:sp>
            <p:nvSpPr>
              <p:cNvPr id="7" name="矩形 6"/>
              <p:cNvSpPr/>
              <p:nvPr/>
            </p:nvSpPr>
            <p:spPr>
              <a:xfrm>
                <a:off x="1490962" y="1205983"/>
                <a:ext cx="10250505" cy="2021131"/>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从而有</a:t>
                </a:r>
                <a14:m>
                  <m:oMath xmlns:m="http://schemas.openxmlformats.org/officeDocument/2006/math">
                    <m:sSubSup>
                      <m:sSubSup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m:t>
                    </m:r>
                    <m:sSubSup>
                      <m:sSubSupPr>
                        <m:ctrlP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l-GR"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𝜎</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=1</m:t>
                    </m:r>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，共性方差越大，说明共性因子的作用越大。选择模型后，接下去关心的是共性因子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的实际含义，这可以通过各变量在共性因子上载荷的符号与绝对值的大小来描述。</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1490962" y="1205983"/>
                <a:ext cx="10250505" cy="2021131"/>
              </a:xfrm>
              <a:prstGeom prst="rect">
                <a:avLst/>
              </a:prstGeom>
              <a:blipFill rotWithShape="1">
                <a:blip r:embed="rId3"/>
                <a:stretch>
                  <a:fillRect l="-6" t="-6" r="3" b="-375"/>
                </a:stretch>
              </a:blipFill>
              <a:ln w="9525">
                <a:noFill/>
              </a:ln>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7"/>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因子共同度</a:t>
            </a:r>
          </a:p>
        </p:txBody>
      </p:sp>
      <p:pic>
        <p:nvPicPr>
          <p:cNvPr id="8" name="圖片 7"/>
          <p:cNvPicPr>
            <a:picLocks noChangeAspect="1"/>
          </p:cNvPicPr>
          <p:nvPr/>
        </p:nvPicPr>
        <p:blipFill>
          <a:blip r:embed="rId3"/>
          <a:stretch>
            <a:fillRect/>
          </a:stretch>
        </p:blipFill>
        <p:spPr>
          <a:xfrm>
            <a:off x="1490058" y="1189931"/>
            <a:ext cx="10252660" cy="3145238"/>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1534710" y="4526964"/>
                <a:ext cx="10250505" cy="1990160"/>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它是全部公共因子对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的方差所做出的贡献，反映了全部公共因子对变量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的影响。</a:t>
                </a:r>
                <a14:m>
                  <m:oMath xmlns:m="http://schemas.openxmlformats.org/officeDocument/2006/math">
                    <m:sSubSup>
                      <m:sSubSup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大表明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的第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个分量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xi</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对于Ｆ的每一分量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Fm</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的共同依赖程度大。</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1534710" y="4526964"/>
                <a:ext cx="10250505" cy="1990160"/>
              </a:xfrm>
              <a:prstGeom prst="rect">
                <a:avLst/>
              </a:prstGeom>
              <a:blipFill rotWithShape="1">
                <a:blip r:embed="rId4"/>
                <a:stretch>
                  <a:fillRect l="-5" t="-2" r="2" b="-1940"/>
                </a:stretch>
              </a:blipFill>
              <a:ln w="9525">
                <a:noFill/>
              </a:ln>
            </p:spPr>
            <p:txBody>
              <a:bodyPr/>
              <a:lstStyle/>
              <a:p>
                <a:r>
                  <a:rPr lang="zh-CN" altLang="en-US">
                    <a:noFill/>
                  </a:rPr>
                  <a:t> </a:t>
                </a:r>
              </a:p>
            </p:txBody>
          </p:sp>
        </mc:Fallback>
      </mc:AlternateContent>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389361"/>
            <a:ext cx="12192000" cy="4079278"/>
          </a:xfrm>
          <a:prstGeom prst="rect">
            <a:avLst/>
          </a:prstGeom>
        </p:spPr>
      </p:pic>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7.2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因子载荷及解释</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628875"/>
            <a:ext cx="12192000" cy="1282404"/>
          </a:xfrm>
          <a:prstGeom prst="rect">
            <a:avLst/>
          </a:prstGeom>
        </p:spPr>
      </p:pic>
      <p:pic>
        <p:nvPicPr>
          <p:cNvPr id="9" name="圖片 8"/>
          <p:cNvPicPr>
            <a:picLocks noChangeAspect="1"/>
          </p:cNvPicPr>
          <p:nvPr/>
        </p:nvPicPr>
        <p:blipFill>
          <a:blip r:embed="rId4"/>
          <a:stretch>
            <a:fillRect/>
          </a:stretch>
        </p:blipFill>
        <p:spPr>
          <a:xfrm>
            <a:off x="0" y="2852960"/>
            <a:ext cx="12208042" cy="3237785"/>
          </a:xfrm>
          <a:prstGeom prst="rect">
            <a:avLst/>
          </a:prstGeom>
        </p:spPr>
      </p:pic>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1955215"/>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7.3.1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因子旋转方法</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marL="342900" lvl="0" indent="-342900" algn="just">
              <a:lnSpc>
                <a:spcPct val="150000"/>
              </a:lnSpc>
              <a:buFont typeface="Wingdings" panose="05000000000000000000" pitchFamily="2" charset="2"/>
              <a:buChar char="ü"/>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因子旋转的方法有很多，正交旋转</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(orthogonal rotation)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和斜交旋转</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(oblique rotation)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是因子旋转的两类方法。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因子旋转方法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最常用的方法是最大方差正交旋转法</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(Varimax)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进行因子旋转，就是要使因子载荷矩阵中因子载荷的绝对值向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两个方向分化，使大的载荷更大，小的载荷更小。因子旋转过程中，如果因子对应轴相互正交，则称为正交旋转；</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正交旋转</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正交旋转</a:t>
            </a:r>
          </a:p>
        </p:txBody>
      </p:sp>
      <p:pic>
        <p:nvPicPr>
          <p:cNvPr id="8" name="圖片 7"/>
          <p:cNvPicPr>
            <a:picLocks noChangeAspect="1"/>
          </p:cNvPicPr>
          <p:nvPr/>
        </p:nvPicPr>
        <p:blipFill>
          <a:blip r:embed="rId3"/>
          <a:stretch>
            <a:fillRect/>
          </a:stretch>
        </p:blipFill>
        <p:spPr>
          <a:xfrm>
            <a:off x="1370647" y="1556466"/>
            <a:ext cx="10625141" cy="1411292"/>
          </a:xfrm>
          <a:prstGeom prst="rect">
            <a:avLst/>
          </a:prstGeom>
        </p:spPr>
      </p:pic>
      <mc:AlternateContent xmlns:mc="http://schemas.openxmlformats.org/markup-compatibility/2006" xmlns:a14="http://schemas.microsoft.com/office/drawing/2010/main">
        <mc:Choice Requires="a14">
          <p:sp>
            <p:nvSpPr>
              <p:cNvPr id="9" name="矩形 6"/>
              <p:cNvSpPr/>
              <p:nvPr/>
            </p:nvSpPr>
            <p:spPr>
              <a:xfrm>
                <a:off x="1370647" y="3410456"/>
                <a:ext cx="10250505" cy="209826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这表明经过正交旋转后，共同度</a:t>
                </a:r>
                <a14:m>
                  <m:oMath xmlns:m="http://schemas.openxmlformats.org/officeDocument/2006/math">
                    <m:sSubSup>
                      <m:sSubSupPr>
                        <m:ctrlPr>
                          <a:rPr lang="en-US" altLang="zh-CN" sz="280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并不改变，但公共因子的方差贡献 </a:t>
                </a:r>
                <a14:m>
                  <m:oMath xmlns:m="http://schemas.openxmlformats.org/officeDocument/2006/math">
                    <m:sSubSup>
                      <m:sSubSupPr>
                        <m:ctrlP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𝑔</m:t>
                        </m:r>
                      </m:e>
                      <m:sub>
                        <m:r>
                          <a:rPr lang="en-US" altLang="zh-CN" sz="2800" b="0" i="1" dirty="0"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𝑗</m:t>
                        </m:r>
                      </m:sub>
                      <m:sup>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不再与原来相同。</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这样我们就可以对因子进行合理的解释了。</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9" name="矩形 6"/>
              <p:cNvSpPr>
                <a:spLocks noRot="1" noChangeAspect="1" noMove="1" noResize="1" noEditPoints="1" noAdjustHandles="1" noChangeArrowheads="1" noChangeShapeType="1" noTextEdit="1"/>
              </p:cNvSpPr>
              <p:nvPr/>
            </p:nvSpPr>
            <p:spPr>
              <a:xfrm>
                <a:off x="1370647" y="3410456"/>
                <a:ext cx="10250505" cy="2098267"/>
              </a:xfrm>
              <a:prstGeom prst="rect">
                <a:avLst/>
              </a:prstGeom>
              <a:blipFill rotWithShape="1">
                <a:blip r:embed="rId4"/>
                <a:stretch>
                  <a:fillRect l="-3" t="-24" b="-3748"/>
                </a:stretch>
              </a:blipFill>
              <a:ln w="9525">
                <a:noFill/>
              </a:ln>
            </p:spPr>
            <p:txBody>
              <a:bodyPr/>
              <a:lstStyle/>
              <a:p>
                <a:r>
                  <a:rPr lang="zh-CN" altLang="en-US">
                    <a:noFill/>
                  </a:rPr>
                  <a:t> </a:t>
                </a:r>
              </a:p>
            </p:txBody>
          </p:sp>
        </mc:Fallback>
      </mc:AlternateContent>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正交旋转</a:t>
            </a:r>
          </a:p>
        </p:txBody>
      </p:sp>
      <mc:AlternateContent xmlns:mc="http://schemas.openxmlformats.org/markup-compatibility/2006" xmlns:a14="http://schemas.microsoft.com/office/drawing/2010/main">
        <mc:Choice Requires="a14">
          <p:sp>
            <p:nvSpPr>
              <p:cNvPr id="9" name="矩形 6"/>
              <p:cNvSpPr/>
              <p:nvPr/>
            </p:nvSpPr>
            <p:spPr>
              <a:xfrm>
                <a:off x="1631632" y="1124340"/>
                <a:ext cx="10250505" cy="4653915"/>
              </a:xfrm>
              <a:prstGeom prst="rect">
                <a:avLst/>
              </a:prstGeom>
              <a:noFill/>
              <a:ln w="9525">
                <a:noFill/>
              </a:ln>
            </p:spPr>
            <p:txBody>
              <a:bodyPr wrap="square">
                <a:spAutoFit/>
              </a:bodyPr>
              <a:lstStyle/>
              <a:p>
                <a:pPr lvl="0" indent="457200" algn="just">
                  <a:lnSpc>
                    <a:spcPct val="150000"/>
                  </a:lnSpc>
                </a:pP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对已知的因子载荷矩阵进行正交变换的目的，是使各因子上的载荷都两极分化，也就是要使各个因子上的载荷之间方差极大化。由于各个变量</a:t>
                </a:r>
                <a14:m>
                  <m:oMath xmlns:m="http://schemas.openxmlformats.org/officeDocument/2006/math">
                    <m:sSub>
                      <m:sSubPr>
                        <m:ctrlPr>
                          <a:rPr lang="en-US" altLang="zh-CN" sz="24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4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4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Sub>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在某一因子上的载荷</a:t>
                </a:r>
                <a14:m>
                  <m:oMath xmlns:m="http://schemas.openxmlformats.org/officeDocument/2006/math">
                    <m:sSub>
                      <m:sSubPr>
                        <m:ctrlPr>
                          <a:rPr lang="en-US" altLang="zh-CN" sz="240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4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𝑏</m:t>
                        </m:r>
                      </m:e>
                      <m:sub>
                        <m:r>
                          <a:rPr lang="en-US" altLang="zh-CN" sz="2400" b="0" i="1" smtClean="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𝑖𝑗</m:t>
                        </m:r>
                      </m:sub>
                    </m:sSub>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的平方是该因子对该变量的共性方差</a:t>
                </a:r>
                <a14:m>
                  <m:oMath xmlns:m="http://schemas.openxmlformats.org/officeDocument/2006/math">
                    <m:sSubSup>
                      <m:sSubSupPr>
                        <m:ctrlP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的贡献，而各变量的共性方差</a:t>
                </a:r>
                <a14:m>
                  <m:oMath xmlns:m="http://schemas.openxmlformats.org/officeDocument/2006/math">
                    <m:sSubSup>
                      <m:sSubSupPr>
                        <m:ctrlP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一般又互不相同，若某个变量</a:t>
                </a:r>
                <a14:m>
                  <m:oMath xmlns:m="http://schemas.openxmlformats.org/officeDocument/2006/math">
                    <m:sSub>
                      <m:sSubPr>
                        <m:ctrlPr>
                          <a:rPr lang="en-US" altLang="zh-CN" sz="24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4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4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Sub>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的共性方差</a:t>
                </a:r>
                <a14:m>
                  <m:oMath xmlns:m="http://schemas.openxmlformats.org/officeDocument/2006/math">
                    <m:sSubSup>
                      <m:sSubSupPr>
                        <m:ctrlP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4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较大，则分配在各个因子上的载荷就大些；反之，则小些。因此，为了消除各个变量的共性方差大小的影响，计算某一因子上的载荷的方差时，可先将各个载荷的平方除以共性方差，即类似于将其标准化，然后再计算标准化后的载荷的方差，记为</a:t>
                </a:r>
              </a:p>
            </p:txBody>
          </p:sp>
        </mc:Choice>
        <mc:Fallback xmlns="">
          <p:sp>
            <p:nvSpPr>
              <p:cNvPr id="9" name="矩形 6"/>
              <p:cNvSpPr>
                <a:spLocks noRot="1" noChangeAspect="1" noMove="1" noResize="1" noEditPoints="1" noAdjustHandles="1" noChangeArrowheads="1" noChangeShapeType="1" noTextEdit="1"/>
              </p:cNvSpPr>
              <p:nvPr/>
            </p:nvSpPr>
            <p:spPr>
              <a:xfrm>
                <a:off x="1631632" y="1124340"/>
                <a:ext cx="10250505" cy="4653915"/>
              </a:xfrm>
              <a:prstGeom prst="rect">
                <a:avLst/>
              </a:prstGeom>
              <a:blipFill rotWithShape="1">
                <a:blip r:embed="rId3"/>
                <a:stretch>
                  <a:fillRect l="-3" t="-8" b="8"/>
                </a:stretch>
              </a:blipFill>
              <a:ln w="9525">
                <a:noFill/>
              </a:ln>
            </p:spPr>
            <p:txBody>
              <a:bodyPr/>
              <a:lstStyle/>
              <a:p>
                <a:r>
                  <a:rPr lang="zh-CN" altLang="en-US">
                    <a:noFill/>
                  </a:rPr>
                  <a:t> </a:t>
                </a:r>
              </a:p>
            </p:txBody>
          </p:sp>
        </mc:Fallback>
      </mc:AlternateContent>
      <p:pic>
        <p:nvPicPr>
          <p:cNvPr id="7" name="圖片 6"/>
          <p:cNvPicPr>
            <a:picLocks noChangeAspect="1"/>
          </p:cNvPicPr>
          <p:nvPr/>
        </p:nvPicPr>
        <p:blipFill rotWithShape="1">
          <a:blip r:embed="rId4"/>
          <a:srcRect t="23871" b="6731"/>
          <a:stretch>
            <a:fillRect/>
          </a:stretch>
        </p:blipFill>
        <p:spPr>
          <a:xfrm>
            <a:off x="4367296" y="5805170"/>
            <a:ext cx="1933575" cy="54864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正交旋转</a:t>
            </a:r>
          </a:p>
        </p:txBody>
      </p:sp>
      <mc:AlternateContent xmlns:mc="http://schemas.openxmlformats.org/markup-compatibility/2006" xmlns:a14="http://schemas.microsoft.com/office/drawing/2010/main">
        <mc:Choice Requires="a14">
          <p:sp>
            <p:nvSpPr>
              <p:cNvPr id="9" name="矩形 6"/>
              <p:cNvSpPr/>
              <p:nvPr/>
            </p:nvSpPr>
            <p:spPr>
              <a:xfrm>
                <a:off x="1370647" y="1150820"/>
                <a:ext cx="10250505" cy="1990160"/>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选择除以</a:t>
                </a:r>
                <a14:m>
                  <m:oMath xmlns:m="http://schemas.openxmlformats.org/officeDocument/2006/math">
                    <m:sSubSup>
                      <m:sSubSupPr>
                        <m:ctrlP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SupPr>
                      <m:e>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h</m:t>
                        </m:r>
                      </m:e>
                      <m:sub>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up>
                        <m:r>
                          <a:rPr lang="en-US" altLang="zh-CN" sz="2800" i="1" dirty="0">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2</m:t>
                        </m:r>
                      </m:sup>
                    </m:sSubSup>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是为了消除各个原始变量</a:t>
                </a:r>
                <a14:m>
                  <m:oMath xmlns:m="http://schemas.openxmlformats.org/officeDocument/2006/math">
                    <m:sSub>
                      <m:sSubPr>
                        <m:ctrlP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ctrlPr>
                      </m:sSubPr>
                      <m:e>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𝑥</m:t>
                        </m:r>
                      </m:e>
                      <m:sub>
                        <m:r>
                          <a:rPr lang="en-US" altLang="zh-CN" sz="2800" i="1">
                            <a:solidFill>
                              <a:srgbClr val="0053EC"/>
                            </a:solidFill>
                            <a:latin typeface="Cambria Math" panose="02040503050406030204" pitchFamily="18" charset="0"/>
                            <a:ea typeface="微软雅黑" panose="020B0503020204020204" pitchFamily="2" charset="-122"/>
                            <a:sym typeface="微软雅黑" panose="020B0503020204020204" pitchFamily="2" charset="-122"/>
                          </a:rPr>
                          <m:t>𝑖</m:t>
                        </m:r>
                      </m:sub>
                    </m:sSub>
                  </m:oMath>
                </a14:m>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对公共因子依赖程度不同的影响，而且这样的选择还不影响因子的共同度。取平方目的是消除 符号不同的影响。</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mc:Choice>
        <mc:Fallback xmlns="">
          <p:sp>
            <p:nvSpPr>
              <p:cNvPr id="9" name="矩形 6"/>
              <p:cNvSpPr>
                <a:spLocks noRot="1" noChangeAspect="1" noMove="1" noResize="1" noEditPoints="1" noAdjustHandles="1" noChangeArrowheads="1" noChangeShapeType="1" noTextEdit="1"/>
              </p:cNvSpPr>
              <p:nvPr/>
            </p:nvSpPr>
            <p:spPr>
              <a:xfrm>
                <a:off x="1370647" y="1150820"/>
                <a:ext cx="10250505" cy="1990160"/>
              </a:xfrm>
              <a:prstGeom prst="rect">
                <a:avLst/>
              </a:prstGeom>
              <a:blipFill rotWithShape="1">
                <a:blip r:embed="rId3"/>
                <a:stretch>
                  <a:fillRect l="-3" t="-10" b="-1933"/>
                </a:stretch>
              </a:blipFill>
              <a:ln w="9525">
                <a:noFill/>
              </a:ln>
            </p:spPr>
            <p:txBody>
              <a:bodyPr/>
              <a:lstStyle/>
              <a:p>
                <a:r>
                  <a:rPr lang="zh-CN" altLang="en-US">
                    <a:noFill/>
                  </a:rPr>
                  <a:t> </a:t>
                </a:r>
              </a:p>
            </p:txBody>
          </p:sp>
        </mc:Fallback>
      </mc:AlternateContent>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8" name="圖片 7"/>
          <p:cNvPicPr>
            <a:picLocks noChangeAspect="1"/>
          </p:cNvPicPr>
          <p:nvPr/>
        </p:nvPicPr>
        <p:blipFill>
          <a:blip r:embed="rId3"/>
          <a:stretch>
            <a:fillRect/>
          </a:stretch>
        </p:blipFill>
        <p:spPr>
          <a:xfrm>
            <a:off x="-9635" y="1989138"/>
            <a:ext cx="12192000" cy="3503151"/>
          </a:xfrm>
          <a:prstGeom prst="rect">
            <a:avLst/>
          </a:prstGeom>
        </p:spPr>
      </p:pic>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如果因子对应轴相互间不是正交的，则称为斜交旋转。常用的斜交旋转方法有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Promax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法等。</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斜交旋转</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7.3.2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如何进行旋转</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如何进行旋转</a:t>
            </a:r>
          </a:p>
        </p:txBody>
      </p:sp>
      <p:pic>
        <p:nvPicPr>
          <p:cNvPr id="8" name="圖片 7"/>
          <p:cNvPicPr>
            <a:picLocks noChangeAspect="1"/>
          </p:cNvPicPr>
          <p:nvPr/>
        </p:nvPicPr>
        <p:blipFill>
          <a:blip r:embed="rId3"/>
          <a:stretch>
            <a:fillRect/>
          </a:stretch>
        </p:blipFill>
        <p:spPr>
          <a:xfrm>
            <a:off x="1459345" y="2378238"/>
            <a:ext cx="10596802" cy="3858323"/>
          </a:xfrm>
          <a:prstGeom prst="rect">
            <a:avLst/>
          </a:prstGeom>
        </p:spPr>
      </p:pic>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345" y="1336632"/>
            <a:ext cx="10250505"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7.3.2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如何进行旋转</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如何进行旋转</a:t>
            </a:r>
          </a:p>
        </p:txBody>
      </p:sp>
      <p:pic>
        <p:nvPicPr>
          <p:cNvPr id="9" name="圖片 8"/>
          <p:cNvPicPr>
            <a:picLocks noChangeAspect="1"/>
          </p:cNvPicPr>
          <p:nvPr/>
        </p:nvPicPr>
        <p:blipFill>
          <a:blip r:embed="rId3"/>
          <a:stretch>
            <a:fillRect/>
          </a:stretch>
        </p:blipFill>
        <p:spPr>
          <a:xfrm>
            <a:off x="1264375" y="2590982"/>
            <a:ext cx="10949939" cy="3824399"/>
          </a:xfrm>
          <a:prstGeom prst="rect">
            <a:avLst/>
          </a:prstGeom>
        </p:spPr>
      </p:pic>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610529" y="1009710"/>
            <a:ext cx="11117847" cy="1308884"/>
          </a:xfrm>
          <a:prstGeom prst="rect">
            <a:avLst/>
          </a:prstGeom>
          <a:noFill/>
          <a:ln w="9525">
            <a:noFill/>
          </a:ln>
        </p:spPr>
        <p:txBody>
          <a:bodyPr wrap="square">
            <a:spAutoFit/>
          </a:bodyPr>
          <a:lstStyle/>
          <a:p>
            <a:pPr algn="just">
              <a:lnSpc>
                <a:spcPct val="150000"/>
              </a:lnSpc>
            </a:pPr>
            <a:r>
              <a:rPr lang="en-US" altLang="zh-CN" sz="2800" dirty="0">
                <a:solidFill>
                  <a:srgbClr val="C00000"/>
                </a:solidFill>
              </a:rPr>
              <a:t>【</a:t>
            </a:r>
            <a:r>
              <a:rPr lang="zh-CN" altLang="en-US" sz="2800" dirty="0">
                <a:solidFill>
                  <a:srgbClr val="C00000"/>
                </a:solidFill>
              </a:rPr>
              <a:t>例 </a:t>
            </a:r>
            <a:r>
              <a:rPr lang="en-US" altLang="zh-CN" sz="2800" dirty="0">
                <a:solidFill>
                  <a:srgbClr val="C00000"/>
                </a:solidFill>
              </a:rPr>
              <a:t>7.2】</a:t>
            </a:r>
            <a:r>
              <a:rPr lang="zh-CN" altLang="en-US" sz="2800" dirty="0">
                <a:solidFill>
                  <a:srgbClr val="C00000"/>
                </a:solidFill>
              </a:rPr>
              <a:t>（续例 </a:t>
            </a:r>
            <a:r>
              <a:rPr lang="en-US" altLang="zh-CN" sz="2800" dirty="0">
                <a:solidFill>
                  <a:srgbClr val="C00000"/>
                </a:solidFill>
              </a:rPr>
              <a:t>7.1</a:t>
            </a:r>
            <a:r>
              <a:rPr lang="zh-CN" altLang="en-US" sz="2800" dirty="0">
                <a:solidFill>
                  <a:srgbClr val="C00000"/>
                </a:solidFill>
              </a:rPr>
              <a:t>）对例 </a:t>
            </a:r>
            <a:r>
              <a:rPr lang="en-US" altLang="zh-CN" sz="2800" dirty="0">
                <a:solidFill>
                  <a:srgbClr val="C00000"/>
                </a:solidFill>
              </a:rPr>
              <a:t>7.1 </a:t>
            </a:r>
            <a:r>
              <a:rPr lang="zh-CN" altLang="en-US" sz="2800" dirty="0">
                <a:solidFill>
                  <a:srgbClr val="C00000"/>
                </a:solidFill>
              </a:rPr>
              <a:t>的进行因子旋转，以比较旋转前后两方法的差别。</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p:cNvPicPr>
            <a:picLocks noChangeAspect="1"/>
          </p:cNvPicPr>
          <p:nvPr/>
        </p:nvPicPr>
        <p:blipFill>
          <a:blip r:embed="rId3"/>
          <a:stretch>
            <a:fillRect/>
          </a:stretch>
        </p:blipFill>
        <p:spPr>
          <a:xfrm>
            <a:off x="0" y="2636945"/>
            <a:ext cx="12192000" cy="2891456"/>
          </a:xfrm>
          <a:prstGeom prst="rect">
            <a:avLst/>
          </a:prstGeom>
        </p:spPr>
      </p:pic>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8" name="圖片 7"/>
          <p:cNvPicPr>
            <a:picLocks noChangeAspect="1"/>
          </p:cNvPicPr>
          <p:nvPr/>
        </p:nvPicPr>
        <p:blipFill>
          <a:blip r:embed="rId3"/>
          <a:stretch>
            <a:fillRect/>
          </a:stretch>
        </p:blipFill>
        <p:spPr>
          <a:xfrm>
            <a:off x="0" y="1370850"/>
            <a:ext cx="12192000" cy="4116300"/>
          </a:xfrm>
          <a:prstGeom prst="rect">
            <a:avLst/>
          </a:prstGeom>
        </p:spPr>
      </p:pic>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307702" y="1009710"/>
            <a:ext cx="11376790"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Fp1_load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Fp2_load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因子载荷矩阵的对比表可以看出，旋转前各综合因子代表的具体经济意义不很明显，而旋转后各因子代表的经济意义则十分明显。因子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在主营业务利润率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上的载荷值达到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0.9867</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，在销售毛利率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上的载荷达到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0.9881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。因此，因子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代表企业的盈利能力，反映企业投资收益的情况，是资产周转营运能力的结果，也是资金流动偿债能力的基础。</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7.3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因子旋转</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307702" y="1009710"/>
            <a:ext cx="11376790"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在速动比率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和资产负债率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x4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上的载荷值分别是</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-0.9568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0.9395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代表了企业的偿债能力。类似的，因子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在主营业务收入增长率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x5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和营业利润率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x6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的载荷值分别是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0.8601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0.8891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，所以因子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代表了企业的发展能力，是反映企业持续经营发展能力的指标。</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4540538"/>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7.4.1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因子得分的计算</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模型建立后，还有一个重要的作用是应用因子分析模型去评价每个样品在整个模型中的地位，即进行综合评价。例如地区经济发展的因子分析模型建立后，我们希望知道每个地区经济发展的情况，把区域经济划分归类，哪些地区发展较快，哪些中等发达，哪些较慢等。这时需要将公共因子用变量的线性组合来表示，也即由地区经济的各项指标值来估计它的因子得分。</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因子得分的计算</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7.4.1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因子得分的计算</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因子得分的计算</a:t>
            </a:r>
          </a:p>
        </p:txBody>
      </p:sp>
      <p:pic>
        <p:nvPicPr>
          <p:cNvPr id="8" name="圖片 7"/>
          <p:cNvPicPr>
            <a:picLocks noChangeAspect="1"/>
          </p:cNvPicPr>
          <p:nvPr/>
        </p:nvPicPr>
        <p:blipFill>
          <a:blip r:embed="rId3"/>
          <a:stretch>
            <a:fillRect/>
          </a:stretch>
        </p:blipFill>
        <p:spPr>
          <a:xfrm>
            <a:off x="2664601" y="2326258"/>
            <a:ext cx="8504919" cy="1283000"/>
          </a:xfrm>
          <a:prstGeom prst="rect">
            <a:avLst/>
          </a:prstGeom>
        </p:spPr>
      </p:pic>
      <p:sp>
        <p:nvSpPr>
          <p:cNvPr id="9" name="矩形 6"/>
          <p:cNvSpPr/>
          <p:nvPr/>
        </p:nvSpPr>
        <p:spPr>
          <a:xfrm>
            <a:off x="1459832" y="3730780"/>
            <a:ext cx="10250018"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该式称为因子得分函数，由它来计算每个样品的公共因子得分。若取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，则将每个样品的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个变量代入上式即可算出每个样品的因子得分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，并将其在平面上做因子得分散点图，进而对样品进行分类或对原始数据进行更深入的研究。</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7.4.1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因子得分的计算</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因子得分的计算</a:t>
            </a:r>
          </a:p>
        </p:txBody>
      </p:sp>
      <p:sp>
        <p:nvSpPr>
          <p:cNvPr id="9" name="矩形 6"/>
          <p:cNvSpPr/>
          <p:nvPr/>
        </p:nvSpPr>
        <p:spPr>
          <a:xfrm>
            <a:off x="1459832" y="2166253"/>
            <a:ext cx="10250018" cy="1955215"/>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由于因子得分函数中方程的个数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小于变量的个数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，所以并不能精确计算出因子得分，只能对因子得分进行估计。估计因子得分的方法较多，常用的有回归估计法和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估计法。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回归法因子得分</a:t>
            </a:r>
          </a:p>
        </p:txBody>
      </p:sp>
      <p:sp>
        <p:nvSpPr>
          <p:cNvPr id="9" name="矩形 6"/>
          <p:cNvSpPr/>
          <p:nvPr/>
        </p:nvSpPr>
        <p:spPr>
          <a:xfrm>
            <a:off x="1627339" y="1221458"/>
            <a:ext cx="10250018"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假定因子分析模型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=AF +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是一个回归模型，于是利用最小二乘法，我们可以估计出因子得分值</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8" name="圖片 7"/>
          <p:cNvPicPr>
            <a:picLocks noChangeAspect="1"/>
          </p:cNvPicPr>
          <p:nvPr/>
        </p:nvPicPr>
        <p:blipFill>
          <a:blip r:embed="rId3"/>
          <a:stretch>
            <a:fillRect/>
          </a:stretch>
        </p:blipFill>
        <p:spPr>
          <a:xfrm>
            <a:off x="4295775" y="3038475"/>
            <a:ext cx="3600450" cy="78105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403187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巴特雷法因子得分</a:t>
            </a:r>
          </a:p>
        </p:txBody>
      </p:sp>
      <p:sp>
        <p:nvSpPr>
          <p:cNvPr id="9" name="矩形 6"/>
          <p:cNvSpPr/>
          <p:nvPr/>
        </p:nvSpPr>
        <p:spPr>
          <a:xfrm>
            <a:off x="1627339" y="1221458"/>
            <a:ext cx="10250018"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巴特雷（</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）估计因子得分可由最小二乘法或极大似然法导出，下面给出最小二乘法求解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在上面的回归估计中，假定因子分析模型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=AF + </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是一个回归模型，而经典回归分析模型要求</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的方差相同，当</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的方差不相同时，需将异方差的</a:t>
            </a:r>
            <a:r>
              <a:rPr lang="el-GR"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ε</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化为同方差，将上述模型进行变换：</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7" name="圖片 6"/>
          <p:cNvPicPr>
            <a:picLocks noChangeAspect="1"/>
          </p:cNvPicPr>
          <p:nvPr/>
        </p:nvPicPr>
        <p:blipFill>
          <a:blip r:embed="rId3"/>
          <a:stretch>
            <a:fillRect/>
          </a:stretch>
        </p:blipFill>
        <p:spPr>
          <a:xfrm>
            <a:off x="3480510" y="5014595"/>
            <a:ext cx="6543675" cy="89535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11" name="圖片 10"/>
          <p:cNvPicPr>
            <a:picLocks noChangeAspect="1"/>
          </p:cNvPicPr>
          <p:nvPr/>
        </p:nvPicPr>
        <p:blipFill>
          <a:blip r:embed="rId3"/>
          <a:stretch>
            <a:fillRect/>
          </a:stretch>
        </p:blipFill>
        <p:spPr>
          <a:xfrm>
            <a:off x="0" y="1810555"/>
            <a:ext cx="12192000" cy="3236890"/>
          </a:xfrm>
          <a:prstGeom prst="rect">
            <a:avLst/>
          </a:prstGeom>
        </p:spPr>
      </p:pic>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610529" y="1009710"/>
            <a:ext cx="11117847" cy="661848"/>
          </a:xfrm>
          <a:prstGeom prst="rect">
            <a:avLst/>
          </a:prstGeom>
          <a:noFill/>
          <a:ln w="9525">
            <a:noFill/>
          </a:ln>
        </p:spPr>
        <p:txBody>
          <a:bodyPr wrap="square">
            <a:spAutoFit/>
          </a:bodyPr>
          <a:lstStyle/>
          <a:p>
            <a:pPr indent="457200" algn="just">
              <a:lnSpc>
                <a:spcPct val="150000"/>
              </a:lnSpc>
            </a:pPr>
            <a:r>
              <a:rPr lang="en-US" altLang="zh-CN" sz="2800" dirty="0">
                <a:solidFill>
                  <a:srgbClr val="C00000"/>
                </a:solidFill>
              </a:rPr>
              <a:t>【</a:t>
            </a:r>
            <a:r>
              <a:rPr lang="zh-CN" altLang="en-US" sz="2800" dirty="0">
                <a:solidFill>
                  <a:srgbClr val="C00000"/>
                </a:solidFill>
              </a:rPr>
              <a:t>例 </a:t>
            </a:r>
            <a:r>
              <a:rPr lang="en-US" altLang="zh-CN" sz="2800" dirty="0">
                <a:solidFill>
                  <a:srgbClr val="C00000"/>
                </a:solidFill>
              </a:rPr>
              <a:t>7.3】</a:t>
            </a:r>
            <a:r>
              <a:rPr lang="zh-CN" altLang="en-US" sz="2800" dirty="0">
                <a:solidFill>
                  <a:srgbClr val="C00000"/>
                </a:solidFill>
              </a:rPr>
              <a:t>（续例 </a:t>
            </a:r>
            <a:r>
              <a:rPr lang="en-US" altLang="zh-CN" sz="2800" dirty="0">
                <a:solidFill>
                  <a:srgbClr val="C00000"/>
                </a:solidFill>
              </a:rPr>
              <a:t>7.1</a:t>
            </a:r>
            <a:r>
              <a:rPr lang="zh-CN" altLang="en-US" sz="2800" dirty="0">
                <a:solidFill>
                  <a:srgbClr val="C00000"/>
                </a:solidFill>
              </a:rPr>
              <a:t>）对例 </a:t>
            </a:r>
            <a:r>
              <a:rPr lang="en-US" altLang="zh-CN" sz="2800" dirty="0">
                <a:solidFill>
                  <a:srgbClr val="C00000"/>
                </a:solidFill>
              </a:rPr>
              <a:t>7.1 </a:t>
            </a:r>
            <a:r>
              <a:rPr lang="zh-CN" altLang="en-US" sz="2800" dirty="0">
                <a:solidFill>
                  <a:srgbClr val="C00000"/>
                </a:solidFill>
              </a:rPr>
              <a:t>的应用回归法计算因子得分。</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8" name="圖片 7"/>
          <p:cNvPicPr>
            <a:picLocks noChangeAspect="1"/>
          </p:cNvPicPr>
          <p:nvPr/>
        </p:nvPicPr>
        <p:blipFill>
          <a:blip r:embed="rId3"/>
          <a:stretch>
            <a:fillRect/>
          </a:stretch>
        </p:blipFill>
        <p:spPr>
          <a:xfrm>
            <a:off x="31346" y="1916895"/>
            <a:ext cx="12192000" cy="965982"/>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rotWithShape="1">
          <a:blip r:embed="rId3"/>
          <a:srcRect l="1" t="169" r="-146"/>
          <a:stretch>
            <a:fillRect/>
          </a:stretch>
        </p:blipFill>
        <p:spPr>
          <a:xfrm>
            <a:off x="979175" y="1090295"/>
            <a:ext cx="10296715" cy="5617526"/>
          </a:xfrm>
          <a:prstGeom prst="rect">
            <a:avLst/>
          </a:prstGeom>
        </p:spPr>
      </p:pic>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4"/>
          <a:srcRect r="47055" b="1174"/>
          <a:stretch>
            <a:fillRect/>
          </a:stretch>
        </p:blipFill>
        <p:spPr>
          <a:xfrm>
            <a:off x="191770" y="1772285"/>
            <a:ext cx="4940571" cy="5040000"/>
          </a:xfrm>
          <a:prstGeom prst="rect">
            <a:avLst/>
          </a:prstGeom>
        </p:spPr>
      </p:pic>
      <p:pic>
        <p:nvPicPr>
          <p:cNvPr id="6" name="圖片 5"/>
          <p:cNvPicPr>
            <a:picLocks noChangeAspect="1"/>
          </p:cNvPicPr>
          <p:nvPr>
            <p:custDataLst>
              <p:tags r:id="rId1"/>
            </p:custDataLst>
          </p:nvPr>
        </p:nvPicPr>
        <p:blipFill>
          <a:blip r:embed="rId5"/>
          <a:stretch>
            <a:fillRect/>
          </a:stretch>
        </p:blipFill>
        <p:spPr>
          <a:xfrm>
            <a:off x="-31115" y="980655"/>
            <a:ext cx="12192000" cy="917474"/>
          </a:xfrm>
          <a:prstGeom prst="rect">
            <a:avLst/>
          </a:prstGeom>
        </p:spPr>
      </p:pic>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335600" y="1221458"/>
            <a:ext cx="11541757" cy="5186869"/>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从旋转后的因子得分看，在盈利能力因子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得分最高的四个公司依次是福建水泥、海螺水泥、冀东水泥和祁连山，这四家公司的得分远高于其它公司，这说明就盈利能力而言，这四家公司的盈利水平远好于其它公司，而盈利能力相对较弱的公司是尖峰集团、西水股份、牡丹江。②福建水泥、华新水泥、四川金顶三家公司在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上的得分较高，说明在水泥行业中，这三家的偿债能力是较好的，而狮头股份和大同水泥这二家公司的在因子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上的得分较低，则表明这二家的偿债能力相对较差，应着力提高。</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384894" y="1052835"/>
            <a:ext cx="11541757" cy="5833200"/>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③在发展能力因子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海螺水泥、西水股份的得分远远高于其它公司，反映在现实情况中，这两支股票从去年到现在是稳中有升的，这也要得益于它们良好的发展能力。同时也说明在水泥行业上市公司中，就发展能力而言，好的公司还是少数，很多公司不注重公司长远稳建的发展，而只注重短期利润。这一点需要引起有关企业家的注意。四川金顶在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最低，说明它的发展能力较差，并且它的前两个因子得分也不高，在综合排名上也是靠后的，因此这家公司应从企业内部着手，进行整改，要从整体上提高公司的各项经营能力，达到提升公司经营业绩的目的。</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7.4.2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因子得分信息图</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单向因子得分图</a:t>
            </a:r>
          </a:p>
        </p:txBody>
      </p:sp>
      <p:sp>
        <p:nvSpPr>
          <p:cNvPr id="9" name="矩形 6"/>
          <p:cNvSpPr/>
          <p:nvPr/>
        </p:nvSpPr>
        <p:spPr>
          <a:xfrm>
            <a:off x="1459832" y="2166253"/>
            <a:ext cx="10250018"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若取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，则将样品的因子得分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平面上做因子得分的信息图，进而对样品进行分类或对原始数据进行更深入的研究，也可以用双重信息图将因子得分和因子载荷绘制在平面上反映样品和变量间的关系。下面仍是采用主因子法使用回归估计法计算的因子得分。</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393826"/>
            <a:ext cx="12192000" cy="2597855"/>
          </a:xfrm>
          <a:prstGeom prst="rect">
            <a:avLst/>
          </a:prstGeom>
        </p:spPr>
      </p:pic>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665" y="1201675"/>
            <a:ext cx="8776796" cy="549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749" y="1803976"/>
            <a:ext cx="8070765" cy="5054023"/>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p:cNvPicPr>
            <a:picLocks noChangeAspect="1"/>
          </p:cNvPicPr>
          <p:nvPr/>
        </p:nvPicPr>
        <p:blipFill>
          <a:blip r:embed="rId4"/>
          <a:stretch>
            <a:fillRect/>
          </a:stretch>
        </p:blipFill>
        <p:spPr>
          <a:xfrm>
            <a:off x="16034" y="1175703"/>
            <a:ext cx="12077700" cy="609600"/>
          </a:xfrm>
          <a:prstGeom prst="rect">
            <a:avLst/>
          </a:prstGeom>
        </p:spPr>
      </p:pic>
    </p:spTree>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915" y="2380466"/>
            <a:ext cx="7150170" cy="4477534"/>
          </a:xfrm>
          <a:prstGeom prst="rect">
            <a:avLst/>
          </a:prstGeom>
          <a:noFill/>
          <a:extLst>
            <a:ext uri="{909E8E84-426E-40DD-AFC4-6F175D3DCCD1}">
              <a14:hiddenFill xmlns:a14="http://schemas.microsoft.com/office/drawing/2010/main">
                <a:solidFill>
                  <a:srgbClr val="FFFFFF"/>
                </a:solidFill>
              </a14:hiddenFill>
            </a:ext>
          </a:extLst>
        </p:spPr>
      </p:pic>
      <p:pic>
        <p:nvPicPr>
          <p:cNvPr id="5" name="圖片 4"/>
          <p:cNvPicPr>
            <a:picLocks noChangeAspect="1"/>
          </p:cNvPicPr>
          <p:nvPr/>
        </p:nvPicPr>
        <p:blipFill>
          <a:blip r:embed="rId4"/>
          <a:stretch>
            <a:fillRect/>
          </a:stretch>
        </p:blipFill>
        <p:spPr>
          <a:xfrm>
            <a:off x="276159" y="1327031"/>
            <a:ext cx="11639682" cy="622737"/>
          </a:xfrm>
          <a:prstGeom prst="rect">
            <a:avLst/>
          </a:prstGeom>
        </p:spPr>
      </p:pic>
    </p:spTree>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384894" y="1052835"/>
            <a:ext cx="11541757" cy="5186869"/>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在因子得分图中可以看出，福建水泥、海螺水泥和冀东水泥在第一因子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上取正值相对较大，所以总得排名相对较前。而狮头股份、大同水泥在在第一因子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上的得分取值相对较小，在第二因子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上的得分取负值相对较大，所以总得排名相对较后。其余在因子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得分在中间的公司反映在因子得分图上是出现在离原点不远的因子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轴上，或因子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轴上。总的来说，各企业间的差距非常明显，而且三种经营能力都好的企业很少，因此，在上市公司水泥行业的发展中，每个公司应该兼顾三种经营能力的协调发展，锐意改革，提高公司的经营业绩。</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1785045"/>
            <a:ext cx="800100" cy="452431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双向因子信息重叠图</a:t>
            </a:r>
          </a:p>
        </p:txBody>
      </p:sp>
      <p:sp>
        <p:nvSpPr>
          <p:cNvPr id="9" name="矩形 6"/>
          <p:cNvSpPr/>
          <p:nvPr/>
        </p:nvSpPr>
        <p:spPr>
          <a:xfrm>
            <a:off x="1627339" y="1221458"/>
            <a:ext cx="10250018"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中编写因子信息重叠图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Biplot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函数，函数参数包括：</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Load: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因子载荷矩阵；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Score: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因子得分矩阵。</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下面以公共因子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和公共因子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为坐标轴，见下图。前面的分析结果可以在上面的因子得分图上得到直观的反映。</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700880"/>
            <a:ext cx="12192000" cy="2959314"/>
          </a:xfrm>
          <a:prstGeom prst="rect">
            <a:avLst/>
          </a:prstGeom>
        </p:spPr>
      </p:pic>
    </p:spTree>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458" y="1081694"/>
            <a:ext cx="9072630" cy="5681404"/>
          </a:xfrm>
          <a:prstGeom prst="rect">
            <a:avLst/>
          </a:prstGeom>
        </p:spPr>
      </p:pic>
    </p:spTree>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7.4.3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综合得分及排名</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综合得分及排名</a:t>
            </a:r>
          </a:p>
        </p:txBody>
      </p:sp>
      <p:sp>
        <p:nvSpPr>
          <p:cNvPr id="9" name="矩形 6"/>
          <p:cNvSpPr/>
          <p:nvPr/>
        </p:nvSpPr>
        <p:spPr>
          <a:xfrm>
            <a:off x="1459832" y="2166253"/>
            <a:ext cx="10250018" cy="1308884"/>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以各因子的方差贡献率为权，由各因子得分的线性组合得到综合评价指标函数；</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8" name="圖片 7"/>
          <p:cNvPicPr>
            <a:picLocks noChangeAspect="1"/>
          </p:cNvPicPr>
          <p:nvPr/>
        </p:nvPicPr>
        <p:blipFill>
          <a:blip r:embed="rId3"/>
          <a:stretch>
            <a:fillRect/>
          </a:stretch>
        </p:blipFill>
        <p:spPr>
          <a:xfrm>
            <a:off x="2855775" y="3876037"/>
            <a:ext cx="7862957" cy="159494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314643" y="2590982"/>
            <a:ext cx="800100" cy="3539430"/>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综合得分及排名</a:t>
            </a:r>
          </a:p>
        </p:txBody>
      </p:sp>
      <p:sp>
        <p:nvSpPr>
          <p:cNvPr id="9" name="矩形 6"/>
          <p:cNvSpPr/>
          <p:nvPr/>
        </p:nvSpPr>
        <p:spPr>
          <a:xfrm>
            <a:off x="1488040" y="1308227"/>
            <a:ext cx="10250018"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由回归法估计计算出各个样本的综合经营业绩得分，以各因子的方差贡献率占三个因子总方差贡献率的比重作为权重进行加权汇总，得出各省、市、区的方差金和得分，然后计算各水泥行业的因子得分及排名。</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580675"/>
            <a:ext cx="12192000" cy="3696649"/>
          </a:xfrm>
          <a:prstGeom prst="rect">
            <a:avLst/>
          </a:prstGeom>
        </p:spPr>
      </p:pic>
    </p:spTree>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743148" y="1072456"/>
            <a:ext cx="10488305" cy="5712017"/>
          </a:xfrm>
          <a:prstGeom prst="rect">
            <a:avLst/>
          </a:prstGeom>
        </p:spPr>
      </p:pic>
    </p:spTree>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7.4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因子得分</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grpSp>
        <p:nvGrpSpPr>
          <p:cNvPr id="6" name="群組 5"/>
          <p:cNvGrpSpPr/>
          <p:nvPr/>
        </p:nvGrpSpPr>
        <p:grpSpPr>
          <a:xfrm>
            <a:off x="839635" y="1090295"/>
            <a:ext cx="9866835" cy="5727779"/>
            <a:chOff x="781436" y="1258421"/>
            <a:chExt cx="10528564" cy="6240428"/>
          </a:xfrm>
        </p:grpSpPr>
        <p:pic>
          <p:nvPicPr>
            <p:cNvPr id="7" name="圖片 6"/>
            <p:cNvPicPr>
              <a:picLocks noChangeAspect="1"/>
            </p:cNvPicPr>
            <p:nvPr/>
          </p:nvPicPr>
          <p:blipFill>
            <a:blip r:embed="rId3"/>
            <a:stretch>
              <a:fillRect/>
            </a:stretch>
          </p:blipFill>
          <p:spPr>
            <a:xfrm>
              <a:off x="781436" y="1258421"/>
              <a:ext cx="10528564" cy="576370"/>
            </a:xfrm>
            <a:prstGeom prst="rect">
              <a:avLst/>
            </a:prstGeom>
          </p:spPr>
        </p:pic>
        <p:pic>
          <p:nvPicPr>
            <p:cNvPr id="5" name="圖片 4"/>
            <p:cNvPicPr>
              <a:picLocks noChangeAspect="1"/>
            </p:cNvPicPr>
            <p:nvPr/>
          </p:nvPicPr>
          <p:blipFill>
            <a:blip r:embed="rId4"/>
            <a:stretch>
              <a:fillRect/>
            </a:stretch>
          </p:blipFill>
          <p:spPr>
            <a:xfrm>
              <a:off x="811715" y="1774254"/>
              <a:ext cx="10488305" cy="5724595"/>
            </a:xfrm>
            <a:prstGeom prst="rect">
              <a:avLst/>
            </a:prstGeom>
          </p:spPr>
        </p:pic>
      </p:grpSp>
    </p:spTree>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552393" y="1325848"/>
            <a:ext cx="11086230"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因子分析的核心问题有两个：</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一是如何构造因子变量；</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二是如何对因子变量进行命名解释。</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因此，因子分析的基本步骤和解决思路就是围绕这两个核心问题展开的。</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7.5.1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因子分析的准备工作</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282345" y="1799290"/>
            <a:ext cx="800100" cy="452431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因子分析的准备工作</a:t>
            </a:r>
          </a:p>
        </p:txBody>
      </p:sp>
      <p:sp>
        <p:nvSpPr>
          <p:cNvPr id="9" name="矩形 6"/>
          <p:cNvSpPr/>
          <p:nvPr/>
        </p:nvSpPr>
        <p:spPr>
          <a:xfrm>
            <a:off x="1459832" y="2166253"/>
            <a:ext cx="10250018" cy="1955215"/>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确认数据是否适合做因子分析。</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通常在进行因子分析前，还需验证因子分析方法的可行性与科学性，一般运用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Bartlett's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进行验证。</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263595" y="2780955"/>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简单相关分析</a:t>
            </a:r>
          </a:p>
        </p:txBody>
      </p:sp>
      <p:sp>
        <p:nvSpPr>
          <p:cNvPr id="9" name="矩形 6"/>
          <p:cNvSpPr/>
          <p:nvPr/>
        </p:nvSpPr>
        <p:spPr>
          <a:xfrm>
            <a:off x="1483524" y="1189931"/>
            <a:ext cx="10250018"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计算原始变量的简单相关系数矩阵，如果矩阵中大部分数值过小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小于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，则认为大部分变量呈弱相关，则不适合做因子分析，如果某个变量和其他变量相关性较弱，则在接下来的分析中可以考虑剔除该变量。</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251586"/>
            <a:ext cx="12192000" cy="4873122"/>
          </a:xfrm>
          <a:prstGeom prst="rect">
            <a:avLst/>
          </a:prstGeom>
        </p:spPr>
      </p:pic>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263595" y="2780955"/>
            <a:ext cx="800100" cy="3046988"/>
          </a:xfrm>
          <a:prstGeom prst="rect">
            <a:avLst/>
          </a:prstGeom>
          <a:noFill/>
          <a:ln w="9525">
            <a:noFill/>
          </a:ln>
        </p:spPr>
        <p:txBody>
          <a:bodyPr wrap="square">
            <a:spAutoFit/>
          </a:bodyPr>
          <a:lstStyle/>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统计量</a:t>
            </a:r>
          </a:p>
        </p:txBody>
      </p:sp>
      <p:sp>
        <p:nvSpPr>
          <p:cNvPr id="9" name="矩形 6"/>
          <p:cNvSpPr/>
          <p:nvPr/>
        </p:nvSpPr>
        <p:spPr>
          <a:xfrm>
            <a:off x="1483524" y="1189931"/>
            <a:ext cx="10250018" cy="4540538"/>
          </a:xfrm>
          <a:prstGeom prst="rect">
            <a:avLst/>
          </a:prstGeom>
          <a:noFill/>
          <a:ln w="9525">
            <a:noFill/>
          </a:ln>
        </p:spPr>
        <p:txBody>
          <a:bodyPr wrap="square">
            <a:spAutoFit/>
          </a:bodyPr>
          <a:lstStyle/>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Kaiser-Meyer-Olkin)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检验统计量是用于比较变量间简单相关系数和偏相关系数的指标。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统计量是取值在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之间。当所有变量间的简单相关系数平方和远远大于偏相关系数平方和时，</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值接近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值越接近于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意味着变量间的相关性越强，原有变量越适合作因子分析；当所有变量间的简单相关系数平方和接近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时，</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值接近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值越接近于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意味着变量间的相关性越弱，原有变量越不适合作因子分析。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263595" y="2780955"/>
            <a:ext cx="800100" cy="3046988"/>
          </a:xfrm>
          <a:prstGeom prst="rect">
            <a:avLst/>
          </a:prstGeom>
          <a:noFill/>
          <a:ln w="9525">
            <a:noFill/>
          </a:ln>
        </p:spPr>
        <p:txBody>
          <a:bodyPr wrap="square">
            <a:spAutoFit/>
          </a:bodyPr>
          <a:lstStyle/>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统计量</a:t>
            </a:r>
          </a:p>
        </p:txBody>
      </p:sp>
      <p:pic>
        <p:nvPicPr>
          <p:cNvPr id="7" name="圖片 6"/>
          <p:cNvPicPr>
            <a:picLocks noChangeAspect="1"/>
          </p:cNvPicPr>
          <p:nvPr/>
        </p:nvPicPr>
        <p:blipFill>
          <a:blip r:embed="rId3"/>
          <a:stretch>
            <a:fillRect/>
          </a:stretch>
        </p:blipFill>
        <p:spPr>
          <a:xfrm>
            <a:off x="1394117" y="1357630"/>
            <a:ext cx="10725462" cy="2570395"/>
          </a:xfrm>
          <a:prstGeom prst="rect">
            <a:avLst/>
          </a:prstGeom>
        </p:spPr>
      </p:pic>
    </p:spTree>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263595" y="2780955"/>
            <a:ext cx="800100" cy="3046988"/>
          </a:xfrm>
          <a:prstGeom prst="rect">
            <a:avLst/>
          </a:prstGeom>
          <a:noFill/>
          <a:ln w="9525">
            <a:noFill/>
          </a:ln>
        </p:spPr>
        <p:txBody>
          <a:bodyPr wrap="square">
            <a:spAutoFit/>
          </a:bodyPr>
          <a:lstStyle/>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统计量</a:t>
            </a:r>
          </a:p>
        </p:txBody>
      </p:sp>
      <p:sp>
        <p:nvSpPr>
          <p:cNvPr id="9" name="矩形 6"/>
          <p:cNvSpPr/>
          <p:nvPr/>
        </p:nvSpPr>
        <p:spPr>
          <a:xfrm>
            <a:off x="1483981" y="1263249"/>
            <a:ext cx="10250018" cy="4540538"/>
          </a:xfrm>
          <a:prstGeom prst="rect">
            <a:avLst/>
          </a:prstGeom>
          <a:noFill/>
          <a:ln w="9525">
            <a:noFill/>
          </a:ln>
        </p:spPr>
        <p:txBody>
          <a:bodyPr wrap="square">
            <a:spAutoFit/>
          </a:bodyPr>
          <a:lstStyle/>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Kaiser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给出了常用的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度量标准</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&gt; 0.9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非常适合；</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0.8 ~ 0.9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适合；</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0.7 ~ 0.8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一般；</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0.6 ~ 0.7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不太适合；</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0.5 ~ 0.6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不适合；</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&lt; 0.5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极不适合。</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628875"/>
            <a:ext cx="12192000" cy="2630714"/>
          </a:xfrm>
          <a:prstGeom prst="rect">
            <a:avLst/>
          </a:prstGeom>
        </p:spPr>
      </p:pic>
    </p:spTree>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TextBox 1"/>
          <p:cNvSpPr/>
          <p:nvPr/>
        </p:nvSpPr>
        <p:spPr>
          <a:xfrm flipH="1">
            <a:off x="258653" y="2198053"/>
            <a:ext cx="800100" cy="4031873"/>
          </a:xfrm>
          <a:prstGeom prst="rect">
            <a:avLst/>
          </a:prstGeom>
          <a:noFill/>
          <a:ln w="9525">
            <a:noFill/>
          </a:ln>
        </p:spPr>
        <p:txBody>
          <a:bodyPr wrap="square">
            <a:spAutoFit/>
          </a:bodyPr>
          <a:lstStyle/>
          <a:p>
            <a:pPr lvl="0" algn="ctr">
              <a:lnSpc>
                <a:spcPct val="100000"/>
              </a:lnSpc>
            </a:pPr>
            <a:r>
              <a:rPr lang="en-US" altLang="zh-CN"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Bartlett's </a:t>
            </a: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球状检验</a:t>
            </a:r>
          </a:p>
        </p:txBody>
      </p:sp>
      <p:sp>
        <p:nvSpPr>
          <p:cNvPr id="9" name="矩形 6"/>
          <p:cNvSpPr/>
          <p:nvPr/>
        </p:nvSpPr>
        <p:spPr>
          <a:xfrm>
            <a:off x="1483524" y="1189931"/>
            <a:ext cx="10250018" cy="5186869"/>
          </a:xfrm>
          <a:prstGeom prst="rect">
            <a:avLst/>
          </a:prstGeom>
          <a:noFill/>
          <a:ln w="9525">
            <a:noFill/>
          </a:ln>
        </p:spPr>
        <p:txBody>
          <a:bodyPr wrap="square">
            <a:spAutoFit/>
          </a:bodyPr>
          <a:lstStyle/>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球体检验的目的是检验相关矩阵是否是为单位矩阵（</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identity matrix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），单位矩阵是指主对角线为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，其余元素都是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n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阶方阵，显然单位矩阵变量间不相关。如果是单位矩阵，则认为因子模型不合适。检验的零假设为相关矩阵是单位阵，如果不能拒绝该假设的话，就表明数据不适合用于因子分析。一般说来，显著水平值越小（</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&lt;0.05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）表明原始变量之间越可能存在有意义的关系，如果显著性水平很大（如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0.10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以上）可能表明数据不适宜于因子分析。该统计量服从卡方分布。</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853224"/>
            <a:ext cx="12192000" cy="3151551"/>
          </a:xfrm>
          <a:prstGeom prst="rect">
            <a:avLst/>
          </a:prstGeom>
        </p:spPr>
      </p:pic>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7.5.2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因子分析的过程</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因子计算</a:t>
            </a:r>
          </a:p>
        </p:txBody>
      </p:sp>
      <p:sp>
        <p:nvSpPr>
          <p:cNvPr id="9" name="矩形 6"/>
          <p:cNvSpPr/>
          <p:nvPr/>
        </p:nvSpPr>
        <p:spPr>
          <a:xfrm>
            <a:off x="1459832" y="2166253"/>
            <a:ext cx="10250018" cy="454053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）确认数据是否适合进行因子分析：一般使用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统计量与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Bartlett's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进行验证；</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）根据相关矩阵计算因子对象：可用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FactorAnalyzer</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函数进行计算；</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）根据累积方差贡献率确定因子个数：若前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个因子包含的数据信息总量较大（即其累积方差贡献率不低于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80%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）时，可取前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个因子来反映原评价指标；</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7.5.2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因子分析的过程</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因子计算</a:t>
            </a:r>
          </a:p>
        </p:txBody>
      </p:sp>
      <p:sp>
        <p:nvSpPr>
          <p:cNvPr id="9" name="矩形 6"/>
          <p:cNvSpPr/>
          <p:nvPr/>
        </p:nvSpPr>
        <p:spPr>
          <a:xfrm>
            <a:off x="1459832" y="2166253"/>
            <a:ext cx="10250018" cy="1955215"/>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）获得因子载荷并做出解释；</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）因子旋转：若所得的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个因子无法确定或其实际意义不是很明显，这时需将因子进行旋转以获得较为明显的实际含义。</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7.5.2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因子分析的过程</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因子评价</a:t>
            </a:r>
          </a:p>
        </p:txBody>
      </p:sp>
      <p:sp>
        <p:nvSpPr>
          <p:cNvPr id="9" name="矩形 6"/>
          <p:cNvSpPr/>
          <p:nvPr/>
        </p:nvSpPr>
        <p:spPr>
          <a:xfrm>
            <a:off x="1459832" y="2166253"/>
            <a:ext cx="10250018"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）因子得分：用原指标的线性组合来求各因子得分；</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）因子信息图：根据因子得分和因子载荷绘制双重因子信息图；</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）综合得分：由各因子得分的线性组合计算综合得分；</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）得分排序：利用综合得分可以得到得分名次。</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7.5.2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因子分析的过程</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矩形 6"/>
          <p:cNvSpPr/>
          <p:nvPr/>
        </p:nvSpPr>
        <p:spPr>
          <a:xfrm>
            <a:off x="408383" y="2198053"/>
            <a:ext cx="11374250"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下面将上述方法进行总结，形成一个基于主因子方法的综合因子分析函数 </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FAscores</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实现因子分析结果的呈现。其中参数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为数据框，</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为主因子个数，默认取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rot</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为因子旋转，默认为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varimax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旋转法。</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graphicFrame>
        <p:nvGraphicFramePr>
          <p:cNvPr id="6" name="表格 6"/>
          <p:cNvGraphicFramePr>
            <a:graphicFrameLocks noGrp="1"/>
          </p:cNvGraphicFramePr>
          <p:nvPr/>
        </p:nvGraphicFramePr>
        <p:xfrm>
          <a:off x="131862" y="1151293"/>
          <a:ext cx="11724537" cy="5371127"/>
        </p:xfrm>
        <a:graphic>
          <a:graphicData uri="http://schemas.openxmlformats.org/drawingml/2006/table">
            <a:tbl>
              <a:tblPr firstRow="1" bandRow="1">
                <a:tableStyleId>{5C22544A-7EE6-4342-B048-85BDC9FD1C3A}</a:tableStyleId>
              </a:tblPr>
              <a:tblGrid>
                <a:gridCol w="1211808">
                  <a:extLst>
                    <a:ext uri="{9D8B030D-6E8A-4147-A177-3AD203B41FA5}">
                      <a16:colId xmlns:a16="http://schemas.microsoft.com/office/drawing/2014/main" val="20000"/>
                    </a:ext>
                  </a:extLst>
                </a:gridCol>
                <a:gridCol w="10512729">
                  <a:extLst>
                    <a:ext uri="{9D8B030D-6E8A-4147-A177-3AD203B41FA5}">
                      <a16:colId xmlns:a16="http://schemas.microsoft.com/office/drawing/2014/main" val="20001"/>
                    </a:ext>
                  </a:extLst>
                </a:gridCol>
              </a:tblGrid>
              <a:tr h="5371127">
                <a:tc>
                  <a:txBody>
                    <a:bodyPr/>
                    <a:lstStyle/>
                    <a:p>
                      <a:pPr algn="ctr"/>
                      <a:r>
                        <a:rPr lang="en-US" altLang="zh-CN" sz="2400" b="0" dirty="0">
                          <a:solidFill>
                            <a:schemeClr val="tx1"/>
                          </a:solidFill>
                        </a:rPr>
                        <a:t>In</a:t>
                      </a:r>
                      <a:endParaRPr lang="zh-CN"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2400" b="0" dirty="0">
                          <a:solidFill>
                            <a:schemeClr val="tx1"/>
                          </a:solidFill>
                        </a:rPr>
                        <a:t>def </a:t>
                      </a:r>
                      <a:r>
                        <a:rPr lang="en-US" altLang="zh-CN" sz="2400" b="0" dirty="0" err="1">
                          <a:solidFill>
                            <a:schemeClr val="tx1"/>
                          </a:solidFill>
                        </a:rPr>
                        <a:t>FAscores</a:t>
                      </a:r>
                      <a:r>
                        <a:rPr lang="en-US" altLang="zh-CN" sz="2400" b="0" dirty="0">
                          <a:solidFill>
                            <a:schemeClr val="tx1"/>
                          </a:solidFill>
                        </a:rPr>
                        <a:t>(</a:t>
                      </a:r>
                      <a:r>
                        <a:rPr lang="en-US" altLang="zh-CN" sz="2400" b="0" dirty="0" err="1">
                          <a:solidFill>
                            <a:schemeClr val="tx1"/>
                          </a:solidFill>
                        </a:rPr>
                        <a:t>X,m</a:t>
                      </a:r>
                      <a:r>
                        <a:rPr lang="en-US" altLang="zh-CN" sz="2400" b="0" dirty="0">
                          <a:solidFill>
                            <a:schemeClr val="tx1"/>
                          </a:solidFill>
                        </a:rPr>
                        <a:t>=2,rot='varimax'): #</a:t>
                      </a:r>
                      <a:r>
                        <a:rPr lang="zh-CN" altLang="en-US" sz="2400" b="0" dirty="0">
                          <a:solidFill>
                            <a:schemeClr val="tx1"/>
                          </a:solidFill>
                        </a:rPr>
                        <a:t>因子分析综合评价函数</a:t>
                      </a:r>
                    </a:p>
                    <a:p>
                      <a:pPr lvl="2"/>
                      <a:r>
                        <a:rPr lang="en-US" altLang="zh-CN" sz="2400" b="0" dirty="0">
                          <a:solidFill>
                            <a:schemeClr val="tx1"/>
                          </a:solidFill>
                        </a:rPr>
                        <a:t>import </a:t>
                      </a:r>
                      <a:r>
                        <a:rPr lang="en-US" altLang="zh-CN" sz="2400" b="0" dirty="0" err="1">
                          <a:solidFill>
                            <a:schemeClr val="tx1"/>
                          </a:solidFill>
                        </a:rPr>
                        <a:t>factor_analyzer</a:t>
                      </a:r>
                      <a:r>
                        <a:rPr lang="en-US" altLang="zh-CN" sz="2400" b="0" dirty="0">
                          <a:solidFill>
                            <a:schemeClr val="tx1"/>
                          </a:solidFill>
                        </a:rPr>
                        <a:t> as fa</a:t>
                      </a:r>
                    </a:p>
                    <a:p>
                      <a:pPr lvl="2"/>
                      <a:r>
                        <a:rPr lang="en-US" altLang="zh-CN" sz="2400" b="0" dirty="0" err="1">
                          <a:solidFill>
                            <a:schemeClr val="tx1"/>
                          </a:solidFill>
                        </a:rPr>
                        <a:t>kmo</a:t>
                      </a:r>
                      <a:r>
                        <a:rPr lang="en-US" altLang="zh-CN" sz="2400" b="0" dirty="0">
                          <a:solidFill>
                            <a:schemeClr val="tx1"/>
                          </a:solidFill>
                        </a:rPr>
                        <a:t>=</a:t>
                      </a:r>
                      <a:r>
                        <a:rPr lang="en-US" altLang="zh-CN" sz="2400" b="0" dirty="0" err="1">
                          <a:solidFill>
                            <a:schemeClr val="tx1"/>
                          </a:solidFill>
                        </a:rPr>
                        <a:t>fa.calculate_kmo</a:t>
                      </a:r>
                      <a:r>
                        <a:rPr lang="en-US" altLang="zh-CN" sz="2400" b="0" dirty="0">
                          <a:solidFill>
                            <a:schemeClr val="tx1"/>
                          </a:solidFill>
                        </a:rPr>
                        <a:t>(X)</a:t>
                      </a:r>
                    </a:p>
                    <a:p>
                      <a:pPr lvl="2"/>
                      <a:r>
                        <a:rPr lang="en-US" altLang="zh-CN" sz="2400" b="0" dirty="0" err="1">
                          <a:solidFill>
                            <a:schemeClr val="tx1"/>
                          </a:solidFill>
                        </a:rPr>
                        <a:t>chisq</a:t>
                      </a:r>
                      <a:r>
                        <a:rPr lang="en-US" altLang="zh-CN" sz="2400" b="0" dirty="0">
                          <a:solidFill>
                            <a:schemeClr val="tx1"/>
                          </a:solidFill>
                        </a:rPr>
                        <a:t>=</a:t>
                      </a:r>
                      <a:r>
                        <a:rPr lang="en-US" altLang="zh-CN" sz="2400" b="0" dirty="0" err="1">
                          <a:solidFill>
                            <a:schemeClr val="tx1"/>
                          </a:solidFill>
                        </a:rPr>
                        <a:t>fa.calculate_bartlett_sphericity</a:t>
                      </a:r>
                      <a:r>
                        <a:rPr lang="en-US" altLang="zh-CN" sz="2400" b="0" dirty="0">
                          <a:solidFill>
                            <a:schemeClr val="tx1"/>
                          </a:solidFill>
                        </a:rPr>
                        <a:t>(X) #</a:t>
                      </a:r>
                      <a:r>
                        <a:rPr lang="zh-CN" altLang="en-US" sz="2400" b="0" dirty="0">
                          <a:solidFill>
                            <a:schemeClr val="tx1"/>
                          </a:solidFill>
                        </a:rPr>
                        <a:t>进行 </a:t>
                      </a:r>
                      <a:r>
                        <a:rPr lang="en-US" altLang="zh-CN" sz="2400" b="0" dirty="0">
                          <a:solidFill>
                            <a:schemeClr val="tx1"/>
                          </a:solidFill>
                        </a:rPr>
                        <a:t>bartlett </a:t>
                      </a:r>
                      <a:r>
                        <a:rPr lang="zh-CN" altLang="en-US" sz="2400" b="0" dirty="0">
                          <a:solidFill>
                            <a:schemeClr val="tx1"/>
                          </a:solidFill>
                        </a:rPr>
                        <a:t>检验</a:t>
                      </a:r>
                    </a:p>
                    <a:p>
                      <a:pPr lvl="2"/>
                      <a:r>
                        <a:rPr lang="en-US" altLang="zh-CN" sz="2400" b="0" dirty="0">
                          <a:solidFill>
                            <a:schemeClr val="tx1"/>
                          </a:solidFill>
                        </a:rPr>
                        <a:t>print('KMO </a:t>
                      </a:r>
                      <a:r>
                        <a:rPr lang="zh-CN" altLang="en-US" sz="2400" b="0" dirty="0">
                          <a:solidFill>
                            <a:schemeClr val="tx1"/>
                          </a:solidFill>
                        </a:rPr>
                        <a:t>检验</a:t>
                      </a:r>
                      <a:r>
                        <a:rPr lang="en-US" altLang="zh-CN" sz="2400" b="0" dirty="0">
                          <a:solidFill>
                            <a:schemeClr val="tx1"/>
                          </a:solidFill>
                        </a:rPr>
                        <a:t>: KMO </a:t>
                      </a:r>
                      <a:r>
                        <a:rPr lang="zh-CN" altLang="en-US" sz="2400" b="0" dirty="0">
                          <a:solidFill>
                            <a:schemeClr val="tx1"/>
                          </a:solidFill>
                        </a:rPr>
                        <a:t>值</a:t>
                      </a:r>
                      <a:r>
                        <a:rPr lang="en-US" altLang="zh-CN" sz="2400" b="0" dirty="0">
                          <a:solidFill>
                            <a:schemeClr val="tx1"/>
                          </a:solidFill>
                        </a:rPr>
                        <a:t>=%6.4f </a:t>
                      </a:r>
                      <a:r>
                        <a:rPr lang="zh-CN" altLang="en-US" sz="2400" b="0" dirty="0">
                          <a:solidFill>
                            <a:schemeClr val="tx1"/>
                          </a:solidFill>
                        </a:rPr>
                        <a:t>卡方值</a:t>
                      </a:r>
                      <a:r>
                        <a:rPr lang="en-US" altLang="zh-CN" sz="2400" b="0" dirty="0">
                          <a:solidFill>
                            <a:schemeClr val="tx1"/>
                          </a:solidFill>
                        </a:rPr>
                        <a:t>=%8.4f, p </a:t>
                      </a:r>
                      <a:r>
                        <a:rPr lang="zh-CN" altLang="en-US" sz="2400" b="0" dirty="0">
                          <a:solidFill>
                            <a:schemeClr val="tx1"/>
                          </a:solidFill>
                        </a:rPr>
                        <a:t>值</a:t>
                      </a:r>
                      <a:r>
                        <a:rPr lang="en-US" altLang="zh-CN" sz="2400" b="0" dirty="0">
                          <a:solidFill>
                            <a:schemeClr val="tx1"/>
                          </a:solidFill>
                        </a:rPr>
                        <a:t>=%5.4f'%</a:t>
                      </a:r>
                    </a:p>
                    <a:p>
                      <a:pPr lvl="2"/>
                      <a:r>
                        <a:rPr lang="en-US" altLang="zh-CN" sz="2400" b="0" dirty="0">
                          <a:solidFill>
                            <a:schemeClr val="tx1"/>
                          </a:solidFill>
                        </a:rPr>
                        <a:t>(</a:t>
                      </a:r>
                      <a:r>
                        <a:rPr lang="en-US" altLang="zh-CN" sz="2400" b="0" dirty="0" err="1">
                          <a:solidFill>
                            <a:schemeClr val="tx1"/>
                          </a:solidFill>
                        </a:rPr>
                        <a:t>kmo</a:t>
                      </a:r>
                      <a:r>
                        <a:rPr lang="en-US" altLang="zh-CN" sz="2400" b="0" dirty="0">
                          <a:solidFill>
                            <a:schemeClr val="tx1"/>
                          </a:solidFill>
                        </a:rPr>
                        <a:t>[1],</a:t>
                      </a:r>
                      <a:r>
                        <a:rPr lang="en-US" altLang="zh-CN" sz="2400" b="0" dirty="0" err="1">
                          <a:solidFill>
                            <a:schemeClr val="tx1"/>
                          </a:solidFill>
                        </a:rPr>
                        <a:t>chisq</a:t>
                      </a:r>
                      <a:r>
                        <a:rPr lang="en-US" altLang="zh-CN" sz="2400" b="0" dirty="0">
                          <a:solidFill>
                            <a:schemeClr val="tx1"/>
                          </a:solidFill>
                        </a:rPr>
                        <a:t>[0],</a:t>
                      </a:r>
                      <a:r>
                        <a:rPr lang="en-US" altLang="zh-CN" sz="2400" b="0" dirty="0" err="1">
                          <a:solidFill>
                            <a:schemeClr val="tx1"/>
                          </a:solidFill>
                        </a:rPr>
                        <a:t>chisq</a:t>
                      </a:r>
                      <a:r>
                        <a:rPr lang="en-US" altLang="zh-CN" sz="2400" b="0" dirty="0">
                          <a:solidFill>
                            <a:schemeClr val="tx1"/>
                          </a:solidFill>
                        </a:rPr>
                        <a:t>[1]))</a:t>
                      </a:r>
                    </a:p>
                    <a:p>
                      <a:pPr lvl="2"/>
                      <a:r>
                        <a:rPr lang="en-US" altLang="zh-CN" sz="2400" b="0" dirty="0">
                          <a:solidFill>
                            <a:schemeClr val="tx1"/>
                          </a:solidFill>
                        </a:rPr>
                        <a:t>from </a:t>
                      </a:r>
                      <a:r>
                        <a:rPr lang="en-US" altLang="zh-CN" sz="2400" b="0" dirty="0" err="1">
                          <a:solidFill>
                            <a:schemeClr val="tx1"/>
                          </a:solidFill>
                        </a:rPr>
                        <a:t>factor_analyzer</a:t>
                      </a:r>
                      <a:r>
                        <a:rPr lang="en-US" altLang="zh-CN" sz="2400" b="0" dirty="0">
                          <a:solidFill>
                            <a:schemeClr val="tx1"/>
                          </a:solidFill>
                        </a:rPr>
                        <a:t> import </a:t>
                      </a:r>
                      <a:r>
                        <a:rPr lang="en-US" altLang="zh-CN" sz="2400" b="0" dirty="0" err="1">
                          <a:solidFill>
                            <a:schemeClr val="tx1"/>
                          </a:solidFill>
                        </a:rPr>
                        <a:t>FactorAnalyzer</a:t>
                      </a:r>
                      <a:r>
                        <a:rPr lang="en-US" altLang="zh-CN" sz="2400" b="0" dirty="0">
                          <a:solidFill>
                            <a:schemeClr val="tx1"/>
                          </a:solidFill>
                        </a:rPr>
                        <a:t> as FA</a:t>
                      </a:r>
                    </a:p>
                    <a:p>
                      <a:pPr lvl="2"/>
                      <a:r>
                        <a:rPr lang="en-US" altLang="zh-CN" sz="2400" b="0" dirty="0" err="1">
                          <a:solidFill>
                            <a:schemeClr val="tx1"/>
                          </a:solidFill>
                        </a:rPr>
                        <a:t>Fp</a:t>
                      </a:r>
                      <a:r>
                        <a:rPr lang="en-US" altLang="zh-CN" sz="2400" b="0" dirty="0">
                          <a:solidFill>
                            <a:schemeClr val="tx1"/>
                          </a:solidFill>
                        </a:rPr>
                        <a:t>=FA(</a:t>
                      </a:r>
                      <a:r>
                        <a:rPr lang="en-US" altLang="zh-CN" sz="2400" b="0" dirty="0" err="1">
                          <a:solidFill>
                            <a:schemeClr val="tx1"/>
                          </a:solidFill>
                        </a:rPr>
                        <a:t>n_factors</a:t>
                      </a:r>
                      <a:r>
                        <a:rPr lang="en-US" altLang="zh-CN" sz="2400" b="0" dirty="0">
                          <a:solidFill>
                            <a:schemeClr val="tx1"/>
                          </a:solidFill>
                        </a:rPr>
                        <a:t>=</a:t>
                      </a:r>
                      <a:r>
                        <a:rPr lang="en-US" altLang="zh-CN" sz="2400" b="0" dirty="0" err="1">
                          <a:solidFill>
                            <a:schemeClr val="tx1"/>
                          </a:solidFill>
                        </a:rPr>
                        <a:t>m,method</a:t>
                      </a:r>
                      <a:r>
                        <a:rPr lang="en-US" altLang="zh-CN" sz="2400" b="0" dirty="0">
                          <a:solidFill>
                            <a:schemeClr val="tx1"/>
                          </a:solidFill>
                        </a:rPr>
                        <a:t>='</a:t>
                      </a:r>
                      <a:r>
                        <a:rPr lang="en-US" altLang="zh-CN" sz="2400" b="0" dirty="0" err="1">
                          <a:solidFill>
                            <a:schemeClr val="tx1"/>
                          </a:solidFill>
                        </a:rPr>
                        <a:t>principal',rotation</a:t>
                      </a:r>
                      <a:r>
                        <a:rPr lang="en-US" altLang="zh-CN" sz="2400" b="0" dirty="0">
                          <a:solidFill>
                            <a:schemeClr val="tx1"/>
                          </a:solidFill>
                        </a:rPr>
                        <a:t>=rot).fit(</a:t>
                      </a:r>
                      <a:r>
                        <a:rPr lang="en-US" altLang="zh-CN" sz="2400" b="0" dirty="0" err="1">
                          <a:solidFill>
                            <a:schemeClr val="tx1"/>
                          </a:solidFill>
                        </a:rPr>
                        <a:t>X.values</a:t>
                      </a:r>
                      <a:r>
                        <a:rPr lang="en-US" altLang="zh-CN" sz="2400" b="0" dirty="0">
                          <a:solidFill>
                            <a:schemeClr val="tx1"/>
                          </a:solidFill>
                        </a:rPr>
                        <a:t>)</a:t>
                      </a:r>
                    </a:p>
                    <a:p>
                      <a:pPr lvl="2"/>
                      <a:r>
                        <a:rPr lang="en-US" altLang="zh-CN" sz="2400" b="0" dirty="0">
                          <a:solidFill>
                            <a:schemeClr val="tx1"/>
                          </a:solidFill>
                        </a:rPr>
                        <a:t>vars=</a:t>
                      </a:r>
                      <a:r>
                        <a:rPr lang="en-US" altLang="zh-CN" sz="2400" b="0" dirty="0" err="1">
                          <a:solidFill>
                            <a:schemeClr val="tx1"/>
                          </a:solidFill>
                        </a:rPr>
                        <a:t>Fp.get_factor_variance</a:t>
                      </a:r>
                      <a:r>
                        <a:rPr lang="en-US" altLang="zh-CN" sz="2400" b="0" dirty="0">
                          <a:solidFill>
                            <a:schemeClr val="tx1"/>
                          </a:solidFill>
                        </a:rPr>
                        <a:t>()</a:t>
                      </a:r>
                    </a:p>
                    <a:p>
                      <a:pPr lvl="2"/>
                      <a:r>
                        <a:rPr lang="en-US" altLang="zh-CN" sz="2400" b="0" dirty="0">
                          <a:solidFill>
                            <a:schemeClr val="tx1"/>
                          </a:solidFill>
                        </a:rPr>
                        <a:t>Factor=['</a:t>
                      </a:r>
                      <a:r>
                        <a:rPr lang="en-US" altLang="zh-CN" sz="2400" b="0" dirty="0" err="1">
                          <a:solidFill>
                            <a:schemeClr val="tx1"/>
                          </a:solidFill>
                        </a:rPr>
                        <a:t>F%d</a:t>
                      </a:r>
                      <a:r>
                        <a:rPr lang="en-US" altLang="zh-CN" sz="2400" b="0" dirty="0">
                          <a:solidFill>
                            <a:schemeClr val="tx1"/>
                          </a:solidFill>
                        </a:rPr>
                        <a:t>' %(i+1) for </a:t>
                      </a:r>
                      <a:r>
                        <a:rPr lang="en-US" altLang="zh-CN" sz="2400" b="0" dirty="0" err="1">
                          <a:solidFill>
                            <a:schemeClr val="tx1"/>
                          </a:solidFill>
                        </a:rPr>
                        <a:t>i</a:t>
                      </a:r>
                      <a:r>
                        <a:rPr lang="en-US" altLang="zh-CN" sz="2400" b="0" dirty="0">
                          <a:solidFill>
                            <a:schemeClr val="tx1"/>
                          </a:solidFill>
                        </a:rPr>
                        <a:t> in range(m)]</a:t>
                      </a:r>
                    </a:p>
                    <a:p>
                      <a:pPr lvl="2"/>
                      <a:r>
                        <a:rPr lang="en-US" altLang="zh-CN" sz="2400" b="0" dirty="0">
                          <a:solidFill>
                            <a:schemeClr val="tx1"/>
                          </a:solidFill>
                        </a:rPr>
                        <a:t>Vars=</a:t>
                      </a:r>
                      <a:r>
                        <a:rPr lang="en-US" altLang="zh-CN" sz="2400" b="0" dirty="0" err="1">
                          <a:solidFill>
                            <a:schemeClr val="tx1"/>
                          </a:solidFill>
                        </a:rPr>
                        <a:t>pd.DataFrame</a:t>
                      </a:r>
                      <a:r>
                        <a:rPr lang="en-US" altLang="zh-CN" sz="2400" b="0" dirty="0">
                          <a:solidFill>
                            <a:schemeClr val="tx1"/>
                          </a:solidFill>
                        </a:rPr>
                        <a:t>(vars,['</a:t>
                      </a:r>
                      <a:r>
                        <a:rPr lang="zh-CN" altLang="en-US" sz="2400" b="0" dirty="0">
                          <a:solidFill>
                            <a:schemeClr val="tx1"/>
                          </a:solidFill>
                        </a:rPr>
                        <a:t>方差</a:t>
                      </a:r>
                      <a:r>
                        <a:rPr lang="en-US" altLang="zh-CN" sz="2400" b="0" dirty="0">
                          <a:solidFill>
                            <a:schemeClr val="tx1"/>
                          </a:solidFill>
                        </a:rPr>
                        <a:t>','</a:t>
                      </a:r>
                      <a:r>
                        <a:rPr lang="zh-CN" altLang="en-US" sz="2400" b="0" dirty="0">
                          <a:solidFill>
                            <a:schemeClr val="tx1"/>
                          </a:solidFill>
                        </a:rPr>
                        <a:t>贡献率</a:t>
                      </a:r>
                      <a:r>
                        <a:rPr lang="en-US" altLang="zh-CN" sz="2400" b="0" dirty="0">
                          <a:solidFill>
                            <a:schemeClr val="tx1"/>
                          </a:solidFill>
                        </a:rPr>
                        <a:t>','</a:t>
                      </a:r>
                      <a:r>
                        <a:rPr lang="zh-CN" altLang="en-US" sz="2400" b="0" dirty="0">
                          <a:solidFill>
                            <a:schemeClr val="tx1"/>
                          </a:solidFill>
                        </a:rPr>
                        <a:t>累计贡献率</a:t>
                      </a:r>
                      <a:r>
                        <a:rPr lang="en-US" altLang="zh-CN" sz="2400" b="0" dirty="0">
                          <a:solidFill>
                            <a:schemeClr val="tx1"/>
                          </a:solidFill>
                        </a:rPr>
                        <a:t>'],Factor)</a:t>
                      </a:r>
                    </a:p>
                    <a:p>
                      <a:pPr lvl="2"/>
                      <a:r>
                        <a:rPr lang="en-US" altLang="zh-CN" sz="2400" b="0" dirty="0">
                          <a:solidFill>
                            <a:schemeClr val="tx1"/>
                          </a:solidFill>
                        </a:rPr>
                        <a:t>print("\n </a:t>
                      </a:r>
                      <a:r>
                        <a:rPr lang="zh-CN" altLang="en-US" sz="2400" b="0" dirty="0">
                          <a:solidFill>
                            <a:schemeClr val="tx1"/>
                          </a:solidFill>
                        </a:rPr>
                        <a:t>方差贡献</a:t>
                      </a:r>
                      <a:r>
                        <a:rPr lang="en-US" altLang="zh-CN" sz="2400" b="0" dirty="0">
                          <a:solidFill>
                            <a:schemeClr val="tx1"/>
                          </a:solidFill>
                        </a:rPr>
                        <a:t>:\</a:t>
                      </a:r>
                      <a:r>
                        <a:rPr lang="en-US" altLang="zh-CN" sz="2400" b="0" dirty="0" err="1">
                          <a:solidFill>
                            <a:schemeClr val="tx1"/>
                          </a:solidFill>
                        </a:rPr>
                        <a:t>n",Vars</a:t>
                      </a:r>
                      <a:r>
                        <a:rPr lang="en-US" altLang="zh-CN" sz="2400" b="0" dirty="0">
                          <a:solidFill>
                            <a:schemeClr val="tx1"/>
                          </a:solidFill>
                        </a:rPr>
                        <a:t>)</a:t>
                      </a:r>
                    </a:p>
                    <a:p>
                      <a:pPr lvl="2"/>
                      <a:r>
                        <a:rPr lang="en-US" altLang="zh-CN" sz="2400" b="0" dirty="0">
                          <a:solidFill>
                            <a:schemeClr val="tx1"/>
                          </a:solidFill>
                        </a:rPr>
                        <a:t>Load=</a:t>
                      </a:r>
                      <a:r>
                        <a:rPr lang="en-US" altLang="zh-CN" sz="2400" b="0" dirty="0" err="1">
                          <a:solidFill>
                            <a:schemeClr val="tx1"/>
                          </a:solidFill>
                        </a:rPr>
                        <a:t>pd.DataFrame</a:t>
                      </a:r>
                      <a:r>
                        <a:rPr lang="en-US" altLang="zh-CN" sz="2400" b="0" dirty="0">
                          <a:solidFill>
                            <a:schemeClr val="tx1"/>
                          </a:solidFill>
                        </a:rPr>
                        <a:t>(Fp.loadings_,</a:t>
                      </a:r>
                      <a:r>
                        <a:rPr lang="en-US" altLang="zh-CN" sz="2400" b="0" dirty="0" err="1">
                          <a:solidFill>
                            <a:schemeClr val="tx1"/>
                          </a:solidFill>
                        </a:rPr>
                        <a:t>X.columns,Factor</a:t>
                      </a:r>
                      <a:r>
                        <a:rPr lang="en-US" altLang="zh-CN" sz="2400" b="0" dirty="0">
                          <a:solidFill>
                            <a:schemeClr val="tx1"/>
                          </a:solidFill>
                        </a:rPr>
                        <a:t>)</a:t>
                      </a:r>
                    </a:p>
                    <a:p>
                      <a:pPr lvl="2"/>
                      <a:r>
                        <a:rPr lang="en-US" altLang="zh-CN" sz="2400" b="0" dirty="0">
                          <a:solidFill>
                            <a:schemeClr val="tx1"/>
                          </a:solidFill>
                        </a:rPr>
                        <a:t>Load['</a:t>
                      </a:r>
                      <a:r>
                        <a:rPr lang="zh-CN" altLang="en-US" sz="2400" b="0" dirty="0">
                          <a:solidFill>
                            <a:schemeClr val="tx1"/>
                          </a:solidFill>
                        </a:rPr>
                        <a:t>共同度</a:t>
                      </a:r>
                      <a:r>
                        <a:rPr lang="en-US" altLang="zh-CN" sz="2400" b="0" dirty="0">
                          <a:solidFill>
                            <a:schemeClr val="tx1"/>
                          </a:solidFill>
                        </a:rPr>
                        <a:t>']=1-Fp.get_uniquenesses()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graphicFrame>
        <p:nvGraphicFramePr>
          <p:cNvPr id="6" name="表格 6"/>
          <p:cNvGraphicFramePr>
            <a:graphicFrameLocks noGrp="1"/>
          </p:cNvGraphicFramePr>
          <p:nvPr/>
        </p:nvGraphicFramePr>
        <p:xfrm>
          <a:off x="131862" y="1151293"/>
          <a:ext cx="11724537" cy="5127111"/>
        </p:xfrm>
        <a:graphic>
          <a:graphicData uri="http://schemas.openxmlformats.org/drawingml/2006/table">
            <a:tbl>
              <a:tblPr firstRow="1" bandRow="1">
                <a:tableStyleId>{5C22544A-7EE6-4342-B048-85BDC9FD1C3A}</a:tableStyleId>
              </a:tblPr>
              <a:tblGrid>
                <a:gridCol w="1211808">
                  <a:extLst>
                    <a:ext uri="{9D8B030D-6E8A-4147-A177-3AD203B41FA5}">
                      <a16:colId xmlns:a16="http://schemas.microsoft.com/office/drawing/2014/main" val="20000"/>
                    </a:ext>
                  </a:extLst>
                </a:gridCol>
                <a:gridCol w="10512729">
                  <a:extLst>
                    <a:ext uri="{9D8B030D-6E8A-4147-A177-3AD203B41FA5}">
                      <a16:colId xmlns:a16="http://schemas.microsoft.com/office/drawing/2014/main" val="20001"/>
                    </a:ext>
                  </a:extLst>
                </a:gridCol>
              </a:tblGrid>
              <a:tr h="4293847">
                <a:tc>
                  <a:txBody>
                    <a:bodyPr/>
                    <a:lstStyle/>
                    <a:p>
                      <a:pPr algn="ctr"/>
                      <a:r>
                        <a:rPr lang="en-US" altLang="zh-CN" sz="2400" b="0" dirty="0">
                          <a:solidFill>
                            <a:schemeClr val="tx1"/>
                          </a:solidFill>
                        </a:rPr>
                        <a:t>In</a:t>
                      </a:r>
                      <a:endParaRPr lang="zh-CN"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2"/>
                      <a:r>
                        <a:rPr lang="en-US" altLang="zh-CN" sz="2400" b="0" dirty="0">
                          <a:solidFill>
                            <a:schemeClr val="tx1"/>
                          </a:solidFill>
                        </a:rPr>
                        <a:t>Load=</a:t>
                      </a:r>
                      <a:r>
                        <a:rPr lang="en-US" altLang="zh-CN" sz="2400" b="0" dirty="0" err="1">
                          <a:solidFill>
                            <a:schemeClr val="tx1"/>
                          </a:solidFill>
                        </a:rPr>
                        <a:t>pd.DataFrame</a:t>
                      </a:r>
                      <a:r>
                        <a:rPr lang="en-US" altLang="zh-CN" sz="2400" b="0" dirty="0">
                          <a:solidFill>
                            <a:schemeClr val="tx1"/>
                          </a:solidFill>
                        </a:rPr>
                        <a:t>(Fp.loadings_,</a:t>
                      </a:r>
                      <a:r>
                        <a:rPr lang="en-US" altLang="zh-CN" sz="2400" b="0" dirty="0" err="1">
                          <a:solidFill>
                            <a:schemeClr val="tx1"/>
                          </a:solidFill>
                        </a:rPr>
                        <a:t>X.columns,Factor</a:t>
                      </a:r>
                      <a:r>
                        <a:rPr lang="en-US" altLang="zh-CN" sz="2400" b="0" dirty="0">
                          <a:solidFill>
                            <a:schemeClr val="tx1"/>
                          </a:solidFill>
                        </a:rPr>
                        <a:t>)</a:t>
                      </a:r>
                    </a:p>
                    <a:p>
                      <a:pPr lvl="2"/>
                      <a:r>
                        <a:rPr lang="en-US" altLang="zh-CN" sz="2400" b="0" dirty="0">
                          <a:solidFill>
                            <a:schemeClr val="tx1"/>
                          </a:solidFill>
                        </a:rPr>
                        <a:t>Load['</a:t>
                      </a:r>
                      <a:r>
                        <a:rPr lang="zh-CN" altLang="en-US" sz="2400" b="0" dirty="0">
                          <a:solidFill>
                            <a:schemeClr val="tx1"/>
                          </a:solidFill>
                        </a:rPr>
                        <a:t>共同度</a:t>
                      </a:r>
                      <a:r>
                        <a:rPr lang="en-US" altLang="zh-CN" sz="2400" b="0" dirty="0">
                          <a:solidFill>
                            <a:schemeClr val="tx1"/>
                          </a:solidFill>
                        </a:rPr>
                        <a:t>']=1-Fp.get_uniquenesses()</a:t>
                      </a:r>
                    </a:p>
                    <a:p>
                      <a:pPr lvl="2"/>
                      <a:r>
                        <a:rPr lang="en-US" altLang="zh-CN" sz="2400" b="0" dirty="0">
                          <a:solidFill>
                            <a:schemeClr val="tx1"/>
                          </a:solidFill>
                        </a:rPr>
                        <a:t>print("\n </a:t>
                      </a:r>
                      <a:r>
                        <a:rPr lang="zh-CN" altLang="en-US" sz="2400" b="0" dirty="0">
                          <a:solidFill>
                            <a:schemeClr val="tx1"/>
                          </a:solidFill>
                        </a:rPr>
                        <a:t>因子载荷</a:t>
                      </a:r>
                      <a:r>
                        <a:rPr lang="en-US" altLang="zh-CN" sz="2400" b="0" dirty="0">
                          <a:solidFill>
                            <a:schemeClr val="tx1"/>
                          </a:solidFill>
                        </a:rPr>
                        <a:t>:\</a:t>
                      </a:r>
                      <a:r>
                        <a:rPr lang="en-US" altLang="zh-CN" sz="2400" b="0" dirty="0" err="1">
                          <a:solidFill>
                            <a:schemeClr val="tx1"/>
                          </a:solidFill>
                        </a:rPr>
                        <a:t>n",Load</a:t>
                      </a:r>
                      <a:r>
                        <a:rPr lang="en-US" altLang="zh-CN" sz="2400" b="0" dirty="0">
                          <a:solidFill>
                            <a:schemeClr val="tx1"/>
                          </a:solidFill>
                        </a:rPr>
                        <a:t>)</a:t>
                      </a:r>
                    </a:p>
                    <a:p>
                      <a:pPr lvl="2"/>
                      <a:r>
                        <a:rPr lang="en-US" altLang="zh-CN" sz="2400" b="0" dirty="0">
                          <a:solidFill>
                            <a:schemeClr val="tx1"/>
                          </a:solidFill>
                        </a:rPr>
                        <a:t>Scores=</a:t>
                      </a:r>
                      <a:r>
                        <a:rPr lang="en-US" altLang="zh-CN" sz="2400" b="0" dirty="0" err="1">
                          <a:solidFill>
                            <a:schemeClr val="tx1"/>
                          </a:solidFill>
                        </a:rPr>
                        <a:t>pd.DataFrame</a:t>
                      </a:r>
                      <a:r>
                        <a:rPr lang="en-US" altLang="zh-CN" sz="2400" b="0" dirty="0">
                          <a:solidFill>
                            <a:schemeClr val="tx1"/>
                          </a:solidFill>
                        </a:rPr>
                        <a:t>(</a:t>
                      </a:r>
                      <a:r>
                        <a:rPr lang="en-US" altLang="zh-CN" sz="2400" b="0" dirty="0" err="1">
                          <a:solidFill>
                            <a:schemeClr val="tx1"/>
                          </a:solidFill>
                        </a:rPr>
                        <a:t>Fp.transform</a:t>
                      </a:r>
                      <a:r>
                        <a:rPr lang="en-US" altLang="zh-CN" sz="2400" b="0" dirty="0">
                          <a:solidFill>
                            <a:schemeClr val="tx1"/>
                          </a:solidFill>
                        </a:rPr>
                        <a:t>(</a:t>
                      </a:r>
                      <a:r>
                        <a:rPr lang="en-US" altLang="zh-CN" sz="2400" b="0" dirty="0" err="1">
                          <a:solidFill>
                            <a:schemeClr val="tx1"/>
                          </a:solidFill>
                        </a:rPr>
                        <a:t>X.values</a:t>
                      </a:r>
                      <a:r>
                        <a:rPr lang="en-US" altLang="zh-CN" sz="2400" b="0" dirty="0">
                          <a:solidFill>
                            <a:schemeClr val="tx1"/>
                          </a:solidFill>
                        </a:rPr>
                        <a:t>),</a:t>
                      </a:r>
                      <a:r>
                        <a:rPr lang="en-US" altLang="zh-CN" sz="2400" b="0" dirty="0" err="1">
                          <a:solidFill>
                            <a:schemeClr val="tx1"/>
                          </a:solidFill>
                        </a:rPr>
                        <a:t>X.index,Factor</a:t>
                      </a:r>
                      <a:r>
                        <a:rPr lang="en-US" altLang="zh-CN" sz="2400" b="0" dirty="0">
                          <a:solidFill>
                            <a:schemeClr val="tx1"/>
                          </a:solidFill>
                        </a:rPr>
                        <a:t>)</a:t>
                      </a:r>
                    </a:p>
                    <a:p>
                      <a:pPr lvl="2"/>
                      <a:r>
                        <a:rPr lang="en-US" altLang="zh-CN" sz="2400" b="0" dirty="0">
                          <a:solidFill>
                            <a:schemeClr val="tx1"/>
                          </a:solidFill>
                        </a:rPr>
                        <a:t>print("\n </a:t>
                      </a:r>
                      <a:r>
                        <a:rPr lang="zh-CN" altLang="en-US" sz="2400" b="0" dirty="0">
                          <a:solidFill>
                            <a:schemeClr val="tx1"/>
                          </a:solidFill>
                        </a:rPr>
                        <a:t>因子得分</a:t>
                      </a:r>
                      <a:r>
                        <a:rPr lang="en-US" altLang="zh-CN" sz="2400" b="0" dirty="0">
                          <a:solidFill>
                            <a:schemeClr val="tx1"/>
                          </a:solidFill>
                        </a:rPr>
                        <a:t>:\</a:t>
                      </a:r>
                      <a:r>
                        <a:rPr lang="en-US" altLang="zh-CN" sz="2400" b="0" dirty="0" err="1">
                          <a:solidFill>
                            <a:schemeClr val="tx1"/>
                          </a:solidFill>
                        </a:rPr>
                        <a:t>n",Scores</a:t>
                      </a:r>
                      <a:r>
                        <a:rPr lang="en-US" altLang="zh-CN" sz="2400" b="0" dirty="0">
                          <a:solidFill>
                            <a:schemeClr val="tx1"/>
                          </a:solidFill>
                        </a:rPr>
                        <a:t>)</a:t>
                      </a:r>
                    </a:p>
                    <a:p>
                      <a:pPr lvl="2"/>
                      <a:r>
                        <a:rPr lang="en-US" altLang="zh-CN" sz="2400" b="0" dirty="0">
                          <a:solidFill>
                            <a:schemeClr val="tx1"/>
                          </a:solidFill>
                        </a:rPr>
                        <a:t>Vi=vars[0]</a:t>
                      </a:r>
                    </a:p>
                    <a:p>
                      <a:pPr lvl="2"/>
                      <a:r>
                        <a:rPr lang="en-US" altLang="zh-CN" sz="2400" b="0" dirty="0">
                          <a:solidFill>
                            <a:schemeClr val="tx1"/>
                          </a:solidFill>
                        </a:rPr>
                        <a:t>Wi=Vi/sum(Vi);Wi</a:t>
                      </a:r>
                    </a:p>
                    <a:p>
                      <a:pPr lvl="2"/>
                      <a:r>
                        <a:rPr lang="en-US" altLang="zh-CN" sz="2400" b="0" dirty="0">
                          <a:solidFill>
                            <a:schemeClr val="tx1"/>
                          </a:solidFill>
                        </a:rPr>
                        <a:t>Fi=Scores.dot(Wi)</a:t>
                      </a:r>
                    </a:p>
                    <a:p>
                      <a:pPr lvl="2"/>
                      <a:r>
                        <a:rPr lang="en-US" altLang="zh-CN" sz="2400" b="0" dirty="0">
                          <a:solidFill>
                            <a:schemeClr val="tx1"/>
                          </a:solidFill>
                        </a:rPr>
                        <a:t>Ri=</a:t>
                      </a:r>
                      <a:r>
                        <a:rPr lang="en-US" altLang="zh-CN" sz="2400" b="0" dirty="0" err="1">
                          <a:solidFill>
                            <a:schemeClr val="tx1"/>
                          </a:solidFill>
                        </a:rPr>
                        <a:t>Fi.rank</a:t>
                      </a:r>
                      <a:r>
                        <a:rPr lang="en-US" altLang="zh-CN" sz="2400" b="0" dirty="0">
                          <a:solidFill>
                            <a:schemeClr val="tx1"/>
                          </a:solidFill>
                        </a:rPr>
                        <a:t>(ascending=False).</a:t>
                      </a:r>
                      <a:r>
                        <a:rPr lang="en-US" altLang="zh-CN" sz="2400" b="0" dirty="0" err="1">
                          <a:solidFill>
                            <a:schemeClr val="tx1"/>
                          </a:solidFill>
                        </a:rPr>
                        <a:t>astype</a:t>
                      </a:r>
                      <a:r>
                        <a:rPr lang="en-US" altLang="zh-CN" sz="2400" b="0" dirty="0">
                          <a:solidFill>
                            <a:schemeClr val="tx1"/>
                          </a:solidFill>
                        </a:rPr>
                        <a:t>(int);</a:t>
                      </a:r>
                    </a:p>
                    <a:p>
                      <a:pPr lvl="2"/>
                      <a:r>
                        <a:rPr lang="en-US" altLang="zh-CN" sz="2400" b="0" dirty="0">
                          <a:solidFill>
                            <a:schemeClr val="tx1"/>
                          </a:solidFill>
                        </a:rPr>
                        <a:t>print("\n </a:t>
                      </a:r>
                      <a:r>
                        <a:rPr lang="zh-CN" altLang="en-US" sz="2400" b="0" dirty="0">
                          <a:solidFill>
                            <a:schemeClr val="tx1"/>
                          </a:solidFill>
                        </a:rPr>
                        <a:t>综合排名</a:t>
                      </a:r>
                      <a:r>
                        <a:rPr lang="en-US" altLang="zh-CN" sz="2400" b="0" dirty="0">
                          <a:solidFill>
                            <a:schemeClr val="tx1"/>
                          </a:solidFill>
                        </a:rPr>
                        <a:t>:\n")</a:t>
                      </a:r>
                    </a:p>
                    <a:p>
                      <a:pPr lvl="2"/>
                      <a:r>
                        <a:rPr lang="en-US" altLang="zh-CN" sz="2400" b="0" dirty="0">
                          <a:solidFill>
                            <a:schemeClr val="tx1"/>
                          </a:solidFill>
                        </a:rPr>
                        <a:t>return </a:t>
                      </a:r>
                      <a:r>
                        <a:rPr lang="en-US" altLang="zh-CN" sz="2400" b="0" dirty="0" err="1">
                          <a:solidFill>
                            <a:schemeClr val="tx1"/>
                          </a:solidFill>
                        </a:rPr>
                        <a:t>pd.DataFrame</a:t>
                      </a:r>
                      <a:r>
                        <a:rPr lang="en-US" altLang="zh-CN" sz="2400" b="0" dirty="0">
                          <a:solidFill>
                            <a:schemeClr val="tx1"/>
                          </a:solidFill>
                        </a:rPr>
                        <a:t>({'</a:t>
                      </a:r>
                      <a:r>
                        <a:rPr lang="zh-CN" altLang="en-US" sz="2400" b="0" dirty="0">
                          <a:solidFill>
                            <a:schemeClr val="tx1"/>
                          </a:solidFill>
                        </a:rPr>
                        <a:t>综合得分</a:t>
                      </a:r>
                      <a:r>
                        <a:rPr lang="en-US" altLang="zh-CN" sz="2400" b="0" dirty="0">
                          <a:solidFill>
                            <a:schemeClr val="tx1"/>
                          </a:solidFill>
                        </a:rPr>
                        <a:t>':Fi,'</a:t>
                      </a:r>
                      <a:r>
                        <a:rPr lang="zh-CN" altLang="en-US" sz="2400" b="0" dirty="0">
                          <a:solidFill>
                            <a:schemeClr val="tx1"/>
                          </a:solidFill>
                        </a:rPr>
                        <a:t>综合排名</a:t>
                      </a:r>
                      <a:r>
                        <a:rPr lang="en-US" altLang="zh-CN" sz="2400" b="0" dirty="0">
                          <a:solidFill>
                            <a:schemeClr val="tx1"/>
                          </a:solidFill>
                        </a:rPr>
                        <a:t>':Ri})</a:t>
                      </a:r>
                      <a:endParaRPr lang="zh-CN"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33264">
                <a:tc>
                  <a:txBody>
                    <a:bodyPr/>
                    <a:lstStyle/>
                    <a:p>
                      <a:pPr algn="ctr"/>
                      <a:r>
                        <a:rPr lang="en-US" altLang="zh-CN" sz="2400" b="0" dirty="0">
                          <a:solidFill>
                            <a:schemeClr val="tx1"/>
                          </a:solidFill>
                        </a:rPr>
                        <a:t>In</a:t>
                      </a:r>
                      <a:endParaRPr lang="zh-CN" altLang="en-US" sz="2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2"/>
                      <a:r>
                        <a:rPr lang="en-US" altLang="zh-CN" sz="2400" b="0" dirty="0" err="1">
                          <a:solidFill>
                            <a:schemeClr val="tx1"/>
                          </a:solidFill>
                        </a:rPr>
                        <a:t>pd.set_option</a:t>
                      </a:r>
                      <a:r>
                        <a:rPr lang="en-US" altLang="zh-CN" sz="2400" b="0" dirty="0">
                          <a:solidFill>
                            <a:schemeClr val="tx1"/>
                          </a:solidFill>
                        </a:rPr>
                        <a:t>('display.max_rows',31)</a:t>
                      </a:r>
                    </a:p>
                    <a:p>
                      <a:pPr lvl="2"/>
                      <a:r>
                        <a:rPr lang="en-US" altLang="zh-CN" sz="2400" b="0" dirty="0" err="1">
                          <a:solidFill>
                            <a:schemeClr val="tx1"/>
                          </a:solidFill>
                        </a:rPr>
                        <a:t>FAscores</a:t>
                      </a:r>
                      <a:r>
                        <a:rPr lang="en-US" altLang="zh-CN" sz="2400" b="0" dirty="0">
                          <a:solidFill>
                            <a:schemeClr val="tx1"/>
                          </a:solidFill>
                        </a:rPr>
                        <a:t>(d31,m=2,rot='varimax')</a:t>
                      </a:r>
                      <a:endParaRPr lang="zh-CN"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1487680" y="980830"/>
            <a:ext cx="9687110" cy="5834450"/>
          </a:xfrm>
          <a:prstGeom prst="rect">
            <a:avLst/>
          </a:prstGeom>
        </p:spPr>
      </p:pic>
    </p:spTree>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361543"/>
            <a:ext cx="12192000" cy="3715833"/>
          </a:xfrm>
          <a:prstGeom prst="rect">
            <a:avLst/>
          </a:prstGeom>
        </p:spPr>
      </p:pic>
    </p:spTree>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rotWithShape="1">
          <a:blip r:embed="rId3"/>
          <a:srcRect r="57065"/>
          <a:stretch>
            <a:fillRect/>
          </a:stretch>
        </p:blipFill>
        <p:spPr>
          <a:xfrm>
            <a:off x="965160" y="1027742"/>
            <a:ext cx="4626806" cy="5741889"/>
          </a:xfrm>
          <a:prstGeom prst="rect">
            <a:avLst/>
          </a:prstGeom>
        </p:spPr>
      </p:pic>
      <p:pic>
        <p:nvPicPr>
          <p:cNvPr id="5" name="圖片 4"/>
          <p:cNvPicPr>
            <a:picLocks noChangeAspect="1"/>
          </p:cNvPicPr>
          <p:nvPr/>
        </p:nvPicPr>
        <p:blipFill rotWithShape="1">
          <a:blip r:embed="rId4"/>
          <a:srcRect r="56150"/>
          <a:stretch>
            <a:fillRect/>
          </a:stretch>
        </p:blipFill>
        <p:spPr>
          <a:xfrm>
            <a:off x="6542616" y="1090295"/>
            <a:ext cx="5078953" cy="3507456"/>
          </a:xfrm>
          <a:prstGeom prst="rect">
            <a:avLst/>
          </a:prstGeom>
        </p:spPr>
      </p:pic>
    </p:spTree>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rotWithShape="1">
          <a:blip r:embed="rId3"/>
          <a:srcRect r="56215"/>
          <a:stretch>
            <a:fillRect/>
          </a:stretch>
        </p:blipFill>
        <p:spPr>
          <a:xfrm>
            <a:off x="303161" y="993863"/>
            <a:ext cx="5072790" cy="5819372"/>
          </a:xfrm>
          <a:prstGeom prst="rect">
            <a:avLst/>
          </a:prstGeom>
        </p:spPr>
      </p:pic>
      <p:pic>
        <p:nvPicPr>
          <p:cNvPr id="5" name="圖片 4"/>
          <p:cNvPicPr>
            <a:picLocks noChangeAspect="1"/>
          </p:cNvPicPr>
          <p:nvPr/>
        </p:nvPicPr>
        <p:blipFill rotWithShape="1">
          <a:blip r:embed="rId4"/>
          <a:srcRect r="61808" b="1172"/>
          <a:stretch>
            <a:fillRect/>
          </a:stretch>
        </p:blipFill>
        <p:spPr>
          <a:xfrm>
            <a:off x="6590734" y="1033145"/>
            <a:ext cx="4656392" cy="4819650"/>
          </a:xfrm>
          <a:prstGeom prst="rect">
            <a:avLst/>
          </a:prstGeom>
        </p:spPr>
      </p:pic>
    </p:spTree>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0" y="1751202"/>
            <a:ext cx="12192000" cy="3355596"/>
          </a:xfrm>
          <a:prstGeom prst="rect">
            <a:avLst/>
          </a:prstGeom>
        </p:spPr>
      </p:pic>
    </p:spTree>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335600" y="1052835"/>
            <a:ext cx="11507298" cy="5577937"/>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由于公共因子在原始变量上的载荷值不太好解释，故对其进行因子旋转，选用方差最大化正交旋转。</a:t>
            </a: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由旋转后的因子载荷矩阵可以看出，公共因子 </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在人均食品支出、人均家庭设备用品及服务支出、人均交通和通讯支出、人均娱乐教育文化服务支出、人均居住支出、人均杂项商品和服务支出上的载荷值都很大，可视为反映日常消费的公共因子；</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人均衣着支出和人均医疗保健支出上的载荷值很大，可视为衣着和医疗因子。有了公共因子合理的解释，结合各个省、市、区在公共因子上的得分和综合得分，就可以对各省、市、区的综合人均消费水平进行评价了。</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最后，由回归法估计出因子得分，以各因子的方差贡献率占因子总方差贡献率的比重作为权重进行加权汇总，得出各省、市、区的综合得分及排名。</a:t>
            </a: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在日常消费因子 </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得分最高的前五个省、市、区依次是上海、北京、广东、浙江、福建和海南，且上海和广东明显的高于其它省、市、区，这就是说就日常消费而言，沿海地区相对要高些，且上海和广东的消费水平远远高于其它省、市、区；而吉林和山西得分较低，在这方面的消费相对较小些。</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7.5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因子分析步骤</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468648" y="1052835"/>
            <a:ext cx="11374250" cy="3269613"/>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上海，北京，天津，浙江，广东在因子 </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上的得分较高，可见该地区人们用于衣着和医疗方面的消费支出不小，海南、广西排到全国最末，这是符合实际情况的。就综合得分来看，上海，北京，天津，浙江，广东这 </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5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个省、市的得分最高，甘肃、山西、青海省得分位于全国之末，故可知北京、上海、广东、浙江、天津这 </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5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个省、市的综合人均消费水平居于全国水平前列，云南，贵州和西藏的综合人均消费水平居于全国水平之末。</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我国各地区城镇的人均消费水平主要是由经济发展水平决定的，经济发展水平较高的省、市、区，其城镇人均消费水平也相对较高，经济较落后的地区，其城镇人均消费水平也相对较低。</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基本分析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554545"/>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问题的定义</a:t>
            </a:r>
          </a:p>
        </p:txBody>
      </p:sp>
      <p:sp>
        <p:nvSpPr>
          <p:cNvPr id="9" name="矩形 6"/>
          <p:cNvSpPr/>
          <p:nvPr/>
        </p:nvSpPr>
        <p:spPr>
          <a:xfrm>
            <a:off x="1459832" y="2166253"/>
            <a:ext cx="10250018" cy="454053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这包括定义一个因子分析的问题并确定实施因子分析的变量。应用统计分析方法的关键往往并不在于方法本身，而在于对合适的问题选择合适的方法。因子分析适用的场合往往是一些多变量大样本的情形，研究者的目的则在于寻求这些具有内在相关性的变量背后的一种基本结构。包含在因子分析中的变量应当依据过去的经验、理论或者研究者自己的判断而被选择。但非常重要的一点是，这些变量必须具备区间或者比率测度等级。</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基本分析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矩形 6"/>
          <p:cNvSpPr/>
          <p:nvPr/>
        </p:nvSpPr>
        <p:spPr>
          <a:xfrm>
            <a:off x="1459832" y="2166253"/>
            <a:ext cx="10250018" cy="2601546"/>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在样本大小方面，粗略而言，进行因子分析的样本容量至少应是因子分析所涉及变量数目的４到５倍。</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通常在进行因子分析前，还需验证因子分析方法的可行性与科学性，一般运用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KMO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Bartlett's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进行验证。</a:t>
            </a:r>
          </a:p>
        </p:txBody>
      </p:sp>
      <p:sp>
        <p:nvSpPr>
          <p:cNvPr id="7" name="TextBox 1"/>
          <p:cNvSpPr/>
          <p:nvPr/>
        </p:nvSpPr>
        <p:spPr>
          <a:xfrm flipH="1">
            <a:off x="333709" y="2198053"/>
            <a:ext cx="800100" cy="403187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因子分析的适应性</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基本分析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3046988"/>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确定因子个数</a:t>
            </a:r>
          </a:p>
        </p:txBody>
      </p:sp>
      <p:sp>
        <p:nvSpPr>
          <p:cNvPr id="9" name="矩形 6"/>
          <p:cNvSpPr/>
          <p:nvPr/>
        </p:nvSpPr>
        <p:spPr>
          <a:xfrm>
            <a:off x="1459832" y="2166253"/>
            <a:ext cx="10250018" cy="3905043"/>
          </a:xfrm>
          <a:prstGeom prst="rect">
            <a:avLst/>
          </a:prstGeom>
          <a:noFill/>
          <a:ln w="9525">
            <a:noFill/>
          </a:ln>
        </p:spPr>
        <p:txBody>
          <a:bodyPr wrap="square">
            <a:spAutoFit/>
          </a:bodyPr>
          <a:lstStyle/>
          <a:p>
            <a:pPr lvl="0" indent="457200" algn="just">
              <a:lnSpc>
                <a:spcPct val="150000"/>
              </a:lnSpc>
            </a:pP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除了经验判断外，特征值法是选用较多的判断方法。因子对应的特征值就是因子所能解释的方差大小，而由于标准化变量的方差为 </a:t>
            </a:r>
            <a:r>
              <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，因此特征值法要求保留因子特征值大于 </a:t>
            </a:r>
            <a:r>
              <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的那些因子。这意味着要求所保留的因子至少能够解释一个变量的方差。需要注意的是，如果变量的数目少于 </a:t>
            </a:r>
            <a:r>
              <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20</a:t>
            </a: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，该方法通常会给出一个比较保守的因子数目。</a:t>
            </a:r>
            <a:endPar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此外，基于所保留的因子能够解释的方差比例的方法也常常使用。一般而言，所保留的公因子至少应该能够解释所有变量 </a:t>
            </a:r>
            <a:r>
              <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80%</a:t>
            </a: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的方差。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9" name="矩形 6"/>
          <p:cNvSpPr/>
          <p:nvPr/>
        </p:nvSpPr>
        <p:spPr>
          <a:xfrm>
            <a:off x="1459832" y="2166253"/>
            <a:ext cx="10250018"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载荷给出了观测变量和提取的因子之间的相关程度的大小，这意味着在某一因子上的负载大的变量对该因子的影响较大，因子的实际意义较大地取决于这些变量。这可以帮助我们来解释因子的实际意义。但是，基于公因子本身的意义，实际中往往会出现所有变量在一个因子上的负载都比较大的情形，这为因子的解释带来了困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9" name="矩形 6"/>
          <p:cNvSpPr/>
          <p:nvPr/>
        </p:nvSpPr>
        <p:spPr>
          <a:xfrm>
            <a:off x="1459832" y="2166253"/>
            <a:ext cx="10250018"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旋转为因子解释提供了便利。因子旋转的目的是使某些变量在某个因子上的负载较高，而在其它因子上的载荷则显著的低，这事实上是依据因子对变量进行更好的“聚类”。同时，一个合理的要求是这种旋转应并不影响共同度和全部所能解释的方差比例。因子模型本身的协方差结构在正交阵下的“不可识别性”决定了因子旋转的可行性。</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033463"/>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因子旋转</a:t>
            </a:r>
          </a:p>
        </p:txBody>
      </p:sp>
      <p:sp>
        <p:nvSpPr>
          <p:cNvPr id="9" name="矩形 6"/>
          <p:cNvSpPr/>
          <p:nvPr/>
        </p:nvSpPr>
        <p:spPr>
          <a:xfrm>
            <a:off x="1459832" y="1671131"/>
            <a:ext cx="10250018" cy="5186869"/>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正交旋转（</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orthogonal rotation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）和斜交旋转（</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oblique rotation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）是因子旋转的两类方法。前者由于保持了坐标轴的正交性（成直角），即因子之间的不相关性，因此使用最多，也是正交因子模型的旋转方法。正交旋转的方法很多，其中以方差最大化法（</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varimax</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）最为常用。斜交旋转可以更好的简化因子模式矩阵，提高因子的可解释性，但是因为因子间的相关性而不受欢迎。但是如果总体中各因子间存在明显的相关关系则应该考虑斜交旋转。</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因子解释</a:t>
            </a:r>
          </a:p>
        </p:txBody>
      </p:sp>
      <p:sp>
        <p:nvSpPr>
          <p:cNvPr id="9" name="矩形 6"/>
          <p:cNvSpPr/>
          <p:nvPr/>
        </p:nvSpPr>
        <p:spPr>
          <a:xfrm>
            <a:off x="1459832" y="2166253"/>
            <a:ext cx="10250018" cy="1955215"/>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因子分析的重要一步应该是对所提取的公因子给出合理的解释。因子解释可以通过考虑在因子上具有较高载荷的变量的意义进行。经过因子旋转后的因子载荷阵可以大大提高因子的可解释性。</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因子解释</a:t>
            </a:r>
          </a:p>
        </p:txBody>
      </p:sp>
      <p:sp>
        <p:nvSpPr>
          <p:cNvPr id="9" name="矩形 6"/>
          <p:cNvSpPr/>
          <p:nvPr/>
        </p:nvSpPr>
        <p:spPr>
          <a:xfrm>
            <a:off x="1459832" y="2166253"/>
            <a:ext cx="10250018"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需要注意的是，即使是经过旋转后，仍有可能存在一个因子的所有因子载荷均较高的情形，这种因子通常可以称之为一般或者基础性因子，一个合理的解释是它是由于所研究的问题的共性所决定的，而并不单一的取决于问题的某一个方面。此外，对于某些载荷较小、难以解释或者实际意义不合理的因子，如果其解释的方差较小，则通常予以舍弃。</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因子得分</a:t>
            </a:r>
          </a:p>
        </p:txBody>
      </p:sp>
      <p:sp>
        <p:nvSpPr>
          <p:cNvPr id="9" name="矩形 6"/>
          <p:cNvSpPr/>
          <p:nvPr/>
        </p:nvSpPr>
        <p:spPr>
          <a:xfrm>
            <a:off x="1459832" y="2166253"/>
            <a:ext cx="10250018" cy="3905043"/>
          </a:xfrm>
          <a:prstGeom prst="rect">
            <a:avLst/>
          </a:prstGeom>
          <a:noFill/>
          <a:ln w="9525">
            <a:noFill/>
          </a:ln>
        </p:spPr>
        <p:txBody>
          <a:bodyPr wrap="square">
            <a:spAutoFit/>
          </a:bodyPr>
          <a:lstStyle/>
          <a:p>
            <a:pPr lvl="0" indent="457200" algn="just">
              <a:lnSpc>
                <a:spcPct val="150000"/>
              </a:lnSpc>
            </a:pP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如果后续分析需要，通常需要进一步计算各公因子的因子得分。即给出各因子在每一个样品上的值。事实上，既然各观测变量可以表示为各公因子的线性组合，那么反之，各公因子也可以表示为各观测变量的线性组合。</a:t>
            </a:r>
            <a:endParaRPr lang="en-US" altLang="zh-CN"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4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得分正是通过这样的方法利用各观测变量的值而估计得到的。主成分分析法可以给出各因子的得分，并且这些值之间是不相关的。因子得分值可以用来代替原来的变量用于后续的分析。由于消除了相关性，为后续的统计分析方法的应用提供了较大便利。</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7.6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实际中进行因子分析</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8209" name="直接连接符 10"/>
          <p:cNvSpPr/>
          <p:nvPr/>
        </p:nvSpPr>
        <p:spPr>
          <a:xfrm>
            <a:off x="1242060" y="1357630"/>
            <a:ext cx="1270" cy="4951730"/>
          </a:xfrm>
          <a:prstGeom prst="line">
            <a:avLst/>
          </a:prstGeom>
          <a:ln w="22225" cap="flat" cmpd="sng">
            <a:solidFill>
              <a:srgbClr val="0174AB"/>
            </a:solidFill>
            <a:prstDash val="sysDot"/>
            <a:miter/>
            <a:headEnd type="none" w="med" len="med"/>
            <a:tailEnd type="none" w="med" len="med"/>
          </a:ln>
        </p:spPr>
        <p:txBody>
          <a:bodyPr/>
          <a:lstStyle/>
          <a:p>
            <a:endParaRPr lang="zh-CN" altLang="en-US"/>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1459832" y="1336632"/>
            <a:ext cx="10250018"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7.6.2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扩展分析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TextBox 1"/>
          <p:cNvSpPr/>
          <p:nvPr/>
        </p:nvSpPr>
        <p:spPr>
          <a:xfrm flipH="1">
            <a:off x="314643" y="2590982"/>
            <a:ext cx="800100" cy="2062103"/>
          </a:xfrm>
          <a:prstGeom prst="rect">
            <a:avLst/>
          </a:prstGeom>
          <a:noFill/>
          <a:ln w="9525">
            <a:noFill/>
          </a:ln>
        </p:spPr>
        <p:txBody>
          <a:bodyPr wrap="square">
            <a:spAutoFit/>
          </a:bodyPr>
          <a:lstStyle/>
          <a:p>
            <a:pPr lvl="0" algn="ctr">
              <a:lnSpc>
                <a:spcPct val="100000"/>
              </a:lnSpc>
            </a:pPr>
            <a:r>
              <a:rPr lang="zh-CN" altLang="en-US" sz="3200" dirty="0">
                <a:solidFill>
                  <a:srgbClr val="00B0F0"/>
                </a:solidFill>
                <a:effectLst>
                  <a:outerShdw blurRad="38100" dist="19050" dir="2700000" algn="tl" rotWithShape="0">
                    <a:schemeClr val="dk1">
                      <a:alpha val="40000"/>
                    </a:schemeClr>
                  </a:outerShdw>
                </a:effectLst>
                <a:latin typeface="微软雅黑" panose="020B0503020204020204" pitchFamily="2" charset="-122"/>
                <a:ea typeface="微软雅黑" panose="020B0503020204020204" pitchFamily="2" charset="-122"/>
                <a:sym typeface="微软雅黑" panose="020B0503020204020204" pitchFamily="2" charset="-122"/>
              </a:rPr>
              <a:t>因子意义</a:t>
            </a:r>
          </a:p>
        </p:txBody>
      </p:sp>
      <p:sp>
        <p:nvSpPr>
          <p:cNvPr id="9" name="矩形 6"/>
          <p:cNvSpPr/>
          <p:nvPr/>
        </p:nvSpPr>
        <p:spPr>
          <a:xfrm>
            <a:off x="1459832" y="2166253"/>
            <a:ext cx="10250018" cy="4192943"/>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因子分析法的意义在于简化数据结构，通过科学的定量分析构造一个统计上优良的指标体系，然后对被评价对象进行综合评价。运用该方法，不仅可以将所研究各上市公司的综合因子的得分进行排序，以判别它的经营状况优劣，还可以根据计算的结果，找出公司的相对竞争优势所在，取长补短，发挥企业的特长，提高公司综合竞争力。</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利用因子分析评价企业综合经营业绩有两个大的优点：一是客观的反映各因素对经营业绩的影响，即各指标权重赋值的科学性；二是消除各指标相关性对综合评价的影响。通过以上的分析和评价，可以看出，应用因子分析法很好地解决了多指标下的经营业绩问题，它通过分析事件的内在关系，抓住主要矛盾，找出主要因素，使多变量的复杂问题变得易于研究和分析。</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endPar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610529" y="1009710"/>
            <a:ext cx="11117847" cy="661848"/>
          </a:xfrm>
          <a:prstGeom prst="rect">
            <a:avLst/>
          </a:prstGeom>
          <a:noFill/>
          <a:ln w="9525">
            <a:noFill/>
          </a:ln>
        </p:spPr>
        <p:txBody>
          <a:bodyPr wrap="square">
            <a:spAutoFit/>
          </a:bodyPr>
          <a:lstStyle/>
          <a:p>
            <a:pPr algn="just">
              <a:lnSpc>
                <a:spcPct val="150000"/>
              </a:lnSpc>
            </a:pPr>
            <a:r>
              <a:rPr lang="zh-CN" altLang="en-US" sz="2800" dirty="0">
                <a:solidFill>
                  <a:srgbClr val="C00000"/>
                </a:solidFill>
              </a:rPr>
              <a:t>案例 </a:t>
            </a:r>
            <a:r>
              <a:rPr lang="en-US" altLang="zh-CN" sz="2800" dirty="0">
                <a:solidFill>
                  <a:srgbClr val="C00000"/>
                </a:solidFill>
              </a:rPr>
              <a:t>7</a:t>
            </a:r>
            <a:r>
              <a:rPr lang="zh-CN" altLang="en-US" sz="2800" dirty="0">
                <a:solidFill>
                  <a:srgbClr val="C00000"/>
                </a:solidFill>
              </a:rPr>
              <a:t>：上市公司经营业绩评价的因子分析</a:t>
            </a:r>
            <a:endParaRPr lang="en-US" altLang="zh-CN" sz="2800" dirty="0">
              <a:solidFill>
                <a:srgbClr val="C00000"/>
              </a:solidFill>
            </a:endParaRPr>
          </a:p>
        </p:txBody>
      </p:sp>
      <p:sp>
        <p:nvSpPr>
          <p:cNvPr id="6" name="矩形 6"/>
          <p:cNvSpPr/>
          <p:nvPr/>
        </p:nvSpPr>
        <p:spPr>
          <a:xfrm>
            <a:off x="593021" y="2727408"/>
            <a:ext cx="11117847"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随着中国资本市场的发展，上市公司的经营业绩日益成为股东、债权人、研究人员所关心的主要问题，本案例运用因子分析方法，从上市公司对股东的回报能力、资产管理能力、偿债能力、盈利能力四个方面对上海股票市场医药行业的上市公司经营业绩进行综合评价分析，并得出评价的结果。</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 name="矩形 6"/>
          <p:cNvSpPr/>
          <p:nvPr/>
        </p:nvSpPr>
        <p:spPr>
          <a:xfrm>
            <a:off x="757860" y="1848114"/>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一、案例简介</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000" fill="hold"/>
                                        <p:tgtEl>
                                          <p:spTgt spid="8"/>
                                        </p:tgtEl>
                                        <p:attrNameLst>
                                          <p:attrName>ppt_x</p:attrName>
                                        </p:attrNameLst>
                                      </p:cBhvr>
                                      <p:tavLst>
                                        <p:tav tm="0">
                                          <p:val>
                                            <p:strVal val="#ppt_x"/>
                                          </p:val>
                                        </p:tav>
                                        <p:tav tm="100000">
                                          <p:val>
                                            <p:strVal val="#ppt_x"/>
                                          </p:val>
                                        </p:tav>
                                      </p:tavLst>
                                    </p:anim>
                                    <p:anim calcmode="lin" valueType="num">
                                      <p:cBhvr additive="base">
                                        <p:cTn id="14"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767630" y="1336632"/>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1.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案例的背景分析</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矩形 6"/>
          <p:cNvSpPr/>
          <p:nvPr/>
        </p:nvSpPr>
        <p:spPr>
          <a:xfrm>
            <a:off x="479610" y="2166253"/>
            <a:ext cx="11230240" cy="389420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对上市公司的经营业绩进行评价一直是经营者、投资者和研究者的关注重心。但是，能够反映上市公司经营业绩的指标众多，而各个指标之间往往又存在一定的相关性，容易造成信息的重复。与此同时，公司之间的情况各异，各个指标彼高此低，因此，必须对上市公司进行综合的评价和分析，从众多的指标中提取合适和科学的公共因子，以方便对业绩的解释。因子分析方法无疑是解决这一问题的有效途径。</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767630" y="1336632"/>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2.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案例的分析对象</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矩形 6"/>
          <p:cNvSpPr/>
          <p:nvPr/>
        </p:nvSpPr>
        <p:spPr>
          <a:xfrm>
            <a:off x="479610" y="2166253"/>
            <a:ext cx="11230240" cy="4540538"/>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本案例所探讨的就是面对众多的指标应该如何利用因子分析方法进行综合的分析和评价，其所依托的客体是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2003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年上海股市医药、生物行业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28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家上市公司年报中的有关指标。所引用资料取自巨潮资讯网（</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www.cninfo.com.cn</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）。一共选取了 </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个指标：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每股收益、</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每股净资产、</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净资产收益率、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X4-</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扣除后每股收益、</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存货周转率、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X6-</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固定资产周转率、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X7-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总资产周转率、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X8-</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主营业务利润率、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X9-</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销售毛利率、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流动比率、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速动比率。</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4405502" y="1062775"/>
            <a:ext cx="6841624" cy="5663838"/>
          </a:xfrm>
          <a:prstGeom prst="rect">
            <a:avLst/>
          </a:prstGeom>
        </p:spPr>
      </p:pic>
      <p:sp>
        <p:nvSpPr>
          <p:cNvPr id="8" name="矩形 6"/>
          <p:cNvSpPr/>
          <p:nvPr/>
        </p:nvSpPr>
        <p:spPr>
          <a:xfrm>
            <a:off x="624398" y="991234"/>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二、数据管理</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endPar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6" name="矩形 6"/>
          <p:cNvSpPr/>
          <p:nvPr/>
        </p:nvSpPr>
        <p:spPr>
          <a:xfrm>
            <a:off x="596850" y="2084932"/>
            <a:ext cx="4563086" cy="4540538"/>
          </a:xfrm>
          <a:prstGeom prst="rect">
            <a:avLst/>
          </a:prstGeom>
          <a:noFill/>
          <a:ln w="9525">
            <a:noFill/>
          </a:ln>
        </p:spPr>
        <p:txBody>
          <a:bodyPr wrap="square">
            <a:spAutoFit/>
          </a:bodyPr>
          <a:lstStyle/>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调入数据并进行基本统计分析：在</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jupyter</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 notebook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单元格中执行</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Case7=</a:t>
            </a:r>
            <a:r>
              <a:rPr lang="en-US" altLang="zh-CN" sz="2800" dirty="0" err="1">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pd.read_excel</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('mvscase.xlsx','Case7',index_col=0); Case7</a:t>
            </a:r>
          </a:p>
          <a:p>
            <a:pPr lvl="0" indent="457200" algn="just">
              <a:lnSpc>
                <a:spcPct val="150000"/>
              </a:lnSpc>
            </a:pP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计算过程及结果分析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 name="矩形 6"/>
          <p:cNvSpPr/>
          <p:nvPr/>
        </p:nvSpPr>
        <p:spPr>
          <a:xfrm>
            <a:off x="936758" y="1189979"/>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三、</a:t>
            </a:r>
            <a:r>
              <a:rPr lang="en-US" altLang="zh-CN" sz="2800" dirty="0" err="1">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Jupyter</a:t>
            </a: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操作</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5" name="圖片 4"/>
          <p:cNvPicPr>
            <a:picLocks noChangeAspect="1"/>
          </p:cNvPicPr>
          <p:nvPr/>
        </p:nvPicPr>
        <p:blipFill>
          <a:blip r:embed="rId3"/>
          <a:stretch>
            <a:fillRect/>
          </a:stretch>
        </p:blipFill>
        <p:spPr>
          <a:xfrm>
            <a:off x="5769478" y="1033463"/>
            <a:ext cx="5971989" cy="563044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8"/>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1000" fill="hold"/>
                                        <p:tgtEl>
                                          <p:spTgt spid="6"/>
                                        </p:tgtEl>
                                        <p:attrNameLst>
                                          <p:attrName>ppt_x</p:attrName>
                                        </p:attrNameLst>
                                      </p:cBhvr>
                                      <p:tavLst>
                                        <p:tav tm="0">
                                          <p:val>
                                            <p:strVal val="#ppt_x"/>
                                          </p:val>
                                        </p:tav>
                                        <p:tav tm="100000">
                                          <p:val>
                                            <p:strVal val="#ppt_x"/>
                                          </p:val>
                                        </p:tav>
                                      </p:tavLst>
                                    </p:anim>
                                    <p:anim calcmode="lin" valueType="num">
                                      <p:cBhvr additive="base">
                                        <p:cTn id="14" dur="1000" fill="hold"/>
                                        <p:tgtEl>
                                          <p:spTgt spid="6"/>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6"/>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endPar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3094254" y="981334"/>
            <a:ext cx="4972214" cy="5817512"/>
          </a:xfrm>
          <a:prstGeom prst="rect">
            <a:avLst/>
          </a:prstGeom>
        </p:spPr>
      </p:pic>
    </p:spTree>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endPar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rotWithShape="1">
          <a:blip r:embed="rId3"/>
          <a:srcRect r="70497" b="49154"/>
          <a:stretch>
            <a:fillRect/>
          </a:stretch>
        </p:blipFill>
        <p:spPr>
          <a:xfrm>
            <a:off x="4007485" y="1090295"/>
            <a:ext cx="2490915" cy="5906135"/>
          </a:xfrm>
          <a:prstGeom prst="rect">
            <a:avLst/>
          </a:prstGeom>
        </p:spPr>
      </p:pic>
      <p:pic>
        <p:nvPicPr>
          <p:cNvPr id="8" name="圖片 7"/>
          <p:cNvPicPr>
            <a:picLocks noChangeAspect="1"/>
          </p:cNvPicPr>
          <p:nvPr/>
        </p:nvPicPr>
        <p:blipFill rotWithShape="1">
          <a:blip r:embed="rId3"/>
          <a:srcRect t="49484" r="44096"/>
          <a:stretch>
            <a:fillRect/>
          </a:stretch>
        </p:blipFill>
        <p:spPr>
          <a:xfrm>
            <a:off x="6527835" y="1196075"/>
            <a:ext cx="4438621" cy="5517639"/>
          </a:xfrm>
          <a:prstGeom prst="rect">
            <a:avLst/>
          </a:prstGeom>
        </p:spPr>
      </p:pic>
    </p:spTree>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511227" y="1251586"/>
            <a:ext cx="11230240" cy="5186869"/>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从上面可以看出，前</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4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个因子的方差贡献率已经占到累积方差贡献率的</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87.68</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％，所以只需要取前</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4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个因子就可以较好地概括原始指标。</a:t>
            </a:r>
          </a:p>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由旋转后的因子载荷矩阵可以看出，因子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在每股收益</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、每股净资产</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X2</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、净资产收益率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X3</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、扣除后每股收益</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X4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上的载荷量较大，分别反映上市公司给予其股东的回报，在这个因子上得分越高，则公司能够给予股东的回报一般而言也越高。第二个因子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F2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在销售毛利率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X9</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、流动比率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X10</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、主速动比率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X11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上的载荷较大，是反映公司的盈利能力的公共因子。</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511227" y="1251586"/>
            <a:ext cx="11230240" cy="3247877"/>
          </a:xfrm>
          <a:prstGeom prst="rect">
            <a:avLst/>
          </a:prstGeom>
          <a:noFill/>
          <a:ln w="9525">
            <a:noFill/>
          </a:ln>
        </p:spPr>
        <p:txBody>
          <a:bodyPr wrap="square">
            <a:spAutoFit/>
          </a:bodyPr>
          <a:lstStyle/>
          <a:p>
            <a:pPr lvl="0" indent="457200" algn="just">
              <a:lnSpc>
                <a:spcPct val="150000"/>
              </a:lnSpc>
            </a:pP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第三个因子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F3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由于在存货周转率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X5</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、固定资产周转率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X6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上有较大的载荷量，所以是反映公司的资产管理能力的综合指标。第四个因子</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F4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在总资产周转率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X7</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、主营业务利润率</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X8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上的载荷量较大，主要体现了公司的短期偿债能力，是债权人非常关心的项目。从</a:t>
            </a:r>
            <a:r>
              <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Python </a:t>
            </a:r>
            <a:r>
              <a:rPr lang="zh-CN" altLang="en-US"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给出的成分图可以更清晰的看到各个原始指标之间的关系。</a:t>
            </a:r>
            <a:endParaRPr lang="en-US" altLang="zh-CN" sz="28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314773" y="1700880"/>
            <a:ext cx="6124688" cy="3222397"/>
          </a:xfrm>
          <a:prstGeom prst="rect">
            <a:avLst/>
          </a:prstGeom>
        </p:spPr>
      </p:pic>
      <p:pic>
        <p:nvPicPr>
          <p:cNvPr id="5" name="圖片 4"/>
          <p:cNvPicPr>
            <a:picLocks noChangeAspect="1"/>
          </p:cNvPicPr>
          <p:nvPr/>
        </p:nvPicPr>
        <p:blipFill>
          <a:blip r:embed="rId3"/>
          <a:stretch>
            <a:fillRect/>
          </a:stretch>
        </p:blipFill>
        <p:spPr>
          <a:xfrm>
            <a:off x="6095508" y="1700879"/>
            <a:ext cx="6124688" cy="3222397"/>
          </a:xfrm>
          <a:prstGeom prst="rect">
            <a:avLst/>
          </a:prstGeom>
        </p:spPr>
      </p:pic>
    </p:spTree>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1705345" y="1090295"/>
            <a:ext cx="9069329" cy="5686794"/>
          </a:xfrm>
          <a:prstGeom prst="rect">
            <a:avLst/>
          </a:prstGeom>
        </p:spPr>
      </p:pic>
    </p:spTree>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6519" y="1090295"/>
            <a:ext cx="12192000" cy="5700366"/>
          </a:xfrm>
          <a:prstGeom prst="rect">
            <a:avLst/>
          </a:prstGeom>
        </p:spPr>
      </p:pic>
    </p:spTree>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7" name="圖片 6"/>
          <p:cNvPicPr>
            <a:picLocks noChangeAspect="1"/>
          </p:cNvPicPr>
          <p:nvPr/>
        </p:nvPicPr>
        <p:blipFill>
          <a:blip r:embed="rId3"/>
          <a:stretch>
            <a:fillRect/>
          </a:stretch>
        </p:blipFill>
        <p:spPr>
          <a:xfrm>
            <a:off x="24425" y="1162875"/>
            <a:ext cx="12192000" cy="5662020"/>
          </a:xfrm>
          <a:prstGeom prst="rect">
            <a:avLst/>
          </a:prstGeom>
        </p:spPr>
      </p:pic>
    </p:spTree>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pic>
        <p:nvPicPr>
          <p:cNvPr id="6" name="圖片 5"/>
          <p:cNvPicPr>
            <a:picLocks noChangeAspect="1"/>
          </p:cNvPicPr>
          <p:nvPr/>
        </p:nvPicPr>
        <p:blipFill>
          <a:blip r:embed="rId3"/>
          <a:stretch>
            <a:fillRect/>
          </a:stretch>
        </p:blipFill>
        <p:spPr>
          <a:xfrm>
            <a:off x="0" y="1405489"/>
            <a:ext cx="12192000" cy="1732462"/>
          </a:xfrm>
          <a:prstGeom prst="rect">
            <a:avLst/>
          </a:prstGeom>
        </p:spPr>
      </p:pic>
    </p:spTree>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522213" y="1090295"/>
            <a:ext cx="11230240" cy="5577937"/>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从因子得分表可以看到，在资产管理能力方面，片仔癀可谓一枝独秀。这与该公司独家生产和拥有</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400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余年历史的名贵中药片仔癀不无关系。由于其独特的地位，所以漳州片仔癀集团公司的资金相当充足；另一方面，片仔癀由于其拥有的片仔癀配方属于国家绝密，因此在上市时没有进行资产评估，片仔癀的无形资产包括品牌、商标、技术、专利、药品批文等等，都没有作评估就无偿进入股份公司，致使其在无形资产方面没有相应显示出应有的数据。</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这两方面的原因使得片仔癀在着重考察资产管理能力指标方面有着极为优秀的表现。康美药业在股东回报方面领先，但是在其他的三个方面却都处于平均水平以下，这与其特殊的股本结构和小盘股有着重要联系。翻看康美药业的年度报告就可以知道无论是就整个资本市场还是仅就医药行业的上市公司而言，康美药业都属于小盘股；其次，康美药业属于典型的“家族”企业，公司的第一、二大股东关系密切，两者股权合计拥有超过</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78</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％的公司股份。这两个原因使得尽管康美药业在其他方面表现平平，但是因为其没有一般上市公司的所有权和经营权分离所产生的矛盾，所以康美药业的股东可以享有较高的投资回报。</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511227" y="1251586"/>
            <a:ext cx="11230240" cy="4654608"/>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与片仔癀相对比，天士力则在短期偿债方面表现突出，尽管在</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2003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年上半年收到</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SARS</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的冲击，其短期偿债水平却仍然位居同行业上市公司的前列。天士力制药股份有限公司是目前国内最大的滴丸剂型生产企业，与医药流通领域其他公司相比现金流较为充足，短期偿债能力较强。作为一家中药上市企业，随着中国加入世界贸易组织，知识产权得到更大的保障，自然绿色治疗概念的逐步兴起，天士力必然会保持更加良好的发展势头。</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同仁堂的综合得分排名第四，在资产管理和盈利能力上出现负数，低于平均水平，究其原因，主要是因为同仁堂的主营业务是在医药商业方面，而随着医药行业原有体系被打破，在医药流通和商业方面的竞争加剧（例如越来越多的平价药房的出现，连锁药店逐渐步入处于微利时代），其盈利能力受到一定冲击也是在意料之中的。尽管如此，同仁堂作为一家在医药行业有着很强竞争力的上市公司，其偿债能力和综合营运水平却仍然保持在同行业的前列。</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767630" y="1044853"/>
            <a:ext cx="10942220" cy="662554"/>
          </a:xfrm>
          <a:prstGeom prst="rect">
            <a:avLst/>
          </a:prstGeom>
          <a:noFill/>
          <a:ln w="9525">
            <a:noFill/>
          </a:ln>
        </p:spPr>
        <p:txBody>
          <a:bodyPr wrap="square">
            <a:spAutoFit/>
          </a:bodyPr>
          <a:lstStyle/>
          <a:p>
            <a:pPr lvl="0" algn="just">
              <a:lnSpc>
                <a:spcPct val="150000"/>
              </a:lnSpc>
              <a:buFont typeface="Wingdings" panose="05000000000000000000" pitchFamily="2" charset="2"/>
              <a:buChar char="l"/>
            </a:pPr>
            <a:r>
              <a:rPr lang="en-US" altLang="zh-CN"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4. </a:t>
            </a:r>
            <a:r>
              <a:rPr lang="zh-CN" altLang="en-US" sz="2800" dirty="0">
                <a:ln w="22225">
                  <a:solidFill>
                    <a:schemeClr val="accent2"/>
                  </a:solidFill>
                  <a:prstDash val="solid"/>
                </a:ln>
                <a:solidFill>
                  <a:schemeClr val="accent2">
                    <a:lumMod val="40000"/>
                    <a:lumOff val="60000"/>
                  </a:schemeClr>
                </a:solidFill>
                <a:latin typeface="微软雅黑" panose="020B0503020204020204" pitchFamily="2" charset="-122"/>
                <a:ea typeface="微软雅黑" panose="020B0503020204020204" pitchFamily="2" charset="-122"/>
                <a:sym typeface="微软雅黑" panose="020B0503020204020204" pitchFamily="2" charset="-122"/>
              </a:rPr>
              <a:t>案例小结</a:t>
            </a:r>
            <a:endParaRPr lang="en-US" altLang="zh-CN" sz="2800" dirty="0">
              <a:ln w="22225">
                <a:solidFill>
                  <a:schemeClr val="accent2"/>
                </a:solidFill>
                <a:prstDash val="solid"/>
              </a:ln>
              <a:solidFill>
                <a:schemeClr val="accent2">
                  <a:lumMod val="40000"/>
                  <a:lumOff val="60000"/>
                </a:schemeClr>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矩形 6"/>
          <p:cNvSpPr/>
          <p:nvPr/>
        </p:nvSpPr>
        <p:spPr>
          <a:xfrm>
            <a:off x="479610" y="1707407"/>
            <a:ext cx="11230240" cy="5116272"/>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根据上述结果，可以认为对上市公司业绩进行综合评价时主要考察该公司的回报能力、盈利能力，偿债能力、资产管理能力方面。而且对股东的回报能力主要考察每股收益、每股净资产、净资产收益率扣除后的每股收益；盈利能力主要考察主营业务利润率、销售利润率两项指标；偿债能力主要考察存货周转率和流动比率两项指标；资产管理能力则主要考察总资产周转率、固定资产周转率两项指标。</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2</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从评价上市公司业绩的四项主因子的方差权重来看，对股东的回报被放在了首位，其次是资产管理能力、偿债能力、盈利能力。这一结论基本符合现代企业经营理论。公司的首要任务是为股东创造价值，增加财富，回报股东。随着中国资本市场的成熟，市场对上市公司的资源配置逐渐由上市圈钱挽救国企和概念炒作转向对公司资产管理能力的关注。在风险日高的今天，上市公司资产的安全也被赋予了仅次于股东回报能力和资产管理能力的地位，而盈利能力则为公司的各方面提供了源动力。</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ppt_x"/>
                                          </p:val>
                                        </p:tav>
                                        <p:tav tm="100000">
                                          <p:val>
                                            <p:strVal val="#ppt_x"/>
                                          </p:val>
                                        </p:tav>
                                      </p:tavLst>
                                    </p:anim>
                                    <p:anim calcmode="lin" valueType="num">
                                      <p:cBhvr additive="base">
                                        <p:cTn id="14"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6917061" y="206712"/>
            <a:ext cx="4330065" cy="52322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案例</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7</a:t>
            </a:r>
          </a:p>
        </p:txBody>
      </p:sp>
      <p:sp>
        <p:nvSpPr>
          <p:cNvPr id="8195" name="TextBox 28"/>
          <p:cNvSpPr/>
          <p:nvPr/>
        </p:nvSpPr>
        <p:spPr>
          <a:xfrm>
            <a:off x="131862" y="168910"/>
            <a:ext cx="6108148" cy="584775"/>
          </a:xfrm>
          <a:prstGeom prst="rect">
            <a:avLst/>
          </a:prstGeom>
          <a:noFill/>
          <a:ln w="9525">
            <a:noFill/>
          </a:ln>
        </p:spPr>
        <p:txBody>
          <a:bodyPr wrap="square">
            <a:spAutoFit/>
            <a:scene3d>
              <a:camera prst="orthographicFront"/>
              <a:lightRig rig="threePt" dir="t"/>
            </a:scene3d>
          </a:bodyPr>
          <a:lstStyle/>
          <a:p>
            <a:pPr lvl="0"/>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7</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章 因子分析及 </a:t>
            </a:r>
            <a:r>
              <a:rPr lang="en-US" altLang="zh-CN" sz="32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en-US" altLang="zh-CN"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3200" b="1" dirty="0">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应用</a:t>
            </a:r>
          </a:p>
        </p:txBody>
      </p:sp>
      <p:grpSp>
        <p:nvGrpSpPr>
          <p:cNvPr id="8201" name="组合 5"/>
          <p:cNvGrpSpPr/>
          <p:nvPr/>
        </p:nvGrpSpPr>
        <p:grpSpPr>
          <a:xfrm>
            <a:off x="3709988" y="1989138"/>
            <a:ext cx="4662487" cy="1396450"/>
            <a:chOff x="0" y="0"/>
            <a:chExt cx="4662264" cy="1396272"/>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6155773" y="344804"/>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9" name="矩形 6"/>
          <p:cNvSpPr/>
          <p:nvPr/>
        </p:nvSpPr>
        <p:spPr>
          <a:xfrm>
            <a:off x="480388" y="1189241"/>
            <a:ext cx="11230240" cy="1884618"/>
          </a:xfrm>
          <a:prstGeom prst="rect">
            <a:avLst/>
          </a:prstGeom>
          <a:noFill/>
          <a:ln w="9525">
            <a:noFill/>
          </a:ln>
        </p:spPr>
        <p:txBody>
          <a:bodyPr wrap="square">
            <a:spAutoFit/>
          </a:bodyPr>
          <a:lstStyle/>
          <a:p>
            <a:pPr lvl="0" indent="457200" algn="just">
              <a:lnSpc>
                <a:spcPct val="150000"/>
              </a:lnSpc>
            </a:pP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3</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）该评价方法是根据上市公司</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11 </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项指标数据的内在关系确定各项指标在总体评价体系中的权重</a:t>
            </a:r>
            <a:r>
              <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a:t>
            </a:r>
            <a:r>
              <a:rPr lang="zh-CN" altLang="en-US"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即由原始数据本身确定综合指标的权重，并且随着上市公司样本或数据时期不同，最后得到的权重和结果也有所不同，但这并不影响在同一样本或时期范畴公司综合经营效果评价的可比性，因子分析方法有严谨的数学科学性，可以较好地体现公司经营业绩评价的客观性和公正性。</a:t>
            </a:r>
            <a:endParaRPr lang="en-US" altLang="zh-CN" sz="2000"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9"/>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6" name="矩形 5"/>
          <p:cNvSpPr/>
          <p:nvPr/>
        </p:nvSpPr>
        <p:spPr>
          <a:xfrm>
            <a:off x="2639760" y="1916895"/>
            <a:ext cx="6821098" cy="2585323"/>
          </a:xfrm>
          <a:prstGeom prst="rect">
            <a:avLst/>
          </a:prstGeom>
          <a:noFill/>
        </p:spPr>
        <p:txBody>
          <a:bodyPr wrap="none" lIns="91440" tIns="45720" rIns="91440" bIns="45720">
            <a:spAutoFit/>
          </a:bodyPr>
          <a:lstStyle/>
          <a:p>
            <a:pPr algn="ctr"/>
            <a:r>
              <a:rPr lang="zh-CN" altLang="en-US" sz="5400" b="1" cap="none" spc="0" dirty="0">
                <a:ln w="22225">
                  <a:solidFill>
                    <a:schemeClr val="accent2"/>
                  </a:solidFill>
                  <a:prstDash val="solid"/>
                </a:ln>
                <a:solidFill>
                  <a:srgbClr val="66CCFF"/>
                </a:solidFill>
                <a:effectLst/>
              </a:rPr>
              <a:t>第</a:t>
            </a:r>
            <a:r>
              <a:rPr lang="en-US" altLang="zh-CN" sz="5400" b="1" dirty="0">
                <a:ln w="22225">
                  <a:solidFill>
                    <a:schemeClr val="accent2"/>
                  </a:solidFill>
                  <a:prstDash val="solid"/>
                </a:ln>
                <a:solidFill>
                  <a:srgbClr val="66CCFF"/>
                </a:solidFill>
              </a:rPr>
              <a:t>7</a:t>
            </a:r>
            <a:r>
              <a:rPr lang="zh-CN" altLang="en-US" sz="5400" b="1" cap="none" spc="0" dirty="0">
                <a:ln w="22225">
                  <a:solidFill>
                    <a:schemeClr val="accent2"/>
                  </a:solidFill>
                  <a:prstDash val="solid"/>
                </a:ln>
                <a:solidFill>
                  <a:srgbClr val="66CCFF"/>
                </a:solidFill>
                <a:effectLst/>
              </a:rPr>
              <a:t>章因子分析</a:t>
            </a:r>
            <a:endParaRPr lang="en-US" altLang="zh-CN" sz="5400" b="1" cap="none" spc="0" dirty="0">
              <a:ln w="22225">
                <a:solidFill>
                  <a:schemeClr val="accent2"/>
                </a:solidFill>
                <a:prstDash val="solid"/>
              </a:ln>
              <a:solidFill>
                <a:srgbClr val="66CCFF"/>
              </a:solidFill>
              <a:effectLst/>
            </a:endParaRPr>
          </a:p>
          <a:p>
            <a:pPr algn="ctr"/>
            <a:r>
              <a:rPr lang="zh-CN" altLang="en-US" sz="5400" b="1" cap="none" spc="0" dirty="0">
                <a:ln w="22225">
                  <a:solidFill>
                    <a:schemeClr val="accent2"/>
                  </a:solidFill>
                  <a:prstDash val="solid"/>
                </a:ln>
                <a:solidFill>
                  <a:srgbClr val="66CCFF"/>
                </a:solidFill>
                <a:effectLst/>
              </a:rPr>
              <a:t>就讲到这里</a:t>
            </a:r>
            <a:endParaRPr lang="en-US" altLang="zh-CN" sz="5400" b="1" cap="none" spc="0" dirty="0">
              <a:ln w="22225">
                <a:solidFill>
                  <a:schemeClr val="accent2"/>
                </a:solidFill>
                <a:prstDash val="solid"/>
              </a:ln>
              <a:solidFill>
                <a:srgbClr val="66CCFF"/>
              </a:solidFill>
              <a:effectLst/>
            </a:endParaRPr>
          </a:p>
          <a:p>
            <a:pPr algn="ctr"/>
            <a:r>
              <a:rPr lang="zh-CN" altLang="en-US" sz="5400" b="1" cap="none" spc="0" dirty="0">
                <a:ln w="22225">
                  <a:solidFill>
                    <a:schemeClr val="accent2"/>
                  </a:solidFill>
                  <a:prstDash val="solid"/>
                </a:ln>
                <a:solidFill>
                  <a:srgbClr val="66CCFF"/>
                </a:solidFill>
                <a:effectLst/>
              </a:rPr>
              <a:t>欢迎大家学习下一章</a:t>
            </a:r>
            <a:r>
              <a:rPr lang="en-US" altLang="zh-CN" sz="5400" b="1" cap="none" spc="0" dirty="0">
                <a:ln w="22225">
                  <a:solidFill>
                    <a:schemeClr val="accent2"/>
                  </a:solidFill>
                  <a:prstDash val="solid"/>
                </a:ln>
                <a:solidFill>
                  <a:srgbClr val="66CCFF"/>
                </a:solidFill>
                <a:effectLst/>
              </a:rPr>
              <a:t>~</a:t>
            </a:r>
            <a:endParaRPr lang="zh-CN" altLang="en-US" sz="5400" b="1" cap="none" spc="0" dirty="0">
              <a:ln w="22225">
                <a:solidFill>
                  <a:schemeClr val="accent2"/>
                </a:solidFill>
                <a:prstDash val="solid"/>
              </a:ln>
              <a:solidFill>
                <a:srgbClr val="66CCFF"/>
              </a:solidFill>
              <a:effectLs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ZiNTVmYWQxZDAwNTY5YjQ0ZjYxYTE3OGU0OTdhODEifQ=="/>
  <p:tag name="KSO_WPP_MARK_KEY" val="ae4cb4b1-34a4-4800-b16b-dd239d5f68bf"/>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12378</Words>
  <Application>Microsoft Macintosh PowerPoint</Application>
  <PresentationFormat>宽屏</PresentationFormat>
  <Paragraphs>915</Paragraphs>
  <Slides>159</Slides>
  <Notes>158</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159</vt:i4>
      </vt:variant>
    </vt:vector>
  </HeadingPairs>
  <TitlesOfParts>
    <vt:vector size="171" baseType="lpstr">
      <vt:lpstr>SimHei</vt:lpstr>
      <vt:lpstr>宋体</vt:lpstr>
      <vt:lpstr>微软雅黑</vt:lpstr>
      <vt:lpstr>Arial</vt:lpstr>
      <vt:lpstr>Calibri</vt:lpstr>
      <vt:lpstr>Calibri Light</vt:lpstr>
      <vt:lpstr>Cambria Math</vt:lpstr>
      <vt:lpstr>Wingdings</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313</cp:revision>
  <dcterms:created xsi:type="dcterms:W3CDTF">2015-05-24T15:13:00Z</dcterms:created>
  <dcterms:modified xsi:type="dcterms:W3CDTF">2026-04-16T01:44:37Z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0F0981F602D94B678CD345D0B61CF8A7_12</vt:lpwstr>
  </property>
</Properties>
</file>