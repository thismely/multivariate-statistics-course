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301" r:id="rId2"/>
    <p:sldId id="257" r:id="rId3"/>
    <p:sldId id="258" r:id="rId4"/>
    <p:sldId id="259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</p:sldIdLst>
  <p:sldSz cx="12192000" cy="6858000"/>
  <p:notesSz cx="7104063" cy="10234613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2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1.xml"/><Relationship Id="rId7" Type="http://schemas.openxmlformats.org/officeDocument/2006/relationships/image" Target="../media/image3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17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47.xml"/><Relationship Id="rId7" Type="http://schemas.openxmlformats.org/officeDocument/2006/relationships/image" Target="../media/image24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5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image" Target="../media/image30.png"/><Relationship Id="rId5" Type="http://schemas.openxmlformats.org/officeDocument/2006/relationships/tags" Target="../tags/tag54.xml"/><Relationship Id="rId10" Type="http://schemas.openxmlformats.org/officeDocument/2006/relationships/image" Target="../media/image29.png"/><Relationship Id="rId4" Type="http://schemas.openxmlformats.org/officeDocument/2006/relationships/tags" Target="../tags/tag53.xml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tags" Target="../tags/tag58.xml"/><Relationship Id="rId7" Type="http://schemas.openxmlformats.org/officeDocument/2006/relationships/image" Target="../media/image32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3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image" Target="../media/image34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image" Target="../media/image35.pn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68.xml"/><Relationship Id="rId7" Type="http://schemas.openxmlformats.org/officeDocument/2006/relationships/image" Target="../media/image37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3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tags" Target="../tags/tag7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41.png"/><Relationship Id="rId5" Type="http://schemas.openxmlformats.org/officeDocument/2006/relationships/tags" Target="../tags/tag74.xml"/><Relationship Id="rId10" Type="http://schemas.openxmlformats.org/officeDocument/2006/relationships/image" Target="../media/image40.png"/><Relationship Id="rId4" Type="http://schemas.openxmlformats.org/officeDocument/2006/relationships/tags" Target="../tags/tag73.xml"/><Relationship Id="rId9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image" Target="../media/image42.png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7" Type="http://schemas.openxmlformats.org/officeDocument/2006/relationships/image" Target="../media/image44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4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image" Target="../media/image45.png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tags" Target="../tags/tag88.xml"/><Relationship Id="rId7" Type="http://schemas.openxmlformats.org/officeDocument/2006/relationships/image" Target="../media/image46.pn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9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49.png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image" Target="../media/image50.png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7" Type="http://schemas.openxmlformats.org/officeDocument/2006/relationships/image" Target="../media/image52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5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54.png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5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7" Type="http://schemas.openxmlformats.org/officeDocument/2006/relationships/image" Target="../media/image56.png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image" Target="../media/image55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/>
          <p:cNvSpPr>
            <a:spLocks noGrp="1"/>
          </p:cNvSpPr>
          <p:nvPr>
            <p:ph type="subTitle"/>
          </p:nvPr>
        </p:nvSpPr>
        <p:spPr>
          <a:xfrm>
            <a:off x="2992755" y="4328160"/>
            <a:ext cx="6416675" cy="731520"/>
          </a:xfrm>
        </p:spPr>
        <p:txBody>
          <a:bodyPr wrap="square" anchor="t">
            <a:noAutofit/>
          </a:bodyPr>
          <a:lstStyle>
            <a:lvl1pPr lvl="0">
              <a:defRPr kern="1200"/>
            </a:lvl1pPr>
            <a:lvl2pPr lvl="1">
              <a:defRPr kern="1200"/>
            </a:lvl2pPr>
            <a:lvl3pPr lvl="2">
              <a:defRPr kern="1200"/>
            </a:lvl3pPr>
            <a:lvl4pPr lvl="3">
              <a:defRPr kern="1200"/>
            </a:lvl4pPr>
            <a:lvl5pPr lvl="4">
              <a:defRPr kern="1200"/>
            </a:lvl5pPr>
          </a:lstStyle>
          <a:p>
            <a:pPr marL="1905" lvl="0" indent="-344805">
              <a:lnSpc>
                <a:spcPct val="90000"/>
              </a:lnSpc>
              <a:spcBef>
                <a:spcPct val="50000"/>
              </a:spcBef>
              <a:buNone/>
            </a:pPr>
            <a:r>
              <a:rPr sz="3100" b="1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3 章 多元数据的Python可视化</a:t>
            </a:r>
          </a:p>
          <a:p>
            <a:pPr marL="1905" lvl="0" indent="-1905">
              <a:lnSpc>
                <a:spcPct val="90000"/>
              </a:lnSpc>
              <a:spcBef>
                <a:spcPct val="50000"/>
              </a:spcBef>
            </a:pPr>
            <a:endParaRPr lang="zh-CN" altLang="en-US" sz="2700" b="1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123" name="WordArt 10"/>
          <p:cNvSpPr>
            <a:spLocks noTextEdit="1"/>
          </p:cNvSpPr>
          <p:nvPr/>
        </p:nvSpPr>
        <p:spPr>
          <a:xfrm>
            <a:off x="2797810" y="4220845"/>
            <a:ext cx="7213600" cy="73787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endParaRPr lang="zh-CN" altLang="en-US" sz="3600" i="1">
              <a:noFill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4" name="矩形 7"/>
          <p:cNvSpPr/>
          <p:nvPr/>
        </p:nvSpPr>
        <p:spPr>
          <a:xfrm>
            <a:off x="2401570" y="2637155"/>
            <a:ext cx="760984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5pPr>
          </a:lstStyle>
          <a:p>
            <a:pPr marL="0" lvl="0" indent="0" defTabSz="9144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sz="4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多元统计分析及</a:t>
            </a:r>
            <a:r>
              <a:rPr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sz="4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建模</a:t>
            </a:r>
            <a:r>
              <a:rPr lang="zh-CN" altLang="en-US" sz="4400" b="1" dirty="0">
                <a:solidFill>
                  <a:srgbClr val="1115C3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</a:p>
          <a:p>
            <a:pPr marL="0" lvl="0" indent="0" algn="ctr" defTabSz="9144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1115C3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</a:p>
          <a:p>
            <a:pPr marL="0" lvl="0" indent="0" defTabSz="914400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b="1" dirty="0">
              <a:solidFill>
                <a:srgbClr val="1115C3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98120" y="179070"/>
            <a:ext cx="52006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多元统计分析及</a:t>
            </a:r>
            <a:r>
              <a:rPr 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建模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5762625" y="168910"/>
            <a:ext cx="53854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40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sz="280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  多元数据的Python可视化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01445" y="1023620"/>
            <a:ext cx="8974455" cy="5815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5" name="TextBox 28"/>
          <p:cNvSpPr/>
          <p:nvPr/>
        </p:nvSpPr>
        <p:spPr>
          <a:xfrm>
            <a:off x="153035" y="179070"/>
            <a:ext cx="50952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多元统计分析及</a:t>
            </a:r>
            <a:r>
              <a:rPr 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建模</a:t>
            </a:r>
          </a:p>
        </p:txBody>
      </p:sp>
      <p:sp>
        <p:nvSpPr>
          <p:cNvPr id="13" name="右箭头 12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5762625" y="168910"/>
            <a:ext cx="53854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  多元数据的Python可视化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580" y="2129790"/>
            <a:ext cx="11880000" cy="3070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3.1 多元数据可视化准备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25" y="1296035"/>
            <a:ext cx="11880000" cy="35841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3.1 多元数据可视化准备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rcRect t="-3544" r="63681" b="86464"/>
          <a:stretch>
            <a:fillRect/>
          </a:stretch>
        </p:blipFill>
        <p:spPr>
          <a:xfrm>
            <a:off x="73025" y="1064895"/>
            <a:ext cx="4314825" cy="6121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3025" y="1560830"/>
            <a:ext cx="11880000" cy="249213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880870" y="4128135"/>
            <a:ext cx="558048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3.1 多元数据可视化准备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rcRect t="-3544" r="63681" b="86464"/>
          <a:stretch>
            <a:fillRect/>
          </a:stretch>
        </p:blipFill>
        <p:spPr>
          <a:xfrm>
            <a:off x="73025" y="948055"/>
            <a:ext cx="4314825" cy="6121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325880" y="1403350"/>
            <a:ext cx="9170484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3.1 多元数据可视化准备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1033145"/>
            <a:ext cx="11880000" cy="185993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220" y="2893060"/>
            <a:ext cx="11520000" cy="39578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3.1 多元数据可视化准备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6210" y="1090295"/>
            <a:ext cx="11880000" cy="116864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65" y="2391410"/>
            <a:ext cx="10800000" cy="44488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3.1 多元数据可视化准备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154555" y="1071880"/>
            <a:ext cx="7826897" cy="252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935" y="3837305"/>
            <a:ext cx="6200934" cy="28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3.1 多元数据可视化准备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82395" y="1090295"/>
            <a:ext cx="9227700" cy="324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5520" y="4462780"/>
            <a:ext cx="7310509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3.1 多元数据可视化准备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-54610" y="1028700"/>
            <a:ext cx="3067377" cy="252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3075" y="1053465"/>
            <a:ext cx="9253872" cy="252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6675" y="3620135"/>
            <a:ext cx="9671460" cy="32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3.1 多元数据可视化准备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88060" y="1090295"/>
            <a:ext cx="10016850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3.1 多元数据可视化准备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6210" y="1626235"/>
            <a:ext cx="11880000" cy="223443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" y="4283710"/>
            <a:ext cx="11880000" cy="11525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3.2 条图或柱图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18615" y="1042035"/>
            <a:ext cx="8898605" cy="504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" y="6082030"/>
            <a:ext cx="10890755" cy="72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3.2 条图或柱图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07085" y="1039495"/>
            <a:ext cx="10577797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3.2 条图或柱图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1036955"/>
            <a:ext cx="11880000" cy="82958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1945640"/>
            <a:ext cx="6120000" cy="410978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071870" y="1989455"/>
            <a:ext cx="6120000" cy="42363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3.2 条图或柱图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5960" y="1090295"/>
            <a:ext cx="10800000" cy="8396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430780" y="1929765"/>
            <a:ext cx="5121530" cy="234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559685" y="4304665"/>
            <a:ext cx="4863686" cy="2340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676515" y="2750820"/>
            <a:ext cx="3310435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3.2 条图或柱图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1090295"/>
            <a:ext cx="5659397" cy="10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43510" y="2170430"/>
            <a:ext cx="5873443" cy="360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2965" y="1427480"/>
            <a:ext cx="6120000" cy="43427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3.2 条图或柱图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16355" y="1090295"/>
            <a:ext cx="9360000" cy="55728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3.3 描述统计及箱尾图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5575" y="1153160"/>
            <a:ext cx="11880000" cy="45096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3.3 描述统计及箱尾图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1090295"/>
            <a:ext cx="3231600" cy="54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56210" y="1630045"/>
            <a:ext cx="11880000" cy="131525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945130"/>
            <a:ext cx="11880000" cy="3898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3.3 描述统计及箱尾图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1090295"/>
            <a:ext cx="3231600" cy="54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3180" y="1630045"/>
            <a:ext cx="5940000" cy="406310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125845" y="1630045"/>
            <a:ext cx="5940000" cy="40143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85420" y="5647055"/>
            <a:ext cx="11880000" cy="121846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3.4 变量间的关系图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1059180"/>
            <a:ext cx="7037974" cy="5400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734300" y="1298575"/>
            <a:ext cx="4105275" cy="4477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从图上可以看出，年龄与资金规模之间的关系。</a:t>
            </a: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一般来说，人们希望能够从数据中回答几个问题：</a:t>
            </a: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1) 这两个变量是否有关系？这从散点图就很容易看出。</a:t>
            </a: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2) 如果有关系，它们的关系是否有意义？这可以从散点图得到，但需进行统计检验，</a:t>
            </a: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具体见第 9 章线性相关分析。</a:t>
            </a: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3) 这些关系是什么关系，是否可以用数学模型来描述？具体见第 9 章线性回归分析。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3.4 变量间的关系图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1090295"/>
            <a:ext cx="3701435" cy="5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28390" y="1022350"/>
            <a:ext cx="6854184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3.5 其他多元分析图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4580" y="1346200"/>
            <a:ext cx="9652364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8299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3：城市现代化水平的直观分析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56210" y="1276350"/>
            <a:ext cx="11880000" cy="1685637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75565" y="3307080"/>
            <a:ext cx="11960225" cy="2263775"/>
            <a:chOff x="119" y="4674"/>
            <a:chExt cx="18835" cy="3565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19" y="4674"/>
              <a:ext cx="18709" cy="295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246" y="7513"/>
              <a:ext cx="18709" cy="72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8299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3：城市现代化水平的直观分析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07335" y="1090295"/>
            <a:ext cx="6558294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8299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3：城市现代化水平的直观分析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68805" y="1153160"/>
            <a:ext cx="8084831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8299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3：城市现代化水平的直观分析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3025" y="1090295"/>
            <a:ext cx="2115988" cy="72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88845" y="1036955"/>
            <a:ext cx="8700877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8299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3：城市现代化水平的直观分析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15" y="1191895"/>
            <a:ext cx="6120000" cy="45095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163310" y="1090295"/>
            <a:ext cx="5760000" cy="514991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8299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3：城市现代化水平的直观分析</a:t>
            </a:r>
          </a:p>
        </p:txBody>
      </p:sp>
      <p:sp>
        <p:nvSpPr>
          <p:cNvPr id="2" name="TextBox 28"/>
          <p:cNvSpPr/>
          <p:nvPr>
            <p:custDataLst>
              <p:tags r:id="rId2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1153160"/>
            <a:ext cx="5828571" cy="432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01385" y="1346200"/>
            <a:ext cx="5320821" cy="432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ZiNTVmYWQxZDAwNTY5YjQ0ZjYxYTE3OGU0OTdhODEifQ=="/>
  <p:tag name="KSO_WPP_MARK_KEY" val="38335436-7bae-4792-8006-735f811fbc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Macintosh PowerPoint</Application>
  <PresentationFormat>宽屏</PresentationFormat>
  <Paragraphs>70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Course contributors</dc:creator>
  <cp:lastModifiedBy>Course contributors</cp:lastModifiedBy>
  <cp:revision>58</cp:revision>
  <dcterms:created xsi:type="dcterms:W3CDTF">2016-09-17T12:57:00Z</dcterms:created>
  <dcterms:modified xsi:type="dcterms:W3CDTF">2025-02-24T05:29:42Z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0D2A9005055E4F5185A4DC606E56EF25_12</vt:lpwstr>
  </property>
</Properties>
</file>