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6.xml" ContentType="application/vnd.openxmlformats-officedocument.presentationml.tags+xml"/>
  <Override PartName="/ppt/notesSlides/notesSlide6.xml" ContentType="application/vnd.openxmlformats-officedocument.presentationml.notesSlide+xml"/>
  <Override PartName="/ppt/tags/tag67.xml" ContentType="application/vnd.openxmlformats-officedocument.presentationml.tags+xml"/>
  <Override PartName="/ppt/notesSlides/notesSlide7.xml" ContentType="application/vnd.openxmlformats-officedocument.presentationml.notesSlide+xml"/>
  <Override PartName="/ppt/tags/tag68.xml" ContentType="application/vnd.openxmlformats-officedocument.presentationml.tags+xml"/>
  <Override PartName="/ppt/notesSlides/notesSlide8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9.xml" ContentType="application/vnd.openxmlformats-officedocument.presentationml.notesSlide+xml"/>
  <Override PartName="/ppt/tags/tag71.xml" ContentType="application/vnd.openxmlformats-officedocument.presentationml.tags+xml"/>
  <Override PartName="/ppt/notesSlides/notesSlide10.xml" ContentType="application/vnd.openxmlformats-officedocument.presentationml.notesSlide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2.xml" ContentType="application/vnd.openxmlformats-officedocument.presentationml.notesSlide+xml"/>
  <Override PartName="/ppt/tags/tag75.xml" ContentType="application/vnd.openxmlformats-officedocument.presentationml.tags+xml"/>
  <Override PartName="/ppt/notesSlides/notesSlide13.xml" ContentType="application/vnd.openxmlformats-officedocument.presentationml.notesSlide+xml"/>
  <Override PartName="/ppt/tags/tag76.xml" ContentType="application/vnd.openxmlformats-officedocument.presentationml.tags+xml"/>
  <Override PartName="/ppt/notesSlides/notesSlide14.xml" ContentType="application/vnd.openxmlformats-officedocument.presentationml.notesSlide+xml"/>
  <Override PartName="/ppt/tags/tag77.xml" ContentType="application/vnd.openxmlformats-officedocument.presentationml.tags+xml"/>
  <Override PartName="/ppt/notesSlides/notesSlide15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6.xml" ContentType="application/vnd.openxmlformats-officedocument.presentationml.notesSlide+xml"/>
  <Override PartName="/ppt/tags/tag80.xml" ContentType="application/vnd.openxmlformats-officedocument.presentationml.tags+xml"/>
  <Override PartName="/ppt/notesSlides/notesSlide17.xml" ContentType="application/vnd.openxmlformats-officedocument.presentationml.notesSlide+xml"/>
  <Override PartName="/ppt/tags/tag81.xml" ContentType="application/vnd.openxmlformats-officedocument.presentationml.tags+xml"/>
  <Override PartName="/ppt/notesSlides/notesSlide18.xml" ContentType="application/vnd.openxmlformats-officedocument.presentationml.notesSlide+xml"/>
  <Override PartName="/ppt/tags/tag82.xml" ContentType="application/vnd.openxmlformats-officedocument.presentationml.tags+xml"/>
  <Override PartName="/ppt/notesSlides/notesSlide19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23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4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91.xml" ContentType="application/vnd.openxmlformats-officedocument.presentationml.tags+xml"/>
  <Override PartName="/ppt/notesSlides/notesSlide27.xml" ContentType="application/vnd.openxmlformats-officedocument.presentationml.notesSlide+xml"/>
  <Override PartName="/ppt/tags/tag92.xml" ContentType="application/vnd.openxmlformats-officedocument.presentationml.tags+xml"/>
  <Override PartName="/ppt/notesSlides/notesSlide28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9.xml" ContentType="application/vnd.openxmlformats-officedocument.presentationml.notesSlide+xml"/>
  <Override PartName="/ppt/tags/tag95.xml" ContentType="application/vnd.openxmlformats-officedocument.presentationml.tags+xml"/>
  <Override PartName="/ppt/notesSlides/notesSlide30.xml" ContentType="application/vnd.openxmlformats-officedocument.presentationml.notesSlide+xml"/>
  <Override PartName="/ppt/tags/tag96.xml" ContentType="application/vnd.openxmlformats-officedocument.presentationml.tags+xml"/>
  <Override PartName="/ppt/notesSlides/notesSlide31.xml" ContentType="application/vnd.openxmlformats-officedocument.presentationml.notesSlide+xml"/>
  <Override PartName="/ppt/tags/tag97.xml" ContentType="application/vnd.openxmlformats-officedocument.presentationml.tags+xml"/>
  <Override PartName="/ppt/notesSlides/notesSlide32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3.xml" ContentType="application/vnd.openxmlformats-officedocument.presentationml.notesSlide+xml"/>
  <Override PartName="/ppt/tags/tag100.xml" ContentType="application/vnd.openxmlformats-officedocument.presentationml.tags+xml"/>
  <Override PartName="/ppt/notesSlides/notesSlide34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35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36.xml" ContentType="application/vnd.openxmlformats-officedocument.presentationml.notesSlide+xml"/>
  <Override PartName="/ppt/tags/tag105.xml" ContentType="application/vnd.openxmlformats-officedocument.presentationml.tags+xml"/>
  <Override PartName="/ppt/notesSlides/notesSlide37.xml" ContentType="application/vnd.openxmlformats-officedocument.presentationml.notesSlide+xml"/>
  <Override PartName="/ppt/tags/tag106.xml" ContentType="application/vnd.openxmlformats-officedocument.presentationml.tags+xml"/>
  <Override PartName="/ppt/notesSlides/notesSlide38.xml" ContentType="application/vnd.openxmlformats-officedocument.presentationml.notesSlide+xml"/>
  <Override PartName="/ppt/tags/tag107.xml" ContentType="application/vnd.openxmlformats-officedocument.presentationml.tags+xml"/>
  <Override PartName="/ppt/notesSlides/notesSlide39.xml" ContentType="application/vnd.openxmlformats-officedocument.presentationml.notesSlide+xml"/>
  <Override PartName="/ppt/tags/tag108.xml" ContentType="application/vnd.openxmlformats-officedocument.presentationml.tags+xml"/>
  <Override PartName="/ppt/notesSlides/notesSlide40.xml" ContentType="application/vnd.openxmlformats-officedocument.presentationml.notesSlide+xml"/>
  <Override PartName="/ppt/tags/tag109.xml" ContentType="application/vnd.openxmlformats-officedocument.presentationml.tags+xml"/>
  <Override PartName="/ppt/notesSlides/notesSlide41.xml" ContentType="application/vnd.openxmlformats-officedocument.presentationml.notesSlide+xml"/>
  <Override PartName="/ppt/tags/tag110.xml" ContentType="application/vnd.openxmlformats-officedocument.presentationml.tags+xml"/>
  <Override PartName="/ppt/notesSlides/notesSlide42.xml" ContentType="application/vnd.openxmlformats-officedocument.presentationml.notesSlide+xml"/>
  <Override PartName="/ppt/tags/tag111.xml" ContentType="application/vnd.openxmlformats-officedocument.presentationml.tags+xml"/>
  <Override PartName="/ppt/notesSlides/notesSlide43.xml" ContentType="application/vnd.openxmlformats-officedocument.presentationml.notesSlide+xml"/>
  <Override PartName="/ppt/tags/tag112.xml" ContentType="application/vnd.openxmlformats-officedocument.presentationml.tags+xml"/>
  <Override PartName="/ppt/notesSlides/notesSlide44.xml" ContentType="application/vnd.openxmlformats-officedocument.presentationml.notesSlide+xml"/>
  <Override PartName="/ppt/tags/tag113.xml" ContentType="application/vnd.openxmlformats-officedocument.presentationml.tags+xml"/>
  <Override PartName="/ppt/notesSlides/notesSlide45.xml" ContentType="application/vnd.openxmlformats-officedocument.presentationml.notesSlide+xml"/>
  <Override PartName="/ppt/tags/tag114.xml" ContentType="application/vnd.openxmlformats-officedocument.presentationml.tags+xml"/>
  <Override PartName="/ppt/notesSlides/notesSlide46.xml" ContentType="application/vnd.openxmlformats-officedocument.presentationml.notesSlide+xml"/>
  <Override PartName="/ppt/tags/tag115.xml" ContentType="application/vnd.openxmlformats-officedocument.presentationml.tags+xml"/>
  <Override PartName="/ppt/notesSlides/notesSlide47.xml" ContentType="application/vnd.openxmlformats-officedocument.presentationml.notesSlide+xml"/>
  <Override PartName="/ppt/tags/tag116.xml" ContentType="application/vnd.openxmlformats-officedocument.presentationml.tags+xml"/>
  <Override PartName="/ppt/notesSlides/notesSlide48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49.xml" ContentType="application/vnd.openxmlformats-officedocument.presentationml.notesSlide+xml"/>
  <Override PartName="/ppt/tags/tag119.xml" ContentType="application/vnd.openxmlformats-officedocument.presentationml.tags+xml"/>
  <Override PartName="/ppt/notesSlides/notesSlide50.xml" ContentType="application/vnd.openxmlformats-officedocument.presentationml.notesSlide+xml"/>
  <Override PartName="/ppt/tags/tag120.xml" ContentType="application/vnd.openxmlformats-officedocument.presentationml.tags+xml"/>
  <Override PartName="/ppt/notesSlides/notesSlide51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52.xml" ContentType="application/vnd.openxmlformats-officedocument.presentationml.notesSlide+xml"/>
  <Override PartName="/ppt/tags/tag123.xml" ContentType="application/vnd.openxmlformats-officedocument.presentationml.tags+xml"/>
  <Override PartName="/ppt/notesSlides/notesSlide53.xml" ContentType="application/vnd.openxmlformats-officedocument.presentationml.notesSlide+xml"/>
  <Override PartName="/ppt/tags/tag124.xml" ContentType="application/vnd.openxmlformats-officedocument.presentationml.tags+xml"/>
  <Override PartName="/ppt/notesSlides/notesSlide54.xml" ContentType="application/vnd.openxmlformats-officedocument.presentationml.notesSlide+xml"/>
  <Override PartName="/ppt/tags/tag125.xml" ContentType="application/vnd.openxmlformats-officedocument.presentationml.tags+xml"/>
  <Override PartName="/ppt/notesSlides/notesSlide55.xml" ContentType="application/vnd.openxmlformats-officedocument.presentationml.notesSlide+xml"/>
  <Override PartName="/ppt/tags/tag126.xml" ContentType="application/vnd.openxmlformats-officedocument.presentationml.tags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57" r:id="rId2"/>
    <p:sldId id="258" r:id="rId3"/>
    <p:sldId id="337" r:id="rId4"/>
    <p:sldId id="259" r:id="rId5"/>
    <p:sldId id="260" r:id="rId6"/>
    <p:sldId id="261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8" r:id="rId16"/>
    <p:sldId id="290" r:id="rId17"/>
    <p:sldId id="291" r:id="rId18"/>
    <p:sldId id="292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7" r:id="rId40"/>
    <p:sldId id="318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6" r:id="rId57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02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92" y="60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9-13T11:31:55.013" idx="1">
    <p:pos x="8236" y="324"/>
    <p:text>vcbvc 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77773" y="3198955"/>
            <a:ext cx="7822184" cy="2617327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5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image" Target="../media/image51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7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57.png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image" Target="../media/image61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7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8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9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0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3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4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5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6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9.xml"/><Relationship Id="rId4" Type="http://schemas.openxmlformats.org/officeDocument/2006/relationships/image" Target="../media/image9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0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94.png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3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4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5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6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 amt="62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WordArt 10"/>
          <p:cNvSpPr>
            <a:spLocks noTextEdit="1"/>
          </p:cNvSpPr>
          <p:nvPr/>
        </p:nvSpPr>
        <p:spPr>
          <a:xfrm>
            <a:off x="2797810" y="4220845"/>
            <a:ext cx="7213600" cy="73787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endParaRPr lang="zh-CN" altLang="en-US" sz="3600" i="1">
              <a:noFill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4" name="矩形 7"/>
          <p:cNvSpPr/>
          <p:nvPr/>
        </p:nvSpPr>
        <p:spPr>
          <a:xfrm>
            <a:off x="2567755" y="2994100"/>
            <a:ext cx="7901940" cy="7694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5pPr>
          </a:lstStyle>
          <a:p>
            <a:pPr marL="0" lvl="0" indent="0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</a:p>
        </p:txBody>
      </p:sp>
      <p:sp>
        <p:nvSpPr>
          <p:cNvPr id="2" name="矩形 1"/>
          <p:cNvSpPr/>
          <p:nvPr/>
        </p:nvSpPr>
        <p:spPr>
          <a:xfrm>
            <a:off x="2858286" y="4952971"/>
            <a:ext cx="64115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3399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12 章 判别分析及 Python 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28"/>
          <p:cNvSpPr/>
          <p:nvPr/>
        </p:nvSpPr>
        <p:spPr>
          <a:xfrm>
            <a:off x="-55881" y="193675"/>
            <a:ext cx="5455285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</a:p>
        </p:txBody>
      </p:sp>
      <p:sp>
        <p:nvSpPr>
          <p:cNvPr id="9" name="TextBox 27"/>
          <p:cNvSpPr/>
          <p:nvPr/>
        </p:nvSpPr>
        <p:spPr>
          <a:xfrm>
            <a:off x="5857361" y="247125"/>
            <a:ext cx="54502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1" name="右箭头 10"/>
          <p:cNvSpPr/>
          <p:nvPr/>
        </p:nvSpPr>
        <p:spPr>
          <a:xfrm>
            <a:off x="5286014" y="404719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6040" y="1076325"/>
            <a:ext cx="7117080" cy="55359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35955" y="3079115"/>
            <a:ext cx="6429375" cy="37604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28"/>
          <p:cNvSpPr/>
          <p:nvPr/>
        </p:nvSpPr>
        <p:spPr>
          <a:xfrm>
            <a:off x="-55881" y="193675"/>
            <a:ext cx="5455285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</a:p>
        </p:txBody>
      </p:sp>
      <p:sp>
        <p:nvSpPr>
          <p:cNvPr id="9" name="TextBox 27"/>
          <p:cNvSpPr/>
          <p:nvPr/>
        </p:nvSpPr>
        <p:spPr>
          <a:xfrm>
            <a:off x="5857361" y="247125"/>
            <a:ext cx="54502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1" name="右箭头 10"/>
          <p:cNvSpPr/>
          <p:nvPr/>
        </p:nvSpPr>
        <p:spPr>
          <a:xfrm>
            <a:off x="5286014" y="404719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1412875"/>
            <a:ext cx="9528810" cy="489394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12.1 判别分析的概念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39712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12.1.1 判别分析的用途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45" y="1730375"/>
            <a:ext cx="10337165" cy="19767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45" y="3819525"/>
            <a:ext cx="10114915" cy="292544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12.1 判别分析的概念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39712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12.1.2 判别分析的种类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590" y="1892300"/>
            <a:ext cx="6842760" cy="40881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12.2.1 Fisher 判别的提出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3740" y="2482215"/>
            <a:ext cx="10608310" cy="23628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12.2.1 Fisher 判别的提出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97560" y="2080260"/>
            <a:ext cx="10524490" cy="34575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12.2.1 Fisher 判别的提出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2925" y="1892300"/>
            <a:ext cx="11106150" cy="40716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rgbClr val="00B050"/>
                </a:solidFill>
              </a:rPr>
              <a:t>1.</a:t>
            </a:r>
            <a:r>
              <a:rPr sz="2400" b="1" dirty="0">
                <a:solidFill>
                  <a:srgbClr val="00B050"/>
                </a:solidFill>
              </a:rPr>
              <a:t>求线性判别函数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9775" y="2464435"/>
            <a:ext cx="10582275" cy="2962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rgbClr val="00B050"/>
                </a:solidFill>
              </a:rPr>
              <a:t>1.</a:t>
            </a:r>
            <a:r>
              <a:rPr sz="2400" b="1" dirty="0">
                <a:solidFill>
                  <a:srgbClr val="00B050"/>
                </a:solidFill>
              </a:rPr>
              <a:t>求线性判别函数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" y="2395220"/>
            <a:ext cx="10571480" cy="1529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" y="4344670"/>
            <a:ext cx="10617835" cy="18643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计算判别界值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225" y="2395220"/>
            <a:ext cx="8667115" cy="22237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025" y="4618990"/>
            <a:ext cx="8818880" cy="201549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3. 建立判别标准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24175" y="2947035"/>
            <a:ext cx="4973955" cy="15208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8635" y="1740535"/>
            <a:ext cx="10478135" cy="11290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360" y="2833370"/>
            <a:ext cx="6336665" cy="38976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485" y="2074545"/>
            <a:ext cx="2534285" cy="4678680"/>
          </a:xfrm>
          <a:prstGeom prst="rect">
            <a:avLst/>
          </a:prstGeom>
        </p:spPr>
      </p:pic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12-1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" y="2453640"/>
            <a:ext cx="7202805" cy="7194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" y="3123565"/>
            <a:ext cx="7079615" cy="37090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565" y="1070610"/>
            <a:ext cx="5322570" cy="1270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12-1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" y="4531995"/>
            <a:ext cx="10372090" cy="10998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" y="5768340"/>
            <a:ext cx="10484485" cy="7404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4780" y="1299845"/>
            <a:ext cx="6579870" cy="296100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12-1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88715" y="1183005"/>
            <a:ext cx="7945120" cy="5605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0" y="1892300"/>
            <a:ext cx="10069830" cy="1660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" y="4002405"/>
            <a:ext cx="9971405" cy="17310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12-1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565" y="1012190"/>
            <a:ext cx="6274435" cy="742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920" y="1751965"/>
            <a:ext cx="3288665" cy="51060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190" y="2326005"/>
            <a:ext cx="5387975" cy="22510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05" y="4632325"/>
            <a:ext cx="6403340" cy="19405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12-1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" y="2547620"/>
            <a:ext cx="4099560" cy="9899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190" y="1147445"/>
            <a:ext cx="7113270" cy="55740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12.2.2 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12-1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48690" y="2773045"/>
            <a:ext cx="10638155" cy="13119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" y="2088515"/>
            <a:ext cx="10647680" cy="1089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429000"/>
            <a:ext cx="10702290" cy="25349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5" y="2065020"/>
            <a:ext cx="11438890" cy="1082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570" y="3866515"/>
            <a:ext cx="5080000" cy="133477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1. 等方差阵：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380" y="2270760"/>
            <a:ext cx="6796405" cy="19869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230" y="4657725"/>
            <a:ext cx="8947785" cy="144589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9848215" y="2906945"/>
            <a:ext cx="4064000" cy="52197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12-5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1. 等方差阵：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57170" y="2652395"/>
            <a:ext cx="6876415" cy="18408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异方差阵：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2045" y="2044700"/>
            <a:ext cx="7234555" cy="1384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429000"/>
            <a:ext cx="11157585" cy="8489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516120"/>
            <a:ext cx="9352280" cy="162941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9848215" y="2906945"/>
            <a:ext cx="4064000" cy="52197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charset="-122"/>
              </a:rPr>
              <a:t>12-6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74065" y="1796415"/>
            <a:ext cx="10803255" cy="11988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sz="2400" b="1">
                <a:latin typeface="+mn-ea"/>
                <a:cs typeface="+mn-ea"/>
              </a:rPr>
              <a:t>【例 12.2】</a:t>
            </a:r>
            <a:r>
              <a:rPr lang="zh-CN" altLang="en-US" sz="2400">
                <a:latin typeface="+mn-ea"/>
                <a:cs typeface="+mn-ea"/>
              </a:rPr>
              <a:t>对例 12.1 天气数据做距离判别分析。我们知道，当方差阵相同时，距离判别跟 Fisher 判别是一样的，都是线性判别，所以我们下面只做方差阵不同时的二次判别。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0" y="3429000"/>
            <a:ext cx="10556240" cy="18326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12-2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" y="2494915"/>
            <a:ext cx="6182995" cy="3644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055" y="2360930"/>
            <a:ext cx="5351145" cy="37788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12.2.3 非线性判别函数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12-2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990" y="2029460"/>
            <a:ext cx="9316720" cy="2799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5030" y="4895850"/>
            <a:ext cx="9377680" cy="147891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1. 协方差矩阵相同：线性判别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1195" y="2607945"/>
            <a:ext cx="11193145" cy="34258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1. 协方差矩阵相同：线性判别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505" y="2395220"/>
            <a:ext cx="9652635" cy="20453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8170" y="4440555"/>
            <a:ext cx="9100820" cy="22072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协方差矩阵不同：非线性判别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2395220"/>
            <a:ext cx="11055985" cy="2057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20" y="4702175"/>
            <a:ext cx="10241280" cy="17024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9100" y="2331720"/>
            <a:ext cx="11054715" cy="24371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12-3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21175" y="1047750"/>
            <a:ext cx="5799455" cy="57994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12-3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630" y="1659255"/>
            <a:ext cx="7992110" cy="1031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630" y="2719070"/>
            <a:ext cx="6415405" cy="41389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12-3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17010" y="1229360"/>
            <a:ext cx="7802880" cy="5228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12-3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63035" y="1183005"/>
            <a:ext cx="8072120" cy="54978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chemeClr val="accent2"/>
                </a:solidFill>
              </a:rPr>
              <a:t>1.  线性判别（等方差）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" y="2613660"/>
            <a:ext cx="6110605" cy="13188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935" y="722630"/>
            <a:ext cx="4168140" cy="60826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chemeClr val="accent2"/>
                </a:solidFill>
              </a:rPr>
              <a:t>1.  线性判别（等方差）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2192020"/>
            <a:ext cx="8956040" cy="34277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130" y="5665470"/>
            <a:ext cx="6240780" cy="10325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chemeClr val="accent2"/>
                </a:solidFill>
              </a:rPr>
              <a:t>2. 二次判别（异方差）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" y="2655570"/>
            <a:ext cx="6134100" cy="2136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320" y="1183005"/>
            <a:ext cx="5321935" cy="54279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12.2 Fisher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12.2.4 多总体距离判别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6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chemeClr val="accent2"/>
                </a:solidFill>
              </a:rPr>
              <a:t>2. 二次判别（异方差）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252980"/>
            <a:ext cx="7710805" cy="30333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115" y="5288280"/>
            <a:ext cx="8848090" cy="6832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3275" y="3234690"/>
            <a:ext cx="5960745" cy="6527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130" y="6064885"/>
            <a:ext cx="9321165" cy="6254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12.3.1 Bayes 判别准则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1. 概率判别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75" y="2395220"/>
            <a:ext cx="10819130" cy="7385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75" y="3242310"/>
            <a:ext cx="3473450" cy="3536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0" y="3928110"/>
            <a:ext cx="5525135" cy="20720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896860" y="416932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（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12-10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12.3.1 Bayes 判别准则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损失判别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" y="2395220"/>
            <a:ext cx="10599420" cy="19450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818380"/>
            <a:ext cx="11094720" cy="113601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45358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12.3.1 Bayes 判别准则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损失判别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45" y="2421255"/>
            <a:ext cx="11040110" cy="25546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170" y="5184140"/>
            <a:ext cx="9201150" cy="11410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1. Bayes 判别函数求解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45" y="2533650"/>
            <a:ext cx="9565005" cy="15074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" y="4430395"/>
            <a:ext cx="10925810" cy="156464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1. Bayes 判别函数求解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35" y="2499360"/>
            <a:ext cx="9763125" cy="2637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715" y="5568950"/>
            <a:ext cx="9012555" cy="63690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协方差阵相等情形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15" y="2395220"/>
            <a:ext cx="10541635" cy="20116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50" y="4406900"/>
            <a:ext cx="10337800" cy="22294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协方差阵相等情形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085" y="2625725"/>
            <a:ext cx="9608820" cy="1518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280" y="4483100"/>
            <a:ext cx="7338060" cy="17392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2. 协方差阵相等情形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" y="2270760"/>
            <a:ext cx="9902190" cy="1047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60" y="3390265"/>
            <a:ext cx="9982200" cy="32746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7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400" b="1" dirty="0">
                <a:solidFill>
                  <a:srgbClr val="00B050"/>
                </a:solidFill>
              </a:rPr>
              <a:t>3. 后验概率的计算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05" y="2395220"/>
            <a:ext cx="10532745" cy="14814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0880" y="4214495"/>
            <a:ext cx="4678045" cy="219138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8693785" y="486973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（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12-15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925" y="2435860"/>
            <a:ext cx="11358880" cy="1231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" y="2680335"/>
            <a:ext cx="5480685" cy="14852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890" y="1090295"/>
            <a:ext cx="5335905" cy="572389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12-4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64260" y="2270760"/>
            <a:ext cx="10050145" cy="38138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" y="2508885"/>
            <a:ext cx="7357110" cy="6997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" y="3290570"/>
            <a:ext cx="6717665" cy="7035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515" y="815340"/>
            <a:ext cx="2998470" cy="606361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12-4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415" y="2394585"/>
            <a:ext cx="8645525" cy="19411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355" y="4793615"/>
            <a:ext cx="9933940" cy="102044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5531485" y="1209040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1858645"/>
            <a:ext cx="5309870" cy="35515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975" y="4169410"/>
            <a:ext cx="6450965" cy="266827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27"/>
          <p:cNvSpPr/>
          <p:nvPr/>
        </p:nvSpPr>
        <p:spPr>
          <a:xfrm>
            <a:off x="6477433" y="200636"/>
            <a:ext cx="44214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12.3 Bayes 判别法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6015719" y="381668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1"/>
          <p:cNvSpPr/>
          <p:nvPr/>
        </p:nvSpPr>
        <p:spPr>
          <a:xfrm flipH="1">
            <a:off x="238760" y="1163955"/>
            <a:ext cx="51238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12.3.2 正态总体的 Bayes 判别</a:t>
            </a:r>
          </a:p>
        </p:txBody>
      </p:sp>
      <p:sp>
        <p:nvSpPr>
          <p:cNvPr id="11" name="TextBox 28"/>
          <p:cNvSpPr/>
          <p:nvPr/>
        </p:nvSpPr>
        <p:spPr>
          <a:xfrm>
            <a:off x="47625" y="168910"/>
            <a:ext cx="6840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 12 章 判别分析及 Python 算法</a:t>
            </a:r>
          </a:p>
        </p:txBody>
      </p:sp>
      <p:sp>
        <p:nvSpPr>
          <p:cNvPr id="10" name="TextBox 1"/>
          <p:cNvSpPr/>
          <p:nvPr>
            <p:custDataLst>
              <p:tags r:id="rId1"/>
            </p:custDataLst>
          </p:nvPr>
        </p:nvSpPr>
        <p:spPr>
          <a:xfrm flipH="1">
            <a:off x="365760" y="1810385"/>
            <a:ext cx="45358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 12-4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590" y="1701165"/>
            <a:ext cx="5251450" cy="51003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890" y="3215640"/>
            <a:ext cx="6664960" cy="17741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7006D8-63DA-BC4D-3D2A-06C3433DDB4D}"/>
              </a:ext>
            </a:extLst>
          </p:cNvPr>
          <p:cNvSpPr txBox="1"/>
          <p:nvPr/>
        </p:nvSpPr>
        <p:spPr>
          <a:xfrm>
            <a:off x="11744696" y="3681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ZiNTVmYWQxZDAwNTY5YjQ0ZjYxYTE3OGU0OTdhODEifQ=="/>
  <p:tag name="KSO_WPP_MARK_KEY" val="f391c0c0-617a-4c1c-9957-176b4d238bc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898</Words>
  <Application>Microsoft Macintosh PowerPoint</Application>
  <PresentationFormat>宽屏</PresentationFormat>
  <Paragraphs>268</Paragraphs>
  <Slides>56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2" baseType="lpstr">
      <vt:lpstr>宋体</vt:lpstr>
      <vt:lpstr>微软雅黑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Course contributors</dc:creator>
  <cp:lastModifiedBy>Course contributors</cp:lastModifiedBy>
  <cp:revision>157</cp:revision>
  <dcterms:created xsi:type="dcterms:W3CDTF">2019-06-19T02:08:00Z</dcterms:created>
  <dcterms:modified xsi:type="dcterms:W3CDTF">2025-10-15T02:59:56Z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9EF2380907D3400BB96D5AC2A9738D1D_11</vt:lpwstr>
  </property>
</Properties>
</file>