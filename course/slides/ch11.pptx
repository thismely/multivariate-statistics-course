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4"/>
  </p:notesMasterIdLst>
  <p:handoutMasterIdLst>
    <p:handoutMasterId r:id="rId45"/>
  </p:handoutMasterIdLst>
  <p:sldIdLst>
    <p:sldId id="364" r:id="rId3"/>
    <p:sldId id="325" r:id="rId4"/>
    <p:sldId id="404" r:id="rId5"/>
    <p:sldId id="282" r:id="rId6"/>
    <p:sldId id="287" r:id="rId7"/>
    <p:sldId id="286" r:id="rId8"/>
    <p:sldId id="285" r:id="rId9"/>
    <p:sldId id="291" r:id="rId10"/>
    <p:sldId id="292" r:id="rId11"/>
    <p:sldId id="293" r:id="rId12"/>
    <p:sldId id="294" r:id="rId13"/>
    <p:sldId id="299" r:id="rId14"/>
    <p:sldId id="298" r:id="rId15"/>
    <p:sldId id="301" r:id="rId16"/>
    <p:sldId id="295" r:id="rId17"/>
    <p:sldId id="296" r:id="rId18"/>
    <p:sldId id="302" r:id="rId19"/>
    <p:sldId id="303" r:id="rId20"/>
    <p:sldId id="297" r:id="rId21"/>
    <p:sldId id="304" r:id="rId22"/>
    <p:sldId id="305" r:id="rId23"/>
    <p:sldId id="300" r:id="rId24"/>
    <p:sldId id="306" r:id="rId25"/>
    <p:sldId id="309" r:id="rId26"/>
    <p:sldId id="310" r:id="rId27"/>
    <p:sldId id="311" r:id="rId28"/>
    <p:sldId id="312" r:id="rId29"/>
    <p:sldId id="313" r:id="rId30"/>
    <p:sldId id="307" r:id="rId31"/>
    <p:sldId id="314" r:id="rId32"/>
    <p:sldId id="315" r:id="rId33"/>
    <p:sldId id="317" r:id="rId34"/>
    <p:sldId id="318" r:id="rId35"/>
    <p:sldId id="316" r:id="rId36"/>
    <p:sldId id="319" r:id="rId37"/>
    <p:sldId id="320" r:id="rId38"/>
    <p:sldId id="321" r:id="rId39"/>
    <p:sldId id="308" r:id="rId40"/>
    <p:sldId id="323" r:id="rId41"/>
    <p:sldId id="322" r:id="rId42"/>
    <p:sldId id="281" r:id="rId43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gs" Target="tags/tag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9-13T11:31:55.013" idx="1">
    <p:pos x="8236" y="324"/>
    <p:text>vcbvc 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5FA6550-37E8-6009-B2D4-DEBBFDA7C7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64ECC0-19CB-94C7-384F-63397C0FFA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D03D2-5901-D841-986A-FC3025AB7E88}" type="datetimeFigureOut">
              <a:rPr kumimoji="1" lang="zh-CN" altLang="en-US" smtClean="0"/>
              <a:t>2025/10/15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A45453-24A5-D17D-F06D-1D28D48019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AE9475-89DA-6448-40A0-D675C8BA20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2A2D9-B20F-2641-8E72-A1D6C5F5A1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0939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292F-5F1E-4D0D-9D24-9BC591CEBBA9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3A394-52CC-4E77-A7E1-261886B0DF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844676"/>
            <a:ext cx="10363200" cy="1470025"/>
          </a:xfrm>
        </p:spPr>
        <p:txBody>
          <a:bodyPr/>
          <a:lstStyle>
            <a:lvl1pPr>
              <a:defRPr sz="5400" b="1">
                <a:solidFill>
                  <a:srgbClr val="3399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716338"/>
            <a:ext cx="8534400" cy="1752600"/>
          </a:xfrm>
        </p:spPr>
        <p:txBody>
          <a:bodyPr/>
          <a:lstStyle>
            <a:lvl1pPr marL="0" indent="0" algn="ctr">
              <a:defRPr sz="3600">
                <a:solidFill>
                  <a:srgbClr val="3399FF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1052514"/>
            <a:ext cx="2590800" cy="50434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1052514"/>
            <a:ext cx="7569200" cy="50434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844676"/>
            <a:ext cx="10363200" cy="1470025"/>
          </a:xfrm>
        </p:spPr>
        <p:txBody>
          <a:bodyPr/>
          <a:lstStyle>
            <a:lvl1pPr>
              <a:defRPr sz="5400" b="1">
                <a:solidFill>
                  <a:srgbClr val="3399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716338"/>
            <a:ext cx="8534400" cy="1752600"/>
          </a:xfrm>
        </p:spPr>
        <p:txBody>
          <a:bodyPr/>
          <a:lstStyle>
            <a:lvl1pPr marL="0" indent="0" algn="ctr">
              <a:defRPr sz="3600">
                <a:solidFill>
                  <a:srgbClr val="3399FF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1052514"/>
            <a:ext cx="2590800" cy="50434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1052514"/>
            <a:ext cx="7569200" cy="50434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052513"/>
            <a:ext cx="103632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3962400" y="60960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pic>
        <p:nvPicPr>
          <p:cNvPr id="1029" name="图片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052513"/>
            <a:ext cx="103632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3962400" y="60960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pic>
        <p:nvPicPr>
          <p:cNvPr id="1029" name="图片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WordArt 10"/>
          <p:cNvSpPr>
            <a:spLocks noTextEdit="1"/>
          </p:cNvSpPr>
          <p:nvPr/>
        </p:nvSpPr>
        <p:spPr>
          <a:xfrm>
            <a:off x="2797810" y="4220845"/>
            <a:ext cx="7213600" cy="73787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endParaRPr lang="zh-CN" altLang="en-US" sz="3600" i="1">
              <a:noFill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4" name="矩形 7"/>
          <p:cNvSpPr/>
          <p:nvPr/>
        </p:nvSpPr>
        <p:spPr>
          <a:xfrm>
            <a:off x="2567755" y="2793440"/>
            <a:ext cx="7901940" cy="7694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5pPr>
          </a:lstStyle>
          <a:p>
            <a:pPr marL="0" lvl="0" indent="0" defTabSz="9144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altLang="zh-CN" sz="4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8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698920" y="4517103"/>
            <a:ext cx="68026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lvl="0"/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第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11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章 扩展线性模型及</a:t>
            </a:r>
            <a:r>
              <a:rPr lang="en-US" altLang="zh-CN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</a:rPr>
              <a:t>建模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700" y="896620"/>
            <a:ext cx="6271260" cy="4892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505" y="3146425"/>
            <a:ext cx="6115685" cy="3512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6"/>
          <p:cNvSpPr/>
          <p:nvPr/>
        </p:nvSpPr>
        <p:spPr>
          <a:xfrm>
            <a:off x="1537970" y="1261745"/>
            <a:ext cx="9832340" cy="18737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基本</a:t>
            </a:r>
            <a:r>
              <a:rPr lang="zh-CN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内容</a:t>
            </a:r>
            <a:r>
              <a:rPr lang="zh-CN" sz="3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：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数据的分类与模型选择、方差分析模型、广义线性模型概述、</a:t>
            </a:r>
            <a:r>
              <a:rPr lang="en-US" altLang="zh-CN" sz="2400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Logistic</a:t>
            </a:r>
            <a:r>
              <a:rPr lang="zh-CN" altLang="en-US" sz="2400" dirty="0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回归模型、对数线性模型的计算。</a:t>
            </a:r>
          </a:p>
        </p:txBody>
      </p:sp>
      <p:sp>
        <p:nvSpPr>
          <p:cNvPr id="28" name="矩形 7"/>
          <p:cNvSpPr/>
          <p:nvPr/>
        </p:nvSpPr>
        <p:spPr>
          <a:xfrm>
            <a:off x="1537970" y="3432220"/>
            <a:ext cx="9781540" cy="242771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基本要求</a:t>
            </a:r>
            <a:r>
              <a:rPr lang="zh-CN" altLang="en-US" sz="3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：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要求学生针对因变量 和解释变量的取值性质</a:t>
            </a:r>
            <a:r>
              <a:rPr lang="en-US" altLang="zh-CN" sz="24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,</a:t>
            </a:r>
            <a:r>
              <a:rPr lang="zh-CN" altLang="en-US" sz="24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了解统计模型的类型。掌握数据的分类与模型选择方法</a:t>
            </a:r>
            <a:r>
              <a:rPr lang="en-US" altLang="zh-CN" sz="24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,</a:t>
            </a:r>
            <a:r>
              <a:rPr lang="zh-CN" altLang="en-US" sz="2400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并对广义线性模型和方差分析等模型有初步的了解。</a:t>
            </a:r>
          </a:p>
        </p:txBody>
      </p:sp>
      <p:sp>
        <p:nvSpPr>
          <p:cNvPr id="29" name="TextBox 1"/>
          <p:cNvSpPr/>
          <p:nvPr/>
        </p:nvSpPr>
        <p:spPr>
          <a:xfrm flipH="1">
            <a:off x="314643" y="2374265"/>
            <a:ext cx="800100" cy="25641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内容与要求</a:t>
            </a:r>
          </a:p>
        </p:txBody>
      </p:sp>
      <p:sp>
        <p:nvSpPr>
          <p:cNvPr id="30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.1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数据的分类与模型选择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" y="2080260"/>
            <a:ext cx="10151745" cy="41313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41112" y="1460946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一、变量的取值类型：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.1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数据的分类与模型选择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5172" y="1704151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一、变量的取值类型：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5" y="2448560"/>
            <a:ext cx="11461115" cy="272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.1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数据的分类与模型选择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26837" y="1518096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二、模型选择方式：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65" y="2219960"/>
            <a:ext cx="10841990" cy="21659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75" y="4769485"/>
            <a:ext cx="107086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74630" y="1334816"/>
            <a:ext cx="3258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一、完全随机设计模型：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983" y="1767311"/>
            <a:ext cx="9498034" cy="452857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983" y="6150506"/>
            <a:ext cx="9470819" cy="506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4" name="矩形 7"/>
          <p:cNvSpPr/>
          <p:nvPr/>
        </p:nvSpPr>
        <p:spPr>
          <a:xfrm>
            <a:off x="1334502" y="1803721"/>
            <a:ext cx="9522996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举例：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55" y="3016250"/>
            <a:ext cx="11293475" cy="2598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65" y="1354455"/>
            <a:ext cx="10570210" cy="5101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56" y="1378002"/>
            <a:ext cx="8959177" cy="49313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660" y="1598295"/>
            <a:ext cx="9683750" cy="4676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59259" y="1423114"/>
            <a:ext cx="3463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二、随机区组设计模型：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955" y="2538095"/>
            <a:ext cx="10183495" cy="3011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4" name="矩形 7"/>
          <p:cNvSpPr/>
          <p:nvPr/>
        </p:nvSpPr>
        <p:spPr>
          <a:xfrm>
            <a:off x="1334502" y="1803721"/>
            <a:ext cx="9522996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举例：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793365"/>
            <a:ext cx="11093450" cy="3137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680" y="1256030"/>
            <a:ext cx="8441055" cy="53689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565" y="1247140"/>
            <a:ext cx="8399145" cy="5344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172" y="2344076"/>
            <a:ext cx="9780951" cy="26149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77662" y="1403796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三、析因设计模型：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975" y="2115820"/>
            <a:ext cx="9711055" cy="7924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550" y="3181350"/>
            <a:ext cx="9796780" cy="30651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4" name="矩形 7"/>
          <p:cNvSpPr/>
          <p:nvPr/>
        </p:nvSpPr>
        <p:spPr>
          <a:xfrm>
            <a:off x="1334502" y="1803721"/>
            <a:ext cx="9522996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举例：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35" y="2723515"/>
            <a:ext cx="10321925" cy="3101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88" y="1008196"/>
            <a:ext cx="8970063" cy="34290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155" t="272" r="-155" b="14072"/>
          <a:stretch>
            <a:fillRect/>
          </a:stretch>
        </p:blipFill>
        <p:spPr>
          <a:xfrm>
            <a:off x="1494790" y="1378585"/>
            <a:ext cx="9669145" cy="4394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482" y="5773183"/>
            <a:ext cx="7855212" cy="8835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64783" y="1255689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四、正交设计模型：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16" y="1655799"/>
            <a:ext cx="9220169" cy="49996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4" name="矩形 7"/>
          <p:cNvSpPr/>
          <p:nvPr/>
        </p:nvSpPr>
        <p:spPr>
          <a:xfrm>
            <a:off x="1334502" y="1803721"/>
            <a:ext cx="9522996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举例：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3161030"/>
            <a:ext cx="10482580" cy="2301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25" y="1737995"/>
            <a:ext cx="9813925" cy="34601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.2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方差分析模型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105" y="1586865"/>
            <a:ext cx="9519285" cy="46729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39026" y="1468191"/>
            <a:ext cx="3451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一、广义线性模型概述：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060" y="2402840"/>
            <a:ext cx="10215245" cy="26257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77661" y="1403796"/>
            <a:ext cx="3464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一、广义线性模型概述：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370" y="1889125"/>
            <a:ext cx="9368155" cy="2399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330" y="4274185"/>
            <a:ext cx="9407525" cy="1945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77975" y="1403985"/>
            <a:ext cx="3917950" cy="3646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二、</a:t>
            </a:r>
            <a:r>
              <a:rPr lang="en-US" altLang="zh-CN" sz="2400" b="1" dirty="0">
                <a:solidFill>
                  <a:schemeClr val="accent5">
                    <a:lumMod val="50000"/>
                  </a:schemeClr>
                </a:solidFill>
              </a:rPr>
              <a:t>Logistic </a:t>
            </a: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模型：</a:t>
            </a:r>
            <a:endParaRPr lang="en-US" altLang="zh-CN" sz="2400" b="1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altLang="zh-CN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/>
              <a:t>Logistic </a:t>
            </a:r>
            <a:r>
              <a:rPr lang="zh-CN" altLang="en-US" sz="2000" b="1" dirty="0"/>
              <a:t>模型的定义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/>
              <a:t>Logistic </a:t>
            </a:r>
            <a:r>
              <a:rPr lang="zh-CN" altLang="en-US" sz="2000" b="1" dirty="0"/>
              <a:t>模型的估计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/>
              <a:t>Logistic </a:t>
            </a:r>
            <a:r>
              <a:rPr lang="zh-CN" altLang="en-US" sz="2000" b="1" dirty="0"/>
              <a:t>模型的检验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/>
              <a:t>Logistic </a:t>
            </a:r>
            <a:r>
              <a:rPr lang="zh-CN" altLang="en-US" sz="2000" b="1" dirty="0"/>
              <a:t>模型的优缺点</a:t>
            </a: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/>
              <a:t>Logistic </a:t>
            </a:r>
            <a:r>
              <a:rPr lang="zh-CN" altLang="en-US" sz="2000" b="1" dirty="0"/>
              <a:t>模型 </a:t>
            </a:r>
            <a:r>
              <a:rPr lang="en-US" altLang="zh-CN" sz="2000" b="1" dirty="0"/>
              <a:t>VS </a:t>
            </a:r>
            <a:r>
              <a:rPr lang="zh-CN" altLang="en-US" sz="2000" b="1" dirty="0"/>
              <a:t>线性模型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4" name="矩形 7"/>
          <p:cNvSpPr/>
          <p:nvPr/>
        </p:nvSpPr>
        <p:spPr>
          <a:xfrm>
            <a:off x="1334502" y="1803721"/>
            <a:ext cx="9522996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举例：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30" y="2638425"/>
            <a:ext cx="10274300" cy="2131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555" y="1097280"/>
            <a:ext cx="7687945" cy="5445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545" y="932815"/>
            <a:ext cx="9404350" cy="44342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982" y="5346745"/>
            <a:ext cx="5572037" cy="12342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265" y="1019810"/>
            <a:ext cx="9497695" cy="56368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305" y="1745615"/>
            <a:ext cx="9988550" cy="383476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0220" y="1976226"/>
            <a:ext cx="4908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三</a:t>
            </a:r>
            <a:endParaRPr lang="en-US" altLang="zh-CN" sz="24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</a:rPr>
              <a:t>、对数线性模型</a:t>
            </a:r>
            <a:endParaRPr lang="zh-CN" altLang="en-US" sz="2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l="9604"/>
          <a:stretch>
            <a:fillRect/>
          </a:stretch>
        </p:blipFill>
        <p:spPr>
          <a:xfrm>
            <a:off x="1472565" y="1273810"/>
            <a:ext cx="10537825" cy="10229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l="7295"/>
          <a:stretch>
            <a:fillRect/>
          </a:stretch>
        </p:blipFill>
        <p:spPr>
          <a:xfrm>
            <a:off x="1459230" y="2327275"/>
            <a:ext cx="9997440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4" name="矩形 7"/>
          <p:cNvSpPr/>
          <p:nvPr/>
        </p:nvSpPr>
        <p:spPr>
          <a:xfrm>
            <a:off x="1349107" y="1424626"/>
            <a:ext cx="9522996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举例：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32025"/>
            <a:ext cx="10659110" cy="3607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0" y="1614805"/>
            <a:ext cx="10103485" cy="42398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6022975" y="20129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</a:t>
            </a:r>
            <a:r>
              <a:rPr lang="en-US" altLang="zh-CN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.3 </a:t>
            </a:r>
            <a:r>
              <a:rPr lang="zh-CN" altLang="en-US" sz="2400" b="1" dirty="0">
                <a:solidFill>
                  <a:schemeClr val="accent4"/>
                </a:solidFill>
                <a:effectLst/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广义线性模型</a:t>
            </a:r>
          </a:p>
        </p:txBody>
      </p:sp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974090"/>
            <a:ext cx="9344660" cy="32556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115" y="4250690"/>
            <a:ext cx="9166225" cy="223710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1292225"/>
            <a:ext cx="9651365" cy="5258435"/>
          </a:xfrm>
          <a:prstGeom prst="rect">
            <a:avLst/>
          </a:prstGeom>
        </p:spPr>
      </p:pic>
      <p:sp>
        <p:nvSpPr>
          <p:cNvPr id="4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27"/>
          <p:cNvSpPr/>
          <p:nvPr/>
        </p:nvSpPr>
        <p:spPr>
          <a:xfrm>
            <a:off x="6512372" y="23046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案例分析</a:t>
            </a:r>
            <a:endParaRPr lang="zh-CN" altLang="en-US" sz="24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" y="904240"/>
            <a:ext cx="9210675" cy="36664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63745"/>
            <a:ext cx="10386695" cy="2260600"/>
          </a:xfrm>
          <a:prstGeom prst="rect">
            <a:avLst/>
          </a:prstGeom>
        </p:spPr>
      </p:pic>
      <p:sp>
        <p:nvSpPr>
          <p:cNvPr id="7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9" name="TextBox 27"/>
          <p:cNvSpPr/>
          <p:nvPr/>
        </p:nvSpPr>
        <p:spPr>
          <a:xfrm>
            <a:off x="6512372" y="23046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案例分析</a:t>
            </a:r>
            <a:endParaRPr lang="zh-CN" altLang="en-US" sz="24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1001395"/>
            <a:ext cx="9420225" cy="5509260"/>
          </a:xfrm>
          <a:prstGeom prst="rect">
            <a:avLst/>
          </a:prstGeom>
        </p:spPr>
      </p:pic>
      <p:sp>
        <p:nvSpPr>
          <p:cNvPr id="5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6" name="TextBox 27"/>
          <p:cNvSpPr/>
          <p:nvPr/>
        </p:nvSpPr>
        <p:spPr>
          <a:xfrm>
            <a:off x="6512372" y="23046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案例分析</a:t>
            </a:r>
            <a:endParaRPr lang="zh-CN" altLang="en-US" sz="24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1386205"/>
            <a:ext cx="9194800" cy="5152390"/>
          </a:xfrm>
          <a:prstGeom prst="rect">
            <a:avLst/>
          </a:prstGeom>
        </p:spPr>
      </p:pic>
      <p:sp>
        <p:nvSpPr>
          <p:cNvPr id="5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6" name="TextBox 27"/>
          <p:cNvSpPr/>
          <p:nvPr/>
        </p:nvSpPr>
        <p:spPr>
          <a:xfrm>
            <a:off x="6512372" y="23046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案例分析</a:t>
            </a:r>
            <a:endParaRPr lang="zh-CN" altLang="en-US" sz="24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47625" y="168910"/>
            <a:ext cx="557149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11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扩展线性模型及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11" name="TextBox 1"/>
          <p:cNvSpPr/>
          <p:nvPr/>
        </p:nvSpPr>
        <p:spPr>
          <a:xfrm flipH="1">
            <a:off x="314643" y="2374265"/>
            <a:ext cx="8001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3200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程序与结果</a:t>
            </a:r>
          </a:p>
        </p:txBody>
      </p:sp>
      <p:sp>
        <p:nvSpPr>
          <p:cNvPr id="12" name="直接连接符 10"/>
          <p:cNvSpPr/>
          <p:nvPr/>
        </p:nvSpPr>
        <p:spPr>
          <a:xfrm>
            <a:off x="1242060" y="1357630"/>
            <a:ext cx="1270" cy="4951730"/>
          </a:xfrm>
          <a:prstGeom prst="line">
            <a:avLst/>
          </a:prstGeom>
          <a:ln w="22225" cap="flat" cmpd="sng">
            <a:solidFill>
              <a:srgbClr val="0174AB"/>
            </a:solidFill>
            <a:prstDash val="sysDot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715" y="831215"/>
            <a:ext cx="7200900" cy="5892800"/>
          </a:xfrm>
          <a:prstGeom prst="rect">
            <a:avLst/>
          </a:prstGeom>
        </p:spPr>
      </p:pic>
      <p:sp>
        <p:nvSpPr>
          <p:cNvPr id="5" name="右箭头 28"/>
          <p:cNvSpPr/>
          <p:nvPr/>
        </p:nvSpPr>
        <p:spPr>
          <a:xfrm>
            <a:off x="5432425" y="392430"/>
            <a:ext cx="504190" cy="16700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6" name="TextBox 27"/>
          <p:cNvSpPr/>
          <p:nvPr/>
        </p:nvSpPr>
        <p:spPr>
          <a:xfrm>
            <a:off x="6512372" y="230465"/>
            <a:ext cx="43300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案例分析</a:t>
            </a:r>
            <a:endParaRPr lang="zh-CN" altLang="en-US" sz="2400" b="1" dirty="0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矩形 2"/>
          <p:cNvSpPr>
            <a:spLocks noChangeArrowheads="1"/>
          </p:cNvSpPr>
          <p:nvPr/>
        </p:nvSpPr>
        <p:spPr bwMode="auto">
          <a:xfrm>
            <a:off x="5084898" y="3022243"/>
            <a:ext cx="272382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66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谢谢！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415e41f-0753-4007-a1c8-d5c5d89a709d"/>
  <p:tag name="COMMONDATA" val="eyJoZGlkIjoiZjZiNTVmYWQxZDAwNTY5YjQ0ZjYxYTE3OGU0OTdhO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模板网-WWW.1PPT.COM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模板网-WWW.1PPT.COM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694</Words>
  <Application>Microsoft Macintosh PowerPoint</Application>
  <PresentationFormat>宽屏</PresentationFormat>
  <Paragraphs>130</Paragraphs>
  <Slides>41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等线</vt:lpstr>
      <vt:lpstr>华文中宋</vt:lpstr>
      <vt:lpstr>隶书</vt:lpstr>
      <vt:lpstr>宋体</vt:lpstr>
      <vt:lpstr>微软雅黑</vt:lpstr>
      <vt:lpstr>Arial</vt:lpstr>
      <vt:lpstr>Calibri</vt:lpstr>
      <vt:lpstr>Times New Roman</vt:lpstr>
      <vt:lpstr>Wingdings</vt:lpstr>
      <vt:lpstr>第一PPT模板网-WWW.1PPT.COM</vt:lpstr>
      <vt:lpstr>1_第一PPT模板网-WWW.1PPT.COM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Course contributors</dc:creator>
  <cp:lastModifiedBy>Course contributors</cp:lastModifiedBy>
  <cp:revision>51</cp:revision>
  <dcterms:created xsi:type="dcterms:W3CDTF">2016-09-17T11:50:00Z</dcterms:created>
  <dcterms:modified xsi:type="dcterms:W3CDTF">2025-10-15T02:58:44Z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BF0F45D6D06146AF95D3D7426AEEFCB3_12</vt:lpwstr>
  </property>
</Properties>
</file>