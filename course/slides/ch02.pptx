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2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3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5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6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7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8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9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10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1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12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13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14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15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6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7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18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9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20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301" r:id="rId2"/>
    <p:sldId id="257" r:id="rId3"/>
    <p:sldId id="258" r:id="rId4"/>
    <p:sldId id="259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372" r:id="rId52"/>
    <p:sldId id="373" r:id="rId53"/>
    <p:sldId id="374" r:id="rId54"/>
    <p:sldId id="375" r:id="rId55"/>
    <p:sldId id="376" r:id="rId56"/>
    <p:sldId id="378" r:id="rId57"/>
    <p:sldId id="377" r:id="rId58"/>
    <p:sldId id="379" r:id="rId59"/>
    <p:sldId id="380" r:id="rId60"/>
    <p:sldId id="381" r:id="rId61"/>
  </p:sldIdLst>
  <p:sldSz cx="12192000" cy="6858000"/>
  <p:notesSz cx="7104063" cy="10234613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1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6.xml"/><Relationship Id="rId7" Type="http://schemas.openxmlformats.org/officeDocument/2006/relationships/image" Target="../media/image7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16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2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51.xml"/><Relationship Id="rId7" Type="http://schemas.openxmlformats.org/officeDocument/2006/relationships/image" Target="../media/image33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54.xml"/><Relationship Id="rId7" Type="http://schemas.openxmlformats.org/officeDocument/2006/relationships/image" Target="../media/image37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42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62.xml"/><Relationship Id="rId7" Type="http://schemas.openxmlformats.org/officeDocument/2006/relationships/image" Target="../media/image42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46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7.png"/><Relationship Id="rId5" Type="http://schemas.openxmlformats.org/officeDocument/2006/relationships/image" Target="../media/image44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49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8.png"/><Relationship Id="rId5" Type="http://schemas.openxmlformats.org/officeDocument/2006/relationships/image" Target="../media/image44.pn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74.xml"/><Relationship Id="rId7" Type="http://schemas.openxmlformats.org/officeDocument/2006/relationships/image" Target="../media/image52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58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6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67.png"/><Relationship Id="rId5" Type="http://schemas.openxmlformats.org/officeDocument/2006/relationships/image" Target="../media/image64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Relationship Id="rId4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image" Target="../media/image79.png"/><Relationship Id="rId4" Type="http://schemas.openxmlformats.org/officeDocument/2006/relationships/notesSlide" Target="../notesSlides/notesSlid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image" Target="../media/image80.png"/><Relationship Id="rId4" Type="http://schemas.openxmlformats.org/officeDocument/2006/relationships/notesSlide" Target="../notesSlides/notesSlid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5" Type="http://schemas.openxmlformats.org/officeDocument/2006/relationships/image" Target="../media/image82.png"/><Relationship Id="rId4" Type="http://schemas.openxmlformats.org/officeDocument/2006/relationships/notesSlide" Target="../notesSlides/notesSlide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115.xml"/><Relationship Id="rId7" Type="http://schemas.openxmlformats.org/officeDocument/2006/relationships/image" Target="../media/image83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9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85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8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tags" Target="../tags/tag122.xml"/><Relationship Id="rId7" Type="http://schemas.openxmlformats.org/officeDocument/2006/relationships/image" Target="../media/image87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8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89.png"/><Relationship Id="rId4" Type="http://schemas.openxmlformats.org/officeDocument/2006/relationships/notesSlide" Target="../notesSlides/notesSlide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tags" Target="../tags/tag127.xml"/><Relationship Id="rId7" Type="http://schemas.openxmlformats.org/officeDocument/2006/relationships/image" Target="../media/image90.pn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8.xml"/><Relationship Id="rId9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tags" Target="../tags/tag131.xml"/><Relationship Id="rId7" Type="http://schemas.openxmlformats.org/officeDocument/2006/relationships/image" Target="../media/image93.png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2.xml"/><Relationship Id="rId9" Type="http://schemas.openxmlformats.org/officeDocument/2006/relationships/image" Target="../media/image9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image" Target="../media/image96.png"/><Relationship Id="rId4" Type="http://schemas.openxmlformats.org/officeDocument/2006/relationships/notesSlide" Target="../notesSlides/notesSlide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5" Type="http://schemas.openxmlformats.org/officeDocument/2006/relationships/image" Target="../media/image97.png"/><Relationship Id="rId4" Type="http://schemas.openxmlformats.org/officeDocument/2006/relationships/notesSlide" Target="../notesSlides/notesSlide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5" Type="http://schemas.openxmlformats.org/officeDocument/2006/relationships/image" Target="../media/image98.png"/><Relationship Id="rId4" Type="http://schemas.openxmlformats.org/officeDocument/2006/relationships/notesSlide" Target="../notesSlides/notesSlide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99.png"/><Relationship Id="rId4" Type="http://schemas.openxmlformats.org/officeDocument/2006/relationships/notesSlide" Target="../notesSlides/notesSlide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notesSlide" Target="../notesSlides/notesSlide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notesSlide" Target="../notesSlides/notesSlide1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tags" Target="../tags/tag147.xml"/><Relationship Id="rId7" Type="http://schemas.openxmlformats.org/officeDocument/2006/relationships/image" Target="../media/image104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8.xml"/><Relationship Id="rId9" Type="http://schemas.openxmlformats.org/officeDocument/2006/relationships/image" Target="../media/image10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5" Type="http://schemas.openxmlformats.org/officeDocument/2006/relationships/image" Target="../media/image107.png"/><Relationship Id="rId4" Type="http://schemas.openxmlformats.org/officeDocument/2006/relationships/notesSlide" Target="../notesSlides/notesSlide19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tags" Target="../tags/tag153.xml"/><Relationship Id="rId7" Type="http://schemas.openxmlformats.org/officeDocument/2006/relationships/image" Target="../media/image109.pn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image" Target="../media/image108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5" Type="http://schemas.openxmlformats.org/officeDocument/2006/relationships/image" Target="../media/image111.png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/>
          </p:cNvSpPr>
          <p:nvPr>
            <p:ph type="subTitle"/>
          </p:nvPr>
        </p:nvSpPr>
        <p:spPr>
          <a:xfrm>
            <a:off x="3140075" y="4328160"/>
            <a:ext cx="6052185" cy="731520"/>
          </a:xfrm>
        </p:spPr>
        <p:txBody>
          <a:bodyPr wrap="square" anchor="t">
            <a:normAutofit/>
          </a:bodyPr>
          <a:lstStyle>
            <a:lvl1pPr lvl="0">
              <a:defRPr kern="1200"/>
            </a:lvl1pPr>
            <a:lvl2pPr lvl="1">
              <a:defRPr kern="1200"/>
            </a:lvl2pPr>
            <a:lvl3pPr lvl="2">
              <a:defRPr kern="1200"/>
            </a:lvl3pPr>
            <a:lvl4pPr lvl="3">
              <a:defRPr kern="1200"/>
            </a:lvl4pPr>
            <a:lvl5pPr lvl="4">
              <a:defRPr kern="1200"/>
            </a:lvl5pPr>
          </a:lstStyle>
          <a:p>
            <a:pPr marL="1905" lvl="0" indent="-344805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3200" b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第</a:t>
            </a:r>
            <a:r>
              <a:rPr lang="en-US" altLang="zh-CN" sz="3200" b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章 多元数据的 Python 处理</a:t>
            </a:r>
          </a:p>
          <a:p>
            <a:pPr marL="1905" lvl="0" indent="-1905">
              <a:lnSpc>
                <a:spcPct val="90000"/>
              </a:lnSpc>
              <a:spcBef>
                <a:spcPct val="50000"/>
              </a:spcBef>
            </a:pPr>
            <a:endParaRPr lang="zh-CN" altLang="en-US" sz="3600" b="1">
              <a:solidFill>
                <a:srgbClr val="3399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123" name="WordArt 10"/>
          <p:cNvSpPr>
            <a:spLocks noTextEdit="1"/>
          </p:cNvSpPr>
          <p:nvPr/>
        </p:nvSpPr>
        <p:spPr>
          <a:xfrm>
            <a:off x="2797810" y="4220845"/>
            <a:ext cx="7213600" cy="73787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endParaRPr lang="zh-CN" altLang="en-US" sz="3600" i="1">
              <a:noFill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4" name="矩形 7"/>
          <p:cNvSpPr/>
          <p:nvPr/>
        </p:nvSpPr>
        <p:spPr>
          <a:xfrm>
            <a:off x="2401570" y="2637155"/>
            <a:ext cx="76098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5pPr>
          </a:lstStyle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sz="4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sz="4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</a:p>
          <a:p>
            <a:pPr marL="0" lvl="0" indent="0" algn="ctr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1115C3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</a:p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1115C3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98120" y="179070"/>
            <a:ext cx="52006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5762625" y="168910"/>
            <a:ext cx="53854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 多元数据的数学表达及Python使用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295" y="1888490"/>
            <a:ext cx="5738495" cy="4856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8155" y="957580"/>
            <a:ext cx="5156200" cy="5888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" name="TextBox 28"/>
          <p:cNvSpPr/>
          <p:nvPr/>
        </p:nvSpPr>
        <p:spPr>
          <a:xfrm>
            <a:off x="153035" y="179070"/>
            <a:ext cx="50952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多元统计分析及</a:t>
            </a:r>
            <a:r>
              <a:rPr 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建模</a:t>
            </a:r>
          </a:p>
        </p:txBody>
      </p:sp>
      <p:sp>
        <p:nvSpPr>
          <p:cNvPr id="13" name="右箭头 12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580" y="1911985"/>
            <a:ext cx="11996420" cy="3801745"/>
          </a:xfrm>
          <a:prstGeom prst="rect">
            <a:avLst/>
          </a:prstGeom>
        </p:spPr>
      </p:pic>
      <p:sp>
        <p:nvSpPr>
          <p:cNvPr id="7" name="TextBox 28"/>
          <p:cNvSpPr/>
          <p:nvPr>
            <p:custDataLst>
              <p:tags r:id="rId2"/>
            </p:custDataLst>
          </p:nvPr>
        </p:nvSpPr>
        <p:spPr>
          <a:xfrm>
            <a:off x="5762625" y="168910"/>
            <a:ext cx="53854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4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 多元数据的数学表达及Python使用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7955" y="11531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2.1.1 Python 的数据类型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7955" y="1736725"/>
            <a:ext cx="11880000" cy="228531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955" y="4022090"/>
            <a:ext cx="11880000" cy="2558545"/>
          </a:xfrm>
          <a:prstGeom prst="rect">
            <a:avLst/>
          </a:prstGeom>
        </p:spPr>
      </p:pic>
      <p:sp>
        <p:nvSpPr>
          <p:cNvPr id="7" name="TextBox 28"/>
          <p:cNvSpPr/>
          <p:nvPr>
            <p:custDataLst>
              <p:tags r:id="rId3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2" name="TextBox 28"/>
          <p:cNvSpPr/>
          <p:nvPr>
            <p:custDataLst>
              <p:tags r:id="rId4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7955" y="11531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2.1.1 Python 的数据类型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7955" y="1932305"/>
            <a:ext cx="11880000" cy="4061701"/>
          </a:xfrm>
          <a:prstGeom prst="rect">
            <a:avLst/>
          </a:prstGeom>
        </p:spPr>
      </p:pic>
      <p:sp>
        <p:nvSpPr>
          <p:cNvPr id="7" name="TextBox 28"/>
          <p:cNvSpPr/>
          <p:nvPr>
            <p:custDataLst>
              <p:tags r:id="rId3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3" name="TextBox 28"/>
          <p:cNvSpPr/>
          <p:nvPr>
            <p:custDataLst>
              <p:tags r:id="rId4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7955" y="11531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2.1.1 Python 的数据类型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25" y="1736725"/>
            <a:ext cx="11880000" cy="1068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7955" y="3085465"/>
            <a:ext cx="11880000" cy="2071868"/>
          </a:xfrm>
          <a:prstGeom prst="rect">
            <a:avLst/>
          </a:prstGeom>
        </p:spPr>
      </p:pic>
      <p:sp>
        <p:nvSpPr>
          <p:cNvPr id="2" name="TextBox 28"/>
          <p:cNvSpPr/>
          <p:nvPr>
            <p:custDataLst>
              <p:tags r:id="rId4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9" name="TextBox 28"/>
          <p:cNvSpPr/>
          <p:nvPr>
            <p:custDataLst>
              <p:tags r:id="rId5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Python 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59120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7955" y="11531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2.1.1 Python 的数据类型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7955" y="1663700"/>
            <a:ext cx="11880000" cy="30272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" y="4690745"/>
            <a:ext cx="11880000" cy="2063571"/>
          </a:xfrm>
          <a:prstGeom prst="rect">
            <a:avLst/>
          </a:prstGeom>
        </p:spPr>
      </p:pic>
      <p:sp>
        <p:nvSpPr>
          <p:cNvPr id="7" name="TextBox 28"/>
          <p:cNvSpPr/>
          <p:nvPr>
            <p:custDataLst>
              <p:tags r:id="rId3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9" name="TextBox 28"/>
          <p:cNvSpPr/>
          <p:nvPr>
            <p:custDataLst>
              <p:tags r:id="rId4"/>
            </p:custDataLst>
          </p:nvPr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7955" y="2190115"/>
            <a:ext cx="11880000" cy="3541792"/>
          </a:xfrm>
          <a:prstGeom prst="rect">
            <a:avLst/>
          </a:prstGeom>
        </p:spPr>
      </p:pic>
      <p:sp>
        <p:nvSpPr>
          <p:cNvPr id="7" name="TextBox 28"/>
          <p:cNvSpPr/>
          <p:nvPr>
            <p:custDataLst>
              <p:tags r:id="rId2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3370" y="12954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（3）字符型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47955" y="11531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2.1.1 Python 的数据类型</a:t>
            </a:r>
          </a:p>
        </p:txBody>
      </p:sp>
      <p:sp>
        <p:nvSpPr>
          <p:cNvPr id="7" name="TextBox 28"/>
          <p:cNvSpPr/>
          <p:nvPr>
            <p:custDataLst>
              <p:tags r:id="rId2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8125" y="1860550"/>
            <a:ext cx="11880000" cy="215312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955" y="4060190"/>
            <a:ext cx="11880000" cy="26726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7955" y="1736725"/>
            <a:ext cx="11880000" cy="8687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70" y="5662930"/>
            <a:ext cx="11880000" cy="11752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670" y="2605405"/>
            <a:ext cx="11880000" cy="3196943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147955" y="11531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）列表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023620"/>
            <a:ext cx="11880000" cy="257683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46525"/>
            <a:ext cx="11880000" cy="2095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3720" y="1595755"/>
            <a:ext cx="10080000" cy="5212711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47955" y="11531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）字典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0" y="10331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2.1.2 运算符及控制语句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692275"/>
            <a:ext cx="7200000" cy="111461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2959735"/>
            <a:ext cx="3761105" cy="35223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7485" y="3623945"/>
            <a:ext cx="8110855" cy="1975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3025" y="1075690"/>
            <a:ext cx="11776075" cy="30105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315" y="4989830"/>
            <a:ext cx="5400000" cy="127614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10" y="4436110"/>
            <a:ext cx="565785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0" y="10331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2.1.3 Python 函数的使用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5100" y="1940560"/>
            <a:ext cx="11880000" cy="140488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" y="3625215"/>
            <a:ext cx="11880000" cy="26840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127125"/>
            <a:ext cx="11880000" cy="140488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" y="2531745"/>
            <a:ext cx="11880000" cy="1946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" y="4602480"/>
            <a:ext cx="11880000" cy="1493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1275" y="1103630"/>
            <a:ext cx="2775835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96565" y="1040765"/>
            <a:ext cx="8178800" cy="57823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9060" y="1153160"/>
            <a:ext cx="2775835" cy="54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060" y="1638300"/>
            <a:ext cx="11880000" cy="8896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30" y="3091815"/>
            <a:ext cx="5878576" cy="18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5845" y="3146425"/>
            <a:ext cx="372579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grpSp>
        <p:nvGrpSpPr>
          <p:cNvPr id="8201" name="组合 5"/>
          <p:cNvGrpSpPr/>
          <p:nvPr/>
        </p:nvGrpSpPr>
        <p:grpSpPr>
          <a:xfrm>
            <a:off x="3709988" y="1989138"/>
            <a:ext cx="4662487" cy="2650363"/>
            <a:chOff x="0" y="0"/>
            <a:chExt cx="4662264" cy="2650025"/>
          </a:xfrm>
        </p:grpSpPr>
        <p:sp>
          <p:nvSpPr>
            <p:cNvPr id="8202" name="矩形 2"/>
            <p:cNvSpPr/>
            <p:nvPr/>
          </p:nvSpPr>
          <p:spPr>
            <a:xfrm>
              <a:off x="0" y="0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3" name="矩形 3"/>
            <p:cNvSpPr/>
            <p:nvPr/>
          </p:nvSpPr>
          <p:spPr>
            <a:xfrm>
              <a:off x="90264" y="978495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342900" lvl="0" indent="-34290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04" name="矩形 4"/>
            <p:cNvSpPr/>
            <p:nvPr/>
          </p:nvSpPr>
          <p:spPr>
            <a:xfrm>
              <a:off x="72008" y="2232248"/>
              <a:ext cx="4572000" cy="41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just">
                <a:lnSpc>
                  <a:spcPct val="100000"/>
                </a:lnSpc>
              </a:pPr>
              <a:endParaRPr sz="20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153160"/>
            <a:ext cx="3173400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79015" y="1692910"/>
            <a:ext cx="7200000" cy="1607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4260" y="3460750"/>
            <a:ext cx="7200000" cy="135570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4260" y="4977130"/>
            <a:ext cx="7200000" cy="1294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3025" y="1346200"/>
            <a:ext cx="11880000" cy="367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090295"/>
            <a:ext cx="2390667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1615" y="1562735"/>
            <a:ext cx="5400000" cy="120807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" y="3117215"/>
            <a:ext cx="11880000" cy="2950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2.1 Python 的编程基础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090295"/>
            <a:ext cx="2390667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1615" y="1562735"/>
            <a:ext cx="5400000" cy="120807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" y="2961640"/>
            <a:ext cx="11880000" cy="295055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575" y="6000115"/>
            <a:ext cx="11880000" cy="7732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2.2 Python 数值分析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090295"/>
            <a:ext cx="5310667" cy="54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5575" y="1630045"/>
            <a:ext cx="11880000" cy="157366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" y="3367405"/>
            <a:ext cx="11880000" cy="2037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2.2 Python 数值分析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090295"/>
            <a:ext cx="5310667" cy="540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025" y="1762760"/>
            <a:ext cx="11880000" cy="46311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2.2 Python 数值分析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090295"/>
            <a:ext cx="5310667" cy="54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510665"/>
            <a:ext cx="11880000" cy="13975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5550" y="2962910"/>
            <a:ext cx="7200000" cy="3842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2.2 Python 数值分析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6714" t="21924" b="-637"/>
          <a:stretch>
            <a:fillRect/>
          </a:stretch>
        </p:blipFill>
        <p:spPr>
          <a:xfrm>
            <a:off x="0" y="1635760"/>
            <a:ext cx="7042785" cy="20847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3914140"/>
            <a:ext cx="4320000" cy="26930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3730" y="986790"/>
            <a:ext cx="4402791" cy="360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6430" y="3642360"/>
            <a:ext cx="3972560" cy="32010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1013460"/>
            <a:ext cx="5337692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2.3 多元数据的收集和整理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3025" y="1199515"/>
            <a:ext cx="11880000" cy="4452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2.3 多元数据的收集和整理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95550" y="1090295"/>
            <a:ext cx="7200000" cy="24952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65" y="4237355"/>
            <a:ext cx="11444605" cy="2080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25" y="1090295"/>
            <a:ext cx="2884320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2.3 多元数据的收集和整理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0510" y="1123315"/>
            <a:ext cx="11673205" cy="22625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45" y="3765550"/>
            <a:ext cx="11880000" cy="2514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2.3 多元数据的收集和整理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2455" y="1012190"/>
            <a:ext cx="7920000" cy="440160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62455" y="5375275"/>
            <a:ext cx="7920000" cy="148254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2.3 多元数据的收集和整理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530" y="1358265"/>
            <a:ext cx="5887782" cy="5040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6680" y="1269365"/>
            <a:ext cx="589597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目前从数据管理和编辑方便来说，最好的软件应该是微软的 Excel，大量的数据可以在一个 Excel 工作薄中保存，所以本书采用该方法来管理和编辑数据。下图是保存该例子的Excel 工作薄（文件名为 mvsData.xlsx，表 d21 中为原始数据）。</a:t>
            </a:r>
          </a:p>
          <a:p>
            <a:pPr>
              <a:lnSpc>
                <a:spcPct val="150000"/>
              </a:lnSpc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为了简化分析，下面的分析只考虑：性别、年龄、资金规模、风险意识、是否专兼职和投资结果共六个变量进行分析，其中性别、风险意识、是否专兼职和投资结果为定性变量，年龄和资金规模为定量变量。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013460"/>
            <a:ext cx="11880000" cy="19560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2872105"/>
            <a:ext cx="11880000" cy="12974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025" y="3721100"/>
            <a:ext cx="5580000" cy="3082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t="-2857" r="74440" b="80779"/>
          <a:stretch>
            <a:fillRect/>
          </a:stretch>
        </p:blipFill>
        <p:spPr>
          <a:xfrm>
            <a:off x="0" y="987425"/>
            <a:ext cx="3036570" cy="431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98800" y="1033780"/>
            <a:ext cx="4094787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090295"/>
            <a:ext cx="11880000" cy="351433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" y="4666615"/>
            <a:ext cx="11880000" cy="1791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42875" y="1346200"/>
            <a:ext cx="677164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从电子表格读取</a:t>
            </a: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前面我们说过，最好的数据管理和编辑软件是 ExcelWPS）类电子表格，多个数据可以保存在一个电子表格的数据表（sheet）中，如果想直接读取 Excel 中的多个表格，可用pandas 的 read_excel 函数。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00" y="1090295"/>
            <a:ext cx="5400000" cy="352883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4845050"/>
            <a:ext cx="10800000" cy="1594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3755" y="1035685"/>
            <a:ext cx="10080000" cy="548497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3415" y="1153160"/>
            <a:ext cx="10440000" cy="537872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575" y="1021715"/>
            <a:ext cx="11880000" cy="561935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575" y="1464945"/>
            <a:ext cx="11880000" cy="406267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013460"/>
            <a:ext cx="11880000" cy="18598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" y="3071495"/>
            <a:ext cx="5400000" cy="30715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655" y="3071495"/>
            <a:ext cx="6120000" cy="29437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5575" y="1407160"/>
            <a:ext cx="11880000" cy="404449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2.4 Python 的数据框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3710" y="1090295"/>
            <a:ext cx="10800000" cy="547624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463675"/>
            <a:ext cx="11880000" cy="365704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b="2944"/>
          <a:stretch>
            <a:fillRect/>
          </a:stretch>
        </p:blipFill>
        <p:spPr>
          <a:xfrm>
            <a:off x="1055370" y="1090295"/>
            <a:ext cx="10079990" cy="54432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03315" y="1153160"/>
            <a:ext cx="5760000" cy="55707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7795" y="2350770"/>
            <a:ext cx="5760000" cy="215701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 t="-538" r="70741" b="87151"/>
          <a:stretch>
            <a:fillRect/>
          </a:stretch>
        </p:blipFill>
        <p:spPr>
          <a:xfrm>
            <a:off x="73025" y="1153160"/>
            <a:ext cx="3475990" cy="48958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t="-538" r="70741" b="87151"/>
          <a:stretch>
            <a:fillRect/>
          </a:stretch>
        </p:blipFill>
        <p:spPr>
          <a:xfrm>
            <a:off x="73025" y="1153160"/>
            <a:ext cx="3475990" cy="4895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549015" y="1090295"/>
            <a:ext cx="7060864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043940"/>
            <a:ext cx="3784529" cy="14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7420" y="2484120"/>
            <a:ext cx="5083428" cy="180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2010" y="1261110"/>
            <a:ext cx="5953733" cy="43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5575" y="1153160"/>
            <a:ext cx="11880000" cy="53115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-50165" y="1437640"/>
            <a:ext cx="6139180" cy="2413635"/>
          </a:xfrm>
          <a:prstGeom prst="rect">
            <a:avLst/>
          </a:prstGeom>
        </p:spPr>
      </p:pic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5800090" y="1383665"/>
            <a:ext cx="6337935" cy="4837430"/>
            <a:chOff x="9990" y="2614"/>
            <a:chExt cx="6338" cy="4837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9990" y="2614"/>
              <a:ext cx="6338" cy="9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990" y="3537"/>
              <a:ext cx="5783" cy="391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25" y="1153160"/>
            <a:ext cx="6120000" cy="51136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125845" y="1153160"/>
            <a:ext cx="6120130" cy="5418455"/>
            <a:chOff x="9647" y="1816"/>
            <a:chExt cx="9638" cy="8533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9647" y="1816"/>
              <a:ext cx="9638" cy="589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0934" y="2321"/>
              <a:ext cx="6803" cy="802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63520" y="1090295"/>
            <a:ext cx="6665108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294130"/>
            <a:ext cx="11880000" cy="456912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214755"/>
            <a:ext cx="11880000" cy="470876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022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2.5 Python 数据框的分析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1970" y="1090295"/>
            <a:ext cx="10800000" cy="567829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619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2：</a:t>
            </a: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多元数据的基本统计分析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25" y="1090295"/>
            <a:ext cx="11880000" cy="34862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480" y="1090295"/>
            <a:ext cx="6697959" cy="5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619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2：</a:t>
            </a: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多元数据的基本统计分析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8125" y="1090295"/>
            <a:ext cx="6388732" cy="108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0225" y="2163445"/>
            <a:ext cx="6489788" cy="46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619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2：</a:t>
            </a: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多元数据的基本统计分析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15" y="1090295"/>
            <a:ext cx="6120000" cy="5337324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071870" y="1035050"/>
            <a:ext cx="6120130" cy="4180840"/>
            <a:chOff x="9513" y="1717"/>
            <a:chExt cx="9638" cy="6584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0021" y="1717"/>
              <a:ext cx="2403" cy="56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13" y="2493"/>
              <a:ext cx="9638" cy="580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619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2：</a:t>
            </a: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多元数据的基本统计分析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36875" y="1019810"/>
            <a:ext cx="6318143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619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2：</a:t>
            </a: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多元数据的基本统计分析</a:t>
            </a: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5715" y="1007745"/>
            <a:ext cx="6120000" cy="5768482"/>
            <a:chOff x="0" y="1717"/>
            <a:chExt cx="7173" cy="6761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0" y="1717"/>
              <a:ext cx="2853" cy="56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15" y="2284"/>
              <a:ext cx="7058" cy="6195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755" y="1090295"/>
            <a:ext cx="6120000" cy="5686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390525" y="168910"/>
            <a:ext cx="59023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 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altLang="zh-CN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处理</a:t>
            </a:r>
          </a:p>
        </p:txBody>
      </p:sp>
      <p:sp>
        <p:nvSpPr>
          <p:cNvPr id="4" name="直接连接符 29"/>
          <p:cNvSpPr/>
          <p:nvPr/>
        </p:nvSpPr>
        <p:spPr>
          <a:xfrm flipV="1">
            <a:off x="72708" y="948055"/>
            <a:ext cx="12045600" cy="9525"/>
          </a:xfrm>
          <a:prstGeom prst="line">
            <a:avLst/>
          </a:prstGeom>
          <a:ln w="136525" cap="sq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562165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28"/>
          <p:cNvSpPr/>
          <p:nvPr>
            <p:custDataLst>
              <p:tags r:id="rId1"/>
            </p:custDataLst>
          </p:nvPr>
        </p:nvSpPr>
        <p:spPr>
          <a:xfrm>
            <a:off x="6125845" y="168910"/>
            <a:ext cx="56197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lnSpc>
                <a:spcPct val="100000"/>
              </a:lnSpc>
            </a:pPr>
            <a:r>
              <a:rPr sz="28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案例 2：</a:t>
            </a:r>
            <a:r>
              <a:rPr sz="2400" b="1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多元数据的基本统计分析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55215" y="1090295"/>
            <a:ext cx="7480117" cy="576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ZiNTVmYWQxZDAwNTY5YjQ0ZjYxYTE3OGU0OTdhODEifQ=="/>
  <p:tag name="KSO_WPP_MARK_KEY" val="eae10b68-5263-4832-a06d-44cbe39ca68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672</Words>
  <Application>Microsoft Macintosh PowerPoint</Application>
  <PresentationFormat>宽屏</PresentationFormat>
  <Paragraphs>137</Paragraphs>
  <Slides>60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6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Course contributors</dc:creator>
  <cp:lastModifiedBy>Course contributors</cp:lastModifiedBy>
  <cp:revision>43</cp:revision>
  <dcterms:created xsi:type="dcterms:W3CDTF">2016-09-17T12:57:00Z</dcterms:created>
  <dcterms:modified xsi:type="dcterms:W3CDTF">2025-02-24T04:54:35Z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0D2A9005055E4F5185A4DC606E56EF25_12</vt:lpwstr>
  </property>
</Properties>
</file>