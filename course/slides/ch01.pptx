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1" r:id="rId3"/>
    <p:sldMasterId id="2147483683" r:id="rId4"/>
  </p:sldMasterIdLst>
  <p:notesMasterIdLst>
    <p:notesMasterId r:id="rId19"/>
  </p:notesMasterIdLst>
  <p:sldIdLst>
    <p:sldId id="297" r:id="rId5"/>
    <p:sldId id="388" r:id="rId6"/>
    <p:sldId id="331" r:id="rId7"/>
    <p:sldId id="369" r:id="rId8"/>
    <p:sldId id="370" r:id="rId9"/>
    <p:sldId id="371" r:id="rId10"/>
    <p:sldId id="383" r:id="rId11"/>
    <p:sldId id="382" r:id="rId12"/>
    <p:sldId id="384" r:id="rId13"/>
    <p:sldId id="385" r:id="rId14"/>
    <p:sldId id="402" r:id="rId15"/>
    <p:sldId id="403" r:id="rId16"/>
    <p:sldId id="404" r:id="rId17"/>
    <p:sldId id="405" r:id="rId18"/>
  </p:sldIdLst>
  <p:sldSz cx="12192000" cy="6858000"/>
  <p:notesSz cx="9777413" cy="6646863"/>
  <p:custDataLst>
    <p:tags r:id="rId20"/>
  </p:custDataLst>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521415D9-36F7-43E2-AB2F-B90AF26B5E84}">
      <p14:sectionLst xmlns:p14="http://schemas.microsoft.com/office/powerpoint/2010/main">
        <p14:section name="默认节" id="{33DF3B17-A065-47B3-A172-DC5982F3E9F4}">
          <p14:sldIdLst>
            <p14:sldId id="297"/>
            <p14:sldId id="388"/>
            <p14:sldId id="331"/>
            <p14:sldId id="369"/>
            <p14:sldId id="370"/>
            <p14:sldId id="371"/>
            <p14:sldId id="383"/>
            <p14:sldId id="382"/>
            <p14:sldId id="384"/>
            <p14:sldId id="385"/>
            <p14:sldId id="402"/>
            <p14:sldId id="403"/>
            <p14:sldId id="404"/>
            <p14:sldId id="405"/>
          </p14:sldIdLst>
        </p14:section>
        <p14:section name="无标题节" id="{33F6ABA1-F5C6-4F78-97CC-498E8A87B3A1}">
          <p14:sldIdLst/>
        </p14:section>
      </p14:sectionLst>
    </p:ext>
    <p:ext uri="{EFAFB233-063F-42B5-8137-9DF3F51BA10A}">
      <p15:sldGuideLst xmlns:p15="http://schemas.microsoft.com/office/powerpoint/2012/main">
        <p15:guide id="1" orient="horz" pos="2183" userDrawn="1">
          <p15:clr>
            <a:srgbClr val="A4A3A4"/>
          </p15:clr>
        </p15:guide>
        <p15:guide id="2" pos="39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EC"/>
    <a:srgbClr val="3399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howGuides="1">
      <p:cViewPr varScale="1">
        <p:scale>
          <a:sx n="120" d="100"/>
          <a:sy n="120" d="100"/>
        </p:scale>
        <p:origin x="800" y="184"/>
      </p:cViewPr>
      <p:guideLst>
        <p:guide orient="horz" pos="2183"/>
        <p:guide pos="3956"/>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0A6DDB0-6FE7-5449-D05D-8B0692888316}"/>
              </a:ext>
            </a:extLst>
          </p:cNvPr>
          <p:cNvSpPr>
            <a:spLocks noGrp="1"/>
          </p:cNvSpPr>
          <p:nvPr>
            <p:ph type="hdr" sz="quarter"/>
          </p:nvPr>
        </p:nvSpPr>
        <p:spPr>
          <a:xfrm>
            <a:off x="0" y="0"/>
            <a:ext cx="4237038" cy="333375"/>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79E9467B-9C63-A966-FF41-8616D3A89AFB}"/>
              </a:ext>
            </a:extLst>
          </p:cNvPr>
          <p:cNvSpPr>
            <a:spLocks noGrp="1"/>
          </p:cNvSpPr>
          <p:nvPr>
            <p:ph type="dt" idx="1"/>
          </p:nvPr>
        </p:nvSpPr>
        <p:spPr>
          <a:xfrm>
            <a:off x="5538788" y="0"/>
            <a:ext cx="4237037" cy="333375"/>
          </a:xfrm>
          <a:prstGeom prst="rect">
            <a:avLst/>
          </a:prstGeom>
        </p:spPr>
        <p:txBody>
          <a:bodyPr vert="horz" lIns="91440" tIns="45720" rIns="91440" bIns="45720" rtlCol="0"/>
          <a:lstStyle>
            <a:lvl1pPr algn="r">
              <a:defRPr sz="1200"/>
            </a:lvl1pPr>
          </a:lstStyle>
          <a:p>
            <a:fld id="{C9A0B14E-DFEB-AF46-AAEA-6182DAD5F240}" type="datetimeFigureOut">
              <a:rPr kumimoji="1" lang="zh-CN" altLang="en-US" smtClean="0"/>
              <a:t>2025/2/12</a:t>
            </a:fld>
            <a:endParaRPr kumimoji="1" lang="zh-CN" altLang="en-US"/>
          </a:p>
        </p:txBody>
      </p:sp>
      <p:sp>
        <p:nvSpPr>
          <p:cNvPr id="4" name="幻灯片图像占位符 3">
            <a:extLst>
              <a:ext uri="{FF2B5EF4-FFF2-40B4-BE49-F238E27FC236}">
                <a16:creationId xmlns:a16="http://schemas.microsoft.com/office/drawing/2014/main" id="{D77B349A-D198-0E89-9DAB-D706ED035BC7}"/>
              </a:ext>
            </a:extLst>
          </p:cNvPr>
          <p:cNvSpPr>
            <a:spLocks noGrp="1" noRot="1" noChangeAspect="1"/>
          </p:cNvSpPr>
          <p:nvPr>
            <p:ph type="sldImg" idx="2"/>
          </p:nvPr>
        </p:nvSpPr>
        <p:spPr>
          <a:xfrm>
            <a:off x="2894013" y="830263"/>
            <a:ext cx="3989387" cy="22431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a:extLst>
              <a:ext uri="{FF2B5EF4-FFF2-40B4-BE49-F238E27FC236}">
                <a16:creationId xmlns:a16="http://schemas.microsoft.com/office/drawing/2014/main" id="{8BF44C03-C846-A918-FA2E-324F5DAFB35A}"/>
              </a:ext>
            </a:extLst>
          </p:cNvPr>
          <p:cNvSpPr>
            <a:spLocks noGrp="1"/>
          </p:cNvSpPr>
          <p:nvPr>
            <p:ph type="body" sz="quarter" idx="3"/>
          </p:nvPr>
        </p:nvSpPr>
        <p:spPr>
          <a:xfrm>
            <a:off x="977900" y="3198813"/>
            <a:ext cx="7821613" cy="2617787"/>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a:extLst>
              <a:ext uri="{FF2B5EF4-FFF2-40B4-BE49-F238E27FC236}">
                <a16:creationId xmlns:a16="http://schemas.microsoft.com/office/drawing/2014/main" id="{4BE1D697-E8D8-FC9C-BABF-7FB04428BA2B}"/>
              </a:ext>
            </a:extLst>
          </p:cNvPr>
          <p:cNvSpPr>
            <a:spLocks noGrp="1"/>
          </p:cNvSpPr>
          <p:nvPr>
            <p:ph type="ftr" sz="quarter" idx="4"/>
          </p:nvPr>
        </p:nvSpPr>
        <p:spPr>
          <a:xfrm>
            <a:off x="0" y="6313488"/>
            <a:ext cx="4237038" cy="333375"/>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a:extLst>
              <a:ext uri="{FF2B5EF4-FFF2-40B4-BE49-F238E27FC236}">
                <a16:creationId xmlns:a16="http://schemas.microsoft.com/office/drawing/2014/main" id="{26F3895B-B8CE-FEEB-3473-008AB9369F77}"/>
              </a:ext>
            </a:extLst>
          </p:cNvPr>
          <p:cNvSpPr>
            <a:spLocks noGrp="1"/>
          </p:cNvSpPr>
          <p:nvPr>
            <p:ph type="sldNum" sz="quarter" idx="5"/>
          </p:nvPr>
        </p:nvSpPr>
        <p:spPr>
          <a:xfrm>
            <a:off x="5538788" y="6313488"/>
            <a:ext cx="4237037" cy="333375"/>
          </a:xfrm>
          <a:prstGeom prst="rect">
            <a:avLst/>
          </a:prstGeom>
        </p:spPr>
        <p:txBody>
          <a:bodyPr vert="horz" lIns="91440" tIns="45720" rIns="91440" bIns="45720" rtlCol="0" anchor="b"/>
          <a:lstStyle>
            <a:lvl1pPr algn="r">
              <a:defRPr sz="1200"/>
            </a:lvl1pPr>
          </a:lstStyle>
          <a:p>
            <a:fld id="{81A29C88-776B-9443-96B0-6FE08B06E8E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r>
              <a:rPr lang="en-US" altLang="zh-CN" sz="4000">
                <a:solidFill>
                  <a:srgbClr val="FF0000"/>
                </a:solidFill>
              </a:rPr>
              <a:t>plot(1:100)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2025/2/12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2025/2/12</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1027"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2025/2/12</a:t>
            </a:fld>
            <a:endParaRPr lang="zh-CN" altLang="en-US" dirty="0"/>
          </a:p>
        </p:txBody>
      </p:sp>
      <p:sp>
        <p:nvSpPr>
          <p:cNvPr id="1029"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1030"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t>2025/2/12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2051"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2025/2/12</a:t>
            </a:fld>
            <a:endParaRPr lang="zh-CN" altLang="en-US" dirty="0"/>
          </a:p>
        </p:txBody>
      </p:sp>
      <p:sp>
        <p:nvSpPr>
          <p:cNvPr id="2053"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2054"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3075"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2025/2/12</a:t>
            </a:fld>
            <a:endParaRPr lang="zh-CN" altLang="en-US" dirty="0"/>
          </a:p>
        </p:txBody>
      </p:sp>
      <p:sp>
        <p:nvSpPr>
          <p:cNvPr id="3077"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3078"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8.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8.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11.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0.png"/><Relationship Id="rId5" Type="http://schemas.openxmlformats.org/officeDocument/2006/relationships/notesSlide" Target="../notesSlides/notesSlide11.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3.xml"/><Relationship Id="rId7" Type="http://schemas.openxmlformats.org/officeDocument/2006/relationships/image" Target="../media/image13.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2.png"/><Relationship Id="rId5" Type="http://schemas.openxmlformats.org/officeDocument/2006/relationships/notesSlide" Target="../notesSlides/notesSlide12.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16.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5.png"/><Relationship Id="rId5" Type="http://schemas.openxmlformats.org/officeDocument/2006/relationships/notesSlide" Target="../notesSlides/notesSlide13.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7.png"/><Relationship Id="rId5" Type="http://schemas.openxmlformats.org/officeDocument/2006/relationships/notesSlide" Target="../notesSlides/notesSlide14.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ECF40">
                <a:alpha val="20000"/>
              </a:srgbClr>
            </a:gs>
            <a:gs pos="100000">
              <a:srgbClr val="846C21"/>
            </a:gs>
          </a:gsLst>
          <a:lin ang="5400000" scaled="0"/>
        </a:gradFill>
        <a:effectLst/>
      </p:bgPr>
    </p:bg>
    <p:spTree>
      <p:nvGrpSpPr>
        <p:cNvPr id="1" name=""/>
        <p:cNvGrpSpPr/>
        <p:nvPr/>
      </p:nvGrpSpPr>
      <p:grpSpPr>
        <a:xfrm>
          <a:off x="0" y="0"/>
          <a:ext cx="0" cy="0"/>
          <a:chOff x="0" y="0"/>
          <a:chExt cx="0" cy="0"/>
        </a:xfrm>
      </p:grpSpPr>
      <p:sp>
        <p:nvSpPr>
          <p:cNvPr id="5122" name="Rectangle 9"/>
          <p:cNvSpPr>
            <a:spLocks noGrp="1"/>
          </p:cNvSpPr>
          <p:nvPr>
            <p:ph type="subTitle"/>
          </p:nvPr>
        </p:nvSpPr>
        <p:spPr>
          <a:xfrm>
            <a:off x="3250565" y="4175125"/>
            <a:ext cx="6098540" cy="630555"/>
          </a:xfrm>
        </p:spPr>
        <p:txBody>
          <a:bodyPr wrap="square" anchor="t">
            <a:noAutofit/>
          </a:bodyPr>
          <a:lstStyle>
            <a:lvl1pPr lvl="0">
              <a:defRPr kern="1200"/>
            </a:lvl1pPr>
            <a:lvl2pPr lvl="1">
              <a:defRPr kern="1200"/>
            </a:lvl2pPr>
            <a:lvl3pPr lvl="2">
              <a:defRPr kern="1200"/>
            </a:lvl3pPr>
            <a:lvl4pPr lvl="3">
              <a:defRPr kern="1200"/>
            </a:lvl4pPr>
            <a:lvl5pPr lvl="4">
              <a:defRPr kern="1200"/>
            </a:lvl5pPr>
          </a:lstStyle>
          <a:p>
            <a:pPr marL="1905" lvl="0" indent="-344805">
              <a:lnSpc>
                <a:spcPct val="90000"/>
              </a:lnSpc>
              <a:spcBef>
                <a:spcPct val="50000"/>
              </a:spcBef>
              <a:buNone/>
            </a:pPr>
            <a:r>
              <a:rPr lang="zh-CN" altLang="en-US" b="1">
                <a:solidFill>
                  <a:srgbClr val="3399FF"/>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b="1">
                <a:solidFill>
                  <a:srgbClr val="3399FF"/>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1</a:t>
            </a:r>
            <a:r>
              <a:rPr lang="zh-CN" altLang="en-US" b="1">
                <a:solidFill>
                  <a:srgbClr val="3399FF"/>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多元统计分析及软件概述</a:t>
            </a:r>
          </a:p>
          <a:p>
            <a:pPr marL="1905" lvl="0" indent="-1905">
              <a:lnSpc>
                <a:spcPct val="90000"/>
              </a:lnSpc>
              <a:spcBef>
                <a:spcPct val="50000"/>
              </a:spcBef>
            </a:pPr>
            <a:endParaRPr lang="zh-CN" altLang="en-US" b="1">
              <a:solidFill>
                <a:srgbClr val="3399FF"/>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124" name="矩形 7"/>
          <p:cNvSpPr/>
          <p:nvPr/>
        </p:nvSpPr>
        <p:spPr>
          <a:xfrm>
            <a:off x="2567940" y="2708910"/>
            <a:ext cx="7632700" cy="1260475"/>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44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 </a:t>
            </a:r>
            <a:endParaRPr lang="zh-CN" altLang="en-US"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endParaRPr>
          </a:p>
          <a:p>
            <a:pPr marL="0" lvl="0" indent="0" defTabSz="914400">
              <a:spcBef>
                <a:spcPct val="0"/>
              </a:spcBef>
              <a:buFont typeface="Arial" panose="020B0604020202020204" pitchFamily="34" charset="0"/>
              <a:buNone/>
            </a:pPr>
            <a:endParaRPr lang="zh-CN" altLang="en-US"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126" name="灯片编号占位符 1"/>
          <p:cNvSpPr txBox="1">
            <a:spLocks noGrp="1"/>
          </p:cNvSpPr>
          <p:nvPr/>
        </p:nvSpPr>
        <p:spPr>
          <a:xfrm>
            <a:off x="9767888" y="6597650"/>
            <a:ext cx="647700" cy="196850"/>
          </a:xfrm>
          <a:prstGeom prst="rect">
            <a:avLst/>
          </a:prstGeom>
          <a:noFill/>
          <a:ln w="9525">
            <a:noFill/>
          </a:ln>
        </p:spPr>
        <p: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en-US" altLang="x-none" sz="1000" b="1" i="1" dirty="0"/>
              <a:t>-</a:t>
            </a:r>
            <a:r>
              <a:rPr lang="zh-CN" altLang="en-US" sz="1000" b="1" i="1" dirty="0"/>
              <a:t> </a:t>
            </a:r>
            <a:fld id="{9A0DB2DC-4C9A-4742-B13C-FB6460FD3503}" type="slidenum">
              <a:rPr lang="zh-CN" altLang="en-US" sz="1000" b="1" i="1" dirty="0"/>
              <a:t>1</a:t>
            </a:fld>
            <a:r>
              <a:rPr lang="en-US" altLang="x-none" sz="1000" b="1" i="1" dirty="0"/>
              <a:t>-</a:t>
            </a:r>
            <a:endParaRPr lang="en-US" altLang="x-none" sz="1800" i="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91000"/>
          </a:schemeClr>
        </a:solidFill>
        <a:effectLst/>
      </p:bgPr>
    </p:bg>
    <p:spTree>
      <p:nvGrpSpPr>
        <p:cNvPr id="1" name=""/>
        <p:cNvGrpSpPr/>
        <p:nvPr/>
      </p:nvGrpSpPr>
      <p:grpSpPr>
        <a:xfrm>
          <a:off x="0" y="0"/>
          <a:ext cx="0" cy="0"/>
          <a:chOff x="0" y="0"/>
          <a:chExt cx="0" cy="0"/>
        </a:xfrm>
      </p:grpSpPr>
      <p:sp>
        <p:nvSpPr>
          <p:cNvPr id="8195" name="TextBox 28"/>
          <p:cNvSpPr/>
          <p:nvPr/>
        </p:nvSpPr>
        <p:spPr>
          <a:xfrm>
            <a:off x="81280" y="179070"/>
            <a:ext cx="5427980" cy="583565"/>
          </a:xfrm>
          <a:prstGeom prst="rect">
            <a:avLst/>
          </a:prstGeom>
          <a:noFill/>
          <a:ln w="9525">
            <a:noFill/>
          </a:ln>
        </p:spPr>
        <p:txBody>
          <a:bodyPr wrap="square">
            <a:spAutoFit/>
          </a:bodyPr>
          <a:lstStyle/>
          <a:p>
            <a:pPr lvl="0">
              <a:lnSpc>
                <a:spcPct val="100000"/>
              </a:lnSpc>
            </a:pPr>
            <a:r>
              <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9" name="TextBox 27"/>
          <p:cNvSpPr/>
          <p:nvPr/>
        </p:nvSpPr>
        <p:spPr>
          <a:xfrm>
            <a:off x="5850890" y="193675"/>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sz="2800" b="1">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p>
        </p:txBody>
      </p:sp>
      <p:sp>
        <p:nvSpPr>
          <p:cNvPr id="11" name="右箭头 10"/>
          <p:cNvSpPr/>
          <p:nvPr/>
        </p:nvSpPr>
        <p:spPr>
          <a:xfrm>
            <a:off x="5375910" y="40513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6" name="图片 5"/>
          <p:cNvPicPr>
            <a:picLocks noChangeAspect="1"/>
          </p:cNvPicPr>
          <p:nvPr>
            <p:custDataLst>
              <p:tags r:id="rId1"/>
            </p:custDataLst>
          </p:nvPr>
        </p:nvPicPr>
        <p:blipFill>
          <a:blip r:embed="rId5"/>
          <a:stretch>
            <a:fillRect/>
          </a:stretch>
        </p:blipFill>
        <p:spPr>
          <a:xfrm>
            <a:off x="-24130" y="1196975"/>
            <a:ext cx="6438900" cy="5347970"/>
          </a:xfrm>
          <a:prstGeom prst="rect">
            <a:avLst/>
          </a:prstGeom>
        </p:spPr>
      </p:pic>
      <p:pic>
        <p:nvPicPr>
          <p:cNvPr id="7" name="图片 6"/>
          <p:cNvPicPr>
            <a:picLocks noChangeAspect="1"/>
          </p:cNvPicPr>
          <p:nvPr>
            <p:custDataLst>
              <p:tags r:id="rId2"/>
            </p:custDataLst>
          </p:nvPr>
        </p:nvPicPr>
        <p:blipFill>
          <a:blip r:embed="rId6"/>
          <a:stretch>
            <a:fillRect/>
          </a:stretch>
        </p:blipFill>
        <p:spPr>
          <a:xfrm>
            <a:off x="6456045" y="1485265"/>
            <a:ext cx="5704840" cy="4834890"/>
          </a:xfrm>
          <a:prstGeom prst="rect">
            <a:avLst/>
          </a:prstGeom>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00" name="TextBox 1"/>
          <p:cNvSpPr/>
          <p:nvPr/>
        </p:nvSpPr>
        <p:spPr>
          <a:xfrm flipH="1">
            <a:off x="314643" y="2374265"/>
            <a:ext cx="800100" cy="25641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内容与要求</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5" name="矩形 6"/>
          <p:cNvSpPr/>
          <p:nvPr/>
        </p:nvSpPr>
        <p:spPr>
          <a:xfrm>
            <a:off x="1559560" y="4221480"/>
            <a:ext cx="9832340" cy="1383665"/>
          </a:xfrm>
          <a:prstGeom prst="rect">
            <a:avLst/>
          </a:prstGeom>
          <a:noFill/>
          <a:ln w="9525">
            <a:noFill/>
          </a:ln>
        </p:spPr>
        <p:txBody>
          <a:bodyPr wrap="square">
            <a:spAutoFit/>
            <a:scene3d>
              <a:camera prst="orthographicFront"/>
              <a:lightRig rig="threePt" dir="t"/>
            </a:scene3d>
          </a:bodyPr>
          <a:lstStyle/>
          <a:p>
            <a:pPr lvl="0" algn="just">
              <a:lnSpc>
                <a:spcPct val="150000"/>
              </a:lnSpc>
              <a:buFont typeface="Wingdings" panose="05000000000000000000" pitchFamily="2" charset="2"/>
              <a:buNone/>
            </a:pPr>
            <a:r>
              <a:rPr lang="zh-CN" sz="2800" dirty="0">
                <a:solidFill>
                  <a:schemeClr val="tx1"/>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【目的要求】要求学生了解多元分析的基本内容及应用领域，并掌握一些基本概念。对数据统计分析软件有一个基本认识。</a:t>
            </a:r>
          </a:p>
        </p:txBody>
      </p:sp>
      <p:sp>
        <p:nvSpPr>
          <p:cNvPr id="6" name="矩形 7"/>
          <p:cNvSpPr/>
          <p:nvPr/>
        </p:nvSpPr>
        <p:spPr>
          <a:xfrm>
            <a:off x="1559659" y="1772746"/>
            <a:ext cx="9522996" cy="1383665"/>
          </a:xfrm>
          <a:prstGeom prst="rect">
            <a:avLst/>
          </a:prstGeom>
          <a:noFill/>
          <a:ln w="9525">
            <a:noFill/>
          </a:ln>
        </p:spPr>
        <p:txBody>
          <a:bodyPr wrap="square">
            <a:spAutoFit/>
          </a:bodyPr>
          <a:lstStyle/>
          <a:p>
            <a:pPr lvl="0" algn="just">
              <a:lnSpc>
                <a:spcPct val="150000"/>
              </a:lnSpc>
              <a:buFont typeface="Wingdings" panose="05000000000000000000" pitchFamily="2" charset="2"/>
              <a:buNone/>
            </a:pP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【教学内容】多元分析基本内容，以及本课程的主要安排。相关的补充知识和将要涉及的计算软件。</a:t>
            </a:r>
          </a:p>
        </p:txBody>
      </p:sp>
      <p:sp>
        <p:nvSpPr>
          <p:cNvPr id="7" name="TextBox 28"/>
          <p:cNvSpPr/>
          <p:nvPr/>
        </p:nvSpPr>
        <p:spPr>
          <a:xfrm>
            <a:off x="153035" y="179070"/>
            <a:ext cx="5095240" cy="613410"/>
          </a:xfrm>
          <a:prstGeom prst="rect">
            <a:avLst/>
          </a:prstGeom>
          <a:noFill/>
          <a:ln w="9525">
            <a:noFill/>
          </a:ln>
        </p:spPr>
        <p:txBody>
          <a:bodyPr wrap="square">
            <a:spAutoFit/>
          </a:bodyPr>
          <a:lstStyle/>
          <a:p>
            <a:pPr lvl="0">
              <a:lnSpc>
                <a:spcPct val="100000"/>
              </a:lnSpc>
            </a:pPr>
            <a:r>
              <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R</a:t>
            </a:r>
            <a:r>
              <a:rPr lang="zh-CN" altLang="en-US" sz="3200" b="1">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语言</a:t>
            </a:r>
            <a:r>
              <a:rPr lang="zh-CN" altLang="en-US" sz="3200" b="1">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9" name="TextBox 27"/>
          <p:cNvSpPr/>
          <p:nvPr/>
        </p:nvSpPr>
        <p:spPr>
          <a:xfrm>
            <a:off x="5635625" y="193675"/>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sz="2800" b="1">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1" name="右箭头 10"/>
          <p:cNvSpPr/>
          <p:nvPr/>
        </p:nvSpPr>
        <p:spPr>
          <a:xfrm>
            <a:off x="5104130" y="37084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subTnLst>
                                    <p:animClr clrSpc="rgb" dir="cw">
                                      <p:cBhvr override="childStyle">
                                        <p:cTn dur="65" fill="hold" display="1"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887845" y="188595"/>
            <a:ext cx="4330065" cy="54864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 多元统计分析的历史</a:t>
            </a:r>
          </a:p>
        </p:txBody>
      </p:sp>
      <p:sp>
        <p:nvSpPr>
          <p:cNvPr id="8195" name="TextBox 28"/>
          <p:cNvSpPr/>
          <p:nvPr/>
        </p:nvSpPr>
        <p:spPr>
          <a:xfrm>
            <a:off x="47625" y="168910"/>
            <a:ext cx="6311900"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
        <p:nvSpPr>
          <p:cNvPr id="8200" name="TextBox 1"/>
          <p:cNvSpPr/>
          <p:nvPr/>
        </p:nvSpPr>
        <p:spPr>
          <a:xfrm flipH="1">
            <a:off x="314643" y="1656715"/>
            <a:ext cx="800100" cy="4514850"/>
          </a:xfrm>
          <a:prstGeom prst="rect">
            <a:avLst/>
          </a:prstGeom>
          <a:noFill/>
          <a:ln w="9525">
            <a:noFill/>
          </a:ln>
        </p:spPr>
        <p:txBody>
          <a:bodyPr wrap="square">
            <a:spAutoFit/>
          </a:bodyPr>
          <a:lstStyle/>
          <a:p>
            <a:pPr lvl="0" algn="ctr">
              <a:lnSpc>
                <a:spcPct val="100000"/>
              </a:lnSpc>
            </a:pPr>
            <a:r>
              <a:rPr lang="zh-CN" altLang="en-US" sz="3200" dirty="0">
                <a:solidFill>
                  <a:srgbClr val="7030A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多元统计分析的历史</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239510"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353820" y="1357630"/>
            <a:ext cx="9832340" cy="4480560"/>
          </a:xfrm>
          <a:prstGeom prst="rect">
            <a:avLst/>
          </a:prstGeom>
          <a:noFill/>
          <a:ln w="9525">
            <a:noFill/>
          </a:ln>
        </p:spPr>
        <p:txBody>
          <a:bodyPr wrap="square">
            <a:spAutoFit/>
            <a:scene3d>
              <a:camera prst="orthographicFront"/>
              <a:lightRig rig="threePt" dir="t"/>
            </a:scene3d>
          </a:bodyPr>
          <a:lstStyle/>
          <a:p>
            <a:pPr lvl="0" algn="just">
              <a:lnSpc>
                <a:spcPct val="150000"/>
              </a:lnSpc>
              <a:buFont typeface="Wingdings" panose="05000000000000000000" pitchFamily="2" charset="2"/>
              <a:buChar char="l"/>
            </a:pPr>
            <a:r>
              <a:rPr lang="zh-CN" altLang="en-US" sz="32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cs typeface="+mn-ea"/>
                <a:sym typeface="微软雅黑" panose="020B0503020204020204" pitchFamily="2" charset="-122"/>
              </a:rPr>
              <a:t> 现实生活中，受多种指标共同作用和影响的现象大量存在。</a:t>
            </a:r>
          </a:p>
          <a:p>
            <a:pPr lvl="0" algn="just">
              <a:lnSpc>
                <a:spcPct val="150000"/>
              </a:lnSpc>
              <a:buFont typeface="Wingdings" panose="05000000000000000000" pitchFamily="2" charset="2"/>
              <a:buChar char="l"/>
            </a:pPr>
            <a:r>
              <a:rPr lang="zh-CN" altLang="en-US" sz="32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cs typeface="+mn-ea"/>
                <a:sym typeface="微软雅黑" panose="020B0503020204020204" pitchFamily="2" charset="-122"/>
              </a:rPr>
              <a:t> 在经济生活中，受多种指标（随机变量）共同作用和影响的现象大量存在。</a:t>
            </a:r>
          </a:p>
          <a:p>
            <a:pPr lvl="0" algn="just">
              <a:lnSpc>
                <a:spcPct val="150000"/>
              </a:lnSpc>
              <a:buFont typeface="Wingdings" panose="05000000000000000000" pitchFamily="2" charset="2"/>
              <a:buChar char="l"/>
            </a:pPr>
            <a:r>
              <a:rPr lang="zh-CN" altLang="en-US" sz="32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微软雅黑" panose="020B0503020204020204" pitchFamily="2" charset="-122"/>
              </a:rPr>
              <a:t> 多元统计分析是运用数理统计方法来研究解决多指标问题的理论和方法。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816090" y="188595"/>
            <a:ext cx="4330065" cy="54864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1.2</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多元统计分析的用途</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383655"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8200" name="TextBox 1"/>
          <p:cNvSpPr/>
          <p:nvPr/>
        </p:nvSpPr>
        <p:spPr>
          <a:xfrm flipH="1">
            <a:off x="314643" y="1584960"/>
            <a:ext cx="800100" cy="4514850"/>
          </a:xfrm>
          <a:prstGeom prst="rect">
            <a:avLst/>
          </a:prstGeom>
          <a:noFill/>
          <a:ln w="9525">
            <a:noFill/>
          </a:ln>
        </p:spPr>
        <p:txBody>
          <a:bodyPr wrap="square">
            <a:spAutoFit/>
          </a:bodyPr>
          <a:lstStyle/>
          <a:p>
            <a:pPr lvl="0" algn="ctr">
              <a:lnSpc>
                <a:spcPct val="100000"/>
              </a:lnSpc>
            </a:pPr>
            <a:r>
              <a:rPr lang="zh-CN" altLang="en-US" sz="3200" dirty="0">
                <a:solidFill>
                  <a:srgbClr val="7030A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多元统计分析的用途</a:t>
            </a:r>
          </a:p>
        </p:txBody>
      </p:sp>
      <p:sp>
        <p:nvSpPr>
          <p:cNvPr id="8"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154626" name="Oval 65"/>
          <p:cNvSpPr/>
          <p:nvPr/>
        </p:nvSpPr>
        <p:spPr>
          <a:xfrm>
            <a:off x="5094923" y="6503035"/>
            <a:ext cx="1484312" cy="306388"/>
          </a:xfrm>
          <a:prstGeom prst="ellipse">
            <a:avLst/>
          </a:prstGeom>
          <a:gradFill rotWithShape="1">
            <a:gsLst>
              <a:gs pos="0">
                <a:srgbClr val="3F3F3F">
                  <a:alpha val="100000"/>
                </a:srgbClr>
              </a:gs>
              <a:gs pos="100000">
                <a:srgbClr val="EEECE1">
                  <a:alpha val="100000"/>
                </a:srgbClr>
              </a:gs>
            </a:gsLst>
            <a:path path="shape">
              <a:fillToRect l="50000" t="50000" r="50000" b="50000"/>
            </a:path>
            <a:tileRect/>
          </a:gradFill>
          <a:ln w="9525">
            <a:noFill/>
          </a:ln>
        </p:spPr>
        <p:txBody>
          <a:bodyPr wrap="none" anchor="ctr"/>
          <a:lstStyle/>
          <a:p>
            <a:pPr marL="0" lvl="0" indent="0" eaLnBrk="1" fontAlgn="base" latinLnBrk="0" hangingPunct="1">
              <a:lnSpc>
                <a:spcPct val="100000"/>
              </a:lnSpc>
              <a:spcBef>
                <a:spcPct val="0"/>
              </a:spcBef>
              <a:spcAft>
                <a:spcPct val="0"/>
              </a:spcAft>
              <a:buNone/>
            </a:pPr>
            <a:endParaRPr sz="1800" b="1" i="1" baseline="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grpSp>
        <p:nvGrpSpPr>
          <p:cNvPr id="18" name="组合 17"/>
          <p:cNvGrpSpPr/>
          <p:nvPr/>
        </p:nvGrpSpPr>
        <p:grpSpPr>
          <a:xfrm>
            <a:off x="5877560" y="2096135"/>
            <a:ext cx="3554730" cy="2132330"/>
            <a:chOff x="9708" y="3301"/>
            <a:chExt cx="5598" cy="3358"/>
          </a:xfrm>
        </p:grpSpPr>
        <p:sp>
          <p:nvSpPr>
            <p:cNvPr id="154631" name="圆角矩形 2"/>
            <p:cNvSpPr/>
            <p:nvPr/>
          </p:nvSpPr>
          <p:spPr>
            <a:xfrm>
              <a:off x="9738" y="3461"/>
              <a:ext cx="5568" cy="3198"/>
            </a:xfrm>
            <a:custGeom>
              <a:avLst/>
              <a:gdLst>
                <a:gd name="txL" fmla="*/ 0 w 4307316"/>
                <a:gd name="txT" fmla="*/ 0 h 2261022"/>
                <a:gd name="txR" fmla="*/ 4307316 w 4307316"/>
                <a:gd name="txB" fmla="*/ 2261022 h 2261022"/>
              </a:gdLst>
              <a:ahLst/>
              <a:cxnLst>
                <a:cxn ang="0">
                  <a:pos x="58844" y="756084"/>
                </a:cxn>
                <a:cxn ang="0">
                  <a:pos x="814928" y="0"/>
                </a:cxn>
                <a:cxn ang="0">
                  <a:pos x="3551232" y="0"/>
                </a:cxn>
                <a:cxn ang="0">
                  <a:pos x="4307316" y="756084"/>
                </a:cxn>
                <a:cxn ang="0">
                  <a:pos x="4307316" y="756084"/>
                </a:cxn>
                <a:cxn ang="0">
                  <a:pos x="3551232" y="1512168"/>
                </a:cxn>
                <a:cxn ang="0">
                  <a:pos x="814928" y="1512168"/>
                </a:cxn>
                <a:cxn ang="0">
                  <a:pos x="63601" y="2261022"/>
                </a:cxn>
                <a:cxn ang="0">
                  <a:pos x="58844" y="756084"/>
                </a:cxn>
              </a:cxnLst>
              <a:rect l="txL" t="txT" r="txR" b="txB"/>
              <a:pathLst>
                <a:path w="4307316" h="2261022">
                  <a:moveTo>
                    <a:pt x="58844" y="756084"/>
                  </a:moveTo>
                  <a:cubicBezTo>
                    <a:pt x="84312" y="379247"/>
                    <a:pt x="397354" y="0"/>
                    <a:pt x="814928" y="0"/>
                  </a:cubicBezTo>
                  <a:lnTo>
                    <a:pt x="3551232" y="0"/>
                  </a:lnTo>
                  <a:cubicBezTo>
                    <a:pt x="3968806" y="0"/>
                    <a:pt x="4307316" y="338510"/>
                    <a:pt x="4307316" y="756084"/>
                  </a:cubicBezTo>
                  <a:lnTo>
                    <a:pt x="4307316" y="756084"/>
                  </a:lnTo>
                  <a:cubicBezTo>
                    <a:pt x="4307316" y="1173658"/>
                    <a:pt x="3968806" y="1512168"/>
                    <a:pt x="3551232" y="1512168"/>
                  </a:cubicBezTo>
                  <a:lnTo>
                    <a:pt x="814928" y="1512168"/>
                  </a:lnTo>
                  <a:cubicBezTo>
                    <a:pt x="272449" y="1484577"/>
                    <a:pt x="56611" y="2237407"/>
                    <a:pt x="63601" y="2261022"/>
                  </a:cubicBezTo>
                  <a:cubicBezTo>
                    <a:pt x="-62413" y="2135008"/>
                    <a:pt x="33376" y="1132921"/>
                    <a:pt x="58844" y="756084"/>
                  </a:cubicBezTo>
                  <a:close/>
                </a:path>
              </a:pathLst>
            </a:custGeom>
            <a:gradFill rotWithShape="1">
              <a:gsLst>
                <a:gs pos="0">
                  <a:srgbClr val="CBEC78">
                    <a:alpha val="100000"/>
                  </a:srgbClr>
                </a:gs>
                <a:gs pos="28999">
                  <a:srgbClr val="559A16">
                    <a:alpha val="100000"/>
                  </a:srgbClr>
                </a:gs>
                <a:gs pos="81000">
                  <a:srgbClr val="559A16">
                    <a:alpha val="100000"/>
                  </a:srgbClr>
                </a:gs>
                <a:gs pos="100000">
                  <a:srgbClr val="CBEC78">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grpSp>
          <p:nvGrpSpPr>
            <p:cNvPr id="13" name="组合 12"/>
            <p:cNvGrpSpPr/>
            <p:nvPr/>
          </p:nvGrpSpPr>
          <p:grpSpPr>
            <a:xfrm>
              <a:off x="9708" y="3301"/>
              <a:ext cx="5598" cy="3355"/>
              <a:chOff x="9708" y="3301"/>
              <a:chExt cx="5598" cy="3355"/>
            </a:xfrm>
          </p:grpSpPr>
          <p:sp>
            <p:nvSpPr>
              <p:cNvPr id="154632" name="圆角矩形 2"/>
              <p:cNvSpPr/>
              <p:nvPr/>
            </p:nvSpPr>
            <p:spPr>
              <a:xfrm>
                <a:off x="9708" y="3301"/>
                <a:ext cx="5598" cy="3355"/>
              </a:xfrm>
              <a:custGeom>
                <a:avLst/>
                <a:gdLst>
                  <a:gd name="txL" fmla="*/ 0 w 4330040"/>
                  <a:gd name="txT" fmla="*/ 0 h 2373557"/>
                  <a:gd name="txR" fmla="*/ 4330040 w 4330040"/>
                  <a:gd name="txB" fmla="*/ 2373557 h 2373557"/>
                </a:gdLst>
                <a:ahLst/>
                <a:cxnLst>
                  <a:cxn ang="0">
                    <a:pos x="81568" y="756084"/>
                  </a:cxn>
                  <a:cxn ang="0">
                    <a:pos x="837652" y="0"/>
                  </a:cxn>
                  <a:cxn ang="0">
                    <a:pos x="3573956" y="0"/>
                  </a:cxn>
                  <a:cxn ang="0">
                    <a:pos x="4330040" y="756084"/>
                  </a:cxn>
                  <a:cxn ang="0">
                    <a:pos x="4330040" y="756084"/>
                  </a:cxn>
                  <a:cxn ang="0">
                    <a:pos x="3573956" y="1512168"/>
                  </a:cxn>
                  <a:cxn ang="0">
                    <a:pos x="837652" y="1512168"/>
                  </a:cxn>
                  <a:cxn ang="0">
                    <a:pos x="50625" y="2373557"/>
                  </a:cxn>
                  <a:cxn ang="0">
                    <a:pos x="81568" y="756084"/>
                  </a:cxn>
                </a:cxnLst>
                <a:rect l="txL" t="txT" r="txR" b="txB"/>
                <a:pathLst>
                  <a:path w="4330040" h="2373557">
                    <a:moveTo>
                      <a:pt x="81568" y="756084"/>
                    </a:moveTo>
                    <a:cubicBezTo>
                      <a:pt x="212739" y="360491"/>
                      <a:pt x="420078" y="0"/>
                      <a:pt x="837652" y="0"/>
                    </a:cubicBezTo>
                    <a:lnTo>
                      <a:pt x="3573956" y="0"/>
                    </a:lnTo>
                    <a:cubicBezTo>
                      <a:pt x="3991530" y="0"/>
                      <a:pt x="4330040" y="338510"/>
                      <a:pt x="4330040" y="756084"/>
                    </a:cubicBezTo>
                    <a:lnTo>
                      <a:pt x="4330040" y="756084"/>
                    </a:lnTo>
                    <a:cubicBezTo>
                      <a:pt x="4330040" y="1173658"/>
                      <a:pt x="3991530" y="1512168"/>
                      <a:pt x="3573956" y="1512168"/>
                    </a:cubicBezTo>
                    <a:lnTo>
                      <a:pt x="837652" y="1512168"/>
                    </a:lnTo>
                    <a:cubicBezTo>
                      <a:pt x="295173" y="1484577"/>
                      <a:pt x="43635" y="2349942"/>
                      <a:pt x="50625" y="2373557"/>
                    </a:cubicBezTo>
                    <a:cubicBezTo>
                      <a:pt x="6410" y="2233910"/>
                      <a:pt x="-49603" y="1151677"/>
                      <a:pt x="81568" y="756084"/>
                    </a:cubicBezTo>
                    <a:close/>
                  </a:path>
                </a:pathLst>
              </a:custGeom>
              <a:gradFill rotWithShape="1">
                <a:gsLst>
                  <a:gs pos="0">
                    <a:srgbClr val="559A16">
                      <a:alpha val="100000"/>
                    </a:srgbClr>
                  </a:gs>
                  <a:gs pos="25000">
                    <a:srgbClr val="A9E020">
                      <a:alpha val="100000"/>
                    </a:srgbClr>
                  </a:gs>
                  <a:gs pos="48000">
                    <a:srgbClr val="66A818">
                      <a:alpha val="100000"/>
                    </a:srgbClr>
                  </a:gs>
                  <a:gs pos="75999">
                    <a:srgbClr val="A9E020">
                      <a:alpha val="100000"/>
                    </a:srgbClr>
                  </a:gs>
                  <a:gs pos="100000">
                    <a:srgbClr val="66A818">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154633" name="TextBox 26"/>
              <p:cNvSpPr/>
              <p:nvPr/>
            </p:nvSpPr>
            <p:spPr>
              <a:xfrm>
                <a:off x="11278" y="3839"/>
                <a:ext cx="3735" cy="1138"/>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en-US" altLang="x-none" sz="2000" b="1" i="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进行数值分类，构造分类模式</a:t>
                </a:r>
              </a:p>
            </p:txBody>
          </p:sp>
          <p:sp>
            <p:nvSpPr>
              <p:cNvPr id="154636" name="TextBox 29"/>
              <p:cNvSpPr/>
              <p:nvPr/>
            </p:nvSpPr>
            <p:spPr>
              <a:xfrm>
                <a:off x="10208" y="3561"/>
                <a:ext cx="1253" cy="1828"/>
              </a:xfrm>
              <a:prstGeom prst="rect">
                <a:avLst/>
              </a:prstGeom>
              <a:noFill/>
              <a:ln w="9525">
                <a:noFill/>
              </a:ln>
            </p:spPr>
            <p:txBody>
              <a:bodyPr wrap="square">
                <a:spAutoFit/>
              </a:bodyPr>
              <a:lstStyle/>
              <a:p>
                <a:pPr marL="0" lvl="0" indent="0" eaLnBrk="1" fontAlgn="base" latinLnBrk="0" hangingPunct="1">
                  <a:lnSpc>
                    <a:spcPct val="130000"/>
                  </a:lnSpc>
                  <a:spcBef>
                    <a:spcPct val="0"/>
                  </a:spcBef>
                  <a:spcAft>
                    <a:spcPct val="0"/>
                  </a:spcAft>
                  <a:buNone/>
                </a:pPr>
                <a:r>
                  <a:rPr lang="en-US" altLang="x-none" sz="5400" b="1" i="1" baseline="0" dirty="0">
                    <a:solidFill>
                      <a:srgbClr val="FFFFFF"/>
                    </a:solidFill>
                    <a:latin typeface="浪漫雅圆" charset="-122"/>
                    <a:ea typeface="微软雅黑" panose="020B0503020204020204" pitchFamily="2" charset="-122"/>
                    <a:sym typeface="Arial" panose="020B0604020202020204" pitchFamily="34" charset="0"/>
                  </a:rPr>
                  <a:t>3</a:t>
                </a:r>
              </a:p>
            </p:txBody>
          </p:sp>
        </p:grpSp>
      </p:grpSp>
      <p:grpSp>
        <p:nvGrpSpPr>
          <p:cNvPr id="16" name="组合 15"/>
          <p:cNvGrpSpPr/>
          <p:nvPr/>
        </p:nvGrpSpPr>
        <p:grpSpPr>
          <a:xfrm>
            <a:off x="5676265" y="3320415"/>
            <a:ext cx="3614420" cy="3318510"/>
            <a:chOff x="9391" y="5229"/>
            <a:chExt cx="5692" cy="5226"/>
          </a:xfrm>
        </p:grpSpPr>
        <p:sp>
          <p:nvSpPr>
            <p:cNvPr id="154629" name="圆角矩形 2"/>
            <p:cNvSpPr/>
            <p:nvPr/>
          </p:nvSpPr>
          <p:spPr>
            <a:xfrm>
              <a:off x="9668" y="5959"/>
              <a:ext cx="5415" cy="2807"/>
            </a:xfrm>
            <a:custGeom>
              <a:avLst/>
              <a:gdLst>
                <a:gd name="txL" fmla="*/ 0 w 4362268"/>
                <a:gd name="txT" fmla="*/ 0 h 2261022"/>
                <a:gd name="txR" fmla="*/ 4362268 w 4362268"/>
                <a:gd name="txB" fmla="*/ 2261022 h 2261022"/>
              </a:gdLst>
              <a:ahLst/>
              <a:cxnLst>
                <a:cxn ang="0">
                  <a:pos x="113796" y="756084"/>
                </a:cxn>
                <a:cxn ang="0">
                  <a:pos x="869880" y="0"/>
                </a:cxn>
                <a:cxn ang="0">
                  <a:pos x="3606184" y="0"/>
                </a:cxn>
                <a:cxn ang="0">
                  <a:pos x="4362268" y="756084"/>
                </a:cxn>
                <a:cxn ang="0">
                  <a:pos x="4362268" y="756084"/>
                </a:cxn>
                <a:cxn ang="0">
                  <a:pos x="3606184" y="1512168"/>
                </a:cxn>
                <a:cxn ang="0">
                  <a:pos x="869880" y="1512168"/>
                </a:cxn>
                <a:cxn ang="0">
                  <a:pos x="81731" y="2261022"/>
                </a:cxn>
                <a:cxn ang="0">
                  <a:pos x="113796" y="756084"/>
                </a:cxn>
              </a:cxnLst>
              <a:rect l="txL" t="txT" r="txR" b="txB"/>
              <a:pathLst>
                <a:path w="4362268" h="2261022">
                  <a:moveTo>
                    <a:pt x="113796" y="756084"/>
                  </a:moveTo>
                  <a:cubicBezTo>
                    <a:pt x="245154" y="379247"/>
                    <a:pt x="452306" y="0"/>
                    <a:pt x="869880" y="0"/>
                  </a:cubicBezTo>
                  <a:lnTo>
                    <a:pt x="3606184" y="0"/>
                  </a:lnTo>
                  <a:cubicBezTo>
                    <a:pt x="4023758" y="0"/>
                    <a:pt x="4362268" y="338510"/>
                    <a:pt x="4362268" y="756084"/>
                  </a:cubicBezTo>
                  <a:lnTo>
                    <a:pt x="4362268" y="756084"/>
                  </a:lnTo>
                  <a:cubicBezTo>
                    <a:pt x="4362268" y="1173658"/>
                    <a:pt x="4023758" y="1512168"/>
                    <a:pt x="3606184" y="1512168"/>
                  </a:cubicBezTo>
                  <a:lnTo>
                    <a:pt x="869880" y="1512168"/>
                  </a:lnTo>
                  <a:cubicBezTo>
                    <a:pt x="327401" y="1484577"/>
                    <a:pt x="74741" y="2237407"/>
                    <a:pt x="81731" y="2261022"/>
                  </a:cubicBezTo>
                  <a:cubicBezTo>
                    <a:pt x="-44283" y="2135008"/>
                    <a:pt x="-17562" y="1132921"/>
                    <a:pt x="113796" y="756084"/>
                  </a:cubicBezTo>
                  <a:close/>
                </a:path>
              </a:pathLst>
            </a:custGeom>
            <a:gradFill rotWithShape="1">
              <a:gsLst>
                <a:gs pos="0">
                  <a:srgbClr val="D8D8D8">
                    <a:alpha val="100000"/>
                  </a:srgbClr>
                </a:gs>
                <a:gs pos="28999">
                  <a:srgbClr val="7F7F7F">
                    <a:alpha val="100000"/>
                  </a:srgbClr>
                </a:gs>
                <a:gs pos="81000">
                  <a:srgbClr val="7F7F7F">
                    <a:alpha val="100000"/>
                  </a:srgbClr>
                </a:gs>
                <a:gs pos="100000">
                  <a:srgbClr val="BFBFBF">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grpSp>
          <p:nvGrpSpPr>
            <p:cNvPr id="14" name="组合 13"/>
            <p:cNvGrpSpPr/>
            <p:nvPr/>
          </p:nvGrpSpPr>
          <p:grpSpPr>
            <a:xfrm>
              <a:off x="9391" y="5229"/>
              <a:ext cx="5692" cy="5227"/>
              <a:chOff x="9391" y="5229"/>
              <a:chExt cx="5692" cy="5227"/>
            </a:xfrm>
          </p:grpSpPr>
          <p:sp>
            <p:nvSpPr>
              <p:cNvPr id="154630" name="圆角矩形 2"/>
              <p:cNvSpPr/>
              <p:nvPr/>
            </p:nvSpPr>
            <p:spPr>
              <a:xfrm>
                <a:off x="9696" y="5816"/>
                <a:ext cx="5387" cy="2955"/>
              </a:xfrm>
              <a:custGeom>
                <a:avLst/>
                <a:gdLst>
                  <a:gd name="txL" fmla="*/ 0 w 4340762"/>
                  <a:gd name="txT" fmla="*/ 0 h 2378945"/>
                  <a:gd name="txR" fmla="*/ 4340762 w 4340762"/>
                  <a:gd name="txB" fmla="*/ 2378945 h 2378945"/>
                </a:gdLst>
                <a:ahLst/>
                <a:cxnLst>
                  <a:cxn ang="0">
                    <a:pos x="92290" y="756084"/>
                  </a:cxn>
                  <a:cxn ang="0">
                    <a:pos x="848374" y="0"/>
                  </a:cxn>
                  <a:cxn ang="0">
                    <a:pos x="3584678" y="0"/>
                  </a:cxn>
                  <a:cxn ang="0">
                    <a:pos x="4340762" y="756084"/>
                  </a:cxn>
                  <a:cxn ang="0">
                    <a:pos x="4340762" y="756084"/>
                  </a:cxn>
                  <a:cxn ang="0">
                    <a:pos x="3584678" y="1512168"/>
                  </a:cxn>
                  <a:cxn ang="0">
                    <a:pos x="848374" y="1512168"/>
                  </a:cxn>
                  <a:cxn ang="0">
                    <a:pos x="41813" y="2378945"/>
                  </a:cxn>
                  <a:cxn ang="0">
                    <a:pos x="92290" y="756084"/>
                  </a:cxn>
                </a:cxnLst>
                <a:rect l="txL" t="txT" r="txR" b="txB"/>
                <a:pathLst>
                  <a:path w="4340762" h="2378945">
                    <a:moveTo>
                      <a:pt x="92290" y="756084"/>
                    </a:moveTo>
                    <a:cubicBezTo>
                      <a:pt x="226717" y="359593"/>
                      <a:pt x="430800" y="0"/>
                      <a:pt x="848374" y="0"/>
                    </a:cubicBezTo>
                    <a:lnTo>
                      <a:pt x="3584678" y="0"/>
                    </a:lnTo>
                    <a:cubicBezTo>
                      <a:pt x="4002252" y="0"/>
                      <a:pt x="4340762" y="338510"/>
                      <a:pt x="4340762" y="756084"/>
                    </a:cubicBezTo>
                    <a:lnTo>
                      <a:pt x="4340762" y="756084"/>
                    </a:lnTo>
                    <a:cubicBezTo>
                      <a:pt x="4340762" y="1173658"/>
                      <a:pt x="4002252" y="1512168"/>
                      <a:pt x="3584678" y="1512168"/>
                    </a:cubicBezTo>
                    <a:lnTo>
                      <a:pt x="848374" y="1512168"/>
                    </a:lnTo>
                    <a:cubicBezTo>
                      <a:pt x="305895" y="1484577"/>
                      <a:pt x="34823" y="2355330"/>
                      <a:pt x="41813" y="2378945"/>
                    </a:cubicBezTo>
                    <a:cubicBezTo>
                      <a:pt x="-2402" y="2239298"/>
                      <a:pt x="-42137" y="1152575"/>
                      <a:pt x="92290" y="756084"/>
                    </a:cubicBezTo>
                    <a:close/>
                  </a:path>
                </a:pathLst>
              </a:custGeom>
              <a:gradFill rotWithShape="1">
                <a:gsLst>
                  <a:gs pos="0">
                    <a:srgbClr val="3F3F3F">
                      <a:alpha val="100000"/>
                    </a:srgbClr>
                  </a:gs>
                  <a:gs pos="25000">
                    <a:srgbClr val="7F7F7F">
                      <a:alpha val="100000"/>
                    </a:srgbClr>
                  </a:gs>
                  <a:gs pos="51999">
                    <a:srgbClr val="3F3F3F">
                      <a:alpha val="100000"/>
                    </a:srgbClr>
                  </a:gs>
                  <a:gs pos="76999">
                    <a:srgbClr val="717171">
                      <a:alpha val="100000"/>
                    </a:srgbClr>
                  </a:gs>
                  <a:gs pos="100000">
                    <a:srgbClr val="494949">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154634" name="矩形 27"/>
              <p:cNvSpPr/>
              <p:nvPr/>
            </p:nvSpPr>
            <p:spPr>
              <a:xfrm>
                <a:off x="9668" y="5229"/>
                <a:ext cx="70" cy="4537"/>
              </a:xfrm>
              <a:prstGeom prst="rect">
                <a:avLst/>
              </a:prstGeom>
              <a:gradFill rotWithShape="1">
                <a:gsLst>
                  <a:gs pos="0">
                    <a:srgbClr val="3F3F3F">
                      <a:alpha val="100000"/>
                    </a:srgbClr>
                  </a:gs>
                  <a:gs pos="53000">
                    <a:srgbClr val="3F3F3F">
                      <a:alpha val="100000"/>
                    </a:srgbClr>
                  </a:gs>
                  <a:gs pos="100000">
                    <a:srgbClr val="FFFFFF">
                      <a:alpha val="100000"/>
                    </a:srgbClr>
                  </a:gs>
                </a:gsLst>
                <a:lin ang="1620000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Calibri" panose="020F0502020204030204" charset="0"/>
                  <a:sym typeface="Calibri" panose="020F0502020204030204" charset="0"/>
                </a:endParaRPr>
              </a:p>
            </p:txBody>
          </p:sp>
          <p:sp>
            <p:nvSpPr>
              <p:cNvPr id="154635" name="泪滴形 28"/>
              <p:cNvSpPr/>
              <p:nvPr/>
            </p:nvSpPr>
            <p:spPr>
              <a:xfrm rot="19016959">
                <a:off x="9391" y="9881"/>
                <a:ext cx="570" cy="575"/>
              </a:xfrm>
              <a:custGeom>
                <a:avLst/>
                <a:gdLst>
                  <a:gd name="txL" fmla="*/ 0 w 570"/>
                  <a:gd name="txT" fmla="*/ 0 h 573"/>
                  <a:gd name="txR" fmla="*/ 570 w 570"/>
                  <a:gd name="txB" fmla="*/ 573 h 573"/>
                </a:gdLst>
                <a:ahLst/>
                <a:cxnLst/>
                <a:rect l="txL" t="txT" r="txR" b="txB"/>
                <a:pathLst>
                  <a:path w="570" h="573">
                    <a:moveTo>
                      <a:pt x="0" y="286"/>
                    </a:moveTo>
                    <a:arcTo wR="285" hR="286" stAng="-10800000" swAng="5400000"/>
                    <a:cubicBezTo>
                      <a:pt x="475" y="0"/>
                      <a:pt x="665" y="-95"/>
                      <a:pt x="855" y="-286"/>
                    </a:cubicBezTo>
                    <a:cubicBezTo>
                      <a:pt x="665" y="-95"/>
                      <a:pt x="570" y="95"/>
                      <a:pt x="570" y="286"/>
                    </a:cubicBezTo>
                    <a:arcTo wR="285" hR="286" stAng="0" swAng="5400000"/>
                    <a:arcTo wR="285" hR="286" stAng="-16200000" swAng="5400000"/>
                    <a:close/>
                  </a:path>
                </a:pathLst>
              </a:custGeom>
              <a:gradFill rotWithShape="1">
                <a:gsLst>
                  <a:gs pos="0">
                    <a:srgbClr val="333333">
                      <a:alpha val="100000"/>
                    </a:srgbClr>
                  </a:gs>
                  <a:gs pos="50000">
                    <a:srgbClr val="4A4A4A">
                      <a:alpha val="100000"/>
                    </a:srgbClr>
                  </a:gs>
                  <a:gs pos="100000">
                    <a:srgbClr val="595959">
                      <a:alpha val="100000"/>
                    </a:srgbClr>
                  </a:gs>
                </a:gsLst>
                <a:lin ang="1890000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Calibri" panose="020F0502020204030204" charset="0"/>
                  <a:sym typeface="Calibri" panose="020F0502020204030204" charset="0"/>
                </a:endParaRPr>
              </a:p>
            </p:txBody>
          </p:sp>
          <p:sp>
            <p:nvSpPr>
              <p:cNvPr id="154638" name="TextBox 31"/>
              <p:cNvSpPr/>
              <p:nvPr/>
            </p:nvSpPr>
            <p:spPr>
              <a:xfrm>
                <a:off x="11278" y="6199"/>
                <a:ext cx="3254" cy="1138"/>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en-US" altLang="x-none" sz="2000" b="1" i="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变量之间相依性分析</a:t>
                </a:r>
              </a:p>
            </p:txBody>
          </p:sp>
          <p:sp>
            <p:nvSpPr>
              <p:cNvPr id="154639" name="TextBox 32"/>
              <p:cNvSpPr/>
              <p:nvPr/>
            </p:nvSpPr>
            <p:spPr>
              <a:xfrm>
                <a:off x="10116" y="5989"/>
                <a:ext cx="1252" cy="1641"/>
              </a:xfrm>
              <a:prstGeom prst="rect">
                <a:avLst/>
              </a:prstGeom>
              <a:noFill/>
              <a:ln w="9525">
                <a:noFill/>
              </a:ln>
            </p:spPr>
            <p:txBody>
              <a:bodyPr wrap="square">
                <a:spAutoFit/>
              </a:bodyPr>
              <a:lstStyle/>
              <a:p>
                <a:pPr marL="0" lvl="0" indent="0" eaLnBrk="1" fontAlgn="base" latinLnBrk="0" hangingPunct="1">
                  <a:lnSpc>
                    <a:spcPct val="130000"/>
                  </a:lnSpc>
                  <a:spcBef>
                    <a:spcPct val="0"/>
                  </a:spcBef>
                  <a:spcAft>
                    <a:spcPct val="0"/>
                  </a:spcAft>
                  <a:buNone/>
                </a:pPr>
                <a:r>
                  <a:rPr lang="en-US" altLang="x-none" sz="4800" b="1" i="1" baseline="0" dirty="0">
                    <a:solidFill>
                      <a:srgbClr val="FFFFFF"/>
                    </a:solidFill>
                    <a:latin typeface="浪漫雅圆" charset="-122"/>
                    <a:ea typeface="微软雅黑" panose="020B0503020204020204" pitchFamily="2" charset="-122"/>
                    <a:sym typeface="Arial" panose="020B0604020202020204" pitchFamily="34" charset="0"/>
                  </a:rPr>
                  <a:t>1</a:t>
                </a:r>
              </a:p>
            </p:txBody>
          </p:sp>
        </p:grpSp>
      </p:grpSp>
      <p:grpSp>
        <p:nvGrpSpPr>
          <p:cNvPr id="17" name="组合 16"/>
          <p:cNvGrpSpPr/>
          <p:nvPr/>
        </p:nvGrpSpPr>
        <p:grpSpPr>
          <a:xfrm>
            <a:off x="2564765" y="3102610"/>
            <a:ext cx="3366770" cy="1945640"/>
            <a:chOff x="4491" y="4886"/>
            <a:chExt cx="5302" cy="3064"/>
          </a:xfrm>
        </p:grpSpPr>
        <p:sp>
          <p:nvSpPr>
            <p:cNvPr id="154627" name="圆角矩形 2"/>
            <p:cNvSpPr/>
            <p:nvPr/>
          </p:nvSpPr>
          <p:spPr>
            <a:xfrm flipH="1">
              <a:off x="4491" y="5031"/>
              <a:ext cx="5302" cy="2875"/>
            </a:xfrm>
            <a:custGeom>
              <a:avLst/>
              <a:gdLst>
                <a:gd name="txL" fmla="*/ 0 w 4351098"/>
                <a:gd name="txT" fmla="*/ 0 h 2261022"/>
                <a:gd name="txR" fmla="*/ 4351098 w 4351098"/>
                <a:gd name="txB" fmla="*/ 2261022 h 2261022"/>
              </a:gdLst>
              <a:ahLst/>
              <a:cxnLst>
                <a:cxn ang="0">
                  <a:pos x="102626" y="756084"/>
                </a:cxn>
                <a:cxn ang="0">
                  <a:pos x="858710" y="0"/>
                </a:cxn>
                <a:cxn ang="0">
                  <a:pos x="3595014" y="0"/>
                </a:cxn>
                <a:cxn ang="0">
                  <a:pos x="4351098" y="756084"/>
                </a:cxn>
                <a:cxn ang="0">
                  <a:pos x="4351098" y="756084"/>
                </a:cxn>
                <a:cxn ang="0">
                  <a:pos x="3595014" y="1512168"/>
                </a:cxn>
                <a:cxn ang="0">
                  <a:pos x="858710" y="1512168"/>
                </a:cxn>
                <a:cxn ang="0">
                  <a:pos x="88629" y="2261022"/>
                </a:cxn>
                <a:cxn ang="0">
                  <a:pos x="102626" y="756084"/>
                </a:cxn>
              </a:cxnLst>
              <a:rect l="txL" t="txT" r="txR" b="txB"/>
              <a:pathLst>
                <a:path w="4351098" h="2261022">
                  <a:moveTo>
                    <a:pt x="102626" y="756084"/>
                  </a:moveTo>
                  <a:cubicBezTo>
                    <a:pt x="230973" y="379247"/>
                    <a:pt x="441136" y="0"/>
                    <a:pt x="858710" y="0"/>
                  </a:cubicBezTo>
                  <a:lnTo>
                    <a:pt x="3595014" y="0"/>
                  </a:lnTo>
                  <a:cubicBezTo>
                    <a:pt x="4012588" y="0"/>
                    <a:pt x="4351098" y="338510"/>
                    <a:pt x="4351098" y="756084"/>
                  </a:cubicBezTo>
                  <a:lnTo>
                    <a:pt x="4351098" y="756084"/>
                  </a:lnTo>
                  <a:cubicBezTo>
                    <a:pt x="4351098" y="1173658"/>
                    <a:pt x="4012588" y="1512168"/>
                    <a:pt x="3595014" y="1512168"/>
                  </a:cubicBezTo>
                  <a:lnTo>
                    <a:pt x="858710" y="1512168"/>
                  </a:lnTo>
                  <a:cubicBezTo>
                    <a:pt x="316231" y="1484577"/>
                    <a:pt x="81639" y="2237407"/>
                    <a:pt x="88629" y="2261022"/>
                  </a:cubicBezTo>
                  <a:cubicBezTo>
                    <a:pt x="-37385" y="2135008"/>
                    <a:pt x="-25721" y="1132921"/>
                    <a:pt x="102626" y="756084"/>
                  </a:cubicBezTo>
                  <a:close/>
                </a:path>
              </a:pathLst>
            </a:custGeom>
            <a:gradFill rotWithShape="1">
              <a:gsLst>
                <a:gs pos="0">
                  <a:srgbClr val="0092C8">
                    <a:alpha val="100000"/>
                  </a:srgbClr>
                </a:gs>
                <a:gs pos="28999">
                  <a:srgbClr val="0088EE">
                    <a:alpha val="100000"/>
                  </a:srgbClr>
                </a:gs>
                <a:gs pos="81000">
                  <a:srgbClr val="0072C8">
                    <a:alpha val="100000"/>
                  </a:srgbClr>
                </a:gs>
                <a:gs pos="100000">
                  <a:srgbClr val="00B0F0">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grpSp>
          <p:nvGrpSpPr>
            <p:cNvPr id="15" name="组合 14"/>
            <p:cNvGrpSpPr/>
            <p:nvPr/>
          </p:nvGrpSpPr>
          <p:grpSpPr>
            <a:xfrm>
              <a:off x="4493" y="4886"/>
              <a:ext cx="5270" cy="3065"/>
              <a:chOff x="4493" y="4886"/>
              <a:chExt cx="5270" cy="3065"/>
            </a:xfrm>
          </p:grpSpPr>
          <p:sp>
            <p:nvSpPr>
              <p:cNvPr id="154628" name="圆角矩形 2"/>
              <p:cNvSpPr/>
              <p:nvPr/>
            </p:nvSpPr>
            <p:spPr>
              <a:xfrm flipH="1">
                <a:off x="4493" y="4886"/>
                <a:ext cx="5270" cy="3065"/>
              </a:xfrm>
              <a:custGeom>
                <a:avLst/>
                <a:gdLst>
                  <a:gd name="txL" fmla="*/ 0 w 4325425"/>
                  <a:gd name="txT" fmla="*/ 0 h 2410587"/>
                  <a:gd name="txR" fmla="*/ 4325425 w 4325425"/>
                  <a:gd name="txB" fmla="*/ 2410587 h 2410587"/>
                </a:gdLst>
                <a:ahLst/>
                <a:cxnLst>
                  <a:cxn ang="0">
                    <a:pos x="76953" y="756084"/>
                  </a:cxn>
                  <a:cxn ang="0">
                    <a:pos x="833037" y="0"/>
                  </a:cxn>
                  <a:cxn ang="0">
                    <a:pos x="3569341" y="0"/>
                  </a:cxn>
                  <a:cxn ang="0">
                    <a:pos x="4325425" y="756084"/>
                  </a:cxn>
                  <a:cxn ang="0">
                    <a:pos x="4325425" y="756084"/>
                  </a:cxn>
                  <a:cxn ang="0">
                    <a:pos x="3569341" y="1512168"/>
                  </a:cxn>
                  <a:cxn ang="0">
                    <a:pos x="833037" y="1512168"/>
                  </a:cxn>
                  <a:cxn ang="0">
                    <a:pos x="55248" y="2410587"/>
                  </a:cxn>
                  <a:cxn ang="0">
                    <a:pos x="76953" y="756084"/>
                  </a:cxn>
                </a:cxnLst>
                <a:rect l="txL" t="txT" r="txR" b="txB"/>
                <a:pathLst>
                  <a:path w="4325425" h="2410587">
                    <a:moveTo>
                      <a:pt x="76953" y="756084"/>
                    </a:moveTo>
                    <a:cubicBezTo>
                      <a:pt x="206584" y="354320"/>
                      <a:pt x="415463" y="0"/>
                      <a:pt x="833037" y="0"/>
                    </a:cubicBezTo>
                    <a:lnTo>
                      <a:pt x="3569341" y="0"/>
                    </a:lnTo>
                    <a:cubicBezTo>
                      <a:pt x="3986915" y="0"/>
                      <a:pt x="4325425" y="338510"/>
                      <a:pt x="4325425" y="756084"/>
                    </a:cubicBezTo>
                    <a:lnTo>
                      <a:pt x="4325425" y="756084"/>
                    </a:lnTo>
                    <a:cubicBezTo>
                      <a:pt x="4325425" y="1173658"/>
                      <a:pt x="3986915" y="1512168"/>
                      <a:pt x="3569341" y="1512168"/>
                    </a:cubicBezTo>
                    <a:lnTo>
                      <a:pt x="833037" y="1512168"/>
                    </a:lnTo>
                    <a:cubicBezTo>
                      <a:pt x="290558" y="1484577"/>
                      <a:pt x="48258" y="2386972"/>
                      <a:pt x="55248" y="2410587"/>
                    </a:cubicBezTo>
                    <a:cubicBezTo>
                      <a:pt x="11033" y="2270940"/>
                      <a:pt x="-52678" y="1157848"/>
                      <a:pt x="76953" y="756084"/>
                    </a:cubicBezTo>
                    <a:close/>
                  </a:path>
                </a:pathLst>
              </a:custGeom>
              <a:gradFill rotWithShape="1">
                <a:gsLst>
                  <a:gs pos="0">
                    <a:srgbClr val="00668B">
                      <a:alpha val="100000"/>
                    </a:srgbClr>
                  </a:gs>
                  <a:gs pos="25000">
                    <a:srgbClr val="00B1F6">
                      <a:alpha val="100000"/>
                    </a:srgbClr>
                  </a:gs>
                  <a:gs pos="50000">
                    <a:srgbClr val="0092C8">
                      <a:alpha val="100000"/>
                    </a:srgbClr>
                  </a:gs>
                  <a:gs pos="78000">
                    <a:srgbClr val="00B0F0">
                      <a:alpha val="100000"/>
                    </a:srgbClr>
                  </a:gs>
                  <a:gs pos="100000">
                    <a:srgbClr val="0090CC">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154640" name="TextBox 33"/>
              <p:cNvSpPr/>
              <p:nvPr/>
            </p:nvSpPr>
            <p:spPr>
              <a:xfrm>
                <a:off x="5610" y="5349"/>
                <a:ext cx="3735" cy="1138"/>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en-US" altLang="x-none" sz="2000" b="1" i="1" dirty="0">
                    <a:solidFill>
                      <a:srgbClr val="FFFFFF"/>
                    </a:solidFill>
                    <a:ea typeface="微软雅黑" panose="020B0503020204020204" pitchFamily="2" charset="-122"/>
                    <a:sym typeface="Arial" panose="020B0604020202020204" pitchFamily="34" charset="0"/>
                  </a:rPr>
                  <a:t>构造预测模型，进行预报控制</a:t>
                </a:r>
                <a:endParaRPr lang="en-US" altLang="x-none" sz="2000" b="1" i="1" baseline="0" dirty="0">
                  <a:solidFill>
                    <a:srgbClr val="FFFFFF"/>
                  </a:solidFill>
                  <a:latin typeface="Arial" panose="020B0604020202020204" pitchFamily="34" charset="0"/>
                  <a:ea typeface="微软雅黑" panose="020B0503020204020204" pitchFamily="2" charset="-122"/>
                  <a:sym typeface="Arial" panose="020B0604020202020204" pitchFamily="34" charset="0"/>
                </a:endParaRPr>
              </a:p>
            </p:txBody>
          </p:sp>
          <p:sp>
            <p:nvSpPr>
              <p:cNvPr id="154641" name="TextBox 34"/>
              <p:cNvSpPr/>
              <p:nvPr/>
            </p:nvSpPr>
            <p:spPr>
              <a:xfrm>
                <a:off x="4558" y="4959"/>
                <a:ext cx="1633" cy="1704"/>
              </a:xfrm>
              <a:prstGeom prst="rect">
                <a:avLst/>
              </a:prstGeom>
              <a:noFill/>
              <a:ln w="9525">
                <a:noFill/>
              </a:ln>
            </p:spPr>
            <p:txBody>
              <a:bodyPr wrap="square">
                <a:spAutoFit/>
              </a:bodyPr>
              <a:lstStyle/>
              <a:p>
                <a:pPr marL="0" lvl="0" indent="0" eaLnBrk="1" fontAlgn="base" latinLnBrk="0" hangingPunct="1">
                  <a:lnSpc>
                    <a:spcPct val="130000"/>
                  </a:lnSpc>
                  <a:spcBef>
                    <a:spcPct val="0"/>
                  </a:spcBef>
                  <a:spcAft>
                    <a:spcPct val="0"/>
                  </a:spcAft>
                  <a:buNone/>
                </a:pPr>
                <a:r>
                  <a:rPr lang="en-US" altLang="zh-CN" sz="5000" b="1" i="1" baseline="0" dirty="0">
                    <a:solidFill>
                      <a:srgbClr val="FFFFFF"/>
                    </a:solidFill>
                    <a:latin typeface="浪漫雅圆" charset="-122"/>
                    <a:ea typeface="微软雅黑" panose="020B0503020204020204" pitchFamily="2" charset="-122"/>
                    <a:sym typeface="Arial" panose="020B0604020202020204" pitchFamily="34" charset="0"/>
                  </a:rPr>
                  <a:t>2</a:t>
                </a:r>
              </a:p>
            </p:txBody>
          </p:sp>
        </p:grpSp>
      </p:grpSp>
      <p:grpSp>
        <p:nvGrpSpPr>
          <p:cNvPr id="12" name="组合 11"/>
          <p:cNvGrpSpPr/>
          <p:nvPr/>
        </p:nvGrpSpPr>
        <p:grpSpPr>
          <a:xfrm>
            <a:off x="2549525" y="1794510"/>
            <a:ext cx="3346450" cy="1946275"/>
            <a:chOff x="4467" y="2826"/>
            <a:chExt cx="5270" cy="3065"/>
          </a:xfrm>
        </p:grpSpPr>
        <p:sp>
          <p:nvSpPr>
            <p:cNvPr id="9" name="圆角矩形 2"/>
            <p:cNvSpPr/>
            <p:nvPr/>
          </p:nvSpPr>
          <p:spPr>
            <a:xfrm flipH="1">
              <a:off x="4467" y="2826"/>
              <a:ext cx="5270" cy="3065"/>
            </a:xfrm>
            <a:custGeom>
              <a:avLst/>
              <a:gdLst>
                <a:gd name="txL" fmla="*/ 0 w 4325425"/>
                <a:gd name="txT" fmla="*/ 0 h 2410587"/>
                <a:gd name="txR" fmla="*/ 4325425 w 4325425"/>
                <a:gd name="txB" fmla="*/ 2410587 h 2410587"/>
              </a:gdLst>
              <a:ahLst/>
              <a:cxnLst>
                <a:cxn ang="0">
                  <a:pos x="76953" y="756084"/>
                </a:cxn>
                <a:cxn ang="0">
                  <a:pos x="833037" y="0"/>
                </a:cxn>
                <a:cxn ang="0">
                  <a:pos x="3569341" y="0"/>
                </a:cxn>
                <a:cxn ang="0">
                  <a:pos x="4325425" y="756084"/>
                </a:cxn>
                <a:cxn ang="0">
                  <a:pos x="4325425" y="756084"/>
                </a:cxn>
                <a:cxn ang="0">
                  <a:pos x="3569341" y="1512168"/>
                </a:cxn>
                <a:cxn ang="0">
                  <a:pos x="833037" y="1512168"/>
                </a:cxn>
                <a:cxn ang="0">
                  <a:pos x="55248" y="2410587"/>
                </a:cxn>
                <a:cxn ang="0">
                  <a:pos x="76953" y="756084"/>
                </a:cxn>
              </a:cxnLst>
              <a:rect l="txL" t="txT" r="txR" b="txB"/>
              <a:pathLst>
                <a:path w="4325425" h="2410587">
                  <a:moveTo>
                    <a:pt x="76953" y="756084"/>
                  </a:moveTo>
                  <a:cubicBezTo>
                    <a:pt x="206584" y="354320"/>
                    <a:pt x="415463" y="0"/>
                    <a:pt x="833037" y="0"/>
                  </a:cubicBezTo>
                  <a:lnTo>
                    <a:pt x="3569341" y="0"/>
                  </a:lnTo>
                  <a:cubicBezTo>
                    <a:pt x="3986915" y="0"/>
                    <a:pt x="4325425" y="338510"/>
                    <a:pt x="4325425" y="756084"/>
                  </a:cubicBezTo>
                  <a:lnTo>
                    <a:pt x="4325425" y="756084"/>
                  </a:lnTo>
                  <a:cubicBezTo>
                    <a:pt x="4325425" y="1173658"/>
                    <a:pt x="3986915" y="1512168"/>
                    <a:pt x="3569341" y="1512168"/>
                  </a:cubicBezTo>
                  <a:lnTo>
                    <a:pt x="833037" y="1512168"/>
                  </a:lnTo>
                  <a:cubicBezTo>
                    <a:pt x="290558" y="1484577"/>
                    <a:pt x="48258" y="2386972"/>
                    <a:pt x="55248" y="2410587"/>
                  </a:cubicBezTo>
                  <a:cubicBezTo>
                    <a:pt x="11033" y="2270940"/>
                    <a:pt x="-52678" y="1157848"/>
                    <a:pt x="76953" y="756084"/>
                  </a:cubicBezTo>
                  <a:close/>
                </a:path>
              </a:pathLst>
            </a:custGeom>
            <a:gradFill rotWithShape="1">
              <a:gsLst>
                <a:gs pos="0">
                  <a:srgbClr val="00668B">
                    <a:alpha val="100000"/>
                  </a:srgbClr>
                </a:gs>
                <a:gs pos="25000">
                  <a:srgbClr val="00B1F6">
                    <a:alpha val="100000"/>
                  </a:srgbClr>
                </a:gs>
                <a:gs pos="50000">
                  <a:srgbClr val="0092C8">
                    <a:alpha val="100000"/>
                  </a:srgbClr>
                </a:gs>
                <a:gs pos="78000">
                  <a:srgbClr val="00B0F0">
                    <a:alpha val="100000"/>
                  </a:srgbClr>
                </a:gs>
                <a:gs pos="100000">
                  <a:srgbClr val="0090CC">
                    <a:alpha val="100000"/>
                  </a:srgbClr>
                </a:gs>
              </a:gsLst>
              <a:lin ang="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10" name="TextBox 33"/>
            <p:cNvSpPr/>
            <p:nvPr/>
          </p:nvSpPr>
          <p:spPr>
            <a:xfrm>
              <a:off x="5697" y="3289"/>
              <a:ext cx="3735" cy="1038"/>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en-US" altLang="x-none" b="1" i="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简化系统结构，探讨系统内核</a:t>
              </a:r>
            </a:p>
          </p:txBody>
        </p:sp>
        <p:sp>
          <p:nvSpPr>
            <p:cNvPr id="11" name="TextBox 34"/>
            <p:cNvSpPr/>
            <p:nvPr/>
          </p:nvSpPr>
          <p:spPr>
            <a:xfrm>
              <a:off x="4532" y="2899"/>
              <a:ext cx="1633" cy="1704"/>
            </a:xfrm>
            <a:prstGeom prst="rect">
              <a:avLst/>
            </a:prstGeom>
            <a:noFill/>
            <a:ln w="9525">
              <a:noFill/>
            </a:ln>
          </p:spPr>
          <p:txBody>
            <a:bodyPr wrap="square">
              <a:spAutoFit/>
            </a:bodyPr>
            <a:lstStyle/>
            <a:p>
              <a:pPr marL="0" lvl="0" indent="0" eaLnBrk="1" fontAlgn="base" latinLnBrk="0" hangingPunct="1">
                <a:lnSpc>
                  <a:spcPct val="130000"/>
                </a:lnSpc>
                <a:spcBef>
                  <a:spcPct val="0"/>
                </a:spcBef>
                <a:spcAft>
                  <a:spcPct val="0"/>
                </a:spcAft>
                <a:buNone/>
              </a:pPr>
              <a:r>
                <a:rPr lang="en-US" altLang="zh-CN" sz="5000" b="1" i="1" baseline="0" dirty="0">
                  <a:solidFill>
                    <a:srgbClr val="FFFFFF"/>
                  </a:solidFill>
                  <a:latin typeface="浪漫雅圆" charset="-122"/>
                  <a:ea typeface="微软雅黑" panose="020B0503020204020204" pitchFamily="2" charset="-122"/>
                  <a:sym typeface="Arial" panose="020B0604020202020204" pitchFamily="34" charset="0"/>
                </a:rPr>
                <a:t>4</a:t>
              </a:r>
            </a:p>
          </p:txBody>
        </p:sp>
      </p:grpSp>
      <p:sp>
        <p:nvSpPr>
          <p:cNvPr id="19" name="文本框 18"/>
          <p:cNvSpPr txBox="1"/>
          <p:nvPr/>
        </p:nvSpPr>
        <p:spPr>
          <a:xfrm>
            <a:off x="10019665" y="1584960"/>
            <a:ext cx="1280160" cy="4312285"/>
          </a:xfrm>
          <a:prstGeom prst="rect">
            <a:avLst/>
          </a:prstGeom>
          <a:noFill/>
        </p:spPr>
        <p:txBody>
          <a:bodyPr vert="eaVert" wrap="square" rtlCol="0">
            <a:spAutoFit/>
          </a:bodyPr>
          <a:lstStyle/>
          <a:p>
            <a:r>
              <a:rPr lang="en-US" altLang="zh-CN" sz="2400" b="1">
                <a:latin typeface="华文新魏" panose="02010800040101010101" charset="-122"/>
                <a:ea typeface="华文新魏" panose="02010800040101010101" charset="-122"/>
              </a:rPr>
              <a:t>       </a:t>
            </a:r>
            <a:r>
              <a:rPr lang="zh-CN" altLang="en-US" sz="2400" b="1">
                <a:latin typeface="华文新魏" panose="02010800040101010101" charset="-122"/>
                <a:ea typeface="华文新魏" panose="02010800040101010101" charset="-122"/>
              </a:rPr>
              <a:t>如何选择适当的方法来解决实际问题，需要对问题进行综合考虑。</a:t>
            </a:r>
          </a:p>
        </p:txBody>
      </p:sp>
      <p:sp>
        <p:nvSpPr>
          <p:cNvPr id="20" name="TextBox 28"/>
          <p:cNvSpPr/>
          <p:nvPr/>
        </p:nvSpPr>
        <p:spPr>
          <a:xfrm>
            <a:off x="119380" y="154305"/>
            <a:ext cx="6276975"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p:tgtEl>
                                          <p:spTgt spid="19"/>
                                        </p:tgtEl>
                                        <p:attrNameLst>
                                          <p:attrName>ppt_x</p:attrName>
                                        </p:attrNameLst>
                                      </p:cBhvr>
                                      <p:tavLst>
                                        <p:tav tm="0">
                                          <p:val>
                                            <p:strVal val="#ppt_x+#ppt_w*1.125000"/>
                                          </p:val>
                                        </p:tav>
                                        <p:tav tm="100000">
                                          <p:val>
                                            <p:strVal val="#ppt_x"/>
                                          </p:val>
                                        </p:tav>
                                      </p:tavLst>
                                    </p:anim>
                                    <p:animEffect transition="in" filter="wipe(left)">
                                      <p:cBhvr>
                                        <p:cTn id="3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383655"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8200" name="TextBox 1"/>
          <p:cNvSpPr/>
          <p:nvPr/>
        </p:nvSpPr>
        <p:spPr>
          <a:xfrm flipH="1">
            <a:off x="314643" y="1584960"/>
            <a:ext cx="800100" cy="4514850"/>
          </a:xfrm>
          <a:prstGeom prst="rect">
            <a:avLst/>
          </a:prstGeom>
          <a:noFill/>
          <a:ln w="9525">
            <a:noFill/>
          </a:ln>
        </p:spPr>
        <p:txBody>
          <a:bodyPr wrap="square">
            <a:spAutoFit/>
          </a:bodyPr>
          <a:lstStyle/>
          <a:p>
            <a:pPr lvl="0" algn="ctr">
              <a:lnSpc>
                <a:spcPct val="100000"/>
              </a:lnSpc>
            </a:pPr>
            <a:r>
              <a:rPr lang="zh-CN" altLang="en-US" sz="3200" dirty="0">
                <a:solidFill>
                  <a:srgbClr val="7030A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多元统计分析的内容</a:t>
            </a:r>
          </a:p>
        </p:txBody>
      </p:sp>
      <p:sp>
        <p:nvSpPr>
          <p:cNvPr id="8"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196" name="TextBox 27"/>
          <p:cNvSpPr/>
          <p:nvPr/>
        </p:nvSpPr>
        <p:spPr>
          <a:xfrm>
            <a:off x="6887845" y="188595"/>
            <a:ext cx="4330065" cy="54864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多元统计分析的内容</a:t>
            </a:r>
          </a:p>
        </p:txBody>
      </p:sp>
      <p:sp>
        <p:nvSpPr>
          <p:cNvPr id="197" name="TextBox 28"/>
          <p:cNvSpPr/>
          <p:nvPr/>
        </p:nvSpPr>
        <p:spPr>
          <a:xfrm>
            <a:off x="119380" y="163195"/>
            <a:ext cx="6191885"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pic>
        <p:nvPicPr>
          <p:cNvPr id="5" name="图片 4" descr="全书"/>
          <p:cNvPicPr>
            <a:picLocks noChangeAspect="1"/>
          </p:cNvPicPr>
          <p:nvPr/>
        </p:nvPicPr>
        <p:blipFill>
          <a:blip r:embed="rId3"/>
          <a:stretch>
            <a:fillRect/>
          </a:stretch>
        </p:blipFill>
        <p:spPr>
          <a:xfrm>
            <a:off x="2783840" y="1039495"/>
            <a:ext cx="6275070" cy="585470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456045"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96" name="TextBox 27"/>
          <p:cNvSpPr/>
          <p:nvPr/>
        </p:nvSpPr>
        <p:spPr>
          <a:xfrm>
            <a:off x="6887845" y="188595"/>
            <a:ext cx="4330065" cy="54864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统计分析软件及应用</a:t>
            </a:r>
          </a:p>
        </p:txBody>
      </p:sp>
      <p:grpSp>
        <p:nvGrpSpPr>
          <p:cNvPr id="9" name="组合 8"/>
          <p:cNvGrpSpPr/>
          <p:nvPr/>
        </p:nvGrpSpPr>
        <p:grpSpPr>
          <a:xfrm>
            <a:off x="5065395" y="4153853"/>
            <a:ext cx="3962400" cy="2584450"/>
            <a:chOff x="8655" y="6542"/>
            <a:chExt cx="6240" cy="4070"/>
          </a:xfrm>
        </p:grpSpPr>
        <p:pic>
          <p:nvPicPr>
            <p:cNvPr id="96258" name="图片 14"/>
            <p:cNvPicPr>
              <a:picLocks noChangeAspect="1"/>
            </p:cNvPicPr>
            <p:nvPr/>
          </p:nvPicPr>
          <p:blipFill>
            <a:blip r:embed="rId3"/>
            <a:stretch>
              <a:fillRect/>
            </a:stretch>
          </p:blipFill>
          <p:spPr>
            <a:xfrm>
              <a:off x="9560" y="6542"/>
              <a:ext cx="5335" cy="4070"/>
            </a:xfrm>
            <a:prstGeom prst="rect">
              <a:avLst/>
            </a:prstGeom>
            <a:noFill/>
            <a:ln w="9525">
              <a:noFill/>
            </a:ln>
          </p:spPr>
        </p:pic>
        <p:pic>
          <p:nvPicPr>
            <p:cNvPr id="96261" name="图片 17"/>
            <p:cNvPicPr>
              <a:picLocks noChangeAspect="1"/>
            </p:cNvPicPr>
            <p:nvPr/>
          </p:nvPicPr>
          <p:blipFill>
            <a:blip r:embed="rId4"/>
            <a:stretch>
              <a:fillRect/>
            </a:stretch>
          </p:blipFill>
          <p:spPr>
            <a:xfrm>
              <a:off x="8655" y="6779"/>
              <a:ext cx="2150" cy="2648"/>
            </a:xfrm>
            <a:prstGeom prst="rect">
              <a:avLst/>
            </a:prstGeom>
            <a:noFill/>
            <a:ln w="9525">
              <a:noFill/>
            </a:ln>
          </p:spPr>
        </p:pic>
        <p:sp>
          <p:nvSpPr>
            <p:cNvPr id="96264" name="TextBox 20"/>
            <p:cNvSpPr/>
            <p:nvPr/>
          </p:nvSpPr>
          <p:spPr>
            <a:xfrm>
              <a:off x="10200" y="6837"/>
              <a:ext cx="3031" cy="1059"/>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3200" b="1" i="1" baseline="0" dirty="0">
                  <a:solidFill>
                    <a:schemeClr val="tx1"/>
                  </a:solidFill>
                  <a:latin typeface="Adidas Unity" pitchFamily="2" charset="0"/>
                  <a:ea typeface="微软雅黑" panose="020B0503020204020204" pitchFamily="2" charset="-122"/>
                  <a:sym typeface="Times New Roman" panose="02020603050405020304" pitchFamily="2" charset="0"/>
                </a:rPr>
                <a:t>S-PLUS</a:t>
              </a:r>
            </a:p>
          </p:txBody>
        </p:sp>
      </p:grpSp>
      <p:grpSp>
        <p:nvGrpSpPr>
          <p:cNvPr id="5" name="组合 4"/>
          <p:cNvGrpSpPr/>
          <p:nvPr/>
        </p:nvGrpSpPr>
        <p:grpSpPr>
          <a:xfrm>
            <a:off x="3263900" y="1624965"/>
            <a:ext cx="3888740" cy="2792730"/>
            <a:chOff x="5140" y="2559"/>
            <a:chExt cx="6124" cy="4398"/>
          </a:xfrm>
        </p:grpSpPr>
        <p:pic>
          <p:nvPicPr>
            <p:cNvPr id="96260" name="图片 16"/>
            <p:cNvPicPr>
              <a:picLocks noChangeAspect="1"/>
            </p:cNvPicPr>
            <p:nvPr/>
          </p:nvPicPr>
          <p:blipFill>
            <a:blip r:embed="rId5"/>
            <a:stretch>
              <a:fillRect/>
            </a:stretch>
          </p:blipFill>
          <p:spPr>
            <a:xfrm>
              <a:off x="5140" y="2559"/>
              <a:ext cx="6125" cy="4398"/>
            </a:xfrm>
            <a:prstGeom prst="rect">
              <a:avLst/>
            </a:prstGeom>
            <a:noFill/>
            <a:ln w="9525">
              <a:noFill/>
            </a:ln>
          </p:spPr>
        </p:pic>
        <p:pic>
          <p:nvPicPr>
            <p:cNvPr id="96262" name="图片 18"/>
            <p:cNvPicPr>
              <a:picLocks noChangeAspect="1"/>
            </p:cNvPicPr>
            <p:nvPr/>
          </p:nvPicPr>
          <p:blipFill>
            <a:blip r:embed="rId4"/>
            <a:stretch>
              <a:fillRect/>
            </a:stretch>
          </p:blipFill>
          <p:spPr>
            <a:xfrm>
              <a:off x="5820" y="3124"/>
              <a:ext cx="2150" cy="2648"/>
            </a:xfrm>
            <a:prstGeom prst="rect">
              <a:avLst/>
            </a:prstGeom>
            <a:noFill/>
            <a:ln w="9525">
              <a:noFill/>
            </a:ln>
          </p:spPr>
        </p:pic>
        <p:sp>
          <p:nvSpPr>
            <p:cNvPr id="96265" name="TextBox 21"/>
            <p:cNvSpPr/>
            <p:nvPr/>
          </p:nvSpPr>
          <p:spPr>
            <a:xfrm>
              <a:off x="7548" y="3127"/>
              <a:ext cx="2762" cy="1059"/>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3200" b="1" i="1" baseline="0" dirty="0">
                  <a:solidFill>
                    <a:schemeClr val="tx1"/>
                  </a:solidFill>
                  <a:latin typeface="Adidas Unity" pitchFamily="2" charset="0"/>
                  <a:ea typeface="微软雅黑" panose="020B0503020204020204" pitchFamily="2" charset="-122"/>
                  <a:sym typeface="Times New Roman" panose="02020603050405020304" pitchFamily="2" charset="0"/>
                </a:rPr>
                <a:t>SAS</a:t>
              </a:r>
            </a:p>
          </p:txBody>
        </p:sp>
      </p:grpSp>
      <p:grpSp>
        <p:nvGrpSpPr>
          <p:cNvPr id="6" name="组合 5"/>
          <p:cNvGrpSpPr/>
          <p:nvPr/>
        </p:nvGrpSpPr>
        <p:grpSpPr>
          <a:xfrm>
            <a:off x="7253605" y="1162685"/>
            <a:ext cx="3279775" cy="3178810"/>
            <a:chOff x="11423" y="1831"/>
            <a:chExt cx="5165" cy="5006"/>
          </a:xfrm>
        </p:grpSpPr>
        <p:pic>
          <p:nvPicPr>
            <p:cNvPr id="96259" name="图片 15"/>
            <p:cNvPicPr>
              <a:picLocks noChangeAspect="1"/>
            </p:cNvPicPr>
            <p:nvPr/>
          </p:nvPicPr>
          <p:blipFill>
            <a:blip r:embed="rId6"/>
            <a:stretch>
              <a:fillRect/>
            </a:stretch>
          </p:blipFill>
          <p:spPr>
            <a:xfrm>
              <a:off x="11423" y="1831"/>
              <a:ext cx="4290" cy="5006"/>
            </a:xfrm>
            <a:prstGeom prst="rect">
              <a:avLst/>
            </a:prstGeom>
            <a:noFill/>
            <a:ln w="9525">
              <a:noFill/>
            </a:ln>
          </p:spPr>
        </p:pic>
        <p:pic>
          <p:nvPicPr>
            <p:cNvPr id="96263" name="图片 19"/>
            <p:cNvPicPr>
              <a:picLocks noChangeAspect="1"/>
            </p:cNvPicPr>
            <p:nvPr/>
          </p:nvPicPr>
          <p:blipFill>
            <a:blip r:embed="rId4"/>
            <a:stretch>
              <a:fillRect/>
            </a:stretch>
          </p:blipFill>
          <p:spPr>
            <a:xfrm flipH="1">
              <a:off x="14438" y="3194"/>
              <a:ext cx="2150" cy="2650"/>
            </a:xfrm>
            <a:prstGeom prst="rect">
              <a:avLst/>
            </a:prstGeom>
            <a:noFill/>
            <a:ln w="9525">
              <a:noFill/>
            </a:ln>
          </p:spPr>
        </p:pic>
        <p:sp>
          <p:nvSpPr>
            <p:cNvPr id="96266" name="TextBox 22"/>
            <p:cNvSpPr/>
            <p:nvPr/>
          </p:nvSpPr>
          <p:spPr>
            <a:xfrm>
              <a:off x="12228" y="3127"/>
              <a:ext cx="2760" cy="1059"/>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3200" b="1" i="1" baseline="0" dirty="0">
                  <a:solidFill>
                    <a:schemeClr val="tx1"/>
                  </a:solidFill>
                  <a:latin typeface="Adidas Unity" pitchFamily="2" charset="0"/>
                  <a:ea typeface="微软雅黑" panose="020B0503020204020204" pitchFamily="2" charset="-122"/>
                  <a:sym typeface="Times New Roman" panose="02020603050405020304" pitchFamily="2" charset="0"/>
                </a:rPr>
                <a:t>SPSS</a:t>
              </a:r>
            </a:p>
          </p:txBody>
        </p:sp>
      </p:grpSp>
      <p:sp>
        <p:nvSpPr>
          <p:cNvPr id="96267" name="TextBox 23"/>
          <p:cNvSpPr/>
          <p:nvPr/>
        </p:nvSpPr>
        <p:spPr>
          <a:xfrm flipH="1">
            <a:off x="2589530" y="3905885"/>
            <a:ext cx="3481070" cy="1005840"/>
          </a:xfrm>
          <a:prstGeom prst="rect">
            <a:avLst/>
          </a:prstGeom>
          <a:noFill/>
          <a:ln w="9525">
            <a:noFill/>
          </a:ln>
        </p:spPr>
        <p:txBody>
          <a:bodyPr wrap="square">
            <a:spAutoFit/>
            <a:scene3d>
              <a:camera prst="orthographicFront"/>
              <a:lightRig rig="threePt" dir="t"/>
            </a:scene3d>
          </a:bodyPr>
          <a:lstStyle/>
          <a:p>
            <a:pPr marL="0" lvl="0" indent="0" eaLnBrk="1" fontAlgn="base" latinLnBrk="0" hangingPunct="1">
              <a:lnSpc>
                <a:spcPct val="100000"/>
              </a:lnSpc>
              <a:spcBef>
                <a:spcPct val="0"/>
              </a:spcBef>
              <a:spcAft>
                <a:spcPct val="0"/>
              </a:spcAft>
              <a:buNone/>
            </a:pPr>
            <a:r>
              <a:rPr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Arial" panose="020B0604020202020204" pitchFamily="34" charset="0"/>
              </a:rPr>
              <a:t>■</a:t>
            </a:r>
            <a:r>
              <a:rPr lang="en-US" altLang="x-none" sz="2000" b="1" baseline="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Arial" panose="020B0604020202020204" pitchFamily="34" charset="0"/>
              </a:rPr>
              <a:t>著名统计分析软件</a:t>
            </a:r>
          </a:p>
          <a:p>
            <a:pPr marL="0" lvl="0" indent="0" eaLnBrk="1" fontAlgn="base" latinLnBrk="0" hangingPunct="1">
              <a:lnSpc>
                <a:spcPct val="100000"/>
              </a:lnSpc>
              <a:spcBef>
                <a:spcPct val="0"/>
              </a:spcBef>
              <a:spcAft>
                <a:spcPct val="0"/>
              </a:spcAft>
              <a:buNone/>
            </a:pPr>
            <a:r>
              <a:rPr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Arial" panose="020B0604020202020204" pitchFamily="34" charset="0"/>
              </a:rPr>
              <a:t>■</a:t>
            </a:r>
            <a:r>
              <a:rPr lang="en-US" altLang="x-none" sz="2000" b="1" baseline="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Arial" panose="020B0604020202020204" pitchFamily="34" charset="0"/>
              </a:rPr>
              <a:t>组合软件系统</a:t>
            </a:r>
          </a:p>
          <a:p>
            <a:pPr marL="0" lvl="0" indent="0" eaLnBrk="1" fontAlgn="base" latinLnBrk="0" hangingPunct="1">
              <a:lnSpc>
                <a:spcPct val="100000"/>
              </a:lnSpc>
              <a:spcBef>
                <a:spcPct val="0"/>
              </a:spcBef>
              <a:spcAft>
                <a:spcPct val="0"/>
              </a:spcAft>
              <a:buNone/>
            </a:pPr>
            <a:r>
              <a:rPr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Arial" panose="020B0604020202020204" pitchFamily="34" charset="0"/>
              </a:rPr>
              <a:t>■</a:t>
            </a:r>
            <a:r>
              <a:rPr lang="en-US" altLang="x-none" sz="2000" b="1" baseline="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sym typeface="Arial" panose="020B0604020202020204" pitchFamily="34" charset="0"/>
              </a:rPr>
              <a:t>入门比较困难</a:t>
            </a:r>
          </a:p>
        </p:txBody>
      </p:sp>
      <p:sp>
        <p:nvSpPr>
          <p:cNvPr id="7" name="TextBox 23"/>
          <p:cNvSpPr/>
          <p:nvPr/>
        </p:nvSpPr>
        <p:spPr>
          <a:xfrm flipH="1">
            <a:off x="9225280" y="3608705"/>
            <a:ext cx="2816860" cy="1310640"/>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■操作简单</a:t>
            </a:r>
          </a:p>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■无须编程</a:t>
            </a:r>
          </a:p>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■方便的数据接口</a:t>
            </a:r>
          </a:p>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■灵活的功能模块组合</a:t>
            </a:r>
          </a:p>
        </p:txBody>
      </p:sp>
      <p:sp>
        <p:nvSpPr>
          <p:cNvPr id="10" name="TextBox 23"/>
          <p:cNvSpPr/>
          <p:nvPr/>
        </p:nvSpPr>
        <p:spPr>
          <a:xfrm flipH="1">
            <a:off x="8634730" y="5027295"/>
            <a:ext cx="3525520" cy="1310640"/>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■操作界面</a:t>
            </a:r>
            <a:r>
              <a:rPr lang="zh-CN"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简单</a:t>
            </a:r>
          </a:p>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■全面的统计模型和分析手段</a:t>
            </a:r>
          </a:p>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■很强的图形处理能力</a:t>
            </a:r>
          </a:p>
          <a:p>
            <a:pPr marL="0" lvl="0" indent="0" eaLnBrk="1" fontAlgn="base" latinLnBrk="0" hangingPunct="1">
              <a:lnSpc>
                <a:spcPct val="100000"/>
              </a:lnSpc>
              <a:spcBef>
                <a:spcPct val="0"/>
              </a:spcBef>
              <a:spcAft>
                <a:spcPct val="0"/>
              </a:spcAft>
              <a:buNone/>
            </a:pPr>
            <a:r>
              <a:rPr sz="2000" b="1" baseline="0" dirty="0">
                <a:solidFill>
                  <a:schemeClr val="tx1"/>
                </a:solidFill>
                <a:latin typeface="宋体" panose="02010600030101010101" pitchFamily="2" charset="-122"/>
                <a:ea typeface="宋体" panose="02010600030101010101" pitchFamily="2" charset="-122"/>
                <a:sym typeface="Arial" panose="020B0604020202020204" pitchFamily="34" charset="0"/>
              </a:rPr>
              <a:t>■兼容性极好</a:t>
            </a:r>
          </a:p>
        </p:txBody>
      </p:sp>
      <p:grpSp>
        <p:nvGrpSpPr>
          <p:cNvPr id="172034" name="组合 34"/>
          <p:cNvGrpSpPr/>
          <p:nvPr/>
        </p:nvGrpSpPr>
        <p:grpSpPr>
          <a:xfrm>
            <a:off x="539750" y="1004570"/>
            <a:ext cx="1962150" cy="5273675"/>
            <a:chOff x="0" y="0"/>
            <a:chExt cx="1962179" cy="5273912"/>
          </a:xfrm>
        </p:grpSpPr>
        <p:pic>
          <p:nvPicPr>
            <p:cNvPr id="172035" name="图片 35"/>
            <p:cNvPicPr>
              <a:picLocks noChangeAspect="1"/>
            </p:cNvPicPr>
            <p:nvPr/>
          </p:nvPicPr>
          <p:blipFill>
            <a:blip r:embed="rId7"/>
            <a:stretch>
              <a:fillRect/>
            </a:stretch>
          </p:blipFill>
          <p:spPr>
            <a:xfrm>
              <a:off x="0" y="1159081"/>
              <a:ext cx="1934945" cy="4114831"/>
            </a:xfrm>
            <a:prstGeom prst="rect">
              <a:avLst/>
            </a:prstGeom>
            <a:noFill/>
            <a:ln w="9525">
              <a:noFill/>
            </a:ln>
          </p:spPr>
        </p:pic>
        <p:sp>
          <p:nvSpPr>
            <p:cNvPr id="172036" name="圆角矩形 7"/>
            <p:cNvSpPr/>
            <p:nvPr/>
          </p:nvSpPr>
          <p:spPr>
            <a:xfrm>
              <a:off x="798010" y="0"/>
              <a:ext cx="338924" cy="2065722"/>
            </a:xfrm>
            <a:custGeom>
              <a:avLst/>
              <a:gdLst>
                <a:gd name="txL" fmla="*/ 0 w 379028"/>
                <a:gd name="txT" fmla="*/ 0 h 2132857"/>
                <a:gd name="txR" fmla="*/ 379028 w 379028"/>
                <a:gd name="txB" fmla="*/ 2132857 h 2132857"/>
              </a:gdLst>
              <a:ahLst/>
              <a:cxnLst>
                <a:cxn ang="0">
                  <a:pos x="379028" y="0"/>
                </a:cxn>
                <a:cxn ang="0">
                  <a:pos x="379027" y="1943343"/>
                </a:cxn>
                <a:cxn ang="0">
                  <a:pos x="189513" y="2132857"/>
                </a:cxn>
                <a:cxn ang="0">
                  <a:pos x="189514" y="2132856"/>
                </a:cxn>
                <a:cxn ang="0">
                  <a:pos x="0" y="1943342"/>
                </a:cxn>
                <a:cxn ang="0">
                  <a:pos x="0" y="0"/>
                </a:cxn>
              </a:cxnLst>
              <a:rect l="txL" t="txT" r="txR" b="txB"/>
              <a:pathLst>
                <a:path w="379028" h="2132857">
                  <a:moveTo>
                    <a:pt x="379028" y="0"/>
                  </a:moveTo>
                  <a:cubicBezTo>
                    <a:pt x="379028" y="647781"/>
                    <a:pt x="379027" y="1295562"/>
                    <a:pt x="379027" y="1943343"/>
                  </a:cubicBezTo>
                  <a:cubicBezTo>
                    <a:pt x="379027" y="2048009"/>
                    <a:pt x="294179" y="2132857"/>
                    <a:pt x="189513" y="2132857"/>
                  </a:cubicBezTo>
                  <a:lnTo>
                    <a:pt x="189514" y="2132856"/>
                  </a:lnTo>
                  <a:cubicBezTo>
                    <a:pt x="84848" y="2132856"/>
                    <a:pt x="0" y="2048008"/>
                    <a:pt x="0" y="1943342"/>
                  </a:cubicBezTo>
                  <a:lnTo>
                    <a:pt x="0" y="0"/>
                  </a:lnTo>
                </a:path>
              </a:pathLst>
            </a:custGeom>
            <a:noFill/>
            <a:ln w="25400" cap="flat" cmpd="sng">
              <a:solidFill>
                <a:srgbClr val="7F7F7F"/>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grpSp>
          <p:nvGrpSpPr>
            <p:cNvPr id="172037" name="组合 37"/>
            <p:cNvGrpSpPr/>
            <p:nvPr/>
          </p:nvGrpSpPr>
          <p:grpSpPr>
            <a:xfrm>
              <a:off x="793991" y="1717013"/>
              <a:ext cx="321945" cy="348707"/>
              <a:chOff x="0" y="0"/>
              <a:chExt cx="720080" cy="720080"/>
            </a:xfrm>
          </p:grpSpPr>
          <p:sp>
            <p:nvSpPr>
              <p:cNvPr id="172038" name="椭圆 40"/>
              <p:cNvSpPr/>
              <p:nvPr/>
            </p:nvSpPr>
            <p:spPr>
              <a:xfrm>
                <a:off x="0" y="0"/>
                <a:ext cx="720080" cy="720080"/>
              </a:xfrm>
              <a:prstGeom prst="ellipse">
                <a:avLst/>
              </a:prstGeom>
              <a:solidFill>
                <a:srgbClr val="FFFFFF"/>
              </a:solidFill>
              <a:ln w="25400" cap="flat" cmpd="sng">
                <a:solidFill>
                  <a:srgbClr val="FFFFFF"/>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sp>
            <p:nvSpPr>
              <p:cNvPr id="172039" name="椭圆 41"/>
              <p:cNvSpPr/>
              <p:nvPr/>
            </p:nvSpPr>
            <p:spPr>
              <a:xfrm>
                <a:off x="105438" y="74958"/>
                <a:ext cx="570166" cy="570166"/>
              </a:xfrm>
              <a:prstGeom prst="ellipse">
                <a:avLst/>
              </a:prstGeom>
              <a:solidFill>
                <a:srgbClr val="FFFFFF"/>
              </a:solidFill>
              <a:ln w="25400" cap="flat" cmpd="sng">
                <a:solidFill>
                  <a:srgbClr val="F79646"/>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grpSp>
        <p:sp>
          <p:nvSpPr>
            <p:cNvPr id="172040" name="TextBox 38"/>
            <p:cNvSpPr/>
            <p:nvPr/>
          </p:nvSpPr>
          <p:spPr>
            <a:xfrm flipH="1">
              <a:off x="610009" y="2559892"/>
              <a:ext cx="1352170" cy="488337"/>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2800" b="1" i="1" baseline="0" dirty="0">
                  <a:solidFill>
                    <a:srgbClr val="FFFFFF"/>
                  </a:solidFill>
                  <a:latin typeface="Arial Rounded MT Bold" panose="020F0704030504030204" pitchFamily="2" charset="0"/>
                  <a:ea typeface="微软雅黑" panose="020B0503020204020204" pitchFamily="2" charset="-122"/>
                  <a:sym typeface="Times New Roman" panose="02020603050405020304" pitchFamily="2" charset="0"/>
                </a:rPr>
                <a:t>1</a:t>
              </a:r>
            </a:p>
          </p:txBody>
        </p:sp>
        <p:sp>
          <p:nvSpPr>
            <p:cNvPr id="172041" name="TextBox 39"/>
            <p:cNvSpPr/>
            <p:nvPr/>
          </p:nvSpPr>
          <p:spPr>
            <a:xfrm flipH="1">
              <a:off x="617008" y="2901687"/>
              <a:ext cx="1287781" cy="1214810"/>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zh-CN" altLang="en-US" sz="2400" b="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强大的统计分析软件</a:t>
              </a:r>
              <a:r>
                <a:rPr lang="en-US" altLang="x-none" sz="2400" b="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 </a:t>
              </a:r>
            </a:p>
          </p:txBody>
        </p:sp>
      </p:grpSp>
      <p:sp>
        <p:nvSpPr>
          <p:cNvPr id="8" name="TextBox 28"/>
          <p:cNvSpPr/>
          <p:nvPr/>
        </p:nvSpPr>
        <p:spPr>
          <a:xfrm>
            <a:off x="47625" y="116205"/>
            <a:ext cx="6186170"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fade">
                                      <p:cBhvr>
                                        <p:cTn id="7" dur="1000"/>
                                        <p:tgtEl>
                                          <p:spTgt spid="172034"/>
                                        </p:tgtEl>
                                      </p:cBhvr>
                                    </p:animEffect>
                                    <p:anim calcmode="lin" valueType="num">
                                      <p:cBhvr>
                                        <p:cTn id="8" dur="1000" fill="hold"/>
                                        <p:tgtEl>
                                          <p:spTgt spid="172034"/>
                                        </p:tgtEl>
                                        <p:attrNameLst>
                                          <p:attrName>ppt_x</p:attrName>
                                        </p:attrNameLst>
                                      </p:cBhvr>
                                      <p:tavLst>
                                        <p:tav tm="0">
                                          <p:val>
                                            <p:strVal val="#ppt_x"/>
                                          </p:val>
                                        </p:tav>
                                        <p:tav tm="100000">
                                          <p:val>
                                            <p:strVal val="#ppt_x"/>
                                          </p:val>
                                        </p:tav>
                                      </p:tavLst>
                                    </p:anim>
                                    <p:anim calcmode="lin" valueType="num">
                                      <p:cBhvr>
                                        <p:cTn id="9" dur="1000" fill="hold"/>
                                        <p:tgtEl>
                                          <p:spTgt spid="1720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6267"/>
                                        </p:tgtEl>
                                        <p:attrNameLst>
                                          <p:attrName>style.visibility</p:attrName>
                                        </p:attrNameLst>
                                      </p:cBhvr>
                                      <p:to>
                                        <p:strVal val="visible"/>
                                      </p:to>
                                    </p:set>
                                    <p:animEffect transition="in" filter="fade">
                                      <p:cBhvr>
                                        <p:cTn id="21" dur="1000"/>
                                        <p:tgtEl>
                                          <p:spTgt spid="96267"/>
                                        </p:tgtEl>
                                      </p:cBhvr>
                                    </p:animEffect>
                                    <p:anim calcmode="lin" valueType="num">
                                      <p:cBhvr>
                                        <p:cTn id="22" dur="1000" fill="hold"/>
                                        <p:tgtEl>
                                          <p:spTgt spid="96267"/>
                                        </p:tgtEl>
                                        <p:attrNameLst>
                                          <p:attrName>ppt_x</p:attrName>
                                        </p:attrNameLst>
                                      </p:cBhvr>
                                      <p:tavLst>
                                        <p:tav tm="0">
                                          <p:val>
                                            <p:strVal val="#ppt_x"/>
                                          </p:val>
                                        </p:tav>
                                        <p:tav tm="100000">
                                          <p:val>
                                            <p:strVal val="#ppt_x"/>
                                          </p:val>
                                        </p:tav>
                                      </p:tavLst>
                                    </p:anim>
                                    <p:anim calcmode="lin" valueType="num">
                                      <p:cBhvr>
                                        <p:cTn id="23" dur="1000" fill="hold"/>
                                        <p:tgtEl>
                                          <p:spTgt spid="9626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7" grpId="0"/>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313805" y="33274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grpSp>
        <p:nvGrpSpPr>
          <p:cNvPr id="5" name="组合 4"/>
          <p:cNvGrpSpPr/>
          <p:nvPr/>
        </p:nvGrpSpPr>
        <p:grpSpPr>
          <a:xfrm>
            <a:off x="3263900" y="1624965"/>
            <a:ext cx="3889375" cy="2792413"/>
            <a:chOff x="5140" y="2559"/>
            <a:chExt cx="6125" cy="4398"/>
          </a:xfrm>
        </p:grpSpPr>
        <p:pic>
          <p:nvPicPr>
            <p:cNvPr id="96260" name="图片 16"/>
            <p:cNvPicPr>
              <a:picLocks noChangeAspect="1"/>
            </p:cNvPicPr>
            <p:nvPr/>
          </p:nvPicPr>
          <p:blipFill>
            <a:blip r:embed="rId5"/>
            <a:stretch>
              <a:fillRect/>
            </a:stretch>
          </p:blipFill>
          <p:spPr>
            <a:xfrm>
              <a:off x="5140" y="2559"/>
              <a:ext cx="6125" cy="4398"/>
            </a:xfrm>
            <a:prstGeom prst="rect">
              <a:avLst/>
            </a:prstGeom>
            <a:noFill/>
            <a:ln w="9525">
              <a:noFill/>
            </a:ln>
          </p:spPr>
        </p:pic>
        <p:pic>
          <p:nvPicPr>
            <p:cNvPr id="96262" name="图片 18"/>
            <p:cNvPicPr>
              <a:picLocks noChangeAspect="1"/>
            </p:cNvPicPr>
            <p:nvPr/>
          </p:nvPicPr>
          <p:blipFill>
            <a:blip r:embed="rId6"/>
            <a:stretch>
              <a:fillRect/>
            </a:stretch>
          </p:blipFill>
          <p:spPr>
            <a:xfrm>
              <a:off x="5820" y="3124"/>
              <a:ext cx="2150" cy="2648"/>
            </a:xfrm>
            <a:prstGeom prst="rect">
              <a:avLst/>
            </a:prstGeom>
            <a:noFill/>
            <a:ln w="9525">
              <a:noFill/>
            </a:ln>
          </p:spPr>
        </p:pic>
        <p:sp>
          <p:nvSpPr>
            <p:cNvPr id="96265" name="TextBox 21"/>
            <p:cNvSpPr/>
            <p:nvPr/>
          </p:nvSpPr>
          <p:spPr>
            <a:xfrm>
              <a:off x="7340" y="3240"/>
              <a:ext cx="3196" cy="1059"/>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3200" b="1" baseline="0" dirty="0">
                  <a:solidFill>
                    <a:schemeClr val="tx1"/>
                  </a:solidFill>
                  <a:latin typeface="Adidas Unity" pitchFamily="2" charset="0"/>
                  <a:ea typeface="微软雅黑" panose="020B0503020204020204" pitchFamily="2" charset="-122"/>
                  <a:sym typeface="Times New Roman" panose="02020603050405020304" pitchFamily="2" charset="0"/>
                </a:rPr>
                <a:t>MATLAB</a:t>
              </a:r>
            </a:p>
          </p:txBody>
        </p:sp>
      </p:grpSp>
      <p:sp>
        <p:nvSpPr>
          <p:cNvPr id="96267" name="TextBox 23"/>
          <p:cNvSpPr/>
          <p:nvPr/>
        </p:nvSpPr>
        <p:spPr>
          <a:xfrm flipH="1">
            <a:off x="7098030" y="2670810"/>
            <a:ext cx="3940810" cy="3017520"/>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■数值分析</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■数值和符号计算</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■工程与科学绘图</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■控制系统的设计与仿真</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■数字图像处理技术</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■数字信号处理技术</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■通讯系统设计与仿</a:t>
            </a:r>
          </a:p>
          <a:p>
            <a:pPr marL="0" lvl="0" indent="0" eaLnBrk="1" fontAlgn="base" latinLnBrk="0" hangingPunct="1">
              <a:lnSpc>
                <a:spcPct val="100000"/>
              </a:lnSpc>
              <a:spcBef>
                <a:spcPct val="0"/>
              </a:spcBef>
              <a:spcAft>
                <a:spcPct val="0"/>
              </a:spcAft>
              <a:buNone/>
            </a:pPr>
            <a:r>
              <a:rPr sz="2400" b="1" dirty="0">
                <a:latin typeface="宋体" panose="02010600030101010101" pitchFamily="2" charset="-122"/>
                <a:ea typeface="宋体" panose="02010600030101010101" pitchFamily="2" charset="-122"/>
                <a:sym typeface="Arial" panose="020B0604020202020204" pitchFamily="34" charset="0"/>
              </a:rPr>
              <a:t>■财务与金融工程</a:t>
            </a:r>
          </a:p>
        </p:txBody>
      </p:sp>
      <p:grpSp>
        <p:nvGrpSpPr>
          <p:cNvPr id="172034" name="组合 34"/>
          <p:cNvGrpSpPr/>
          <p:nvPr/>
        </p:nvGrpSpPr>
        <p:grpSpPr>
          <a:xfrm>
            <a:off x="539750" y="1004570"/>
            <a:ext cx="1962150" cy="5273675"/>
            <a:chOff x="0" y="0"/>
            <a:chExt cx="1962179" cy="5273912"/>
          </a:xfrm>
        </p:grpSpPr>
        <p:pic>
          <p:nvPicPr>
            <p:cNvPr id="172035" name="图片 35"/>
            <p:cNvPicPr>
              <a:picLocks noChangeAspect="1"/>
            </p:cNvPicPr>
            <p:nvPr/>
          </p:nvPicPr>
          <p:blipFill>
            <a:blip r:embed="rId7"/>
            <a:stretch>
              <a:fillRect/>
            </a:stretch>
          </p:blipFill>
          <p:spPr>
            <a:xfrm>
              <a:off x="0" y="1159081"/>
              <a:ext cx="1934945" cy="4114831"/>
            </a:xfrm>
            <a:prstGeom prst="rect">
              <a:avLst/>
            </a:prstGeom>
            <a:noFill/>
            <a:ln w="9525">
              <a:noFill/>
            </a:ln>
          </p:spPr>
        </p:pic>
        <p:sp>
          <p:nvSpPr>
            <p:cNvPr id="172036" name="圆角矩形 7"/>
            <p:cNvSpPr/>
            <p:nvPr/>
          </p:nvSpPr>
          <p:spPr>
            <a:xfrm>
              <a:off x="798010" y="0"/>
              <a:ext cx="338924" cy="2065722"/>
            </a:xfrm>
            <a:custGeom>
              <a:avLst/>
              <a:gdLst>
                <a:gd name="txL" fmla="*/ 0 w 379028"/>
                <a:gd name="txT" fmla="*/ 0 h 2132857"/>
                <a:gd name="txR" fmla="*/ 379028 w 379028"/>
                <a:gd name="txB" fmla="*/ 2132857 h 2132857"/>
              </a:gdLst>
              <a:ahLst/>
              <a:cxnLst>
                <a:cxn ang="0">
                  <a:pos x="379028" y="0"/>
                </a:cxn>
                <a:cxn ang="0">
                  <a:pos x="379027" y="1943343"/>
                </a:cxn>
                <a:cxn ang="0">
                  <a:pos x="189513" y="2132857"/>
                </a:cxn>
                <a:cxn ang="0">
                  <a:pos x="189514" y="2132856"/>
                </a:cxn>
                <a:cxn ang="0">
                  <a:pos x="0" y="1943342"/>
                </a:cxn>
                <a:cxn ang="0">
                  <a:pos x="0" y="0"/>
                </a:cxn>
              </a:cxnLst>
              <a:rect l="txL" t="txT" r="txR" b="txB"/>
              <a:pathLst>
                <a:path w="379028" h="2132857">
                  <a:moveTo>
                    <a:pt x="379028" y="0"/>
                  </a:moveTo>
                  <a:cubicBezTo>
                    <a:pt x="379028" y="647781"/>
                    <a:pt x="379027" y="1295562"/>
                    <a:pt x="379027" y="1943343"/>
                  </a:cubicBezTo>
                  <a:cubicBezTo>
                    <a:pt x="379027" y="2048009"/>
                    <a:pt x="294179" y="2132857"/>
                    <a:pt x="189513" y="2132857"/>
                  </a:cubicBezTo>
                  <a:lnTo>
                    <a:pt x="189514" y="2132856"/>
                  </a:lnTo>
                  <a:cubicBezTo>
                    <a:pt x="84848" y="2132856"/>
                    <a:pt x="0" y="2048008"/>
                    <a:pt x="0" y="1943342"/>
                  </a:cubicBezTo>
                  <a:lnTo>
                    <a:pt x="0" y="0"/>
                  </a:lnTo>
                </a:path>
              </a:pathLst>
            </a:custGeom>
            <a:noFill/>
            <a:ln w="25400" cap="flat" cmpd="sng">
              <a:solidFill>
                <a:srgbClr val="7F7F7F"/>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grpSp>
          <p:nvGrpSpPr>
            <p:cNvPr id="172037" name="组合 37"/>
            <p:cNvGrpSpPr/>
            <p:nvPr/>
          </p:nvGrpSpPr>
          <p:grpSpPr>
            <a:xfrm>
              <a:off x="793991" y="1717013"/>
              <a:ext cx="321945" cy="348707"/>
              <a:chOff x="0" y="0"/>
              <a:chExt cx="720080" cy="720080"/>
            </a:xfrm>
          </p:grpSpPr>
          <p:sp>
            <p:nvSpPr>
              <p:cNvPr id="172038" name="椭圆 40"/>
              <p:cNvSpPr/>
              <p:nvPr/>
            </p:nvSpPr>
            <p:spPr>
              <a:xfrm>
                <a:off x="0" y="0"/>
                <a:ext cx="720080" cy="720080"/>
              </a:xfrm>
              <a:prstGeom prst="ellipse">
                <a:avLst/>
              </a:prstGeom>
              <a:solidFill>
                <a:srgbClr val="FFFFFF"/>
              </a:solidFill>
              <a:ln w="25400" cap="flat" cmpd="sng">
                <a:solidFill>
                  <a:srgbClr val="FFFFFF"/>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sp>
            <p:nvSpPr>
              <p:cNvPr id="172039" name="椭圆 41"/>
              <p:cNvSpPr/>
              <p:nvPr/>
            </p:nvSpPr>
            <p:spPr>
              <a:xfrm>
                <a:off x="105438" y="74958"/>
                <a:ext cx="570166" cy="570166"/>
              </a:xfrm>
              <a:prstGeom prst="ellipse">
                <a:avLst/>
              </a:prstGeom>
              <a:solidFill>
                <a:srgbClr val="FFFFFF"/>
              </a:solidFill>
              <a:ln w="25400" cap="flat" cmpd="sng">
                <a:solidFill>
                  <a:srgbClr val="F79646"/>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grpSp>
        <p:sp>
          <p:nvSpPr>
            <p:cNvPr id="172040" name="TextBox 38"/>
            <p:cNvSpPr/>
            <p:nvPr/>
          </p:nvSpPr>
          <p:spPr>
            <a:xfrm flipH="1">
              <a:off x="610009" y="2559892"/>
              <a:ext cx="1352170" cy="488337"/>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2800" b="1" i="1" baseline="0" dirty="0">
                  <a:solidFill>
                    <a:srgbClr val="FFFFFF"/>
                  </a:solidFill>
                  <a:latin typeface="Arial Rounded MT Bold" panose="020F0704030504030204" pitchFamily="2" charset="0"/>
                  <a:ea typeface="微软雅黑" panose="020B0503020204020204" pitchFamily="2" charset="-122"/>
                  <a:sym typeface="Times New Roman" panose="02020603050405020304" pitchFamily="2" charset="0"/>
                </a:rPr>
                <a:t>2</a:t>
              </a:r>
            </a:p>
          </p:txBody>
        </p:sp>
        <p:sp>
          <p:nvSpPr>
            <p:cNvPr id="172041" name="TextBox 39"/>
            <p:cNvSpPr/>
            <p:nvPr/>
          </p:nvSpPr>
          <p:spPr>
            <a:xfrm flipH="1">
              <a:off x="617008" y="2901687"/>
              <a:ext cx="1287781" cy="1214810"/>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zh-CN" altLang="en-US" sz="2400" b="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完整的数值计算软件</a:t>
              </a:r>
              <a:r>
                <a:rPr lang="en-US" altLang="x-none" sz="2400" b="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 </a:t>
              </a:r>
            </a:p>
          </p:txBody>
        </p:sp>
      </p:grpSp>
      <p:sp>
        <p:nvSpPr>
          <p:cNvPr id="7" name="TextBox 27"/>
          <p:cNvSpPr/>
          <p:nvPr>
            <p:custDataLst>
              <p:tags r:id="rId1"/>
            </p:custDataLst>
          </p:nvPr>
        </p:nvSpPr>
        <p:spPr>
          <a:xfrm>
            <a:off x="6887845" y="188595"/>
            <a:ext cx="4330065" cy="54864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统计分析软件及应用</a:t>
            </a:r>
          </a:p>
        </p:txBody>
      </p:sp>
      <p:sp>
        <p:nvSpPr>
          <p:cNvPr id="9" name="TextBox 28"/>
          <p:cNvSpPr/>
          <p:nvPr>
            <p:custDataLst>
              <p:tags r:id="rId2"/>
            </p:custDataLst>
          </p:nvPr>
        </p:nvSpPr>
        <p:spPr>
          <a:xfrm>
            <a:off x="47625" y="116205"/>
            <a:ext cx="6186170"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fade">
                                      <p:cBhvr>
                                        <p:cTn id="7" dur="1000"/>
                                        <p:tgtEl>
                                          <p:spTgt spid="172034"/>
                                        </p:tgtEl>
                                      </p:cBhvr>
                                    </p:animEffect>
                                    <p:anim calcmode="lin" valueType="num">
                                      <p:cBhvr>
                                        <p:cTn id="8" dur="1000" fill="hold"/>
                                        <p:tgtEl>
                                          <p:spTgt spid="172034"/>
                                        </p:tgtEl>
                                        <p:attrNameLst>
                                          <p:attrName>ppt_x</p:attrName>
                                        </p:attrNameLst>
                                      </p:cBhvr>
                                      <p:tavLst>
                                        <p:tav tm="0">
                                          <p:val>
                                            <p:strVal val="#ppt_x"/>
                                          </p:val>
                                        </p:tav>
                                        <p:tav tm="100000">
                                          <p:val>
                                            <p:strVal val="#ppt_x"/>
                                          </p:val>
                                        </p:tav>
                                      </p:tavLst>
                                    </p:anim>
                                    <p:anim calcmode="lin" valueType="num">
                                      <p:cBhvr>
                                        <p:cTn id="9" dur="1000" fill="hold"/>
                                        <p:tgtEl>
                                          <p:spTgt spid="1720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6267"/>
                                        </p:tgtEl>
                                        <p:attrNameLst>
                                          <p:attrName>style.visibility</p:attrName>
                                        </p:attrNameLst>
                                      </p:cBhvr>
                                      <p:to>
                                        <p:strVal val="visible"/>
                                      </p:to>
                                    </p:set>
                                    <p:animEffect transition="in" filter="fade">
                                      <p:cBhvr>
                                        <p:cTn id="21" dur="1000"/>
                                        <p:tgtEl>
                                          <p:spTgt spid="96267"/>
                                        </p:tgtEl>
                                      </p:cBhvr>
                                    </p:animEffect>
                                    <p:anim calcmode="lin" valueType="num">
                                      <p:cBhvr>
                                        <p:cTn id="22" dur="1000" fill="hold"/>
                                        <p:tgtEl>
                                          <p:spTgt spid="96267"/>
                                        </p:tgtEl>
                                        <p:attrNameLst>
                                          <p:attrName>ppt_x</p:attrName>
                                        </p:attrNameLst>
                                      </p:cBhvr>
                                      <p:tavLst>
                                        <p:tav tm="0">
                                          <p:val>
                                            <p:strVal val="#ppt_x"/>
                                          </p:val>
                                        </p:tav>
                                        <p:tav tm="100000">
                                          <p:val>
                                            <p:strVal val="#ppt_x"/>
                                          </p:val>
                                        </p:tav>
                                      </p:tavLst>
                                    </p:anim>
                                    <p:anim calcmode="lin" valueType="num">
                                      <p:cBhvr>
                                        <p:cTn id="23" dur="1000" fill="hold"/>
                                        <p:tgtEl>
                                          <p:spTgt spid="962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矩形 2"/>
          <p:cNvSpPr/>
          <p:nvPr/>
        </p:nvSpPr>
        <p:spPr>
          <a:xfrm rot="9116563" flipH="1">
            <a:off x="3643630" y="1880870"/>
            <a:ext cx="5748020" cy="2534285"/>
          </a:xfrm>
          <a:custGeom>
            <a:avLst/>
            <a:gdLst>
              <a:gd name="txL" fmla="*/ 0 w 6356304"/>
              <a:gd name="txT" fmla="*/ 0 h 2984460"/>
              <a:gd name="txR" fmla="*/ 6356304 w 6356304"/>
              <a:gd name="txB" fmla="*/ 2984460 h 2984460"/>
            </a:gdLst>
            <a:ahLst/>
            <a:cxnLst>
              <a:cxn ang="0">
                <a:pos x="0" y="0"/>
              </a:cxn>
            </a:cxnLst>
            <a:rect l="txL" t="txT" r="txR" b="txB"/>
            <a:pathLst>
              <a:path w="6356304" h="2984460">
                <a:moveTo>
                  <a:pt x="5870383" y="2447267"/>
                </a:moveTo>
                <a:cubicBezTo>
                  <a:pt x="6159820" y="2290036"/>
                  <a:pt x="6356305" y="1983380"/>
                  <a:pt x="6356304" y="1630833"/>
                </a:cubicBezTo>
                <a:cubicBezTo>
                  <a:pt x="6356305" y="1118037"/>
                  <a:pt x="5940602" y="702334"/>
                  <a:pt x="5427806" y="702334"/>
                </a:cubicBezTo>
                <a:cubicBezTo>
                  <a:pt x="5186887" y="702334"/>
                  <a:pt x="4967401" y="794089"/>
                  <a:pt x="4803100" y="945345"/>
                </a:cubicBezTo>
                <a:cubicBezTo>
                  <a:pt x="4519128" y="1146498"/>
                  <a:pt x="4064729" y="1275163"/>
                  <a:pt x="3552963" y="1275163"/>
                </a:cubicBezTo>
                <a:cubicBezTo>
                  <a:pt x="2988252" y="1275163"/>
                  <a:pt x="2493391" y="1118497"/>
                  <a:pt x="2218976" y="882522"/>
                </a:cubicBezTo>
                <a:lnTo>
                  <a:pt x="2218855" y="882522"/>
                </a:lnTo>
                <a:cubicBezTo>
                  <a:pt x="1986708" y="362118"/>
                  <a:pt x="1464540" y="0"/>
                  <a:pt x="857797" y="0"/>
                </a:cubicBezTo>
                <a:cubicBezTo>
                  <a:pt x="545079" y="0"/>
                  <a:pt x="254828" y="96193"/>
                  <a:pt x="15278" y="260980"/>
                </a:cubicBezTo>
                <a:lnTo>
                  <a:pt x="0" y="1577540"/>
                </a:lnTo>
                <a:lnTo>
                  <a:pt x="745997" y="2977179"/>
                </a:lnTo>
                <a:cubicBezTo>
                  <a:pt x="782724" y="2983062"/>
                  <a:pt x="820097" y="2984460"/>
                  <a:pt x="857797" y="2984460"/>
                </a:cubicBezTo>
                <a:cubicBezTo>
                  <a:pt x="1351626" y="2984460"/>
                  <a:pt x="1789429" y="2744580"/>
                  <a:pt x="2059695" y="2374000"/>
                </a:cubicBezTo>
                <a:cubicBezTo>
                  <a:pt x="2310844" y="2097219"/>
                  <a:pt x="2849008" y="1906391"/>
                  <a:pt x="3472254" y="1906391"/>
                </a:cubicBezTo>
                <a:cubicBezTo>
                  <a:pt x="3987973" y="1906391"/>
                  <a:pt x="4445435" y="2037053"/>
                  <a:pt x="4728991" y="2240876"/>
                </a:cubicBezTo>
                <a:cubicBezTo>
                  <a:pt x="4781159" y="2301929"/>
                  <a:pt x="4841708" y="2355487"/>
                  <a:pt x="4908441" y="2400586"/>
                </a:cubicBezTo>
                <a:lnTo>
                  <a:pt x="4914954" y="2407913"/>
                </a:lnTo>
                <a:lnTo>
                  <a:pt x="4920449" y="2407913"/>
                </a:lnTo>
                <a:cubicBezTo>
                  <a:pt x="5066040" y="2503835"/>
                  <a:pt x="5240441" y="2559331"/>
                  <a:pt x="5427805" y="2559331"/>
                </a:cubicBezTo>
                <a:cubicBezTo>
                  <a:pt x="5588055" y="2559331"/>
                  <a:pt x="5738822" y="2518735"/>
                  <a:pt x="5870383" y="2447267"/>
                </a:cubicBezTo>
                <a:close/>
              </a:path>
            </a:pathLst>
          </a:custGeom>
          <a:gradFill rotWithShape="1">
            <a:gsLst>
              <a:gs pos="0">
                <a:srgbClr val="E36C09">
                  <a:alpha val="100000"/>
                </a:srgbClr>
              </a:gs>
              <a:gs pos="31000">
                <a:srgbClr val="FFC000">
                  <a:alpha val="100000"/>
                </a:srgbClr>
              </a:gs>
              <a:gs pos="82999">
                <a:srgbClr val="FFFF00">
                  <a:alpha val="100000"/>
                </a:srgbClr>
              </a:gs>
              <a:gs pos="100000">
                <a:srgbClr val="FFFF00">
                  <a:alpha val="100000"/>
                </a:srgbClr>
              </a:gs>
            </a:gsLst>
            <a:lin ang="810000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214020" name="矩形 2"/>
          <p:cNvSpPr/>
          <p:nvPr/>
        </p:nvSpPr>
        <p:spPr>
          <a:xfrm rot="12683765" flipH="1">
            <a:off x="3619500" y="3815080"/>
            <a:ext cx="5759450" cy="2534285"/>
          </a:xfrm>
          <a:custGeom>
            <a:avLst/>
            <a:gdLst>
              <a:gd name="txL" fmla="*/ 0 w 6369355"/>
              <a:gd name="txT" fmla="*/ 0 h 2984460"/>
              <a:gd name="txR" fmla="*/ 6369355 w 6369355"/>
              <a:gd name="txB" fmla="*/ 2984460 h 2984460"/>
            </a:gdLst>
            <a:ahLst/>
            <a:cxnLst>
              <a:cxn ang="0">
                <a:pos x="0" y="0"/>
              </a:cxn>
            </a:cxnLst>
            <a:rect l="txL" t="txT" r="txR" b="txB"/>
            <a:pathLst>
              <a:path w="6369355" h="2984460">
                <a:moveTo>
                  <a:pt x="94230" y="2765527"/>
                </a:moveTo>
                <a:cubicBezTo>
                  <a:pt x="320010" y="2904714"/>
                  <a:pt x="586116" y="2984460"/>
                  <a:pt x="870848" y="2984460"/>
                </a:cubicBezTo>
                <a:cubicBezTo>
                  <a:pt x="1364677" y="2984460"/>
                  <a:pt x="1802480" y="2744580"/>
                  <a:pt x="2072746" y="2374000"/>
                </a:cubicBezTo>
                <a:cubicBezTo>
                  <a:pt x="2323895" y="2097219"/>
                  <a:pt x="2862059" y="1906391"/>
                  <a:pt x="3485305" y="1906391"/>
                </a:cubicBezTo>
                <a:cubicBezTo>
                  <a:pt x="4001024" y="1906391"/>
                  <a:pt x="4458486" y="2037053"/>
                  <a:pt x="4742042" y="2240876"/>
                </a:cubicBezTo>
                <a:cubicBezTo>
                  <a:pt x="4794210" y="2301929"/>
                  <a:pt x="4854758" y="2355487"/>
                  <a:pt x="4921492" y="2400586"/>
                </a:cubicBezTo>
                <a:lnTo>
                  <a:pt x="4928005" y="2407913"/>
                </a:lnTo>
                <a:lnTo>
                  <a:pt x="4933500" y="2407913"/>
                </a:lnTo>
                <a:cubicBezTo>
                  <a:pt x="5079091" y="2503835"/>
                  <a:pt x="5253492" y="2559331"/>
                  <a:pt x="5440856" y="2559331"/>
                </a:cubicBezTo>
                <a:cubicBezTo>
                  <a:pt x="5953652" y="2559331"/>
                  <a:pt x="6369355" y="2143629"/>
                  <a:pt x="6369355" y="1630833"/>
                </a:cubicBezTo>
                <a:cubicBezTo>
                  <a:pt x="6369355" y="1118037"/>
                  <a:pt x="5953652" y="702334"/>
                  <a:pt x="5440856" y="702334"/>
                </a:cubicBezTo>
                <a:cubicBezTo>
                  <a:pt x="5199938" y="702334"/>
                  <a:pt x="4980451" y="794089"/>
                  <a:pt x="4816150" y="945345"/>
                </a:cubicBezTo>
                <a:cubicBezTo>
                  <a:pt x="4532179" y="1146498"/>
                  <a:pt x="4077780" y="1275163"/>
                  <a:pt x="3566014" y="1275163"/>
                </a:cubicBezTo>
                <a:cubicBezTo>
                  <a:pt x="3001303" y="1275163"/>
                  <a:pt x="2506442" y="1118497"/>
                  <a:pt x="2232027" y="882522"/>
                </a:cubicBezTo>
                <a:lnTo>
                  <a:pt x="2231906" y="882522"/>
                </a:lnTo>
                <a:cubicBezTo>
                  <a:pt x="1999759" y="362118"/>
                  <a:pt x="1477591" y="0"/>
                  <a:pt x="870848" y="0"/>
                </a:cubicBezTo>
                <a:lnTo>
                  <a:pt x="782903" y="6735"/>
                </a:lnTo>
                <a:lnTo>
                  <a:pt x="16712" y="1262150"/>
                </a:lnTo>
                <a:lnTo>
                  <a:pt x="0" y="2702296"/>
                </a:lnTo>
                <a:cubicBezTo>
                  <a:pt x="30545" y="2724547"/>
                  <a:pt x="61976" y="2745644"/>
                  <a:pt x="94230" y="2765527"/>
                </a:cubicBezTo>
                <a:close/>
              </a:path>
            </a:pathLst>
          </a:custGeom>
          <a:gradFill rotWithShape="1">
            <a:gsLst>
              <a:gs pos="0">
                <a:srgbClr val="E36C09">
                  <a:alpha val="100000"/>
                </a:srgbClr>
              </a:gs>
              <a:gs pos="31000">
                <a:srgbClr val="FFC000">
                  <a:alpha val="100000"/>
                </a:srgbClr>
              </a:gs>
              <a:gs pos="82999">
                <a:srgbClr val="FFFF00">
                  <a:alpha val="100000"/>
                </a:srgbClr>
              </a:gs>
              <a:gs pos="100000">
                <a:srgbClr val="FFFF00">
                  <a:alpha val="100000"/>
                </a:srgbClr>
              </a:gs>
            </a:gsLst>
            <a:lin ang="810000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214022" name="矩形 2"/>
          <p:cNvSpPr/>
          <p:nvPr/>
        </p:nvSpPr>
        <p:spPr>
          <a:xfrm rot="10839888" flipH="1">
            <a:off x="3937000" y="2807970"/>
            <a:ext cx="5759450" cy="2534285"/>
          </a:xfrm>
          <a:custGeom>
            <a:avLst/>
            <a:gdLst>
              <a:gd name="txL" fmla="*/ 0 w 6369355"/>
              <a:gd name="txT" fmla="*/ 0 h 2984460"/>
              <a:gd name="txR" fmla="*/ 6369355 w 6369355"/>
              <a:gd name="txB" fmla="*/ 2984460 h 2984460"/>
            </a:gdLst>
            <a:ahLst/>
            <a:cxnLst>
              <a:cxn ang="0">
                <a:pos x="0" y="0"/>
              </a:cxn>
            </a:cxnLst>
            <a:rect l="txL" t="txT" r="txR" b="txB"/>
            <a:pathLst>
              <a:path w="6369355" h="2984460">
                <a:moveTo>
                  <a:pt x="870848" y="2984460"/>
                </a:moveTo>
                <a:cubicBezTo>
                  <a:pt x="545440" y="2984460"/>
                  <a:pt x="244360" y="2880302"/>
                  <a:pt x="0" y="2702296"/>
                </a:cubicBezTo>
                <a:lnTo>
                  <a:pt x="28329" y="260980"/>
                </a:lnTo>
                <a:cubicBezTo>
                  <a:pt x="267879" y="96193"/>
                  <a:pt x="558130" y="0"/>
                  <a:pt x="870848" y="0"/>
                </a:cubicBezTo>
                <a:cubicBezTo>
                  <a:pt x="1477591" y="0"/>
                  <a:pt x="1999759" y="362118"/>
                  <a:pt x="2231906" y="882522"/>
                </a:cubicBezTo>
                <a:lnTo>
                  <a:pt x="2232027" y="882522"/>
                </a:lnTo>
                <a:cubicBezTo>
                  <a:pt x="2506442" y="1118497"/>
                  <a:pt x="3001303" y="1275163"/>
                  <a:pt x="3566014" y="1275163"/>
                </a:cubicBezTo>
                <a:cubicBezTo>
                  <a:pt x="4077780" y="1275163"/>
                  <a:pt x="4532179" y="1146498"/>
                  <a:pt x="4816150" y="945345"/>
                </a:cubicBezTo>
                <a:cubicBezTo>
                  <a:pt x="4980451" y="794089"/>
                  <a:pt x="5199938" y="702334"/>
                  <a:pt x="5440856" y="702334"/>
                </a:cubicBezTo>
                <a:cubicBezTo>
                  <a:pt x="5953652" y="702334"/>
                  <a:pt x="6369355" y="1118037"/>
                  <a:pt x="6369355" y="1630833"/>
                </a:cubicBezTo>
                <a:cubicBezTo>
                  <a:pt x="6369355" y="2143629"/>
                  <a:pt x="5953652" y="2559331"/>
                  <a:pt x="5440856" y="2559331"/>
                </a:cubicBezTo>
                <a:cubicBezTo>
                  <a:pt x="5253492" y="2559331"/>
                  <a:pt x="5079091" y="2503835"/>
                  <a:pt x="4933500" y="2407913"/>
                </a:cubicBezTo>
                <a:lnTo>
                  <a:pt x="4928005" y="2407913"/>
                </a:lnTo>
                <a:lnTo>
                  <a:pt x="4921492" y="2400586"/>
                </a:lnTo>
                <a:cubicBezTo>
                  <a:pt x="4854758" y="2355487"/>
                  <a:pt x="4794210" y="2301929"/>
                  <a:pt x="4742042" y="2240876"/>
                </a:cubicBezTo>
                <a:cubicBezTo>
                  <a:pt x="4458486" y="2037053"/>
                  <a:pt x="4001024" y="1906391"/>
                  <a:pt x="3485305" y="1906391"/>
                </a:cubicBezTo>
                <a:cubicBezTo>
                  <a:pt x="2862059" y="1906391"/>
                  <a:pt x="2323895" y="2097219"/>
                  <a:pt x="2072746" y="2374000"/>
                </a:cubicBezTo>
                <a:cubicBezTo>
                  <a:pt x="1802480" y="2744580"/>
                  <a:pt x="1364677" y="2984460"/>
                  <a:pt x="870848" y="2984460"/>
                </a:cubicBezTo>
                <a:close/>
              </a:path>
            </a:pathLst>
          </a:custGeom>
          <a:gradFill rotWithShape="1">
            <a:gsLst>
              <a:gs pos="0">
                <a:srgbClr val="E36C09">
                  <a:alpha val="100000"/>
                </a:srgbClr>
              </a:gs>
              <a:gs pos="31000">
                <a:srgbClr val="FFC000">
                  <a:alpha val="100000"/>
                </a:srgbClr>
              </a:gs>
              <a:gs pos="82999">
                <a:srgbClr val="FFFF00">
                  <a:alpha val="100000"/>
                </a:srgbClr>
              </a:gs>
              <a:gs pos="100000">
                <a:srgbClr val="FFFF00">
                  <a:alpha val="100000"/>
                </a:srgbClr>
              </a:gs>
            </a:gsLst>
            <a:lin ang="8100000" scaled="1"/>
            <a:tileRect/>
          </a:gradFill>
          <a:ln w="25400">
            <a:noFill/>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宋体" panose="02010600030101010101" pitchFamily="2" charset="-122"/>
            </a:endParaRPr>
          </a:p>
        </p:txBody>
      </p:sp>
      <p:sp>
        <p:nvSpPr>
          <p:cNvPr id="214028" name="TextBox 31"/>
          <p:cNvSpPr/>
          <p:nvPr/>
        </p:nvSpPr>
        <p:spPr>
          <a:xfrm>
            <a:off x="8356600" y="3606165"/>
            <a:ext cx="966470" cy="638810"/>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x-none" sz="4000" b="1" i="1" baseline="0" dirty="0">
                <a:solidFill>
                  <a:srgbClr val="926F00"/>
                </a:solidFill>
                <a:latin typeface="浪漫雅圆" charset="-122"/>
                <a:ea typeface="Gungsuh" panose="02030600000101010101" pitchFamily="2" charset="-127"/>
                <a:sym typeface="浪漫雅圆" charset="-122"/>
              </a:rPr>
              <a:t>02</a:t>
            </a:r>
          </a:p>
        </p:txBody>
      </p:sp>
      <p:sp>
        <p:nvSpPr>
          <p:cNvPr id="214034" name="TextBox 37"/>
          <p:cNvSpPr/>
          <p:nvPr/>
        </p:nvSpPr>
        <p:spPr>
          <a:xfrm>
            <a:off x="7841615" y="5723255"/>
            <a:ext cx="965835" cy="638810"/>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x-none" sz="4000" b="1" i="1" baseline="0" dirty="0">
                <a:solidFill>
                  <a:srgbClr val="926F00"/>
                </a:solidFill>
                <a:latin typeface="浪漫雅圆" charset="-122"/>
                <a:ea typeface="Gungsuh" panose="02030600000101010101" pitchFamily="2" charset="-127"/>
                <a:sym typeface="浪漫雅圆" charset="-122"/>
              </a:rPr>
              <a:t>03</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311900"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grpSp>
        <p:nvGrpSpPr>
          <p:cNvPr id="6" name="组合 5"/>
          <p:cNvGrpSpPr/>
          <p:nvPr/>
        </p:nvGrpSpPr>
        <p:grpSpPr>
          <a:xfrm>
            <a:off x="3307080" y="2382520"/>
            <a:ext cx="3279775" cy="3178810"/>
            <a:chOff x="11423" y="1831"/>
            <a:chExt cx="5165" cy="5006"/>
          </a:xfrm>
        </p:grpSpPr>
        <p:pic>
          <p:nvPicPr>
            <p:cNvPr id="96259" name="图片 15"/>
            <p:cNvPicPr>
              <a:picLocks noChangeAspect="1"/>
            </p:cNvPicPr>
            <p:nvPr/>
          </p:nvPicPr>
          <p:blipFill>
            <a:blip r:embed="rId5"/>
            <a:stretch>
              <a:fillRect/>
            </a:stretch>
          </p:blipFill>
          <p:spPr>
            <a:xfrm>
              <a:off x="11423" y="1831"/>
              <a:ext cx="4290" cy="5006"/>
            </a:xfrm>
            <a:prstGeom prst="rect">
              <a:avLst/>
            </a:prstGeom>
            <a:noFill/>
            <a:ln w="9525">
              <a:noFill/>
            </a:ln>
          </p:spPr>
        </p:pic>
        <p:pic>
          <p:nvPicPr>
            <p:cNvPr id="96263" name="图片 19"/>
            <p:cNvPicPr>
              <a:picLocks noChangeAspect="1"/>
            </p:cNvPicPr>
            <p:nvPr/>
          </p:nvPicPr>
          <p:blipFill>
            <a:blip r:embed="rId6"/>
            <a:stretch>
              <a:fillRect/>
            </a:stretch>
          </p:blipFill>
          <p:spPr>
            <a:xfrm flipH="1">
              <a:off x="14438" y="3194"/>
              <a:ext cx="2150" cy="2650"/>
            </a:xfrm>
            <a:prstGeom prst="rect">
              <a:avLst/>
            </a:prstGeom>
            <a:noFill/>
            <a:ln w="9525">
              <a:noFill/>
            </a:ln>
          </p:spPr>
        </p:pic>
        <p:sp>
          <p:nvSpPr>
            <p:cNvPr id="96266" name="TextBox 22"/>
            <p:cNvSpPr/>
            <p:nvPr/>
          </p:nvSpPr>
          <p:spPr>
            <a:xfrm>
              <a:off x="12299" y="2572"/>
              <a:ext cx="2760" cy="1384"/>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3200" b="1" i="1" baseline="0" dirty="0">
                  <a:solidFill>
                    <a:schemeClr val="tx1"/>
                  </a:solidFill>
                  <a:latin typeface="Adidas Unity" pitchFamily="2" charset="0"/>
                  <a:ea typeface="微软雅黑" panose="020B0503020204020204" pitchFamily="2" charset="-122"/>
                  <a:sym typeface="Times New Roman" panose="02020603050405020304" pitchFamily="2" charset="0"/>
                </a:rPr>
                <a:t>R </a:t>
              </a:r>
            </a:p>
            <a:p>
              <a:pPr marL="0" lvl="0" indent="0" algn="ctr" eaLnBrk="1" fontAlgn="base" latinLnBrk="0" hangingPunct="1">
                <a:lnSpc>
                  <a:spcPct val="80000"/>
                </a:lnSpc>
                <a:spcBef>
                  <a:spcPct val="0"/>
                </a:spcBef>
                <a:spcAft>
                  <a:spcPct val="0"/>
                </a:spcAft>
                <a:buNone/>
              </a:pPr>
              <a:r>
                <a:rPr lang="en-US" altLang="zh-CN" sz="3200" b="1" i="1" baseline="0" dirty="0">
                  <a:solidFill>
                    <a:schemeClr val="tx1"/>
                  </a:solidFill>
                  <a:latin typeface="Adidas Unity" pitchFamily="2" charset="0"/>
                  <a:ea typeface="微软雅黑" panose="020B0503020204020204" pitchFamily="2" charset="-122"/>
                  <a:sym typeface="Times New Roman" panose="02020603050405020304" pitchFamily="2" charset="0"/>
                </a:rPr>
                <a:t>Python</a:t>
              </a:r>
              <a:endParaRPr lang="zh-CN" altLang="en-US" sz="3200" b="1" i="1" baseline="0" dirty="0">
                <a:solidFill>
                  <a:schemeClr val="tx1"/>
                </a:solidFill>
                <a:latin typeface="Adidas Unity" pitchFamily="2" charset="0"/>
                <a:ea typeface="微软雅黑" panose="020B0503020204020204" pitchFamily="2" charset="-122"/>
                <a:sym typeface="Times New Roman" panose="02020603050405020304" pitchFamily="2" charset="0"/>
              </a:endParaRPr>
            </a:p>
          </p:txBody>
        </p:sp>
      </p:grpSp>
      <p:grpSp>
        <p:nvGrpSpPr>
          <p:cNvPr id="172034" name="组合 34"/>
          <p:cNvGrpSpPr/>
          <p:nvPr/>
        </p:nvGrpSpPr>
        <p:grpSpPr>
          <a:xfrm>
            <a:off x="539750" y="1004570"/>
            <a:ext cx="1962150" cy="5273675"/>
            <a:chOff x="0" y="0"/>
            <a:chExt cx="1962179" cy="5273912"/>
          </a:xfrm>
        </p:grpSpPr>
        <p:pic>
          <p:nvPicPr>
            <p:cNvPr id="172035" name="图片 35"/>
            <p:cNvPicPr>
              <a:picLocks noChangeAspect="1"/>
            </p:cNvPicPr>
            <p:nvPr/>
          </p:nvPicPr>
          <p:blipFill>
            <a:blip r:embed="rId7"/>
            <a:stretch>
              <a:fillRect/>
            </a:stretch>
          </p:blipFill>
          <p:spPr>
            <a:xfrm>
              <a:off x="0" y="1159081"/>
              <a:ext cx="1934945" cy="4114831"/>
            </a:xfrm>
            <a:prstGeom prst="rect">
              <a:avLst/>
            </a:prstGeom>
            <a:noFill/>
            <a:ln w="9525">
              <a:noFill/>
            </a:ln>
          </p:spPr>
        </p:pic>
        <p:sp>
          <p:nvSpPr>
            <p:cNvPr id="172036" name="圆角矩形 7"/>
            <p:cNvSpPr/>
            <p:nvPr/>
          </p:nvSpPr>
          <p:spPr>
            <a:xfrm>
              <a:off x="798010" y="0"/>
              <a:ext cx="338924" cy="2065722"/>
            </a:xfrm>
            <a:custGeom>
              <a:avLst/>
              <a:gdLst>
                <a:gd name="txL" fmla="*/ 0 w 379028"/>
                <a:gd name="txT" fmla="*/ 0 h 2132857"/>
                <a:gd name="txR" fmla="*/ 379028 w 379028"/>
                <a:gd name="txB" fmla="*/ 2132857 h 2132857"/>
              </a:gdLst>
              <a:ahLst/>
              <a:cxnLst>
                <a:cxn ang="0">
                  <a:pos x="379028" y="0"/>
                </a:cxn>
                <a:cxn ang="0">
                  <a:pos x="379027" y="1943343"/>
                </a:cxn>
                <a:cxn ang="0">
                  <a:pos x="189513" y="2132857"/>
                </a:cxn>
                <a:cxn ang="0">
                  <a:pos x="189514" y="2132856"/>
                </a:cxn>
                <a:cxn ang="0">
                  <a:pos x="0" y="1943342"/>
                </a:cxn>
                <a:cxn ang="0">
                  <a:pos x="0" y="0"/>
                </a:cxn>
              </a:cxnLst>
              <a:rect l="txL" t="txT" r="txR" b="txB"/>
              <a:pathLst>
                <a:path w="379028" h="2132857">
                  <a:moveTo>
                    <a:pt x="379028" y="0"/>
                  </a:moveTo>
                  <a:cubicBezTo>
                    <a:pt x="379028" y="647781"/>
                    <a:pt x="379027" y="1295562"/>
                    <a:pt x="379027" y="1943343"/>
                  </a:cubicBezTo>
                  <a:cubicBezTo>
                    <a:pt x="379027" y="2048009"/>
                    <a:pt x="294179" y="2132857"/>
                    <a:pt x="189513" y="2132857"/>
                  </a:cubicBezTo>
                  <a:lnTo>
                    <a:pt x="189514" y="2132856"/>
                  </a:lnTo>
                  <a:cubicBezTo>
                    <a:pt x="84848" y="2132856"/>
                    <a:pt x="0" y="2048008"/>
                    <a:pt x="0" y="1943342"/>
                  </a:cubicBezTo>
                  <a:lnTo>
                    <a:pt x="0" y="0"/>
                  </a:lnTo>
                </a:path>
              </a:pathLst>
            </a:custGeom>
            <a:noFill/>
            <a:ln w="25400" cap="flat" cmpd="sng">
              <a:solidFill>
                <a:srgbClr val="7F7F7F"/>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grpSp>
          <p:nvGrpSpPr>
            <p:cNvPr id="172037" name="组合 37"/>
            <p:cNvGrpSpPr/>
            <p:nvPr/>
          </p:nvGrpSpPr>
          <p:grpSpPr>
            <a:xfrm>
              <a:off x="793991" y="1717013"/>
              <a:ext cx="321945" cy="348707"/>
              <a:chOff x="0" y="0"/>
              <a:chExt cx="720080" cy="720080"/>
            </a:xfrm>
          </p:grpSpPr>
          <p:sp>
            <p:nvSpPr>
              <p:cNvPr id="172038" name="椭圆 40"/>
              <p:cNvSpPr/>
              <p:nvPr/>
            </p:nvSpPr>
            <p:spPr>
              <a:xfrm>
                <a:off x="0" y="0"/>
                <a:ext cx="720080" cy="720080"/>
              </a:xfrm>
              <a:prstGeom prst="ellipse">
                <a:avLst/>
              </a:prstGeom>
              <a:solidFill>
                <a:srgbClr val="FFFFFF"/>
              </a:solidFill>
              <a:ln w="25400" cap="flat" cmpd="sng">
                <a:solidFill>
                  <a:srgbClr val="FFFFFF"/>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sp>
            <p:nvSpPr>
              <p:cNvPr id="172039" name="椭圆 41"/>
              <p:cNvSpPr/>
              <p:nvPr/>
            </p:nvSpPr>
            <p:spPr>
              <a:xfrm>
                <a:off x="105438" y="74958"/>
                <a:ext cx="570166" cy="570166"/>
              </a:xfrm>
              <a:prstGeom prst="ellipse">
                <a:avLst/>
              </a:prstGeom>
              <a:solidFill>
                <a:srgbClr val="FFFFFF"/>
              </a:solidFill>
              <a:ln w="25400" cap="flat" cmpd="sng">
                <a:solidFill>
                  <a:srgbClr val="F79646"/>
                </a:solidFill>
                <a:prstDash val="solid"/>
                <a:bevel/>
                <a:headEnd type="none" w="med" len="med"/>
                <a:tailEnd type="none" w="med" len="med"/>
              </a:ln>
            </p:spPr>
            <p:txBody>
              <a:bodyPr anchor="ctr"/>
              <a:lstStyle/>
              <a:p>
                <a:pPr marL="0" lvl="0" indent="0" algn="ctr" eaLnBrk="1" fontAlgn="base" latinLnBrk="0" hangingPunct="1">
                  <a:lnSpc>
                    <a:spcPct val="100000"/>
                  </a:lnSpc>
                  <a:spcBef>
                    <a:spcPct val="0"/>
                  </a:spcBef>
                  <a:spcAft>
                    <a:spcPct val="0"/>
                  </a:spcAft>
                  <a:buNone/>
                </a:pPr>
                <a:endParaRPr sz="1800" b="1" i="1" baseline="0">
                  <a:solidFill>
                    <a:srgbClr val="FFFFFF"/>
                  </a:solidFill>
                  <a:latin typeface="Calibri" panose="020F0502020204030204" charset="0"/>
                  <a:ea typeface="宋体" panose="02010600030101010101" pitchFamily="2" charset="-122"/>
                  <a:sym typeface="微软雅黑" panose="020B0503020204020204" pitchFamily="2" charset="-122"/>
                </a:endParaRPr>
              </a:p>
            </p:txBody>
          </p:sp>
        </p:grpSp>
        <p:sp>
          <p:nvSpPr>
            <p:cNvPr id="172040" name="TextBox 38"/>
            <p:cNvSpPr/>
            <p:nvPr/>
          </p:nvSpPr>
          <p:spPr>
            <a:xfrm flipH="1">
              <a:off x="610009" y="2559892"/>
              <a:ext cx="1352170" cy="488337"/>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zh-CN" sz="2800" b="1" i="1" baseline="0" dirty="0">
                  <a:solidFill>
                    <a:srgbClr val="FFFFFF"/>
                  </a:solidFill>
                  <a:latin typeface="Arial Rounded MT Bold" panose="020F0704030504030204" pitchFamily="2" charset="0"/>
                  <a:ea typeface="微软雅黑" panose="020B0503020204020204" pitchFamily="2" charset="-122"/>
                  <a:sym typeface="Times New Roman" panose="02020603050405020304" pitchFamily="2" charset="0"/>
                </a:rPr>
                <a:t>3</a:t>
              </a:r>
            </a:p>
          </p:txBody>
        </p:sp>
        <p:sp>
          <p:nvSpPr>
            <p:cNvPr id="172041" name="TextBox 39"/>
            <p:cNvSpPr/>
            <p:nvPr/>
          </p:nvSpPr>
          <p:spPr>
            <a:xfrm flipH="1">
              <a:off x="617008" y="2901687"/>
              <a:ext cx="1287781" cy="1214810"/>
            </a:xfrm>
            <a:prstGeom prst="rect">
              <a:avLst/>
            </a:prstGeom>
            <a:noFill/>
            <a:ln w="9525">
              <a:noFill/>
            </a:ln>
          </p:spPr>
          <p:txBody>
            <a:bodyPr wrap="square">
              <a:spAutoFit/>
            </a:bodyPr>
            <a:lstStyle/>
            <a:p>
              <a:pPr marL="0" lvl="0" indent="0" eaLnBrk="1" fontAlgn="base" latinLnBrk="0" hangingPunct="1">
                <a:lnSpc>
                  <a:spcPct val="100000"/>
                </a:lnSpc>
                <a:spcBef>
                  <a:spcPct val="0"/>
                </a:spcBef>
                <a:spcAft>
                  <a:spcPct val="0"/>
                </a:spcAft>
                <a:buNone/>
              </a:pPr>
              <a:r>
                <a:rPr lang="zh-CN" altLang="en-US" sz="2400" b="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免费的数据分析软件</a:t>
              </a:r>
              <a:r>
                <a:rPr lang="en-US" altLang="x-none" sz="2400" b="1" baseline="0" dirty="0">
                  <a:solidFill>
                    <a:srgbClr val="FFFFFF"/>
                  </a:solidFill>
                  <a:latin typeface="Arial" panose="020B0604020202020204" pitchFamily="34" charset="0"/>
                  <a:ea typeface="微软雅黑" panose="020B0503020204020204" pitchFamily="2" charset="-122"/>
                  <a:sym typeface="Arial" panose="020B0604020202020204" pitchFamily="34" charset="0"/>
                </a:rPr>
                <a:t> </a:t>
              </a:r>
            </a:p>
          </p:txBody>
        </p:sp>
      </p:grpSp>
      <p:sp>
        <p:nvSpPr>
          <p:cNvPr id="11" name="TextBox 31"/>
          <p:cNvSpPr/>
          <p:nvPr/>
        </p:nvSpPr>
        <p:spPr>
          <a:xfrm>
            <a:off x="7909560" y="1867535"/>
            <a:ext cx="966470" cy="638810"/>
          </a:xfrm>
          <a:prstGeom prst="rect">
            <a:avLst/>
          </a:prstGeom>
          <a:noFill/>
          <a:ln w="9525">
            <a:noFill/>
          </a:ln>
        </p:spPr>
        <p:txBody>
          <a:bodyPr wrap="square">
            <a:spAutoFit/>
          </a:bodyPr>
          <a:lstStyle/>
          <a:p>
            <a:pPr marL="0" lvl="0" indent="0" algn="ctr" eaLnBrk="1" fontAlgn="base" latinLnBrk="0" hangingPunct="1">
              <a:lnSpc>
                <a:spcPct val="80000"/>
              </a:lnSpc>
              <a:spcBef>
                <a:spcPct val="0"/>
              </a:spcBef>
              <a:spcAft>
                <a:spcPct val="0"/>
              </a:spcAft>
              <a:buNone/>
            </a:pPr>
            <a:r>
              <a:rPr lang="en-US" altLang="x-none" sz="4000" b="1" i="1" baseline="0" dirty="0">
                <a:solidFill>
                  <a:srgbClr val="926F00"/>
                </a:solidFill>
                <a:latin typeface="浪漫雅圆" charset="-122"/>
                <a:ea typeface="Gungsuh" panose="02030600000101010101" pitchFamily="2" charset="-127"/>
                <a:sym typeface="浪漫雅圆" charset="-122"/>
              </a:rPr>
              <a:t>01</a:t>
            </a:r>
          </a:p>
        </p:txBody>
      </p:sp>
      <p:sp>
        <p:nvSpPr>
          <p:cNvPr id="100" name="文本框 99"/>
          <p:cNvSpPr txBox="1"/>
          <p:nvPr/>
        </p:nvSpPr>
        <p:spPr>
          <a:xfrm>
            <a:off x="9241155" y="1786890"/>
            <a:ext cx="1445260" cy="457200"/>
          </a:xfrm>
          <a:prstGeom prst="rect">
            <a:avLst/>
          </a:prstGeom>
          <a:noFill/>
          <a:ln w="9525">
            <a:noFill/>
          </a:ln>
        </p:spPr>
        <p:txBody>
          <a:bodyPr wrap="square">
            <a:spAutoFit/>
          </a:bodyPr>
          <a:lstStyle/>
          <a:p>
            <a:pPr marL="0" indent="0" algn="l"/>
            <a:r>
              <a:rPr lang="zh-CN" altLang="en-US" sz="2400" b="1" u="none">
                <a:solidFill>
                  <a:srgbClr val="000000"/>
                </a:solidFill>
                <a:latin typeface="宋体" panose="02010600030101010101" pitchFamily="2" charset="-122"/>
                <a:ea typeface="宋体" panose="02010600030101010101" pitchFamily="2" charset="-122"/>
                <a:cs typeface="宋体" panose="02010600030101010101" pitchFamily="2" charset="-122"/>
              </a:rPr>
              <a:t>功能强大</a:t>
            </a:r>
          </a:p>
        </p:txBody>
      </p:sp>
      <p:sp>
        <p:nvSpPr>
          <p:cNvPr id="12" name="文本框 11"/>
          <p:cNvSpPr txBox="1"/>
          <p:nvPr/>
        </p:nvSpPr>
        <p:spPr>
          <a:xfrm>
            <a:off x="9798685" y="3636010"/>
            <a:ext cx="1751330" cy="457200"/>
          </a:xfrm>
          <a:prstGeom prst="rect">
            <a:avLst/>
          </a:prstGeom>
          <a:noFill/>
          <a:ln w="9525">
            <a:noFill/>
          </a:ln>
        </p:spPr>
        <p:txBody>
          <a:bodyPr wrap="square">
            <a:spAutoFit/>
          </a:bodyPr>
          <a:lstStyle/>
          <a:p>
            <a:pPr marL="0" indent="0" algn="l"/>
            <a:r>
              <a:rPr lang="zh-CN" altLang="en-US" sz="2400" b="1" u="none">
                <a:solidFill>
                  <a:srgbClr val="000000"/>
                </a:solidFill>
                <a:latin typeface="宋体" panose="02010600030101010101" pitchFamily="2" charset="-122"/>
                <a:ea typeface="宋体" panose="02010600030101010101" pitchFamily="2" charset="-122"/>
                <a:cs typeface="宋体" panose="02010600030101010101" pitchFamily="2" charset="-122"/>
              </a:rPr>
              <a:t>免费，开源</a:t>
            </a:r>
          </a:p>
        </p:txBody>
      </p:sp>
      <p:sp>
        <p:nvSpPr>
          <p:cNvPr id="13" name="文本框 12"/>
          <p:cNvSpPr txBox="1"/>
          <p:nvPr/>
        </p:nvSpPr>
        <p:spPr>
          <a:xfrm>
            <a:off x="9423400" y="5915660"/>
            <a:ext cx="1751330" cy="457200"/>
          </a:xfrm>
          <a:prstGeom prst="rect">
            <a:avLst/>
          </a:prstGeom>
          <a:noFill/>
          <a:ln w="9525">
            <a:noFill/>
          </a:ln>
        </p:spPr>
        <p:txBody>
          <a:bodyPr wrap="square">
            <a:spAutoFit/>
          </a:bodyPr>
          <a:lstStyle/>
          <a:p>
            <a:pPr marL="0" indent="0" algn="l"/>
            <a:r>
              <a:rPr lang="zh-CN" altLang="en-US" sz="2400" b="1" u="none">
                <a:solidFill>
                  <a:srgbClr val="000000"/>
                </a:solidFill>
                <a:latin typeface="宋体" panose="02010600030101010101" pitchFamily="2" charset="-122"/>
                <a:ea typeface="宋体" panose="02010600030101010101" pitchFamily="2" charset="-122"/>
                <a:cs typeface="宋体" panose="02010600030101010101" pitchFamily="2" charset="-122"/>
              </a:rPr>
              <a:t>前景广阔</a:t>
            </a:r>
          </a:p>
        </p:txBody>
      </p:sp>
      <p:sp>
        <p:nvSpPr>
          <p:cNvPr id="5" name="TextBox 27"/>
          <p:cNvSpPr/>
          <p:nvPr>
            <p:custDataLst>
              <p:tags r:id="rId1"/>
            </p:custDataLst>
          </p:nvPr>
        </p:nvSpPr>
        <p:spPr>
          <a:xfrm>
            <a:off x="6887845" y="188595"/>
            <a:ext cx="4330065" cy="54864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统计分析软件及应用</a:t>
            </a:r>
          </a:p>
        </p:txBody>
      </p:sp>
      <p:sp>
        <p:nvSpPr>
          <p:cNvPr id="8" name="TextBox 28"/>
          <p:cNvSpPr/>
          <p:nvPr>
            <p:custDataLst>
              <p:tags r:id="rId2"/>
            </p:custDataLst>
          </p:nvPr>
        </p:nvSpPr>
        <p:spPr>
          <a:xfrm>
            <a:off x="47625" y="116205"/>
            <a:ext cx="6186170"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fade">
                                      <p:cBhvr>
                                        <p:cTn id="7" dur="1000"/>
                                        <p:tgtEl>
                                          <p:spTgt spid="172034"/>
                                        </p:tgtEl>
                                      </p:cBhvr>
                                    </p:animEffect>
                                    <p:anim calcmode="lin" valueType="num">
                                      <p:cBhvr>
                                        <p:cTn id="8" dur="1000" fill="hold"/>
                                        <p:tgtEl>
                                          <p:spTgt spid="172034"/>
                                        </p:tgtEl>
                                        <p:attrNameLst>
                                          <p:attrName>ppt_x</p:attrName>
                                        </p:attrNameLst>
                                      </p:cBhvr>
                                      <p:tavLst>
                                        <p:tav tm="0">
                                          <p:val>
                                            <p:strVal val="#ppt_x"/>
                                          </p:val>
                                        </p:tav>
                                        <p:tav tm="100000">
                                          <p:val>
                                            <p:strVal val="#ppt_x"/>
                                          </p:val>
                                        </p:tav>
                                      </p:tavLst>
                                    </p:anim>
                                    <p:anim calcmode="lin" valueType="num">
                                      <p:cBhvr>
                                        <p:cTn id="9" dur="1000" fill="hold"/>
                                        <p:tgtEl>
                                          <p:spTgt spid="1720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40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par>
                          <p:cTn id="23" fill="hold">
                            <p:stCondLst>
                              <p:cond delay="0"/>
                            </p:stCondLst>
                            <p:childTnLst>
                              <p:par>
                                <p:cTn id="24" presetID="12" presetClass="entr" presetSubtype="2" fill="hold" grpId="0" nodeType="afterEffect">
                                  <p:stCondLst>
                                    <p:cond delay="0"/>
                                  </p:stCondLst>
                                  <p:childTnLst>
                                    <p:set>
                                      <p:cBhvr>
                                        <p:cTn id="25" dur="1" fill="hold">
                                          <p:stCondLst>
                                            <p:cond delay="0"/>
                                          </p:stCondLst>
                                        </p:cTn>
                                        <p:tgtEl>
                                          <p:spTgt spid="100"/>
                                        </p:tgtEl>
                                        <p:attrNameLst>
                                          <p:attrName>style.visibility</p:attrName>
                                        </p:attrNameLst>
                                      </p:cBhvr>
                                      <p:to>
                                        <p:strVal val="visible"/>
                                      </p:to>
                                    </p:set>
                                    <p:anim calcmode="lin" valueType="num">
                                      <p:cBhvr additive="base">
                                        <p:cTn id="26" dur="500"/>
                                        <p:tgtEl>
                                          <p:spTgt spid="100"/>
                                        </p:tgtEl>
                                        <p:attrNameLst>
                                          <p:attrName>ppt_x</p:attrName>
                                        </p:attrNameLst>
                                      </p:cBhvr>
                                      <p:tavLst>
                                        <p:tav tm="0">
                                          <p:val>
                                            <p:strVal val="#ppt_x+#ppt_w*1.125000"/>
                                          </p:val>
                                        </p:tav>
                                        <p:tav tm="100000">
                                          <p:val>
                                            <p:strVal val="#ppt_x"/>
                                          </p:val>
                                        </p:tav>
                                      </p:tavLst>
                                    </p:anim>
                                    <p:animEffect transition="in" filter="wipe(left)">
                                      <p:cBhvr>
                                        <p:cTn id="27" dur="500"/>
                                        <p:tgtEl>
                                          <p:spTgt spid="10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1402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4028"/>
                                        </p:tgtEl>
                                        <p:attrNameLst>
                                          <p:attrName>style.visibility</p:attrName>
                                        </p:attrNameLst>
                                      </p:cBhvr>
                                      <p:to>
                                        <p:strVal val="visible"/>
                                      </p:to>
                                    </p:set>
                                  </p:childTnLst>
                                </p:cTn>
                              </p:par>
                            </p:childTnLst>
                          </p:cTn>
                        </p:par>
                        <p:par>
                          <p:cTn id="34" fill="hold">
                            <p:stCondLst>
                              <p:cond delay="0"/>
                            </p:stCondLst>
                            <p:childTnLst>
                              <p:par>
                                <p:cTn id="35" presetID="12" presetClass="entr" presetSubtype="2"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p:tgtEl>
                                          <p:spTgt spid="12"/>
                                        </p:tgtEl>
                                        <p:attrNameLst>
                                          <p:attrName>ppt_x</p:attrName>
                                        </p:attrNameLst>
                                      </p:cBhvr>
                                      <p:tavLst>
                                        <p:tav tm="0">
                                          <p:val>
                                            <p:strVal val="#ppt_x+#ppt_w*1.125000"/>
                                          </p:val>
                                        </p:tav>
                                        <p:tav tm="100000">
                                          <p:val>
                                            <p:strVal val="#ppt_x"/>
                                          </p:val>
                                        </p:tav>
                                      </p:tavLst>
                                    </p:anim>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40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4020"/>
                                        </p:tgtEl>
                                        <p:attrNameLst>
                                          <p:attrName>style.visibility</p:attrName>
                                        </p:attrNameLst>
                                      </p:cBhvr>
                                      <p:to>
                                        <p:strVal val="visible"/>
                                      </p:to>
                                    </p:set>
                                  </p:childTnLst>
                                </p:cTn>
                              </p:par>
                            </p:childTnLst>
                          </p:cTn>
                        </p:par>
                        <p:par>
                          <p:cTn id="45" fill="hold">
                            <p:stCondLst>
                              <p:cond delay="0"/>
                            </p:stCondLst>
                            <p:childTnLst>
                              <p:par>
                                <p:cTn id="46" presetID="12" presetClass="entr" presetSubtype="2"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p:tgtEl>
                                          <p:spTgt spid="13"/>
                                        </p:tgtEl>
                                        <p:attrNameLst>
                                          <p:attrName>ppt_x</p:attrName>
                                        </p:attrNameLst>
                                      </p:cBhvr>
                                      <p:tavLst>
                                        <p:tav tm="0">
                                          <p:val>
                                            <p:strVal val="#ppt_x+#ppt_w*1.125000"/>
                                          </p:val>
                                        </p:tav>
                                        <p:tav tm="100000">
                                          <p:val>
                                            <p:strVal val="#ppt_x"/>
                                          </p:val>
                                        </p:tav>
                                      </p:tavLst>
                                    </p:anim>
                                    <p:animEffect transition="in" filter="wipe(left)">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animBg="1"/>
      <p:bldP spid="214020" grpId="0" animBg="1"/>
      <p:bldP spid="214022" grpId="0" animBg="1"/>
      <p:bldP spid="214028" grpId="0"/>
      <p:bldP spid="214034" grpId="0"/>
      <p:bldP spid="11" grpId="0"/>
      <p:bldP spid="100"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239510"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96" name="TextBox 27"/>
          <p:cNvSpPr/>
          <p:nvPr/>
        </p:nvSpPr>
        <p:spPr>
          <a:xfrm>
            <a:off x="6743065" y="188595"/>
            <a:ext cx="44945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1.5 </a:t>
            </a:r>
            <a:r>
              <a:rPr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Python 数据分析平台</a:t>
            </a:r>
          </a:p>
        </p:txBody>
      </p:sp>
      <p:grpSp>
        <p:nvGrpSpPr>
          <p:cNvPr id="27649" name="组合 18"/>
          <p:cNvGrpSpPr/>
          <p:nvPr/>
        </p:nvGrpSpPr>
        <p:grpSpPr>
          <a:xfrm>
            <a:off x="3487738" y="1361123"/>
            <a:ext cx="2160587" cy="1943100"/>
            <a:chOff x="2748274" y="621482"/>
            <a:chExt cx="2880320" cy="1944216"/>
          </a:xfrm>
        </p:grpSpPr>
        <p:sp>
          <p:nvSpPr>
            <p:cNvPr id="5" name="矩形 4"/>
            <p:cNvSpPr/>
            <p:nvPr/>
          </p:nvSpPr>
          <p:spPr>
            <a:xfrm>
              <a:off x="2748274" y="621482"/>
              <a:ext cx="2880320" cy="1728192"/>
            </a:xfrm>
            <a:prstGeom prst="rect">
              <a:avLst/>
            </a:prstGeom>
            <a:solidFill>
              <a:srgbClr val="008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7" name="等腰三角形 6"/>
            <p:cNvSpPr/>
            <p:nvPr/>
          </p:nvSpPr>
          <p:spPr>
            <a:xfrm flipV="1">
              <a:off x="4063140" y="2349674"/>
              <a:ext cx="250588" cy="216024"/>
            </a:xfrm>
            <a:prstGeom prst="triangle">
              <a:avLst/>
            </a:prstGeom>
            <a:solidFill>
              <a:srgbClr val="008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pic>
        <p:nvPicPr>
          <p:cNvPr id="27652" name="Picture 3"/>
          <p:cNvPicPr>
            <a:picLocks noChangeAspect="1"/>
          </p:cNvPicPr>
          <p:nvPr/>
        </p:nvPicPr>
        <p:blipFill>
          <a:blip r:embed="rId3">
            <a:clrChange>
              <a:clrFrom>
                <a:srgbClr val="1D72D8"/>
              </a:clrFrom>
              <a:clrTo>
                <a:srgbClr val="1D72D8">
                  <a:alpha val="0"/>
                </a:srgbClr>
              </a:clrTo>
            </a:clrChange>
          </a:blip>
          <a:stretch>
            <a:fillRect/>
          </a:stretch>
        </p:blipFill>
        <p:spPr>
          <a:xfrm>
            <a:off x="4384675" y="1577023"/>
            <a:ext cx="450850" cy="558800"/>
          </a:xfrm>
          <a:prstGeom prst="rect">
            <a:avLst/>
          </a:prstGeom>
          <a:noFill/>
          <a:ln w="9525">
            <a:noFill/>
          </a:ln>
        </p:spPr>
      </p:pic>
      <p:sp>
        <p:nvSpPr>
          <p:cNvPr id="27653" name="矩形 24"/>
          <p:cNvSpPr/>
          <p:nvPr/>
        </p:nvSpPr>
        <p:spPr>
          <a:xfrm>
            <a:off x="4367530" y="2204403"/>
            <a:ext cx="1701800" cy="467995"/>
          </a:xfrm>
          <a:prstGeom prst="rect">
            <a:avLst/>
          </a:prstGeom>
          <a:noFill/>
          <a:ln w="9525">
            <a:noFill/>
          </a:ln>
        </p:spPr>
        <p:txBody>
          <a:bodyPr wrap="square" lIns="76800" tIns="38400" rIns="76800" bIns="38400" anchor="t">
            <a:spAutoFit/>
          </a:bodyPr>
          <a:lstStyle/>
          <a:p>
            <a:pPr lvl="0"/>
            <a:r>
              <a:rPr lang="zh-CN" altLang="en-US" sz="2400" b="1" dirty="0">
                <a:solidFill>
                  <a:schemeClr val="bg1"/>
                </a:solidFill>
                <a:latin typeface="微软雅黑" panose="020B0503020204020204" pitchFamily="2" charset="-122"/>
                <a:ea typeface="微软雅黑" panose="020B0503020204020204" pitchFamily="2" charset="-122"/>
              </a:rPr>
              <a:t>优点</a:t>
            </a:r>
          </a:p>
        </p:txBody>
      </p:sp>
      <p:grpSp>
        <p:nvGrpSpPr>
          <p:cNvPr id="27654" name="组合 17"/>
          <p:cNvGrpSpPr/>
          <p:nvPr/>
        </p:nvGrpSpPr>
        <p:grpSpPr>
          <a:xfrm>
            <a:off x="7832725" y="1361123"/>
            <a:ext cx="2160588" cy="1943100"/>
            <a:chOff x="7607374" y="621482"/>
            <a:chExt cx="2880320" cy="1944216"/>
          </a:xfrm>
        </p:grpSpPr>
        <p:sp>
          <p:nvSpPr>
            <p:cNvPr id="8" name="矩形 7"/>
            <p:cNvSpPr/>
            <p:nvPr/>
          </p:nvSpPr>
          <p:spPr>
            <a:xfrm>
              <a:off x="7607374" y="621482"/>
              <a:ext cx="2880320" cy="1728192"/>
            </a:xfrm>
            <a:prstGeom prst="rect">
              <a:avLst/>
            </a:prstGeom>
            <a:solidFill>
              <a:srgbClr val="112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9" name="等腰三角形 8"/>
            <p:cNvSpPr/>
            <p:nvPr/>
          </p:nvSpPr>
          <p:spPr>
            <a:xfrm flipV="1">
              <a:off x="8922240" y="2349674"/>
              <a:ext cx="250588" cy="216024"/>
            </a:xfrm>
            <a:prstGeom prst="triangle">
              <a:avLst/>
            </a:prstGeom>
            <a:solidFill>
              <a:srgbClr val="112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7657" name="椭圆 16"/>
            <p:cNvSpPr/>
            <p:nvPr/>
          </p:nvSpPr>
          <p:spPr>
            <a:xfrm>
              <a:off x="9102740" y="1115991"/>
              <a:ext cx="322872" cy="322872"/>
            </a:xfrm>
            <a:prstGeom prst="ellipse">
              <a:avLst/>
            </a:prstGeom>
            <a:solidFill>
              <a:srgbClr val="112947"/>
            </a:solidFill>
            <a:ln w="9525">
              <a:noFill/>
            </a:ln>
          </p:spPr>
          <p:txBody>
            <a:bodyPr wrap="square" lIns="91440" tIns="45720" rIns="91440" bIns="45720" anchor="t"/>
            <a:lstStyle/>
            <a:p>
              <a:pPr lvl="0" defTabSz="768350"/>
              <a:endParaRPr lang="zh-CN" altLang="en-US" sz="1500">
                <a:latin typeface="Arial" panose="020B0604020202020204" pitchFamily="34" charset="0"/>
                <a:ea typeface="宋体" panose="02010600030101010101" pitchFamily="2" charset="-122"/>
              </a:endParaRPr>
            </a:p>
          </p:txBody>
        </p:sp>
      </p:grpSp>
      <p:pic>
        <p:nvPicPr>
          <p:cNvPr id="27658" name="Picture 3"/>
          <p:cNvPicPr>
            <a:picLocks noChangeAspect="1"/>
          </p:cNvPicPr>
          <p:nvPr/>
        </p:nvPicPr>
        <p:blipFill>
          <a:blip r:embed="rId3">
            <a:clrChange>
              <a:clrFrom>
                <a:srgbClr val="1D72D8"/>
              </a:clrFrom>
              <a:clrTo>
                <a:srgbClr val="1D72D8">
                  <a:alpha val="0"/>
                </a:srgbClr>
              </a:clrTo>
            </a:clrChange>
          </a:blip>
          <a:stretch>
            <a:fillRect/>
          </a:stretch>
        </p:blipFill>
        <p:spPr>
          <a:xfrm flipV="1">
            <a:off x="8688388" y="1573848"/>
            <a:ext cx="449262" cy="558800"/>
          </a:xfrm>
          <a:prstGeom prst="rect">
            <a:avLst/>
          </a:prstGeom>
          <a:noFill/>
          <a:ln w="9525">
            <a:noFill/>
          </a:ln>
        </p:spPr>
      </p:pic>
      <p:sp>
        <p:nvSpPr>
          <p:cNvPr id="27659" name="矩形 23"/>
          <p:cNvSpPr/>
          <p:nvPr/>
        </p:nvSpPr>
        <p:spPr>
          <a:xfrm>
            <a:off x="8557578" y="2208848"/>
            <a:ext cx="1335087" cy="467995"/>
          </a:xfrm>
          <a:prstGeom prst="rect">
            <a:avLst/>
          </a:prstGeom>
          <a:noFill/>
          <a:ln w="9525">
            <a:noFill/>
          </a:ln>
        </p:spPr>
        <p:txBody>
          <a:bodyPr wrap="square" lIns="76800" tIns="38400" rIns="76800" bIns="38400" anchor="t">
            <a:spAutoFit/>
          </a:bodyPr>
          <a:lstStyle/>
          <a:p>
            <a:pPr lvl="0"/>
            <a:r>
              <a:rPr lang="zh-CN" altLang="en-US" sz="2400" b="1" dirty="0">
                <a:solidFill>
                  <a:schemeClr val="bg1"/>
                </a:solidFill>
                <a:latin typeface="微软雅黑" panose="020B0503020204020204" pitchFamily="2" charset="-122"/>
                <a:ea typeface="微软雅黑" panose="020B0503020204020204" pitchFamily="2" charset="-122"/>
              </a:rPr>
              <a:t>缺点</a:t>
            </a:r>
          </a:p>
        </p:txBody>
      </p:sp>
      <p:sp>
        <p:nvSpPr>
          <p:cNvPr id="27660" name="文本框 5"/>
          <p:cNvSpPr txBox="1"/>
          <p:nvPr/>
        </p:nvSpPr>
        <p:spPr>
          <a:xfrm>
            <a:off x="2567305" y="3933190"/>
            <a:ext cx="3597910" cy="1814830"/>
          </a:xfrm>
          <a:prstGeom prst="rect">
            <a:avLst/>
          </a:prstGeom>
          <a:noFill/>
          <a:ln w="9525">
            <a:noFill/>
          </a:ln>
        </p:spPr>
        <p:txBody>
          <a:bodyPr wrap="square" anchor="t">
            <a:spAutoFit/>
          </a:bodyPr>
          <a:lstStyle/>
          <a:p>
            <a:pPr lvl="0"/>
            <a:r>
              <a:rPr lang="zh-CN" sz="2800" b="1">
                <a:latin typeface="Calibri" panose="020F0502020204030204" charset="0"/>
                <a:ea typeface="宋体" panose="02010600030101010101" pitchFamily="2" charset="-122"/>
              </a:rPr>
              <a:t>免费、开源、跨平台</a:t>
            </a:r>
            <a:r>
              <a:rPr sz="2800" b="1">
                <a:latin typeface="Calibri" panose="020F0502020204030204" charset="0"/>
                <a:ea typeface="宋体" panose="02010600030101010101" pitchFamily="2" charset="-122"/>
              </a:rPr>
              <a:t>软件，</a:t>
            </a:r>
            <a:r>
              <a:rPr lang="zh-CN" sz="2800" b="1">
                <a:latin typeface="Calibri" panose="020F0502020204030204" charset="0"/>
                <a:ea typeface="宋体" panose="02010600030101010101" pitchFamily="2" charset="-122"/>
              </a:rPr>
              <a:t>数据分析</a:t>
            </a:r>
            <a:r>
              <a:rPr sz="2800" b="1">
                <a:latin typeface="Calibri" panose="020F0502020204030204" charset="0"/>
                <a:ea typeface="宋体" panose="02010600030101010101" pitchFamily="2" charset="-122"/>
              </a:rPr>
              <a:t>功能强大，是</a:t>
            </a:r>
            <a:r>
              <a:rPr lang="zh-CN" sz="2800" b="1">
                <a:latin typeface="Calibri" panose="020F0502020204030204" charset="0"/>
                <a:ea typeface="宋体" panose="02010600030101010101" pitchFamily="2" charset="-122"/>
              </a:rPr>
              <a:t>数据分析</a:t>
            </a:r>
            <a:r>
              <a:rPr sz="2800" b="1">
                <a:latin typeface="Calibri" panose="020F0502020204030204" charset="0"/>
                <a:ea typeface="宋体" panose="02010600030101010101" pitchFamily="2" charset="-122"/>
              </a:rPr>
              <a:t>的首选</a:t>
            </a:r>
          </a:p>
        </p:txBody>
      </p:sp>
      <p:sp>
        <p:nvSpPr>
          <p:cNvPr id="27661" name="文本框 6"/>
          <p:cNvSpPr txBox="1"/>
          <p:nvPr/>
        </p:nvSpPr>
        <p:spPr>
          <a:xfrm>
            <a:off x="7391718" y="3932873"/>
            <a:ext cx="3162300" cy="1383665"/>
          </a:xfrm>
          <a:prstGeom prst="rect">
            <a:avLst/>
          </a:prstGeom>
          <a:noFill/>
          <a:ln w="9525">
            <a:noFill/>
          </a:ln>
        </p:spPr>
        <p:txBody>
          <a:bodyPr wrap="square" anchor="t">
            <a:spAutoFit/>
          </a:bodyPr>
          <a:lstStyle/>
          <a:p>
            <a:pPr lvl="0"/>
            <a:r>
              <a:rPr sz="2800" b="1">
                <a:latin typeface="Calibri" panose="020F0502020204030204" charset="0"/>
                <a:ea typeface="宋体" panose="02010600030101010101" pitchFamily="2" charset="-122"/>
              </a:rPr>
              <a:t>初学较为麻烦，</a:t>
            </a:r>
          </a:p>
          <a:p>
            <a:pPr lvl="0"/>
            <a:r>
              <a:rPr lang="zh-CN" sz="2800" b="1">
                <a:latin typeface="Calibri" panose="020F0502020204030204" charset="0"/>
                <a:ea typeface="宋体" panose="02010600030101010101" pitchFamily="2" charset="-122"/>
              </a:rPr>
              <a:t>入门不易</a:t>
            </a:r>
            <a:endParaRPr sz="2800" b="1">
              <a:latin typeface="Calibri" panose="020F0502020204030204" charset="0"/>
              <a:ea typeface="宋体" panose="02010600030101010101" pitchFamily="2" charset="-122"/>
            </a:endParaRPr>
          </a:p>
          <a:p>
            <a:pPr lvl="0"/>
            <a:r>
              <a:rPr sz="2800" b="1">
                <a:latin typeface="Calibri" panose="020F0502020204030204" charset="0"/>
                <a:ea typeface="宋体" panose="02010600030101010101" pitchFamily="2" charset="-122"/>
              </a:rPr>
              <a:t>需一定</a:t>
            </a:r>
            <a:r>
              <a:rPr lang="zh-CN" sz="2800" b="1">
                <a:latin typeface="Calibri" panose="020F0502020204030204" charset="0"/>
                <a:ea typeface="宋体" panose="02010600030101010101" pitchFamily="2" charset="-122"/>
              </a:rPr>
              <a:t>的</a:t>
            </a:r>
            <a:r>
              <a:rPr sz="2800" b="1">
                <a:latin typeface="Calibri" panose="020F0502020204030204" charset="0"/>
                <a:ea typeface="宋体" panose="02010600030101010101" pitchFamily="2" charset="-122"/>
              </a:rPr>
              <a:t>编程经验</a:t>
            </a:r>
          </a:p>
        </p:txBody>
      </p:sp>
      <p:sp>
        <p:nvSpPr>
          <p:cNvPr id="10" name="TextBox 28"/>
          <p:cNvSpPr/>
          <p:nvPr/>
        </p:nvSpPr>
        <p:spPr>
          <a:xfrm>
            <a:off x="47625" y="128905"/>
            <a:ext cx="6362065"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
        <p:nvSpPr>
          <p:cNvPr id="8200" name="TextBox 1"/>
          <p:cNvSpPr/>
          <p:nvPr/>
        </p:nvSpPr>
        <p:spPr>
          <a:xfrm flipH="1">
            <a:off x="314960" y="1670685"/>
            <a:ext cx="800100" cy="3606165"/>
          </a:xfrm>
          <a:prstGeom prst="rect">
            <a:avLst/>
          </a:prstGeom>
          <a:noFill/>
          <a:ln w="9525">
            <a:noFill/>
          </a:ln>
        </p:spPr>
        <p:txBody>
          <a:bodyPr wrap="square">
            <a:noAutofit/>
          </a:bodyPr>
          <a:lstStyle/>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P</a:t>
            </a:r>
          </a:p>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y</a:t>
            </a:r>
          </a:p>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t</a:t>
            </a:r>
          </a:p>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h</a:t>
            </a:r>
          </a:p>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o</a:t>
            </a:r>
          </a:p>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n</a:t>
            </a: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优缺点</a:t>
            </a:r>
          </a:p>
        </p:txBody>
      </p:sp>
      <p:sp>
        <p:nvSpPr>
          <p:cNvPr id="14"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7649"/>
                                        </p:tgtEl>
                                        <p:attrNameLst>
                                          <p:attrName>style.visibility</p:attrName>
                                        </p:attrNameLst>
                                      </p:cBhvr>
                                      <p:to>
                                        <p:strVal val="visible"/>
                                      </p:to>
                                    </p:set>
                                    <p:animEffect transition="in" filter="fade">
                                      <p:cBhvr>
                                        <p:cTn id="7" dur="1000"/>
                                        <p:tgtEl>
                                          <p:spTgt spid="27649"/>
                                        </p:tgtEl>
                                      </p:cBhvr>
                                    </p:animEffect>
                                    <p:anim calcmode="lin" valueType="num">
                                      <p:cBhvr>
                                        <p:cTn id="8" dur="1000" fill="hold"/>
                                        <p:tgtEl>
                                          <p:spTgt spid="27649"/>
                                        </p:tgtEl>
                                        <p:attrNameLst>
                                          <p:attrName>ppt_x</p:attrName>
                                        </p:attrNameLst>
                                      </p:cBhvr>
                                      <p:tavLst>
                                        <p:tav tm="0">
                                          <p:val>
                                            <p:strVal val="#ppt_x"/>
                                          </p:val>
                                        </p:tav>
                                        <p:tav tm="100000">
                                          <p:val>
                                            <p:strVal val="#ppt_x"/>
                                          </p:val>
                                        </p:tav>
                                      </p:tavLst>
                                    </p:anim>
                                    <p:anim calcmode="lin" valueType="num">
                                      <p:cBhvr>
                                        <p:cTn id="9" dur="1000" fill="hold"/>
                                        <p:tgtEl>
                                          <p:spTgt spid="2764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7653"/>
                                        </p:tgtEl>
                                        <p:attrNameLst>
                                          <p:attrName>style.visibility</p:attrName>
                                        </p:attrNameLst>
                                      </p:cBhvr>
                                      <p:to>
                                        <p:strVal val="visible"/>
                                      </p:to>
                                    </p:set>
                                    <p:animEffect transition="in" filter="fade">
                                      <p:cBhvr>
                                        <p:cTn id="12" dur="1000"/>
                                        <p:tgtEl>
                                          <p:spTgt spid="27653"/>
                                        </p:tgtEl>
                                      </p:cBhvr>
                                    </p:animEffect>
                                    <p:anim calcmode="lin" valueType="num">
                                      <p:cBhvr>
                                        <p:cTn id="13" dur="1000" fill="hold"/>
                                        <p:tgtEl>
                                          <p:spTgt spid="27653"/>
                                        </p:tgtEl>
                                        <p:attrNameLst>
                                          <p:attrName>ppt_x</p:attrName>
                                        </p:attrNameLst>
                                      </p:cBhvr>
                                      <p:tavLst>
                                        <p:tav tm="0">
                                          <p:val>
                                            <p:strVal val="#ppt_x"/>
                                          </p:val>
                                        </p:tav>
                                        <p:tav tm="100000">
                                          <p:val>
                                            <p:strVal val="#ppt_x"/>
                                          </p:val>
                                        </p:tav>
                                      </p:tavLst>
                                    </p:anim>
                                    <p:anim calcmode="lin" valueType="num">
                                      <p:cBhvr>
                                        <p:cTn id="14" dur="1000" fill="hold"/>
                                        <p:tgtEl>
                                          <p:spTgt spid="27653"/>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27652"/>
                                        </p:tgtEl>
                                        <p:attrNameLst>
                                          <p:attrName>style.visibility</p:attrName>
                                        </p:attrNameLst>
                                      </p:cBhvr>
                                      <p:to>
                                        <p:strVal val="visible"/>
                                      </p:to>
                                    </p:set>
                                    <p:animEffect transition="in" filter="fade">
                                      <p:cBhvr>
                                        <p:cTn id="17" dur="1000"/>
                                        <p:tgtEl>
                                          <p:spTgt spid="27652"/>
                                        </p:tgtEl>
                                      </p:cBhvr>
                                    </p:animEffect>
                                    <p:anim calcmode="lin" valueType="num">
                                      <p:cBhvr>
                                        <p:cTn id="18" dur="1000" fill="hold"/>
                                        <p:tgtEl>
                                          <p:spTgt spid="27652"/>
                                        </p:tgtEl>
                                        <p:attrNameLst>
                                          <p:attrName>ppt_x</p:attrName>
                                        </p:attrNameLst>
                                      </p:cBhvr>
                                      <p:tavLst>
                                        <p:tav tm="0">
                                          <p:val>
                                            <p:strVal val="#ppt_x"/>
                                          </p:val>
                                        </p:tav>
                                        <p:tav tm="100000">
                                          <p:val>
                                            <p:strVal val="#ppt_x"/>
                                          </p:val>
                                        </p:tav>
                                      </p:tavLst>
                                    </p:anim>
                                    <p:anim calcmode="lin" valueType="num">
                                      <p:cBhvr>
                                        <p:cTn id="19" dur="1000" fill="hold"/>
                                        <p:tgtEl>
                                          <p:spTgt spid="2765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7660"/>
                                        </p:tgtEl>
                                        <p:attrNameLst>
                                          <p:attrName>style.visibility</p:attrName>
                                        </p:attrNameLst>
                                      </p:cBhvr>
                                      <p:to>
                                        <p:strVal val="visible"/>
                                      </p:to>
                                    </p:set>
                                    <p:animEffect transition="in" filter="fade">
                                      <p:cBhvr>
                                        <p:cTn id="24" dur="1000"/>
                                        <p:tgtEl>
                                          <p:spTgt spid="27660"/>
                                        </p:tgtEl>
                                      </p:cBhvr>
                                    </p:animEffect>
                                    <p:anim calcmode="lin" valueType="num">
                                      <p:cBhvr>
                                        <p:cTn id="25" dur="1000" fill="hold"/>
                                        <p:tgtEl>
                                          <p:spTgt spid="27660"/>
                                        </p:tgtEl>
                                        <p:attrNameLst>
                                          <p:attrName>ppt_x</p:attrName>
                                        </p:attrNameLst>
                                      </p:cBhvr>
                                      <p:tavLst>
                                        <p:tav tm="0">
                                          <p:val>
                                            <p:strVal val="#ppt_x"/>
                                          </p:val>
                                        </p:tav>
                                        <p:tav tm="100000">
                                          <p:val>
                                            <p:strVal val="#ppt_x"/>
                                          </p:val>
                                        </p:tav>
                                      </p:tavLst>
                                    </p:anim>
                                    <p:anim calcmode="lin" valueType="num">
                                      <p:cBhvr>
                                        <p:cTn id="26" dur="1000" fill="hold"/>
                                        <p:tgtEl>
                                          <p:spTgt spid="2766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nodeType="clickEffect">
                                  <p:stCondLst>
                                    <p:cond delay="0"/>
                                  </p:stCondLst>
                                  <p:childTnLst>
                                    <p:set>
                                      <p:cBhvr>
                                        <p:cTn id="30" dur="1" fill="hold">
                                          <p:stCondLst>
                                            <p:cond delay="0"/>
                                          </p:stCondLst>
                                        </p:cTn>
                                        <p:tgtEl>
                                          <p:spTgt spid="27658"/>
                                        </p:tgtEl>
                                        <p:attrNameLst>
                                          <p:attrName>style.visibility</p:attrName>
                                        </p:attrNameLst>
                                      </p:cBhvr>
                                      <p:to>
                                        <p:strVal val="visible"/>
                                      </p:to>
                                    </p:set>
                                    <p:animEffect transition="in" filter="fade">
                                      <p:cBhvr>
                                        <p:cTn id="31" dur="1000"/>
                                        <p:tgtEl>
                                          <p:spTgt spid="27658"/>
                                        </p:tgtEl>
                                      </p:cBhvr>
                                    </p:animEffect>
                                    <p:anim calcmode="lin" valueType="num">
                                      <p:cBhvr>
                                        <p:cTn id="32" dur="1000" fill="hold"/>
                                        <p:tgtEl>
                                          <p:spTgt spid="27658"/>
                                        </p:tgtEl>
                                        <p:attrNameLst>
                                          <p:attrName>ppt_x</p:attrName>
                                        </p:attrNameLst>
                                      </p:cBhvr>
                                      <p:tavLst>
                                        <p:tav tm="0">
                                          <p:val>
                                            <p:strVal val="#ppt_x"/>
                                          </p:val>
                                        </p:tav>
                                        <p:tav tm="100000">
                                          <p:val>
                                            <p:strVal val="#ppt_x"/>
                                          </p:val>
                                        </p:tav>
                                      </p:tavLst>
                                    </p:anim>
                                    <p:anim calcmode="lin" valueType="num">
                                      <p:cBhvr>
                                        <p:cTn id="33" dur="1000" fill="hold"/>
                                        <p:tgtEl>
                                          <p:spTgt spid="27658"/>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27659"/>
                                        </p:tgtEl>
                                        <p:attrNameLst>
                                          <p:attrName>style.visibility</p:attrName>
                                        </p:attrNameLst>
                                      </p:cBhvr>
                                      <p:to>
                                        <p:strVal val="visible"/>
                                      </p:to>
                                    </p:set>
                                    <p:animEffect transition="in" filter="fade">
                                      <p:cBhvr>
                                        <p:cTn id="36" dur="1000"/>
                                        <p:tgtEl>
                                          <p:spTgt spid="27659"/>
                                        </p:tgtEl>
                                      </p:cBhvr>
                                    </p:animEffect>
                                    <p:anim calcmode="lin" valueType="num">
                                      <p:cBhvr>
                                        <p:cTn id="37" dur="1000" fill="hold"/>
                                        <p:tgtEl>
                                          <p:spTgt spid="27659"/>
                                        </p:tgtEl>
                                        <p:attrNameLst>
                                          <p:attrName>ppt_x</p:attrName>
                                        </p:attrNameLst>
                                      </p:cBhvr>
                                      <p:tavLst>
                                        <p:tav tm="0">
                                          <p:val>
                                            <p:strVal val="#ppt_x"/>
                                          </p:val>
                                        </p:tav>
                                        <p:tav tm="100000">
                                          <p:val>
                                            <p:strVal val="#ppt_x"/>
                                          </p:val>
                                        </p:tav>
                                      </p:tavLst>
                                    </p:anim>
                                    <p:anim calcmode="lin" valueType="num">
                                      <p:cBhvr>
                                        <p:cTn id="38" dur="1000" fill="hold"/>
                                        <p:tgtEl>
                                          <p:spTgt spid="27659"/>
                                        </p:tgtEl>
                                        <p:attrNameLst>
                                          <p:attrName>ppt_y</p:attrName>
                                        </p:attrNameLst>
                                      </p:cBhvr>
                                      <p:tavLst>
                                        <p:tav tm="0">
                                          <p:val>
                                            <p:strVal val="#ppt_y-.1"/>
                                          </p:val>
                                        </p:tav>
                                        <p:tav tm="100000">
                                          <p:val>
                                            <p:strVal val="#ppt_y"/>
                                          </p:val>
                                        </p:tav>
                                      </p:tavLst>
                                    </p:anim>
                                  </p:childTnLst>
                                </p:cTn>
                              </p:par>
                              <p:par>
                                <p:cTn id="39" presetID="47" presetClass="entr" presetSubtype="0" fill="hold" nodeType="withEffect">
                                  <p:stCondLst>
                                    <p:cond delay="0"/>
                                  </p:stCondLst>
                                  <p:childTnLst>
                                    <p:set>
                                      <p:cBhvr>
                                        <p:cTn id="40" dur="1" fill="hold">
                                          <p:stCondLst>
                                            <p:cond delay="0"/>
                                          </p:stCondLst>
                                        </p:cTn>
                                        <p:tgtEl>
                                          <p:spTgt spid="27654"/>
                                        </p:tgtEl>
                                        <p:attrNameLst>
                                          <p:attrName>style.visibility</p:attrName>
                                        </p:attrNameLst>
                                      </p:cBhvr>
                                      <p:to>
                                        <p:strVal val="visible"/>
                                      </p:to>
                                    </p:set>
                                    <p:animEffect transition="in" filter="fade">
                                      <p:cBhvr>
                                        <p:cTn id="41" dur="1000"/>
                                        <p:tgtEl>
                                          <p:spTgt spid="27654"/>
                                        </p:tgtEl>
                                      </p:cBhvr>
                                    </p:animEffect>
                                    <p:anim calcmode="lin" valueType="num">
                                      <p:cBhvr>
                                        <p:cTn id="42" dur="1000" fill="hold"/>
                                        <p:tgtEl>
                                          <p:spTgt spid="27654"/>
                                        </p:tgtEl>
                                        <p:attrNameLst>
                                          <p:attrName>ppt_x</p:attrName>
                                        </p:attrNameLst>
                                      </p:cBhvr>
                                      <p:tavLst>
                                        <p:tav tm="0">
                                          <p:val>
                                            <p:strVal val="#ppt_x"/>
                                          </p:val>
                                        </p:tav>
                                        <p:tav tm="100000">
                                          <p:val>
                                            <p:strVal val="#ppt_x"/>
                                          </p:val>
                                        </p:tav>
                                      </p:tavLst>
                                    </p:anim>
                                    <p:anim calcmode="lin" valueType="num">
                                      <p:cBhvr>
                                        <p:cTn id="43" dur="1000" fill="hold"/>
                                        <p:tgtEl>
                                          <p:spTgt spid="27654"/>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7661"/>
                                        </p:tgtEl>
                                        <p:attrNameLst>
                                          <p:attrName>style.visibility</p:attrName>
                                        </p:attrNameLst>
                                      </p:cBhvr>
                                      <p:to>
                                        <p:strVal val="visible"/>
                                      </p:to>
                                    </p:set>
                                    <p:animEffect transition="in" filter="fade">
                                      <p:cBhvr>
                                        <p:cTn id="48" dur="1000"/>
                                        <p:tgtEl>
                                          <p:spTgt spid="27661"/>
                                        </p:tgtEl>
                                      </p:cBhvr>
                                    </p:animEffect>
                                    <p:anim calcmode="lin" valueType="num">
                                      <p:cBhvr>
                                        <p:cTn id="49" dur="1000" fill="hold"/>
                                        <p:tgtEl>
                                          <p:spTgt spid="27661"/>
                                        </p:tgtEl>
                                        <p:attrNameLst>
                                          <p:attrName>ppt_x</p:attrName>
                                        </p:attrNameLst>
                                      </p:cBhvr>
                                      <p:tavLst>
                                        <p:tav tm="0">
                                          <p:val>
                                            <p:strVal val="#ppt_x"/>
                                          </p:val>
                                        </p:tav>
                                        <p:tav tm="100000">
                                          <p:val>
                                            <p:strVal val="#ppt_x"/>
                                          </p:val>
                                        </p:tav>
                                      </p:tavLst>
                                    </p:anim>
                                    <p:anim calcmode="lin" valueType="num">
                                      <p:cBhvr>
                                        <p:cTn id="50" dur="1000" fill="hold"/>
                                        <p:tgtEl>
                                          <p:spTgt spid="276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p:bldP spid="27659" grpId="0"/>
      <p:bldP spid="27660" grpId="0"/>
      <p:bldP spid="2766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239510"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图片 5"/>
          <p:cNvPicPr>
            <a:picLocks noChangeAspect="1"/>
          </p:cNvPicPr>
          <p:nvPr>
            <p:custDataLst>
              <p:tags r:id="rId1"/>
            </p:custDataLst>
          </p:nvPr>
        </p:nvPicPr>
        <p:blipFill>
          <a:blip r:embed="rId6"/>
          <a:stretch>
            <a:fillRect/>
          </a:stretch>
        </p:blipFill>
        <p:spPr>
          <a:xfrm>
            <a:off x="0" y="1557020"/>
            <a:ext cx="8549640" cy="4434840"/>
          </a:xfrm>
          <a:prstGeom prst="rect">
            <a:avLst/>
          </a:prstGeom>
        </p:spPr>
      </p:pic>
      <p:pic>
        <p:nvPicPr>
          <p:cNvPr id="11" name="图片 10"/>
          <p:cNvPicPr>
            <a:picLocks noChangeAspect="1"/>
          </p:cNvPicPr>
          <p:nvPr/>
        </p:nvPicPr>
        <p:blipFill>
          <a:blip r:embed="rId7"/>
          <a:stretch>
            <a:fillRect/>
          </a:stretch>
        </p:blipFill>
        <p:spPr>
          <a:xfrm>
            <a:off x="8688070" y="2185035"/>
            <a:ext cx="3459480" cy="4643755"/>
          </a:xfrm>
          <a:prstGeom prst="rect">
            <a:avLst/>
          </a:prstGeom>
        </p:spPr>
      </p:pic>
      <p:sp>
        <p:nvSpPr>
          <p:cNvPr id="12" name="文本框 11"/>
          <p:cNvSpPr txBox="1"/>
          <p:nvPr/>
        </p:nvSpPr>
        <p:spPr>
          <a:xfrm>
            <a:off x="551180" y="1124585"/>
            <a:ext cx="6096000" cy="368300"/>
          </a:xfrm>
          <a:prstGeom prst="rect">
            <a:avLst/>
          </a:prstGeom>
          <a:noFill/>
        </p:spPr>
        <p:txBody>
          <a:bodyPr wrap="square" rtlCol="0" anchor="t">
            <a:spAutoFit/>
          </a:bodyPr>
          <a:lstStyle/>
          <a:p>
            <a:r>
              <a:rPr lang="zh-CN" altLang="en-US" b="1"/>
              <a:t>Windows 版的 Anaconda 下载界面</a:t>
            </a:r>
          </a:p>
        </p:txBody>
      </p:sp>
      <p:sp>
        <p:nvSpPr>
          <p:cNvPr id="13" name="文本框 12"/>
          <p:cNvSpPr txBox="1"/>
          <p:nvPr/>
        </p:nvSpPr>
        <p:spPr>
          <a:xfrm>
            <a:off x="2351405" y="6309360"/>
            <a:ext cx="6096000" cy="368300"/>
          </a:xfrm>
          <a:prstGeom prst="rect">
            <a:avLst/>
          </a:prstGeom>
          <a:noFill/>
        </p:spPr>
        <p:txBody>
          <a:bodyPr wrap="square" rtlCol="0" anchor="t">
            <a:spAutoFit/>
            <a:scene3d>
              <a:camera prst="orthographicFront"/>
              <a:lightRig rig="threePt" dir="t"/>
            </a:scene3d>
          </a:bodyPr>
          <a:lstStyle/>
          <a:p>
            <a:pPr algn="r"/>
            <a:r>
              <a:rPr lang="zh-CN" altLang="en-US" b="1">
                <a:solidFill>
                  <a:schemeClr val="accent1"/>
                </a:solidFill>
                <a:effectLst>
                  <a:outerShdw blurRad="38100" dist="25400" dir="5400000" algn="ctr" rotWithShape="0">
                    <a:srgbClr val="6E747A">
                      <a:alpha val="43000"/>
                    </a:srgbClr>
                  </a:outerShdw>
                </a:effectLst>
              </a:rPr>
              <a:t>Windows 版的 Anaconda 启动菜单</a:t>
            </a:r>
          </a:p>
        </p:txBody>
      </p:sp>
      <p:sp>
        <p:nvSpPr>
          <p:cNvPr id="15" name="TextBox 27"/>
          <p:cNvSpPr/>
          <p:nvPr>
            <p:custDataLst>
              <p:tags r:id="rId2"/>
            </p:custDataLst>
          </p:nvPr>
        </p:nvSpPr>
        <p:spPr>
          <a:xfrm>
            <a:off x="6886575" y="188595"/>
            <a:ext cx="435102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1.5 </a:t>
            </a:r>
            <a:r>
              <a:rPr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Python 数据分析平台</a:t>
            </a:r>
          </a:p>
        </p:txBody>
      </p:sp>
      <p:sp>
        <p:nvSpPr>
          <p:cNvPr id="16" name="TextBox 28"/>
          <p:cNvSpPr/>
          <p:nvPr>
            <p:custDataLst>
              <p:tags r:id="rId3"/>
            </p:custDataLst>
          </p:nvPr>
        </p:nvSpPr>
        <p:spPr>
          <a:xfrm>
            <a:off x="47625" y="128905"/>
            <a:ext cx="6207760"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311900" y="33274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5" name="图片 4"/>
          <p:cNvPicPr>
            <a:picLocks noChangeAspect="1"/>
          </p:cNvPicPr>
          <p:nvPr>
            <p:custDataLst>
              <p:tags r:id="rId1"/>
            </p:custDataLst>
          </p:nvPr>
        </p:nvPicPr>
        <p:blipFill>
          <a:blip r:embed="rId6"/>
          <a:stretch>
            <a:fillRect/>
          </a:stretch>
        </p:blipFill>
        <p:spPr>
          <a:xfrm>
            <a:off x="46990" y="1628775"/>
            <a:ext cx="6691630" cy="5152390"/>
          </a:xfrm>
          <a:prstGeom prst="rect">
            <a:avLst/>
          </a:prstGeom>
        </p:spPr>
      </p:pic>
      <p:pic>
        <p:nvPicPr>
          <p:cNvPr id="7" name="图片 6"/>
          <p:cNvPicPr>
            <a:picLocks noChangeAspect="1"/>
          </p:cNvPicPr>
          <p:nvPr/>
        </p:nvPicPr>
        <p:blipFill>
          <a:blip r:embed="rId7"/>
          <a:stretch>
            <a:fillRect/>
          </a:stretch>
        </p:blipFill>
        <p:spPr>
          <a:xfrm>
            <a:off x="5923280" y="1125220"/>
            <a:ext cx="6211570" cy="5659120"/>
          </a:xfrm>
          <a:prstGeom prst="rect">
            <a:avLst/>
          </a:prstGeom>
        </p:spPr>
      </p:pic>
      <p:sp>
        <p:nvSpPr>
          <p:cNvPr id="8" name="文本框 7"/>
          <p:cNvSpPr txBox="1"/>
          <p:nvPr/>
        </p:nvSpPr>
        <p:spPr>
          <a:xfrm>
            <a:off x="-15240" y="1078230"/>
            <a:ext cx="6096000" cy="460375"/>
          </a:xfrm>
          <a:prstGeom prst="rect">
            <a:avLst/>
          </a:prstGeom>
          <a:noFill/>
        </p:spPr>
        <p:txBody>
          <a:bodyPr wrap="square" rtlCol="0" anchor="t">
            <a:spAutoFit/>
          </a:bodyPr>
          <a:lstStyle/>
          <a:p>
            <a:r>
              <a:rPr lang="en-US" altLang="zh-CN" sz="2400" b="1"/>
              <a:t>Python</a:t>
            </a:r>
            <a:r>
              <a:rPr lang="zh-CN" altLang="en-US" sz="2400" b="1">
                <a:ea typeface="宋体" panose="02010600030101010101" pitchFamily="2" charset="-122"/>
              </a:rPr>
              <a:t>教学分析平台</a:t>
            </a:r>
            <a:r>
              <a:rPr lang="zh-CN" altLang="en-US" sz="2400" b="1"/>
              <a:t>Jupyter Notebook</a:t>
            </a:r>
          </a:p>
        </p:txBody>
      </p:sp>
      <p:sp>
        <p:nvSpPr>
          <p:cNvPr id="9" name="TextBox 27"/>
          <p:cNvSpPr/>
          <p:nvPr>
            <p:custDataLst>
              <p:tags r:id="rId2"/>
            </p:custDataLst>
          </p:nvPr>
        </p:nvSpPr>
        <p:spPr>
          <a:xfrm>
            <a:off x="6918960" y="188595"/>
            <a:ext cx="451929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1.5 </a:t>
            </a:r>
            <a:r>
              <a:rPr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Python 数据分析平台</a:t>
            </a:r>
          </a:p>
        </p:txBody>
      </p:sp>
      <p:sp>
        <p:nvSpPr>
          <p:cNvPr id="14" name="TextBox 28"/>
          <p:cNvSpPr/>
          <p:nvPr>
            <p:custDataLst>
              <p:tags r:id="rId3"/>
            </p:custDataLst>
          </p:nvPr>
        </p:nvSpPr>
        <p:spPr>
          <a:xfrm>
            <a:off x="86360" y="128905"/>
            <a:ext cx="6179820"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pic>
        <p:nvPicPr>
          <p:cNvPr id="15" name="图片 14"/>
          <p:cNvPicPr>
            <a:picLocks noChangeAspect="1"/>
          </p:cNvPicPr>
          <p:nvPr/>
        </p:nvPicPr>
        <p:blipFill>
          <a:blip r:embed="rId8"/>
          <a:stretch>
            <a:fillRect/>
          </a:stretch>
        </p:blipFill>
        <p:spPr>
          <a:xfrm>
            <a:off x="10160" y="1628775"/>
            <a:ext cx="7943215" cy="522668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239510"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图片 5"/>
          <p:cNvPicPr>
            <a:picLocks noChangeAspect="1"/>
          </p:cNvPicPr>
          <p:nvPr>
            <p:custDataLst>
              <p:tags r:id="rId1"/>
            </p:custDataLst>
          </p:nvPr>
        </p:nvPicPr>
        <p:blipFill>
          <a:blip r:embed="rId6"/>
          <a:stretch>
            <a:fillRect/>
          </a:stretch>
        </p:blipFill>
        <p:spPr>
          <a:xfrm>
            <a:off x="119380" y="2492375"/>
            <a:ext cx="3778885" cy="3840480"/>
          </a:xfrm>
          <a:prstGeom prst="rect">
            <a:avLst/>
          </a:prstGeom>
        </p:spPr>
      </p:pic>
      <p:pic>
        <p:nvPicPr>
          <p:cNvPr id="8" name="图片 7"/>
          <p:cNvPicPr>
            <a:picLocks noChangeAspect="1"/>
          </p:cNvPicPr>
          <p:nvPr/>
        </p:nvPicPr>
        <p:blipFill>
          <a:blip r:embed="rId7"/>
          <a:stretch>
            <a:fillRect/>
          </a:stretch>
        </p:blipFill>
        <p:spPr>
          <a:xfrm>
            <a:off x="4223385" y="1124585"/>
            <a:ext cx="7823200" cy="5631180"/>
          </a:xfrm>
          <a:prstGeom prst="rect">
            <a:avLst/>
          </a:prstGeom>
        </p:spPr>
      </p:pic>
      <p:sp>
        <p:nvSpPr>
          <p:cNvPr id="9" name="文本框 8"/>
          <p:cNvSpPr txBox="1"/>
          <p:nvPr/>
        </p:nvSpPr>
        <p:spPr>
          <a:xfrm>
            <a:off x="191135" y="1340485"/>
            <a:ext cx="3795395" cy="953135"/>
          </a:xfrm>
          <a:prstGeom prst="rect">
            <a:avLst/>
          </a:prstGeom>
          <a:noFill/>
        </p:spPr>
        <p:txBody>
          <a:bodyPr wrap="square" rtlCol="0" anchor="t">
            <a:spAutoFit/>
          </a:bodyPr>
          <a:lstStyle/>
          <a:p>
            <a:r>
              <a:rPr lang="zh-CN" altLang="en-US" sz="2800" b="1">
                <a:solidFill>
                  <a:srgbClr val="C00000"/>
                </a:solidFill>
              </a:rPr>
              <a:t>Python 数据分析</a:t>
            </a:r>
          </a:p>
          <a:p>
            <a:r>
              <a:rPr lang="zh-CN" altLang="en-US" sz="2800" b="1">
                <a:solidFill>
                  <a:srgbClr val="C00000"/>
                </a:solidFill>
              </a:rPr>
              <a:t>编程平台 Spyder</a:t>
            </a:r>
          </a:p>
        </p:txBody>
      </p:sp>
      <p:sp>
        <p:nvSpPr>
          <p:cNvPr id="11" name="TextBox 27"/>
          <p:cNvSpPr/>
          <p:nvPr>
            <p:custDataLst>
              <p:tags r:id="rId2"/>
            </p:custDataLst>
          </p:nvPr>
        </p:nvSpPr>
        <p:spPr>
          <a:xfrm>
            <a:off x="6743065" y="188595"/>
            <a:ext cx="44945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1.5 </a:t>
            </a:r>
            <a:r>
              <a:rPr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Python 数据分析平台</a:t>
            </a:r>
          </a:p>
        </p:txBody>
      </p:sp>
      <p:sp>
        <p:nvSpPr>
          <p:cNvPr id="12" name="TextBox 28"/>
          <p:cNvSpPr/>
          <p:nvPr>
            <p:custDataLst>
              <p:tags r:id="rId3"/>
            </p:custDataLst>
          </p:nvPr>
        </p:nvSpPr>
        <p:spPr>
          <a:xfrm>
            <a:off x="47625" y="128905"/>
            <a:ext cx="6362065"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239510" y="404495"/>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文本框 8"/>
          <p:cNvSpPr txBox="1"/>
          <p:nvPr/>
        </p:nvSpPr>
        <p:spPr>
          <a:xfrm>
            <a:off x="551180" y="2420620"/>
            <a:ext cx="2712720" cy="2306955"/>
          </a:xfrm>
          <a:prstGeom prst="rect">
            <a:avLst/>
          </a:prstGeom>
          <a:noFill/>
        </p:spPr>
        <p:txBody>
          <a:bodyPr wrap="square" rtlCol="0" anchor="t">
            <a:spAutoFit/>
            <a:scene3d>
              <a:camera prst="orthographicFront"/>
              <a:lightRig rig="threePt" dir="t"/>
            </a:scene3d>
          </a:bodyPr>
          <a:lstStyle/>
          <a:p>
            <a:r>
              <a:rPr lang="zh-CN" altLang="en-US" sz="3600" b="1">
                <a:solidFill>
                  <a:srgbClr val="C00000"/>
                </a:solidFill>
                <a:effectLst>
                  <a:outerShdw blurRad="38100" dist="25400" dir="5400000" algn="ctr" rotWithShape="0">
                    <a:srgbClr val="6E747A">
                      <a:alpha val="43000"/>
                    </a:srgbClr>
                  </a:outerShdw>
                </a:effectLst>
              </a:rPr>
              <a:t>Python </a:t>
            </a:r>
          </a:p>
          <a:p>
            <a:r>
              <a:rPr lang="zh-CN" altLang="en-US" sz="3600" b="1">
                <a:solidFill>
                  <a:srgbClr val="C00000"/>
                </a:solidFill>
                <a:effectLst>
                  <a:outerShdw blurRad="38100" dist="25400" dir="5400000" algn="ctr" rotWithShape="0">
                    <a:srgbClr val="6E747A">
                      <a:alpha val="43000"/>
                    </a:srgbClr>
                  </a:outerShdw>
                </a:effectLst>
              </a:rPr>
              <a:t>数据分析</a:t>
            </a:r>
          </a:p>
          <a:p>
            <a:r>
              <a:rPr lang="zh-CN" altLang="en-US" sz="3600" b="1">
                <a:solidFill>
                  <a:srgbClr val="C00000"/>
                </a:solidFill>
                <a:effectLst>
                  <a:outerShdw blurRad="38100" dist="25400" dir="5400000" algn="ctr" rotWithShape="0">
                    <a:srgbClr val="6E747A">
                      <a:alpha val="43000"/>
                    </a:srgbClr>
                  </a:outerShdw>
                </a:effectLst>
              </a:rPr>
              <a:t>编程平台</a:t>
            </a:r>
          </a:p>
          <a:p>
            <a:r>
              <a:rPr lang="zh-CN" altLang="en-US" sz="3600" b="1">
                <a:solidFill>
                  <a:srgbClr val="C00000"/>
                </a:solidFill>
                <a:effectLst>
                  <a:outerShdw blurRad="38100" dist="25400" dir="5400000" algn="ctr" rotWithShape="0">
                    <a:srgbClr val="6E747A">
                      <a:alpha val="43000"/>
                    </a:srgbClr>
                  </a:outerShdw>
                </a:effectLst>
              </a:rPr>
              <a:t>Spyder</a:t>
            </a:r>
          </a:p>
        </p:txBody>
      </p:sp>
      <p:sp>
        <p:nvSpPr>
          <p:cNvPr id="11" name="TextBox 27"/>
          <p:cNvSpPr/>
          <p:nvPr>
            <p:custDataLst>
              <p:tags r:id="rId1"/>
            </p:custDataLst>
          </p:nvPr>
        </p:nvSpPr>
        <p:spPr>
          <a:xfrm>
            <a:off x="6743065" y="188595"/>
            <a:ext cx="44945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1.5 </a:t>
            </a:r>
            <a:r>
              <a:rPr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Python 数据分析平台</a:t>
            </a:r>
          </a:p>
        </p:txBody>
      </p:sp>
      <p:sp>
        <p:nvSpPr>
          <p:cNvPr id="12" name="TextBox 28"/>
          <p:cNvSpPr/>
          <p:nvPr>
            <p:custDataLst>
              <p:tags r:id="rId2"/>
            </p:custDataLst>
          </p:nvPr>
        </p:nvSpPr>
        <p:spPr>
          <a:xfrm>
            <a:off x="47625" y="128905"/>
            <a:ext cx="6362065" cy="583565"/>
          </a:xfrm>
          <a:prstGeom prst="rect">
            <a:avLst/>
          </a:prstGeom>
          <a:noFill/>
          <a:ln w="9525">
            <a:noFill/>
          </a:ln>
        </p:spPr>
        <p:txBody>
          <a:bodyPr wrap="square">
            <a:spAutoFit/>
            <a:scene3d>
              <a:camera prst="orthographicFront"/>
              <a:lightRig rig="threePt" dir="t"/>
            </a:scene3d>
          </a:bodyPr>
          <a:lstStyle/>
          <a:p>
            <a:pPr lvl="0" algn="l">
              <a:lnSpc>
                <a:spcPct val="100000"/>
              </a:lnSpc>
            </a:pPr>
            <a:r>
              <a:rPr sz="3200" b="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 1 章 多元统计分析及软件概述</a:t>
            </a:r>
            <a:endParaRPr lang="en-US" altLang="zh-CN" sz="3200" b="1">
              <a:solidFill>
                <a:srgbClr val="0053EC"/>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pic>
        <p:nvPicPr>
          <p:cNvPr id="5" name="图片 4"/>
          <p:cNvPicPr>
            <a:picLocks noChangeAspect="1"/>
          </p:cNvPicPr>
          <p:nvPr>
            <p:custDataLst>
              <p:tags r:id="rId3"/>
            </p:custDataLst>
          </p:nvPr>
        </p:nvPicPr>
        <p:blipFill>
          <a:blip r:embed="rId6"/>
          <a:stretch>
            <a:fillRect/>
          </a:stretch>
        </p:blipFill>
        <p:spPr>
          <a:xfrm>
            <a:off x="3575685" y="999490"/>
            <a:ext cx="7915910" cy="5922010"/>
          </a:xfrm>
          <a:prstGeom prst="rect">
            <a:avLst/>
          </a:prstGeom>
        </p:spPr>
      </p:pic>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49b31d35-cbb6-4e70-a11f-6ed75a46d5f3"/>
  <p:tag name="COMMONDATA" val="eyJoZGlkIjoiZjZiNTVmYWQxZDAwNTY5YjQ0ZjYxYTE3OGU0OTdhO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614,&quot;width&quot;:8984}"/>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462</Words>
  <Application>Microsoft Macintosh PowerPoint</Application>
  <PresentationFormat>宽屏</PresentationFormat>
  <Paragraphs>120</Paragraphs>
  <Slides>14</Slides>
  <Notes>14</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14</vt:i4>
      </vt:variant>
    </vt:vector>
  </HeadingPairs>
  <TitlesOfParts>
    <vt:vector size="29" baseType="lpstr">
      <vt:lpstr>等线</vt:lpstr>
      <vt:lpstr>华文新魏</vt:lpstr>
      <vt:lpstr>浪漫雅圆</vt:lpstr>
      <vt:lpstr>宋体</vt:lpstr>
      <vt:lpstr>微软雅黑</vt:lpstr>
      <vt:lpstr>Adidas Unity</vt:lpstr>
      <vt:lpstr>Arial</vt:lpstr>
      <vt:lpstr>Arial Rounded MT Bold</vt:lpstr>
      <vt:lpstr>Calibri</vt:lpstr>
      <vt:lpstr>Calibri Light</vt:lpstr>
      <vt:lpstr>Wingdings</vt:lpstr>
      <vt:lpstr>自定义设计方案</vt:lpstr>
      <vt:lpstr>3_自定义设计方案</vt:lpstr>
      <vt:lpstr>2_自定义设计方案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你随便坐  我学学 做</dc:title>
  <dc:creator>Course contributors</dc:creator>
  <cp:lastModifiedBy>Course contributors</cp:lastModifiedBy>
  <cp:revision>149</cp:revision>
  <dcterms:created xsi:type="dcterms:W3CDTF">2015-05-24T15:13:00Z</dcterms:created>
  <dcterms:modified xsi:type="dcterms:W3CDTF">2025-02-12T09:19:27Z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B7CC76192F9047DEA1BDBCB9F6DEF9BD_12</vt:lpwstr>
  </property>
</Properties>
</file>