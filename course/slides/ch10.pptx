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33"/>
  </p:notesMasterIdLst>
  <p:sldIdLst>
    <p:sldId id="297" r:id="rId5"/>
    <p:sldId id="422" r:id="rId6"/>
    <p:sldId id="448" r:id="rId7"/>
    <p:sldId id="401" r:id="rId8"/>
    <p:sldId id="397" r:id="rId9"/>
    <p:sldId id="418" r:id="rId10"/>
    <p:sldId id="419" r:id="rId11"/>
    <p:sldId id="420" r:id="rId12"/>
    <p:sldId id="421" r:id="rId13"/>
    <p:sldId id="423" r:id="rId14"/>
    <p:sldId id="424" r:id="rId15"/>
    <p:sldId id="425" r:id="rId16"/>
    <p:sldId id="426" r:id="rId17"/>
    <p:sldId id="427" r:id="rId18"/>
    <p:sldId id="428" r:id="rId19"/>
    <p:sldId id="430" r:id="rId20"/>
    <p:sldId id="429" r:id="rId21"/>
    <p:sldId id="431" r:id="rId22"/>
    <p:sldId id="432" r:id="rId23"/>
    <p:sldId id="433" r:id="rId24"/>
    <p:sldId id="434" r:id="rId25"/>
    <p:sldId id="435" r:id="rId26"/>
    <p:sldId id="436" r:id="rId27"/>
    <p:sldId id="437" r:id="rId28"/>
    <p:sldId id="438" r:id="rId29"/>
    <p:sldId id="439" r:id="rId30"/>
    <p:sldId id="440" r:id="rId31"/>
    <p:sldId id="417" r:id="rId32"/>
  </p:sldIdLst>
  <p:sldSz cx="12192000" cy="6858000"/>
  <p:notesSz cx="9777413" cy="6646863"/>
  <p:custDataLst>
    <p:tags r:id="rId34"/>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422"/>
            <p14:sldId id="448"/>
            <p14:sldId id="401"/>
            <p14:sldId id="397"/>
            <p14:sldId id="418"/>
            <p14:sldId id="419"/>
            <p14:sldId id="420"/>
            <p14:sldId id="421"/>
            <p14:sldId id="423"/>
            <p14:sldId id="424"/>
            <p14:sldId id="425"/>
            <p14:sldId id="426"/>
            <p14:sldId id="427"/>
            <p14:sldId id="428"/>
            <p14:sldId id="430"/>
            <p14:sldId id="429"/>
            <p14:sldId id="431"/>
            <p14:sldId id="432"/>
            <p14:sldId id="433"/>
            <p14:sldId id="434"/>
            <p14:sldId id="435"/>
            <p14:sldId id="436"/>
            <p14:sldId id="437"/>
            <p14:sldId id="438"/>
            <p14:sldId id="439"/>
            <p14:sldId id="440"/>
            <p14:sldId id="417"/>
          </p14:sldIdLst>
        </p14:section>
      </p14:sectionLst>
    </p:ext>
    <p:ext uri="{EFAFB233-063F-42B5-8137-9DF3F51BA10A}">
      <p15:sldGuideLst xmlns:p15="http://schemas.microsoft.com/office/powerpoint/2012/main">
        <p15:guide id="1" orient="horz" pos="2158"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9682"/>
    <a:srgbClr val="0053EC"/>
    <a:srgbClr val="328596"/>
    <a:srgbClr val="B4F7FE"/>
    <a:srgbClr val="67EFFD"/>
    <a:srgbClr val="03B3C5"/>
    <a:srgbClr val="66FFCC"/>
    <a:srgbClr val="FFFF00"/>
    <a:srgbClr val="E9F3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9521" autoAdjust="0"/>
  </p:normalViewPr>
  <p:slideViewPr>
    <p:cSldViewPr showGuides="1">
      <p:cViewPr varScale="1">
        <p:scale>
          <a:sx n="104" d="100"/>
          <a:sy n="104" d="100"/>
        </p:scale>
        <p:origin x="232" y="392"/>
      </p:cViewPr>
      <p:guideLst>
        <p:guide orient="horz" pos="2158"/>
        <p:guide pos="3839"/>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37038" cy="331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38788" y="0"/>
            <a:ext cx="4237037" cy="331788"/>
          </a:xfrm>
          <a:prstGeom prst="rect">
            <a:avLst/>
          </a:prstGeom>
        </p:spPr>
        <p:txBody>
          <a:bodyPr vert="horz" lIns="91440" tIns="45720" rIns="91440" bIns="45720" rtlCol="0"/>
          <a:lstStyle>
            <a:lvl1pPr algn="r">
              <a:defRPr sz="1200"/>
            </a:lvl1pPr>
          </a:lstStyle>
          <a:p>
            <a:fld id="{1FBBC744-7DD1-4B80-B41C-237D0B6ADA6B}"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2673350" y="498475"/>
            <a:ext cx="4432300" cy="24923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77900" y="3157538"/>
            <a:ext cx="7821613" cy="29908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13488"/>
            <a:ext cx="4237038" cy="331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38788" y="6313488"/>
            <a:ext cx="4237037" cy="331787"/>
          </a:xfrm>
          <a:prstGeom prst="rect">
            <a:avLst/>
          </a:prstGeom>
        </p:spPr>
        <p:txBody>
          <a:bodyPr vert="horz" lIns="91440" tIns="45720" rIns="91440" bIns="45720" rtlCol="0" anchor="b"/>
          <a:lstStyle>
            <a:lvl1pPr algn="r">
              <a:defRPr sz="1200"/>
            </a:lvl1pPr>
          </a:lstStyle>
          <a:p>
            <a:fld id="{25B3273E-A7CA-44A1-BFD4-26503AC47D8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2025/4/9</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1000"/>
          </a:schemeClr>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2025/4/9</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2025/4/9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1000"/>
          </a:schemeClr>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2025/4/9</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1000"/>
          </a:schemeClr>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2025/4/9</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3.png"/><Relationship Id="rId7"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7.png"/><Relationship Id="rId4" Type="http://schemas.openxmlformats.org/officeDocument/2006/relationships/image" Target="../media/image64.png"/><Relationship Id="rId9"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4.png"/><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2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mt="62000"/>
          </a:blip>
          <a:tile tx="0" ty="0" sx="100000" sy="100000" flip="none" algn="tl"/>
        </a:blipFill>
        <a:effectLst/>
      </p:bgPr>
    </p:bg>
    <p:spTree>
      <p:nvGrpSpPr>
        <p:cNvPr id="1" name=""/>
        <p:cNvGrpSpPr/>
        <p:nvPr/>
      </p:nvGrpSpPr>
      <p:grpSpPr>
        <a:xfrm>
          <a:off x="0" y="0"/>
          <a:ext cx="0" cy="0"/>
          <a:chOff x="0" y="0"/>
          <a:chExt cx="0" cy="0"/>
        </a:xfrm>
      </p:grpSpPr>
      <p:sp>
        <p:nvSpPr>
          <p:cNvPr id="5123" name="WordArt 10"/>
          <p:cNvSpPr>
            <a:spLocks noTextEdit="1"/>
          </p:cNvSpPr>
          <p:nvPr/>
        </p:nvSpPr>
        <p:spPr>
          <a:xfrm>
            <a:off x="2797810" y="4220845"/>
            <a:ext cx="7213600" cy="737870"/>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2567755" y="2793440"/>
            <a:ext cx="7901940" cy="769441"/>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2" name="矩形 1"/>
          <p:cNvSpPr/>
          <p:nvPr/>
        </p:nvSpPr>
        <p:spPr>
          <a:xfrm>
            <a:off x="2855746" y="4652616"/>
            <a:ext cx="6924524" cy="584775"/>
          </a:xfrm>
          <a:prstGeom prst="rect">
            <a:avLst/>
          </a:prstGeom>
        </p:spPr>
        <p:txBody>
          <a:bodyPr wrap="none">
            <a:spAutoFit/>
          </a:bodyPr>
          <a:lstStyle/>
          <a:p>
            <a:r>
              <a:rPr lang="zh-CN" altLang="en-US" sz="3200" b="1" dirty="0">
                <a:solidFill>
                  <a:srgbClr val="3399FF"/>
                </a:solidFill>
                <a:latin typeface="微软雅黑" panose="020B0503020204020204" pitchFamily="2" charset="-122"/>
                <a:ea typeface="微软雅黑" panose="020B0503020204020204" pitchFamily="2" charset="-122"/>
                <a:cs typeface="微软雅黑" panose="020B0503020204020204" pitchFamily="2" charset="-122"/>
              </a:rPr>
              <a:t>第</a:t>
            </a:r>
            <a:r>
              <a:rPr lang="en-US" altLang="zh-CN" sz="3200" b="1" dirty="0">
                <a:solidFill>
                  <a:srgbClr val="3399FF"/>
                </a:solidFill>
                <a:latin typeface="微软雅黑" panose="020B0503020204020204" pitchFamily="2" charset="-122"/>
                <a:ea typeface="微软雅黑" panose="020B0503020204020204" pitchFamily="2" charset="-122"/>
                <a:cs typeface="微软雅黑" panose="020B0503020204020204" pitchFamily="2" charset="-122"/>
              </a:rPr>
              <a:t>10</a:t>
            </a:r>
            <a:r>
              <a:rPr lang="zh-CN" altLang="en-US" sz="3200" b="1" dirty="0">
                <a:solidFill>
                  <a:srgbClr val="3399FF"/>
                </a:solidFill>
                <a:latin typeface="微软雅黑" panose="020B0503020204020204" pitchFamily="2" charset="-122"/>
                <a:ea typeface="微软雅黑" panose="020B0503020204020204" pitchFamily="2" charset="-122"/>
                <a:cs typeface="微软雅黑" panose="020B0503020204020204" pitchFamily="2" charset="-122"/>
              </a:rPr>
              <a:t>章 典型相关分析及</a:t>
            </a:r>
            <a:r>
              <a:rPr lang="en-US" altLang="zh-CN" sz="3200" b="1" dirty="0">
                <a:solidFill>
                  <a:srgbClr val="3399FF"/>
                </a:solidFill>
                <a:latin typeface="微软雅黑" panose="020B0503020204020204" pitchFamily="2" charset="-122"/>
                <a:ea typeface="微软雅黑" panose="020B0503020204020204" pitchFamily="2" charset="-122"/>
                <a:cs typeface="微软雅黑" panose="020B0503020204020204" pitchFamily="2" charset="-122"/>
              </a:rPr>
              <a:t>Python</a:t>
            </a:r>
            <a:r>
              <a:rPr lang="zh-CN" altLang="en-US" sz="3200" b="1" dirty="0">
                <a:solidFill>
                  <a:srgbClr val="3399FF"/>
                </a:solidFill>
                <a:latin typeface="微软雅黑" panose="020B0503020204020204" pitchFamily="2" charset="-122"/>
                <a:ea typeface="微软雅黑" panose="020B0503020204020204" pitchFamily="2" charset="-122"/>
                <a:cs typeface="微软雅黑" panose="020B0503020204020204" pitchFamily="2" charset="-122"/>
              </a:rPr>
              <a:t>应用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7" name="TextBox 28"/>
          <p:cNvSpPr/>
          <p:nvPr/>
        </p:nvSpPr>
        <p:spPr>
          <a:xfrm>
            <a:off x="-55881" y="193675"/>
            <a:ext cx="5455285"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5857361" y="247125"/>
            <a:ext cx="5450205" cy="46166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400" b="1" dirty="0">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400" b="1" dirty="0">
                <a:latin typeface="微软雅黑" panose="020B0503020204020204" pitchFamily="2" charset="-122"/>
                <a:ea typeface="微软雅黑" panose="020B0503020204020204" pitchFamily="2" charset="-122"/>
                <a:sym typeface="微软雅黑" panose="020B0503020204020204" pitchFamily="2" charset="-122"/>
              </a:rPr>
              <a:t>典型相关分析及</a:t>
            </a:r>
            <a:r>
              <a:rPr lang="en-US" altLang="zh-CN" sz="24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400" b="1" dirty="0">
                <a:latin typeface="微软雅黑" panose="020B0503020204020204" pitchFamily="2" charset="-122"/>
                <a:ea typeface="微软雅黑" panose="020B0503020204020204" pitchFamily="2" charset="-122"/>
                <a:sym typeface="微软雅黑" panose="020B0503020204020204" pitchFamily="2" charset="-122"/>
              </a:rPr>
              <a:t>应用</a:t>
            </a:r>
            <a:endParaRPr lang="zh-CN" altLang="en-US" sz="24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右箭头 10"/>
          <p:cNvSpPr/>
          <p:nvPr/>
        </p:nvSpPr>
        <p:spPr>
          <a:xfrm>
            <a:off x="5286014" y="404719"/>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6" name="图片 5"/>
          <p:cNvPicPr>
            <a:picLocks noChangeAspect="1"/>
          </p:cNvPicPr>
          <p:nvPr>
            <p:custDataLst>
              <p:tags r:id="rId1"/>
            </p:custDataLst>
          </p:nvPr>
        </p:nvPicPr>
        <p:blipFill>
          <a:blip r:embed="rId4"/>
          <a:stretch>
            <a:fillRect/>
          </a:stretch>
        </p:blipFill>
        <p:spPr>
          <a:xfrm>
            <a:off x="47625" y="1052830"/>
            <a:ext cx="7818120" cy="4495800"/>
          </a:xfrm>
          <a:prstGeom prst="rect">
            <a:avLst/>
          </a:prstGeom>
        </p:spPr>
      </p:pic>
      <p:pic>
        <p:nvPicPr>
          <p:cNvPr id="5" name="图片 4"/>
          <p:cNvPicPr>
            <a:picLocks noChangeAspect="1"/>
          </p:cNvPicPr>
          <p:nvPr/>
        </p:nvPicPr>
        <p:blipFill>
          <a:blip r:embed="rId5"/>
          <a:stretch>
            <a:fillRect/>
          </a:stretch>
        </p:blipFill>
        <p:spPr>
          <a:xfrm>
            <a:off x="4645025" y="3417570"/>
            <a:ext cx="7538085" cy="342836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7" name="TextBox 28"/>
          <p:cNvSpPr/>
          <p:nvPr/>
        </p:nvSpPr>
        <p:spPr>
          <a:xfrm>
            <a:off x="-55881" y="193675"/>
            <a:ext cx="5455285"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5857361" y="247125"/>
            <a:ext cx="5450205" cy="461665"/>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400" b="1" dirty="0">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400" b="1" dirty="0">
                <a:latin typeface="微软雅黑" panose="020B0503020204020204" pitchFamily="2" charset="-122"/>
                <a:ea typeface="微软雅黑" panose="020B0503020204020204" pitchFamily="2" charset="-122"/>
                <a:sym typeface="微软雅黑" panose="020B0503020204020204" pitchFamily="2" charset="-122"/>
              </a:rPr>
              <a:t>典型相关分析及</a:t>
            </a:r>
            <a:r>
              <a:rPr lang="en-US" altLang="zh-CN" sz="2400" b="1" dirty="0">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400" b="1" dirty="0">
                <a:latin typeface="微软雅黑" panose="020B0503020204020204" pitchFamily="2" charset="-122"/>
                <a:ea typeface="微软雅黑" panose="020B0503020204020204" pitchFamily="2" charset="-122"/>
                <a:sym typeface="微软雅黑" panose="020B0503020204020204" pitchFamily="2" charset="-122"/>
              </a:rPr>
              <a:t>应用</a:t>
            </a:r>
            <a:endParaRPr lang="zh-CN" altLang="en-US" sz="24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右箭头 10"/>
          <p:cNvSpPr/>
          <p:nvPr/>
        </p:nvSpPr>
        <p:spPr>
          <a:xfrm>
            <a:off x="5286014" y="404719"/>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a:stretch>
            <a:fillRect/>
          </a:stretch>
        </p:blipFill>
        <p:spPr>
          <a:xfrm>
            <a:off x="141564" y="1772885"/>
            <a:ext cx="11972299" cy="395075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7319972" y="199687"/>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.1引言</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816050" y="40975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80423" y="1548135"/>
            <a:ext cx="3519980" cy="584775"/>
          </a:xfrm>
          <a:prstGeom prst="rect">
            <a:avLst/>
          </a:prstGeom>
          <a:noFill/>
          <a:ln w="9525">
            <a:noFill/>
          </a:ln>
        </p:spPr>
        <p:txBody>
          <a:bodyPr wrap="square">
            <a:spAutoFit/>
          </a:bodyPr>
          <a:lstStyle/>
          <a:p>
            <a:pPr lvl="0" algn="ctr"/>
            <a:r>
              <a:rPr lang="zh-CN" altLang="en-US" sz="3200" b="1" dirty="0">
                <a:solidFill>
                  <a:schemeClr val="tx2">
                    <a:lumMod val="60000"/>
                    <a:lumOff val="40000"/>
                  </a:schemeClr>
                </a:solidFill>
              </a:rPr>
              <a:t>典型相关分析概念</a:t>
            </a:r>
            <a:endParaRPr lang="zh-CN" altLang="en-US" sz="32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7128450"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5" name="矩形 4"/>
          <p:cNvSpPr/>
          <p:nvPr/>
        </p:nvSpPr>
        <p:spPr>
          <a:xfrm>
            <a:off x="180423" y="2132910"/>
            <a:ext cx="5222918" cy="2934906"/>
          </a:xfrm>
          <a:prstGeom prst="rect">
            <a:avLst/>
          </a:prstGeom>
        </p:spPr>
        <p:txBody>
          <a:bodyPr wrap="square">
            <a:spAutoFit/>
          </a:bodyPr>
          <a:lstStyle/>
          <a:p>
            <a:pPr indent="457200">
              <a:lnSpc>
                <a:spcPct val="200000"/>
              </a:lnSpc>
            </a:pPr>
            <a:r>
              <a:rPr lang="zh-CN" altLang="en-US" sz="2400" dirty="0"/>
              <a:t>用于探讨一组变量与另一组变量间的相互关系，利用综合变量之间的相关关系来反映两组指标之间的整体相关性的多元统计分析方法。</a:t>
            </a:r>
          </a:p>
        </p:txBody>
      </p:sp>
      <p:pic>
        <p:nvPicPr>
          <p:cNvPr id="12" name="图片 11"/>
          <p:cNvPicPr>
            <a:picLocks noChangeAspect="1"/>
          </p:cNvPicPr>
          <p:nvPr/>
        </p:nvPicPr>
        <p:blipFill>
          <a:blip r:embed="rId3"/>
          <a:stretch>
            <a:fillRect/>
          </a:stretch>
        </p:blipFill>
        <p:spPr>
          <a:xfrm>
            <a:off x="5403341" y="1124981"/>
            <a:ext cx="6714967" cy="5493482"/>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ircle(in)">
                                      <p:cBhvr>
                                        <p:cTn id="1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相关分析基本架构</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351343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10.2.1</a:t>
            </a:r>
            <a:r>
              <a:rPr lang="zh-CN" altLang="en-US" sz="2800" b="1" dirty="0">
                <a:solidFill>
                  <a:schemeClr val="tx2">
                    <a:lumMod val="60000"/>
                    <a:lumOff val="40000"/>
                  </a:schemeClr>
                </a:solidFill>
              </a:rPr>
              <a:t>简单相关分析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13" name="图片 12"/>
          <p:cNvPicPr>
            <a:picLocks noChangeAspect="1"/>
          </p:cNvPicPr>
          <p:nvPr/>
        </p:nvPicPr>
        <p:blipFill>
          <a:blip r:embed="rId3"/>
          <a:stretch>
            <a:fillRect/>
          </a:stretch>
        </p:blipFill>
        <p:spPr>
          <a:xfrm>
            <a:off x="4245278" y="1181779"/>
            <a:ext cx="4464310" cy="778183"/>
          </a:xfrm>
          <a:prstGeom prst="rect">
            <a:avLst/>
          </a:prstGeom>
        </p:spPr>
      </p:pic>
      <p:pic>
        <p:nvPicPr>
          <p:cNvPr id="6" name="图片 5"/>
          <p:cNvPicPr>
            <a:picLocks noChangeAspect="1"/>
          </p:cNvPicPr>
          <p:nvPr/>
        </p:nvPicPr>
        <p:blipFill rotWithShape="1">
          <a:blip r:embed="rId4"/>
          <a:srcRect l="1215" t="4820" b="9522"/>
          <a:stretch>
            <a:fillRect/>
          </a:stretch>
        </p:blipFill>
        <p:spPr>
          <a:xfrm>
            <a:off x="407604" y="2450823"/>
            <a:ext cx="5852371" cy="608627"/>
          </a:xfrm>
          <a:prstGeom prst="rect">
            <a:avLst/>
          </a:prstGeom>
          <a:ln>
            <a:solidFill>
              <a:schemeClr val="tx1"/>
            </a:solidFill>
          </a:ln>
        </p:spPr>
      </p:pic>
      <p:pic>
        <p:nvPicPr>
          <p:cNvPr id="12" name="图片 11"/>
          <p:cNvPicPr>
            <a:picLocks noChangeAspect="1"/>
          </p:cNvPicPr>
          <p:nvPr/>
        </p:nvPicPr>
        <p:blipFill rotWithShape="1">
          <a:blip r:embed="rId5"/>
          <a:srcRect l="2916" t="9547" b="19388"/>
          <a:stretch>
            <a:fillRect/>
          </a:stretch>
        </p:blipFill>
        <p:spPr>
          <a:xfrm>
            <a:off x="6999491" y="2469760"/>
            <a:ext cx="4578005" cy="338567"/>
          </a:xfrm>
          <a:prstGeom prst="rect">
            <a:avLst/>
          </a:prstGeom>
          <a:ln>
            <a:solidFill>
              <a:schemeClr val="tx1"/>
            </a:solidFill>
          </a:ln>
        </p:spPr>
      </p:pic>
      <p:pic>
        <p:nvPicPr>
          <p:cNvPr id="7" name="图片 6"/>
          <p:cNvPicPr>
            <a:picLocks noChangeAspect="1"/>
          </p:cNvPicPr>
          <p:nvPr/>
        </p:nvPicPr>
        <p:blipFill>
          <a:blip r:embed="rId6"/>
          <a:stretch>
            <a:fillRect/>
          </a:stretch>
        </p:blipFill>
        <p:spPr>
          <a:xfrm>
            <a:off x="328883" y="3649425"/>
            <a:ext cx="6277913" cy="1806535"/>
          </a:xfrm>
          <a:prstGeom prst="rect">
            <a:avLst/>
          </a:prstGeom>
          <a:ln>
            <a:solidFill>
              <a:schemeClr val="tx1"/>
            </a:solidFill>
          </a:ln>
        </p:spPr>
      </p:pic>
      <p:pic>
        <p:nvPicPr>
          <p:cNvPr id="5" name="图片 4"/>
          <p:cNvPicPr>
            <a:picLocks noChangeAspect="1"/>
          </p:cNvPicPr>
          <p:nvPr/>
        </p:nvPicPr>
        <p:blipFill>
          <a:blip r:embed="rId7"/>
          <a:stretch>
            <a:fillRect/>
          </a:stretch>
        </p:blipFill>
        <p:spPr>
          <a:xfrm>
            <a:off x="6744045" y="2950567"/>
            <a:ext cx="4865171" cy="3706797"/>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相关分析基本架构</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351343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10.2.2</a:t>
            </a:r>
            <a:r>
              <a:rPr lang="zh-CN" altLang="en-US" sz="2800" b="1" dirty="0">
                <a:solidFill>
                  <a:schemeClr val="tx2">
                    <a:lumMod val="60000"/>
                    <a:lumOff val="40000"/>
                  </a:schemeClr>
                </a:solidFill>
              </a:rPr>
              <a:t>多元相关分析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rotWithShape="1">
          <a:blip r:embed="rId3"/>
          <a:srcRect l="-1461" t="7168" r="1461"/>
          <a:stretch>
            <a:fillRect/>
          </a:stretch>
        </p:blipFill>
        <p:spPr>
          <a:xfrm>
            <a:off x="238490" y="1974461"/>
            <a:ext cx="4223870" cy="1719085"/>
          </a:xfrm>
          <a:prstGeom prst="rect">
            <a:avLst/>
          </a:prstGeom>
        </p:spPr>
      </p:pic>
      <p:pic>
        <p:nvPicPr>
          <p:cNvPr id="16" name="图片 15"/>
          <p:cNvPicPr>
            <a:picLocks noChangeAspect="1"/>
          </p:cNvPicPr>
          <p:nvPr/>
        </p:nvPicPr>
        <p:blipFill>
          <a:blip r:embed="rId4"/>
          <a:stretch>
            <a:fillRect/>
          </a:stretch>
        </p:blipFill>
        <p:spPr>
          <a:xfrm>
            <a:off x="5335745" y="2135501"/>
            <a:ext cx="5873657" cy="4495078"/>
          </a:xfrm>
          <a:prstGeom prst="rect">
            <a:avLst/>
          </a:prstGeom>
          <a:ln>
            <a:solidFill>
              <a:schemeClr val="tx1"/>
            </a:solidFill>
          </a:ln>
        </p:spPr>
      </p:pic>
      <p:sp>
        <p:nvSpPr>
          <p:cNvPr id="18" name="文本框 17"/>
          <p:cNvSpPr txBox="1"/>
          <p:nvPr/>
        </p:nvSpPr>
        <p:spPr>
          <a:xfrm>
            <a:off x="407605" y="4509075"/>
            <a:ext cx="4304883" cy="1631216"/>
          </a:xfrm>
          <a:prstGeom prst="rect">
            <a:avLst/>
          </a:prstGeom>
          <a:noFill/>
        </p:spPr>
        <p:txBody>
          <a:bodyPr wrap="square">
            <a:spAutoFit/>
          </a:bodyPr>
          <a:lstStyle/>
          <a:p>
            <a:r>
              <a:rPr lang="zh-CN" altLang="en-US" sz="2000" dirty="0">
                <a:latin typeface="微软雅黑" panose="020B0503020204020204" pitchFamily="2" charset="-122"/>
                <a:ea typeface="微软雅黑" panose="020B0503020204020204" pitchFamily="2" charset="-122"/>
              </a:rPr>
              <a:t>引体向上（y1）跟三个生理指标：体重（x1）、腰围（x2）、脉搏（x3）之间的复相关系数的平方为为0.34说明引体向上跟生理指标的线性关系都不是很密切。</a:t>
            </a:r>
          </a:p>
        </p:txBody>
      </p:sp>
      <p:pic>
        <p:nvPicPr>
          <p:cNvPr id="6" name="图片 5"/>
          <p:cNvPicPr>
            <a:picLocks noChangeAspect="1"/>
          </p:cNvPicPr>
          <p:nvPr/>
        </p:nvPicPr>
        <p:blipFill>
          <a:blip r:embed="rId5"/>
          <a:stretch>
            <a:fillRect/>
          </a:stretch>
        </p:blipFill>
        <p:spPr>
          <a:xfrm>
            <a:off x="5340795" y="1213505"/>
            <a:ext cx="5285333" cy="760956"/>
          </a:xfrm>
          <a:prstGeom prst="rect">
            <a:avLst/>
          </a:prstGeom>
          <a:ln>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10.2</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相关分析基本架构</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351343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10.2.3</a:t>
            </a:r>
            <a:r>
              <a:rPr lang="zh-CN" altLang="en-US" sz="2800" b="1" dirty="0">
                <a:solidFill>
                  <a:schemeClr val="tx2">
                    <a:lumMod val="60000"/>
                    <a:lumOff val="40000"/>
                  </a:schemeClr>
                </a:solidFill>
              </a:rPr>
              <a:t>典型相关分析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3573910" y="4748048"/>
            <a:ext cx="5387807" cy="1996613"/>
          </a:xfrm>
          <a:prstGeom prst="rect">
            <a:avLst/>
          </a:prstGeom>
        </p:spPr>
      </p:pic>
      <p:pic>
        <p:nvPicPr>
          <p:cNvPr id="10" name="图片 9"/>
          <p:cNvPicPr>
            <a:picLocks noChangeAspect="1"/>
          </p:cNvPicPr>
          <p:nvPr/>
        </p:nvPicPr>
        <p:blipFill>
          <a:blip r:embed="rId4"/>
          <a:stretch>
            <a:fillRect/>
          </a:stretch>
        </p:blipFill>
        <p:spPr>
          <a:xfrm>
            <a:off x="767630" y="1712098"/>
            <a:ext cx="10296715" cy="301112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10.3.1</a:t>
            </a:r>
            <a:r>
              <a:rPr lang="zh-CN" altLang="en-US" sz="2800" b="1" dirty="0">
                <a:solidFill>
                  <a:schemeClr val="tx2">
                    <a:lumMod val="60000"/>
                    <a:lumOff val="40000"/>
                  </a:schemeClr>
                </a:solidFill>
              </a:rPr>
              <a:t>典型相关的思想</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580692" y="2132910"/>
            <a:ext cx="11160775" cy="32911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10.3.2</a:t>
            </a:r>
            <a:r>
              <a:rPr lang="zh-CN" altLang="en-US" sz="2800" b="1" dirty="0">
                <a:solidFill>
                  <a:schemeClr val="tx2">
                    <a:lumMod val="60000"/>
                    <a:lumOff val="40000"/>
                  </a:schemeClr>
                </a:solidFill>
              </a:rPr>
              <a:t>典型相关的求法</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539893" y="1687272"/>
            <a:ext cx="11111230" cy="2020223"/>
          </a:xfrm>
          <a:prstGeom prst="rect">
            <a:avLst/>
          </a:prstGeom>
        </p:spPr>
      </p:pic>
      <p:pic>
        <p:nvPicPr>
          <p:cNvPr id="15" name="图片 14"/>
          <p:cNvPicPr>
            <a:picLocks noChangeAspect="1"/>
          </p:cNvPicPr>
          <p:nvPr/>
        </p:nvPicPr>
        <p:blipFill>
          <a:blip r:embed="rId4"/>
          <a:stretch>
            <a:fillRect/>
          </a:stretch>
        </p:blipFill>
        <p:spPr>
          <a:xfrm>
            <a:off x="335600" y="4002001"/>
            <a:ext cx="5400375" cy="1101629"/>
          </a:xfrm>
          <a:prstGeom prst="rect">
            <a:avLst/>
          </a:prstGeom>
        </p:spPr>
      </p:pic>
      <p:pic>
        <p:nvPicPr>
          <p:cNvPr id="17" name="图片 16"/>
          <p:cNvPicPr>
            <a:picLocks noChangeAspect="1"/>
          </p:cNvPicPr>
          <p:nvPr/>
        </p:nvPicPr>
        <p:blipFill>
          <a:blip r:embed="rId5"/>
          <a:stretch>
            <a:fillRect/>
          </a:stretch>
        </p:blipFill>
        <p:spPr>
          <a:xfrm>
            <a:off x="6134883" y="3774737"/>
            <a:ext cx="5976415" cy="1556159"/>
          </a:xfrm>
          <a:prstGeom prst="rect">
            <a:avLst/>
          </a:prstGeom>
        </p:spPr>
      </p:pic>
      <p:pic>
        <p:nvPicPr>
          <p:cNvPr id="7" name="图片 6"/>
          <p:cNvPicPr>
            <a:picLocks noChangeAspect="1"/>
          </p:cNvPicPr>
          <p:nvPr/>
        </p:nvPicPr>
        <p:blipFill>
          <a:blip r:embed="rId6"/>
          <a:stretch>
            <a:fillRect/>
          </a:stretch>
        </p:blipFill>
        <p:spPr>
          <a:xfrm>
            <a:off x="2855775" y="5523749"/>
            <a:ext cx="6130587" cy="113361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10.3.2</a:t>
            </a:r>
            <a:r>
              <a:rPr lang="zh-CN" altLang="en-US" sz="2800" b="1" dirty="0">
                <a:solidFill>
                  <a:schemeClr val="tx2">
                    <a:lumMod val="60000"/>
                    <a:lumOff val="40000"/>
                  </a:schemeClr>
                </a:solidFill>
              </a:rPr>
              <a:t>典型相关的求法</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8" name="图片 7"/>
          <p:cNvPicPr>
            <a:picLocks noChangeAspect="1"/>
          </p:cNvPicPr>
          <p:nvPr/>
        </p:nvPicPr>
        <p:blipFill>
          <a:blip r:embed="rId3"/>
          <a:stretch>
            <a:fillRect/>
          </a:stretch>
        </p:blipFill>
        <p:spPr>
          <a:xfrm>
            <a:off x="767630" y="1772885"/>
            <a:ext cx="4968345" cy="1075155"/>
          </a:xfrm>
          <a:prstGeom prst="rect">
            <a:avLst/>
          </a:prstGeom>
        </p:spPr>
      </p:pic>
      <p:pic>
        <p:nvPicPr>
          <p:cNvPr id="12" name="图片 11"/>
          <p:cNvPicPr>
            <a:picLocks noChangeAspect="1"/>
          </p:cNvPicPr>
          <p:nvPr/>
        </p:nvPicPr>
        <p:blipFill>
          <a:blip r:embed="rId4"/>
          <a:stretch>
            <a:fillRect/>
          </a:stretch>
        </p:blipFill>
        <p:spPr>
          <a:xfrm>
            <a:off x="6443810" y="1947214"/>
            <a:ext cx="5674498" cy="561717"/>
          </a:xfrm>
          <a:prstGeom prst="rect">
            <a:avLst/>
          </a:prstGeom>
        </p:spPr>
      </p:pic>
      <p:pic>
        <p:nvPicPr>
          <p:cNvPr id="14" name="图片 13"/>
          <p:cNvPicPr>
            <a:picLocks noChangeAspect="1"/>
          </p:cNvPicPr>
          <p:nvPr/>
        </p:nvPicPr>
        <p:blipFill>
          <a:blip r:embed="rId5"/>
          <a:stretch>
            <a:fillRect/>
          </a:stretch>
        </p:blipFill>
        <p:spPr>
          <a:xfrm>
            <a:off x="530518" y="3316465"/>
            <a:ext cx="5320413" cy="696491"/>
          </a:xfrm>
          <a:prstGeom prst="rect">
            <a:avLst/>
          </a:prstGeom>
        </p:spPr>
      </p:pic>
      <p:pic>
        <p:nvPicPr>
          <p:cNvPr id="18" name="图片 17"/>
          <p:cNvPicPr>
            <a:picLocks noChangeAspect="1"/>
          </p:cNvPicPr>
          <p:nvPr/>
        </p:nvPicPr>
        <p:blipFill>
          <a:blip r:embed="rId6"/>
          <a:stretch>
            <a:fillRect/>
          </a:stretch>
        </p:blipFill>
        <p:spPr>
          <a:xfrm>
            <a:off x="6456027" y="2785825"/>
            <a:ext cx="3600250" cy="1592224"/>
          </a:xfrm>
          <a:prstGeom prst="rect">
            <a:avLst/>
          </a:prstGeom>
        </p:spPr>
      </p:pic>
      <p:pic>
        <p:nvPicPr>
          <p:cNvPr id="20" name="图片 19"/>
          <p:cNvPicPr>
            <a:picLocks noChangeAspect="1"/>
          </p:cNvPicPr>
          <p:nvPr/>
        </p:nvPicPr>
        <p:blipFill>
          <a:blip r:embed="rId7"/>
          <a:stretch>
            <a:fillRect/>
          </a:stretch>
        </p:blipFill>
        <p:spPr>
          <a:xfrm>
            <a:off x="1199660" y="4757865"/>
            <a:ext cx="3716710" cy="1152080"/>
          </a:xfrm>
          <a:prstGeom prst="rect">
            <a:avLst/>
          </a:prstGeom>
        </p:spPr>
      </p:pic>
      <p:pic>
        <p:nvPicPr>
          <p:cNvPr id="22" name="图片 21"/>
          <p:cNvPicPr>
            <a:picLocks noChangeAspect="1"/>
          </p:cNvPicPr>
          <p:nvPr/>
        </p:nvPicPr>
        <p:blipFill>
          <a:blip r:embed="rId8"/>
          <a:stretch>
            <a:fillRect/>
          </a:stretch>
        </p:blipFill>
        <p:spPr>
          <a:xfrm>
            <a:off x="6519909" y="4815576"/>
            <a:ext cx="1796874" cy="103665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10.3.2</a:t>
            </a:r>
            <a:r>
              <a:rPr lang="zh-CN" altLang="en-US" sz="2800" b="1" dirty="0">
                <a:solidFill>
                  <a:schemeClr val="tx2">
                    <a:lumMod val="60000"/>
                    <a:lumOff val="40000"/>
                  </a:schemeClr>
                </a:solidFill>
              </a:rPr>
              <a:t>典型相关的求法</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490598" y="1787011"/>
            <a:ext cx="11250869" cy="2178270"/>
          </a:xfrm>
          <a:prstGeom prst="rect">
            <a:avLst/>
          </a:prstGeom>
        </p:spPr>
      </p:pic>
      <p:pic>
        <p:nvPicPr>
          <p:cNvPr id="10" name="图片 9"/>
          <p:cNvPicPr>
            <a:picLocks noChangeAspect="1"/>
          </p:cNvPicPr>
          <p:nvPr/>
        </p:nvPicPr>
        <p:blipFill>
          <a:blip r:embed="rId4"/>
          <a:stretch>
            <a:fillRect/>
          </a:stretch>
        </p:blipFill>
        <p:spPr>
          <a:xfrm>
            <a:off x="1631690" y="4230731"/>
            <a:ext cx="7200500" cy="187999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10.3.2</a:t>
            </a:r>
            <a:r>
              <a:rPr lang="zh-CN" altLang="en-US" sz="2800" b="1" dirty="0">
                <a:solidFill>
                  <a:schemeClr val="tx2">
                    <a:lumMod val="60000"/>
                    <a:lumOff val="40000"/>
                  </a:schemeClr>
                </a:solidFill>
              </a:rPr>
              <a:t>典型相关的求法</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22" name="图片 21"/>
          <p:cNvPicPr>
            <a:picLocks noChangeAspect="1"/>
          </p:cNvPicPr>
          <p:nvPr/>
        </p:nvPicPr>
        <p:blipFill>
          <a:blip r:embed="rId3"/>
          <a:stretch>
            <a:fillRect/>
          </a:stretch>
        </p:blipFill>
        <p:spPr>
          <a:xfrm>
            <a:off x="551616" y="1705395"/>
            <a:ext cx="4968346" cy="376698"/>
          </a:xfrm>
          <a:prstGeom prst="rect">
            <a:avLst/>
          </a:prstGeom>
        </p:spPr>
      </p:pic>
      <p:pic>
        <p:nvPicPr>
          <p:cNvPr id="24" name="图片 23"/>
          <p:cNvPicPr>
            <a:picLocks noChangeAspect="1"/>
          </p:cNvPicPr>
          <p:nvPr/>
        </p:nvPicPr>
        <p:blipFill>
          <a:blip r:embed="rId4"/>
          <a:stretch>
            <a:fillRect/>
          </a:stretch>
        </p:blipFill>
        <p:spPr>
          <a:xfrm>
            <a:off x="551616" y="2196763"/>
            <a:ext cx="6046336" cy="1716092"/>
          </a:xfrm>
          <a:prstGeom prst="rect">
            <a:avLst/>
          </a:prstGeom>
          <a:ln w="3175" cmpd="sng">
            <a:solidFill>
              <a:schemeClr val="accent1">
                <a:shade val="50000"/>
              </a:schemeClr>
            </a:solidFill>
            <a:prstDash val="solid"/>
          </a:ln>
        </p:spPr>
      </p:pic>
      <p:pic>
        <p:nvPicPr>
          <p:cNvPr id="26" name="图片 25"/>
          <p:cNvPicPr>
            <a:picLocks noChangeAspect="1"/>
          </p:cNvPicPr>
          <p:nvPr/>
        </p:nvPicPr>
        <p:blipFill>
          <a:blip r:embed="rId5"/>
          <a:stretch>
            <a:fillRect/>
          </a:stretch>
        </p:blipFill>
        <p:spPr>
          <a:xfrm>
            <a:off x="551616" y="4126671"/>
            <a:ext cx="5264253" cy="1509602"/>
          </a:xfrm>
          <a:prstGeom prst="rect">
            <a:avLst/>
          </a:prstGeom>
          <a:ln w="3175">
            <a:solidFill>
              <a:schemeClr val="accent1"/>
            </a:solidFill>
          </a:ln>
        </p:spPr>
      </p:pic>
      <p:pic>
        <p:nvPicPr>
          <p:cNvPr id="28" name="图片 27"/>
          <p:cNvPicPr>
            <a:picLocks noChangeAspect="1"/>
          </p:cNvPicPr>
          <p:nvPr/>
        </p:nvPicPr>
        <p:blipFill>
          <a:blip r:embed="rId6"/>
          <a:stretch>
            <a:fillRect/>
          </a:stretch>
        </p:blipFill>
        <p:spPr>
          <a:xfrm>
            <a:off x="-7582" y="2178844"/>
            <a:ext cx="462328" cy="328497"/>
          </a:xfrm>
          <a:prstGeom prst="rect">
            <a:avLst/>
          </a:prstGeom>
        </p:spPr>
      </p:pic>
      <p:pic>
        <p:nvPicPr>
          <p:cNvPr id="8192" name="图片 8191"/>
          <p:cNvPicPr>
            <a:picLocks noChangeAspect="1"/>
          </p:cNvPicPr>
          <p:nvPr/>
        </p:nvPicPr>
        <p:blipFill>
          <a:blip r:embed="rId7"/>
          <a:stretch>
            <a:fillRect/>
          </a:stretch>
        </p:blipFill>
        <p:spPr>
          <a:xfrm>
            <a:off x="7214266" y="2178844"/>
            <a:ext cx="562800" cy="276090"/>
          </a:xfrm>
          <a:prstGeom prst="rect">
            <a:avLst/>
          </a:prstGeom>
        </p:spPr>
      </p:pic>
      <p:pic>
        <p:nvPicPr>
          <p:cNvPr id="8195" name="图片 8194"/>
          <p:cNvPicPr>
            <a:picLocks noChangeAspect="1"/>
          </p:cNvPicPr>
          <p:nvPr/>
        </p:nvPicPr>
        <p:blipFill>
          <a:blip r:embed="rId8"/>
          <a:stretch>
            <a:fillRect/>
          </a:stretch>
        </p:blipFill>
        <p:spPr>
          <a:xfrm>
            <a:off x="7790769" y="2087966"/>
            <a:ext cx="3531281" cy="2576098"/>
          </a:xfrm>
          <a:prstGeom prst="rect">
            <a:avLst/>
          </a:prstGeom>
          <a:ln w="3175">
            <a:solidFill>
              <a:schemeClr val="accent1"/>
            </a:solidFill>
          </a:ln>
        </p:spPr>
      </p:pic>
      <p:pic>
        <p:nvPicPr>
          <p:cNvPr id="8197" name="图片 8196"/>
          <p:cNvPicPr>
            <a:picLocks noChangeAspect="1"/>
          </p:cNvPicPr>
          <p:nvPr/>
        </p:nvPicPr>
        <p:blipFill rotWithShape="1">
          <a:blip r:embed="rId9"/>
          <a:srcRect l="1606"/>
          <a:stretch>
            <a:fillRect/>
          </a:stretch>
        </p:blipFill>
        <p:spPr>
          <a:xfrm>
            <a:off x="541694" y="5754244"/>
            <a:ext cx="6742358" cy="934846"/>
          </a:xfrm>
          <a:prstGeom prst="rect">
            <a:avLst/>
          </a:prstGeom>
          <a:ln w="3175">
            <a:solidFill>
              <a:schemeClr val="accent1"/>
            </a:solidFill>
          </a:ln>
        </p:spPr>
      </p:pic>
      <p:pic>
        <p:nvPicPr>
          <p:cNvPr id="8199" name="图片 8198"/>
          <p:cNvPicPr>
            <a:picLocks noChangeAspect="1"/>
          </p:cNvPicPr>
          <p:nvPr/>
        </p:nvPicPr>
        <p:blipFill>
          <a:blip r:embed="rId10"/>
          <a:stretch>
            <a:fillRect/>
          </a:stretch>
        </p:blipFill>
        <p:spPr>
          <a:xfrm>
            <a:off x="8251913" y="5794450"/>
            <a:ext cx="1404040" cy="766680"/>
          </a:xfrm>
          <a:prstGeom prst="rect">
            <a:avLst/>
          </a:prstGeom>
          <a:ln w="3175">
            <a:solidFill>
              <a:schemeClr val="accent1"/>
            </a:solidFill>
          </a:ln>
        </p:spPr>
      </p:pic>
      <p:pic>
        <p:nvPicPr>
          <p:cNvPr id="8200" name="图片 8199"/>
          <p:cNvPicPr>
            <a:picLocks noChangeAspect="1"/>
          </p:cNvPicPr>
          <p:nvPr/>
        </p:nvPicPr>
        <p:blipFill>
          <a:blip r:embed="rId7"/>
          <a:stretch>
            <a:fillRect/>
          </a:stretch>
        </p:blipFill>
        <p:spPr>
          <a:xfrm>
            <a:off x="7454511" y="5637541"/>
            <a:ext cx="562800" cy="276090"/>
          </a:xfrm>
          <a:prstGeom prst="rect">
            <a:avLst/>
          </a:prstGeom>
        </p:spPr>
      </p:pic>
      <p:pic>
        <p:nvPicPr>
          <p:cNvPr id="5" name="图片 4"/>
          <p:cNvPicPr>
            <a:picLocks noChangeAspect="1"/>
          </p:cNvPicPr>
          <p:nvPr/>
        </p:nvPicPr>
        <p:blipFill>
          <a:blip r:embed="rId6"/>
          <a:stretch>
            <a:fillRect/>
          </a:stretch>
        </p:blipFill>
        <p:spPr>
          <a:xfrm>
            <a:off x="7326" y="5842404"/>
            <a:ext cx="462328" cy="328497"/>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192"/>
                                        </p:tgtEl>
                                        <p:attrNameLst>
                                          <p:attrName>style.visibility</p:attrName>
                                        </p:attrNameLst>
                                      </p:cBhvr>
                                      <p:to>
                                        <p:strVal val="visible"/>
                                      </p:to>
                                    </p:set>
                                    <p:animEffect transition="in" filter="fade">
                                      <p:cBhvr>
                                        <p:cTn id="17" dur="500"/>
                                        <p:tgtEl>
                                          <p:spTgt spid="8192"/>
                                        </p:tgtEl>
                                      </p:cBhvr>
                                    </p:animEffect>
                                  </p:childTnLst>
                                </p:cTn>
                              </p:par>
                              <p:par>
                                <p:cTn id="18" presetID="10" presetClass="entr" presetSubtype="0" fill="hold" nodeType="withEffect">
                                  <p:stCondLst>
                                    <p:cond delay="0"/>
                                  </p:stCondLst>
                                  <p:childTnLst>
                                    <p:set>
                                      <p:cBhvr>
                                        <p:cTn id="19" dur="1" fill="hold">
                                          <p:stCondLst>
                                            <p:cond delay="0"/>
                                          </p:stCondLst>
                                        </p:cTn>
                                        <p:tgtEl>
                                          <p:spTgt spid="8195"/>
                                        </p:tgtEl>
                                        <p:attrNameLst>
                                          <p:attrName>style.visibility</p:attrName>
                                        </p:attrNameLst>
                                      </p:cBhvr>
                                      <p:to>
                                        <p:strVal val="visible"/>
                                      </p:to>
                                    </p:set>
                                    <p:animEffect transition="in" filter="fade">
                                      <p:cBhvr>
                                        <p:cTn id="20" dur="500"/>
                                        <p:tgtEl>
                                          <p:spTgt spid="819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1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200"/>
                                        </p:tgtEl>
                                        <p:attrNameLst>
                                          <p:attrName>style.visibility</p:attrName>
                                        </p:attrNameLst>
                                      </p:cBhvr>
                                      <p:to>
                                        <p:strVal val="visible"/>
                                      </p:to>
                                    </p:set>
                                    <p:animEffect transition="in" filter="fade">
                                      <p:cBhvr>
                                        <p:cTn id="31" dur="500"/>
                                        <p:tgtEl>
                                          <p:spTgt spid="8200"/>
                                        </p:tgtEl>
                                      </p:cBhvr>
                                    </p:animEffect>
                                  </p:childTnLst>
                                </p:cTn>
                              </p:par>
                              <p:par>
                                <p:cTn id="32" presetID="10" presetClass="entr" presetSubtype="0" fill="hold" nodeType="withEffect">
                                  <p:stCondLst>
                                    <p:cond delay="0"/>
                                  </p:stCondLst>
                                  <p:childTnLst>
                                    <p:set>
                                      <p:cBhvr>
                                        <p:cTn id="33" dur="1" fill="hold">
                                          <p:stCondLst>
                                            <p:cond delay="0"/>
                                          </p:stCondLst>
                                        </p:cTn>
                                        <p:tgtEl>
                                          <p:spTgt spid="8199"/>
                                        </p:tgtEl>
                                        <p:attrNameLst>
                                          <p:attrName>style.visibility</p:attrName>
                                        </p:attrNameLst>
                                      </p:cBhvr>
                                      <p:to>
                                        <p:strVal val="visible"/>
                                      </p:to>
                                    </p:set>
                                    <p:animEffect transition="in" filter="fade">
                                      <p:cBhvr>
                                        <p:cTn id="34"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38490" y="1164052"/>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10.3.3</a:t>
            </a:r>
            <a:r>
              <a:rPr lang="zh-CN" altLang="en-US" sz="2800" b="1" dirty="0">
                <a:solidFill>
                  <a:schemeClr val="tx2">
                    <a:lumMod val="60000"/>
                    <a:lumOff val="40000"/>
                  </a:schemeClr>
                </a:solidFill>
              </a:rPr>
              <a:t>典型变量的性质</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335600" y="1594042"/>
            <a:ext cx="11123122" cy="2090180"/>
          </a:xfrm>
          <a:prstGeom prst="rect">
            <a:avLst/>
          </a:prstGeom>
        </p:spPr>
      </p:pic>
      <p:pic>
        <p:nvPicPr>
          <p:cNvPr id="8" name="图片 7"/>
          <p:cNvPicPr>
            <a:picLocks noChangeAspect="1"/>
          </p:cNvPicPr>
          <p:nvPr/>
        </p:nvPicPr>
        <p:blipFill>
          <a:blip r:embed="rId4"/>
          <a:stretch>
            <a:fillRect/>
          </a:stretch>
        </p:blipFill>
        <p:spPr>
          <a:xfrm>
            <a:off x="314598" y="3652765"/>
            <a:ext cx="11402242" cy="31575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22717" y="1118239"/>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10.3.4</a:t>
            </a:r>
            <a:r>
              <a:rPr lang="zh-CN" altLang="en-US" sz="2800" b="1" dirty="0">
                <a:solidFill>
                  <a:schemeClr val="tx2">
                    <a:lumMod val="60000"/>
                    <a:lumOff val="40000"/>
                  </a:schemeClr>
                </a:solidFill>
              </a:rPr>
              <a:t>典型相关的检验</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479610" y="1641459"/>
            <a:ext cx="11298660" cy="1250736"/>
          </a:xfrm>
          <a:prstGeom prst="rect">
            <a:avLst/>
          </a:prstGeom>
        </p:spPr>
      </p:pic>
      <p:pic>
        <p:nvPicPr>
          <p:cNvPr id="12" name="图片 11"/>
          <p:cNvPicPr>
            <a:picLocks noChangeAspect="1"/>
          </p:cNvPicPr>
          <p:nvPr/>
        </p:nvPicPr>
        <p:blipFill>
          <a:blip r:embed="rId4"/>
          <a:stretch>
            <a:fillRect/>
          </a:stretch>
        </p:blipFill>
        <p:spPr>
          <a:xfrm>
            <a:off x="911640" y="3066463"/>
            <a:ext cx="7704535" cy="1798686"/>
          </a:xfrm>
          <a:prstGeom prst="rect">
            <a:avLst/>
          </a:prstGeom>
        </p:spPr>
      </p:pic>
      <p:pic>
        <p:nvPicPr>
          <p:cNvPr id="14" name="图片 13"/>
          <p:cNvPicPr>
            <a:picLocks noChangeAspect="1"/>
          </p:cNvPicPr>
          <p:nvPr/>
        </p:nvPicPr>
        <p:blipFill>
          <a:blip r:embed="rId5"/>
          <a:stretch>
            <a:fillRect/>
          </a:stretch>
        </p:blipFill>
        <p:spPr>
          <a:xfrm>
            <a:off x="423436" y="5106793"/>
            <a:ext cx="11184565" cy="779017"/>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10.3</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典型相关分析原理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22717" y="1118239"/>
            <a:ext cx="4129390"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10.3.4</a:t>
            </a:r>
            <a:r>
              <a:rPr lang="zh-CN" altLang="en-US" sz="2800" b="1" dirty="0">
                <a:solidFill>
                  <a:schemeClr val="tx2">
                    <a:lumMod val="60000"/>
                    <a:lumOff val="40000"/>
                  </a:schemeClr>
                </a:solidFill>
              </a:rPr>
              <a:t>典型相关的检验</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406415" y="1641459"/>
            <a:ext cx="7487797" cy="372322"/>
          </a:xfrm>
          <a:prstGeom prst="rect">
            <a:avLst/>
          </a:prstGeom>
        </p:spPr>
      </p:pic>
      <p:sp>
        <p:nvSpPr>
          <p:cNvPr id="19" name="文本框 18"/>
          <p:cNvSpPr txBox="1"/>
          <p:nvPr/>
        </p:nvSpPr>
        <p:spPr>
          <a:xfrm>
            <a:off x="7250923" y="4952406"/>
            <a:ext cx="4803713" cy="1323439"/>
          </a:xfrm>
          <a:prstGeom prst="rect">
            <a:avLst/>
          </a:prstGeom>
          <a:noFill/>
        </p:spPr>
        <p:txBody>
          <a:bodyPr wrap="square">
            <a:spAutoFit/>
          </a:bodyPr>
          <a:lstStyle/>
          <a:p>
            <a:r>
              <a:rPr lang="zh-CN" altLang="en-US" sz="2000" dirty="0">
                <a:latin typeface="微软雅黑" panose="020B0503020204020204" pitchFamily="2" charset="-122"/>
                <a:ea typeface="微软雅黑" panose="020B0503020204020204" pitchFamily="2" charset="-122"/>
              </a:rPr>
              <a:t>输出结果的第一列是典型相关系数，第二列是检验的卡方值，第三列为相应的P值，可以看出在α=0.05水平上没有一个典型相关系数是显著的。</a:t>
            </a:r>
          </a:p>
        </p:txBody>
      </p:sp>
      <p:pic>
        <p:nvPicPr>
          <p:cNvPr id="7" name="图片 6"/>
          <p:cNvPicPr>
            <a:picLocks noChangeAspect="1"/>
          </p:cNvPicPr>
          <p:nvPr/>
        </p:nvPicPr>
        <p:blipFill>
          <a:blip r:embed="rId4"/>
          <a:stretch>
            <a:fillRect/>
          </a:stretch>
        </p:blipFill>
        <p:spPr>
          <a:xfrm>
            <a:off x="427887" y="2164679"/>
            <a:ext cx="6460168" cy="4541865"/>
          </a:xfrm>
          <a:prstGeom prst="rect">
            <a:avLst/>
          </a:prstGeom>
          <a:ln>
            <a:solidFill>
              <a:schemeClr val="tx1"/>
            </a:solidFill>
          </a:ln>
        </p:spPr>
      </p:pic>
      <p:pic>
        <p:nvPicPr>
          <p:cNvPr id="12" name="图片 11"/>
          <p:cNvPicPr>
            <a:picLocks noChangeAspect="1"/>
          </p:cNvPicPr>
          <p:nvPr/>
        </p:nvPicPr>
        <p:blipFill>
          <a:blip r:embed="rId5"/>
          <a:stretch>
            <a:fillRect/>
          </a:stretch>
        </p:blipFill>
        <p:spPr>
          <a:xfrm>
            <a:off x="7228250" y="2183577"/>
            <a:ext cx="3102172" cy="353272"/>
          </a:xfrm>
          <a:prstGeom prst="rect">
            <a:avLst/>
          </a:prstGeom>
          <a:ln>
            <a:solidFill>
              <a:schemeClr val="tx1"/>
            </a:solidFill>
          </a:ln>
        </p:spPr>
      </p:pic>
      <p:pic>
        <p:nvPicPr>
          <p:cNvPr id="14" name="图片 13"/>
          <p:cNvPicPr>
            <a:picLocks noChangeAspect="1"/>
          </p:cNvPicPr>
          <p:nvPr/>
        </p:nvPicPr>
        <p:blipFill>
          <a:blip r:embed="rId6"/>
          <a:stretch>
            <a:fillRect/>
          </a:stretch>
        </p:blipFill>
        <p:spPr>
          <a:xfrm>
            <a:off x="7226125" y="2996970"/>
            <a:ext cx="4592059" cy="1122041"/>
          </a:xfrm>
          <a:prstGeom prst="rect">
            <a:avLst/>
          </a:prstGeom>
          <a:ln>
            <a:solidFill>
              <a:schemeClr val="tx1"/>
            </a:solid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1000"/>
                                        <p:tgtEl>
                                          <p:spTgt spid="19"/>
                                        </p:tgtEl>
                                      </p:cBhvr>
                                    </p:animEffect>
                                    <p:anim calcmode="lin" valueType="num">
                                      <p:cBhvr>
                                        <p:cTn id="21" dur="1000" fill="hold"/>
                                        <p:tgtEl>
                                          <p:spTgt spid="19"/>
                                        </p:tgtEl>
                                        <p:attrNameLst>
                                          <p:attrName>ppt_x</p:attrName>
                                        </p:attrNameLst>
                                      </p:cBhvr>
                                      <p:tavLst>
                                        <p:tav tm="0">
                                          <p:val>
                                            <p:strVal val="#ppt_x"/>
                                          </p:val>
                                        </p:tav>
                                        <p:tav tm="100000">
                                          <p:val>
                                            <p:strVal val="#ppt_x"/>
                                          </p:val>
                                        </p:tav>
                                      </p:tavLst>
                                    </p:anim>
                                    <p:anim calcmode="lin" valueType="num">
                                      <p:cBhvr>
                                        <p:cTn id="2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911640" y="2276920"/>
            <a:ext cx="9792680" cy="2706341"/>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222716" y="1118239"/>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10.4.1</a:t>
            </a:r>
            <a:r>
              <a:rPr lang="zh-CN" altLang="en-US" sz="2800" b="1" dirty="0">
                <a:solidFill>
                  <a:schemeClr val="tx2">
                    <a:lumMod val="60000"/>
                    <a:lumOff val="40000"/>
                  </a:schemeClr>
                </a:solidFill>
              </a:rPr>
              <a:t>计算典型系数及变量</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12" name="图片 11"/>
          <p:cNvPicPr>
            <a:picLocks noChangeAspect="1"/>
          </p:cNvPicPr>
          <p:nvPr/>
        </p:nvPicPr>
        <p:blipFill>
          <a:blip r:embed="rId3"/>
          <a:stretch>
            <a:fillRect/>
          </a:stretch>
        </p:blipFill>
        <p:spPr>
          <a:xfrm>
            <a:off x="839635" y="1773621"/>
            <a:ext cx="9864685" cy="433573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10.4.1</a:t>
            </a:r>
            <a:r>
              <a:rPr lang="zh-CN" altLang="en-US" sz="2800" b="1" dirty="0">
                <a:solidFill>
                  <a:schemeClr val="tx2">
                    <a:lumMod val="60000"/>
                    <a:lumOff val="40000"/>
                  </a:schemeClr>
                </a:solidFill>
              </a:rPr>
              <a:t>计算典型系数及变量</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rotWithShape="1">
          <a:blip r:embed="rId3"/>
          <a:srcRect b="64654"/>
          <a:stretch>
            <a:fillRect/>
          </a:stretch>
        </p:blipFill>
        <p:spPr>
          <a:xfrm>
            <a:off x="623620" y="1569070"/>
            <a:ext cx="11160775" cy="504170"/>
          </a:xfrm>
          <a:prstGeom prst="rect">
            <a:avLst/>
          </a:prstGeom>
        </p:spPr>
      </p:pic>
      <p:pic>
        <p:nvPicPr>
          <p:cNvPr id="8" name="图片 7"/>
          <p:cNvPicPr>
            <a:picLocks noChangeAspect="1"/>
          </p:cNvPicPr>
          <p:nvPr/>
        </p:nvPicPr>
        <p:blipFill rotWithShape="1">
          <a:blip r:embed="rId4"/>
          <a:srcRect b="83731"/>
          <a:stretch>
            <a:fillRect/>
          </a:stretch>
        </p:blipFill>
        <p:spPr>
          <a:xfrm>
            <a:off x="623620" y="2941992"/>
            <a:ext cx="6028176" cy="415846"/>
          </a:xfrm>
          <a:prstGeom prst="rect">
            <a:avLst/>
          </a:prstGeom>
        </p:spPr>
      </p:pic>
      <p:pic>
        <p:nvPicPr>
          <p:cNvPr id="13" name="图片 12"/>
          <p:cNvPicPr>
            <a:picLocks noChangeAspect="1"/>
          </p:cNvPicPr>
          <p:nvPr/>
        </p:nvPicPr>
        <p:blipFill>
          <a:blip r:embed="rId5"/>
          <a:stretch>
            <a:fillRect/>
          </a:stretch>
        </p:blipFill>
        <p:spPr>
          <a:xfrm>
            <a:off x="767630" y="5140313"/>
            <a:ext cx="9913426" cy="1711834"/>
          </a:xfrm>
          <a:prstGeom prst="rect">
            <a:avLst/>
          </a:prstGeom>
        </p:spPr>
      </p:pic>
      <p:pic>
        <p:nvPicPr>
          <p:cNvPr id="17" name="图片 16"/>
          <p:cNvPicPr>
            <a:picLocks noChangeAspect="1"/>
          </p:cNvPicPr>
          <p:nvPr/>
        </p:nvPicPr>
        <p:blipFill>
          <a:blip r:embed="rId6"/>
          <a:stretch>
            <a:fillRect/>
          </a:stretch>
        </p:blipFill>
        <p:spPr>
          <a:xfrm>
            <a:off x="623620" y="2011798"/>
            <a:ext cx="10584735" cy="738975"/>
          </a:xfrm>
          <a:prstGeom prst="rect">
            <a:avLst/>
          </a:prstGeom>
        </p:spPr>
      </p:pic>
      <p:pic>
        <p:nvPicPr>
          <p:cNvPr id="19" name="图片 18"/>
          <p:cNvPicPr>
            <a:picLocks noChangeAspect="1"/>
          </p:cNvPicPr>
          <p:nvPr/>
        </p:nvPicPr>
        <p:blipFill>
          <a:blip r:embed="rId7"/>
          <a:stretch>
            <a:fillRect/>
          </a:stretch>
        </p:blipFill>
        <p:spPr>
          <a:xfrm>
            <a:off x="4295875" y="3245659"/>
            <a:ext cx="2439971" cy="182014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1000"/>
                                        <p:tgtEl>
                                          <p:spTgt spid="19"/>
                                        </p:tgtEl>
                                      </p:cBhvr>
                                    </p:animEffect>
                                    <p:anim calcmode="lin" valueType="num">
                                      <p:cBhvr>
                                        <p:cTn id="21" dur="1000" fill="hold"/>
                                        <p:tgtEl>
                                          <p:spTgt spid="19"/>
                                        </p:tgtEl>
                                        <p:attrNameLst>
                                          <p:attrName>ppt_x</p:attrName>
                                        </p:attrNameLst>
                                      </p:cBhvr>
                                      <p:tavLst>
                                        <p:tav tm="0">
                                          <p:val>
                                            <p:strVal val="#ppt_x"/>
                                          </p:val>
                                        </p:tav>
                                        <p:tav tm="100000">
                                          <p:val>
                                            <p:strVal val="#ppt_x"/>
                                          </p:val>
                                        </p:tav>
                                      </p:tavLst>
                                    </p:anim>
                                    <p:anim calcmode="lin" valueType="num">
                                      <p:cBhvr>
                                        <p:cTn id="22" dur="1000" fill="hold"/>
                                        <p:tgtEl>
                                          <p:spTgt spid="19"/>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10.4.1</a:t>
            </a:r>
            <a:r>
              <a:rPr lang="zh-CN" altLang="en-US" sz="2800" b="1" dirty="0">
                <a:solidFill>
                  <a:schemeClr val="tx2">
                    <a:lumMod val="60000"/>
                    <a:lumOff val="40000"/>
                  </a:schemeClr>
                </a:solidFill>
              </a:rPr>
              <a:t>计算典型系数及变量</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15" name="图片 14"/>
          <p:cNvPicPr>
            <a:picLocks noChangeAspect="1"/>
          </p:cNvPicPr>
          <p:nvPr/>
        </p:nvPicPr>
        <p:blipFill rotWithShape="1">
          <a:blip r:embed="rId3"/>
          <a:srcRect t="5746" b="1"/>
          <a:stretch>
            <a:fillRect/>
          </a:stretch>
        </p:blipFill>
        <p:spPr>
          <a:xfrm>
            <a:off x="191590" y="1627628"/>
            <a:ext cx="6840475" cy="1080329"/>
          </a:xfrm>
          <a:prstGeom prst="rect">
            <a:avLst/>
          </a:prstGeom>
        </p:spPr>
      </p:pic>
      <p:pic>
        <p:nvPicPr>
          <p:cNvPr id="18" name="图片 17"/>
          <p:cNvPicPr>
            <a:picLocks noChangeAspect="1"/>
          </p:cNvPicPr>
          <p:nvPr/>
        </p:nvPicPr>
        <p:blipFill>
          <a:blip r:embed="rId4"/>
          <a:stretch>
            <a:fillRect/>
          </a:stretch>
        </p:blipFill>
        <p:spPr>
          <a:xfrm>
            <a:off x="191590" y="2739319"/>
            <a:ext cx="5904410" cy="3927076"/>
          </a:xfrm>
          <a:prstGeom prst="rect">
            <a:avLst/>
          </a:prstGeom>
        </p:spPr>
      </p:pic>
      <p:pic>
        <p:nvPicPr>
          <p:cNvPr id="21" name="图片 20"/>
          <p:cNvPicPr>
            <a:picLocks noChangeAspect="1"/>
          </p:cNvPicPr>
          <p:nvPr/>
        </p:nvPicPr>
        <p:blipFill>
          <a:blip r:embed="rId5"/>
          <a:stretch>
            <a:fillRect/>
          </a:stretch>
        </p:blipFill>
        <p:spPr>
          <a:xfrm>
            <a:off x="7536100" y="1593226"/>
            <a:ext cx="2878541" cy="311756"/>
          </a:xfrm>
          <a:prstGeom prst="rect">
            <a:avLst/>
          </a:prstGeom>
        </p:spPr>
      </p:pic>
      <p:pic>
        <p:nvPicPr>
          <p:cNvPr id="23" name="图片 22"/>
          <p:cNvPicPr>
            <a:picLocks noChangeAspect="1"/>
          </p:cNvPicPr>
          <p:nvPr/>
        </p:nvPicPr>
        <p:blipFill>
          <a:blip r:embed="rId6"/>
          <a:stretch>
            <a:fillRect/>
          </a:stretch>
        </p:blipFill>
        <p:spPr>
          <a:xfrm>
            <a:off x="8328155" y="2167792"/>
            <a:ext cx="2705334" cy="1234547"/>
          </a:xfrm>
          <a:prstGeom prst="rect">
            <a:avLst/>
          </a:prstGeom>
        </p:spPr>
      </p:pic>
      <p:pic>
        <p:nvPicPr>
          <p:cNvPr id="25" name="图片 24"/>
          <p:cNvPicPr>
            <a:picLocks noChangeAspect="1"/>
          </p:cNvPicPr>
          <p:nvPr/>
        </p:nvPicPr>
        <p:blipFill>
          <a:blip r:embed="rId7"/>
          <a:stretch>
            <a:fillRect/>
          </a:stretch>
        </p:blipFill>
        <p:spPr>
          <a:xfrm>
            <a:off x="5382990" y="2060905"/>
            <a:ext cx="2743438" cy="2225233"/>
          </a:xfrm>
          <a:prstGeom prst="rect">
            <a:avLst/>
          </a:prstGeom>
        </p:spPr>
      </p:pic>
      <p:pic>
        <p:nvPicPr>
          <p:cNvPr id="27" name="图片 26"/>
          <p:cNvPicPr>
            <a:picLocks noChangeAspect="1"/>
          </p:cNvPicPr>
          <p:nvPr/>
        </p:nvPicPr>
        <p:blipFill>
          <a:blip r:embed="rId8"/>
          <a:stretch>
            <a:fillRect/>
          </a:stretch>
        </p:blipFill>
        <p:spPr>
          <a:xfrm>
            <a:off x="8126428" y="3961219"/>
            <a:ext cx="3911458" cy="2705176"/>
          </a:xfrm>
          <a:prstGeom prst="rect">
            <a:avLst/>
          </a:prstGeom>
        </p:spPr>
      </p:pic>
      <p:pic>
        <p:nvPicPr>
          <p:cNvPr id="31" name="图片 30"/>
          <p:cNvPicPr>
            <a:picLocks noChangeAspect="1"/>
          </p:cNvPicPr>
          <p:nvPr/>
        </p:nvPicPr>
        <p:blipFill rotWithShape="1">
          <a:blip r:embed="rId9"/>
          <a:srcRect b="14987"/>
          <a:stretch>
            <a:fillRect/>
          </a:stretch>
        </p:blipFill>
        <p:spPr>
          <a:xfrm>
            <a:off x="4749822" y="1177572"/>
            <a:ext cx="3949101" cy="26993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10.4.2</a:t>
            </a:r>
            <a:r>
              <a:rPr lang="zh-CN" altLang="en-US" sz="2800" b="1" dirty="0">
                <a:solidFill>
                  <a:schemeClr val="tx2">
                    <a:lumMod val="60000"/>
                    <a:lumOff val="40000"/>
                  </a:schemeClr>
                </a:solidFill>
              </a:rPr>
              <a:t>典型相关的实证分析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8" name="图片 7"/>
          <p:cNvPicPr>
            <a:picLocks noChangeAspect="1"/>
          </p:cNvPicPr>
          <p:nvPr/>
        </p:nvPicPr>
        <p:blipFill>
          <a:blip r:embed="rId3"/>
          <a:stretch>
            <a:fillRect/>
          </a:stretch>
        </p:blipFill>
        <p:spPr>
          <a:xfrm>
            <a:off x="1610411" y="1666137"/>
            <a:ext cx="8970194" cy="2245054"/>
          </a:xfrm>
          <a:prstGeom prst="rect">
            <a:avLst/>
          </a:prstGeom>
        </p:spPr>
      </p:pic>
      <p:pic>
        <p:nvPicPr>
          <p:cNvPr id="6" name="图片 5"/>
          <p:cNvPicPr>
            <a:picLocks noChangeAspect="1"/>
          </p:cNvPicPr>
          <p:nvPr/>
        </p:nvPicPr>
        <p:blipFill>
          <a:blip r:embed="rId4"/>
          <a:stretch>
            <a:fillRect/>
          </a:stretch>
        </p:blipFill>
        <p:spPr>
          <a:xfrm>
            <a:off x="551615" y="1485523"/>
            <a:ext cx="3096215" cy="562019"/>
          </a:xfrm>
          <a:prstGeom prst="rect">
            <a:avLst/>
          </a:prstGeom>
        </p:spPr>
      </p:pic>
      <p:pic>
        <p:nvPicPr>
          <p:cNvPr id="12" name="图片 11"/>
          <p:cNvPicPr>
            <a:picLocks noChangeAspect="1"/>
          </p:cNvPicPr>
          <p:nvPr/>
        </p:nvPicPr>
        <p:blipFill>
          <a:blip r:embed="rId5"/>
          <a:stretch>
            <a:fillRect/>
          </a:stretch>
        </p:blipFill>
        <p:spPr>
          <a:xfrm>
            <a:off x="1183842" y="4035277"/>
            <a:ext cx="9663754" cy="2529571"/>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10.4.2</a:t>
            </a:r>
            <a:r>
              <a:rPr lang="zh-CN" altLang="en-US" sz="2800" b="1" dirty="0">
                <a:solidFill>
                  <a:schemeClr val="tx2">
                    <a:lumMod val="60000"/>
                    <a:lumOff val="40000"/>
                  </a:schemeClr>
                </a:solidFill>
              </a:rPr>
              <a:t>典型相关的实证分析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292931" y="1566886"/>
            <a:ext cx="2376165" cy="482121"/>
          </a:xfrm>
          <a:prstGeom prst="rect">
            <a:avLst/>
          </a:prstGeom>
        </p:spPr>
      </p:pic>
      <p:pic>
        <p:nvPicPr>
          <p:cNvPr id="13" name="图片 12"/>
          <p:cNvPicPr>
            <a:picLocks noChangeAspect="1"/>
          </p:cNvPicPr>
          <p:nvPr/>
        </p:nvPicPr>
        <p:blipFill rotWithShape="1">
          <a:blip r:embed="rId4"/>
          <a:srcRect r="92607"/>
          <a:stretch>
            <a:fillRect/>
          </a:stretch>
        </p:blipFill>
        <p:spPr>
          <a:xfrm>
            <a:off x="326846" y="2166843"/>
            <a:ext cx="656800" cy="926539"/>
          </a:xfrm>
          <a:prstGeom prst="rect">
            <a:avLst/>
          </a:prstGeom>
        </p:spPr>
      </p:pic>
      <p:pic>
        <p:nvPicPr>
          <p:cNvPr id="15" name="图片 14"/>
          <p:cNvPicPr>
            <a:picLocks noChangeAspect="1"/>
          </p:cNvPicPr>
          <p:nvPr/>
        </p:nvPicPr>
        <p:blipFill>
          <a:blip r:embed="rId5"/>
          <a:stretch>
            <a:fillRect/>
          </a:stretch>
        </p:blipFill>
        <p:spPr>
          <a:xfrm>
            <a:off x="597379" y="3530969"/>
            <a:ext cx="3765613" cy="1868211"/>
          </a:xfrm>
          <a:prstGeom prst="rect">
            <a:avLst/>
          </a:prstGeom>
        </p:spPr>
      </p:pic>
      <p:pic>
        <p:nvPicPr>
          <p:cNvPr id="17" name="图片 16"/>
          <p:cNvPicPr>
            <a:picLocks noChangeAspect="1"/>
          </p:cNvPicPr>
          <p:nvPr/>
        </p:nvPicPr>
        <p:blipFill>
          <a:blip r:embed="rId6"/>
          <a:stretch>
            <a:fillRect/>
          </a:stretch>
        </p:blipFill>
        <p:spPr>
          <a:xfrm>
            <a:off x="4824453" y="3411328"/>
            <a:ext cx="6009114" cy="3181817"/>
          </a:xfrm>
          <a:prstGeom prst="rect">
            <a:avLst/>
          </a:prstGeom>
        </p:spPr>
      </p:pic>
      <p:pic>
        <p:nvPicPr>
          <p:cNvPr id="19" name="图片 18"/>
          <p:cNvPicPr>
            <a:picLocks noChangeAspect="1"/>
          </p:cNvPicPr>
          <p:nvPr/>
        </p:nvPicPr>
        <p:blipFill>
          <a:blip r:embed="rId7"/>
          <a:stretch>
            <a:fillRect/>
          </a:stretch>
        </p:blipFill>
        <p:spPr>
          <a:xfrm>
            <a:off x="292931" y="3452278"/>
            <a:ext cx="522433" cy="320792"/>
          </a:xfrm>
          <a:prstGeom prst="rect">
            <a:avLst/>
          </a:prstGeom>
        </p:spPr>
      </p:pic>
      <p:pic>
        <p:nvPicPr>
          <p:cNvPr id="21" name="图片 20"/>
          <p:cNvPicPr>
            <a:picLocks noChangeAspect="1"/>
          </p:cNvPicPr>
          <p:nvPr/>
        </p:nvPicPr>
        <p:blipFill>
          <a:blip r:embed="rId8"/>
          <a:stretch>
            <a:fillRect/>
          </a:stretch>
        </p:blipFill>
        <p:spPr>
          <a:xfrm>
            <a:off x="983646" y="2180992"/>
            <a:ext cx="7755187" cy="99217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10.4.2</a:t>
            </a:r>
            <a:r>
              <a:rPr lang="zh-CN" altLang="en-US" sz="2800" b="1" dirty="0">
                <a:solidFill>
                  <a:schemeClr val="tx2">
                    <a:lumMod val="60000"/>
                    <a:lumOff val="40000"/>
                  </a:schemeClr>
                </a:solidFill>
              </a:rPr>
              <a:t>典型相关的实证分析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292931" y="1566886"/>
            <a:ext cx="2376165" cy="482121"/>
          </a:xfrm>
          <a:prstGeom prst="rect">
            <a:avLst/>
          </a:prstGeom>
        </p:spPr>
      </p:pic>
      <p:pic>
        <p:nvPicPr>
          <p:cNvPr id="13" name="图片 12"/>
          <p:cNvPicPr>
            <a:picLocks noChangeAspect="1"/>
          </p:cNvPicPr>
          <p:nvPr/>
        </p:nvPicPr>
        <p:blipFill rotWithShape="1">
          <a:blip r:embed="rId4"/>
          <a:srcRect r="92607"/>
          <a:stretch>
            <a:fillRect/>
          </a:stretch>
        </p:blipFill>
        <p:spPr>
          <a:xfrm>
            <a:off x="326846" y="2166843"/>
            <a:ext cx="656800" cy="926539"/>
          </a:xfrm>
          <a:prstGeom prst="rect">
            <a:avLst/>
          </a:prstGeom>
        </p:spPr>
      </p:pic>
      <p:pic>
        <p:nvPicPr>
          <p:cNvPr id="19" name="图片 18"/>
          <p:cNvPicPr>
            <a:picLocks noChangeAspect="1"/>
          </p:cNvPicPr>
          <p:nvPr/>
        </p:nvPicPr>
        <p:blipFill>
          <a:blip r:embed="rId5"/>
          <a:stretch>
            <a:fillRect/>
          </a:stretch>
        </p:blipFill>
        <p:spPr>
          <a:xfrm>
            <a:off x="317074" y="2890426"/>
            <a:ext cx="522433" cy="320792"/>
          </a:xfrm>
          <a:prstGeom prst="rect">
            <a:avLst/>
          </a:prstGeom>
        </p:spPr>
      </p:pic>
      <p:pic>
        <p:nvPicPr>
          <p:cNvPr id="6" name="图片 5"/>
          <p:cNvPicPr>
            <a:picLocks noChangeAspect="1"/>
          </p:cNvPicPr>
          <p:nvPr/>
        </p:nvPicPr>
        <p:blipFill>
          <a:blip r:embed="rId6"/>
          <a:stretch>
            <a:fillRect/>
          </a:stretch>
        </p:blipFill>
        <p:spPr>
          <a:xfrm>
            <a:off x="815364" y="2161045"/>
            <a:ext cx="8664871" cy="312812"/>
          </a:xfrm>
          <a:prstGeom prst="rect">
            <a:avLst/>
          </a:prstGeom>
        </p:spPr>
      </p:pic>
      <p:pic>
        <p:nvPicPr>
          <p:cNvPr id="10" name="图片 9"/>
          <p:cNvPicPr>
            <a:picLocks noChangeAspect="1"/>
          </p:cNvPicPr>
          <p:nvPr/>
        </p:nvPicPr>
        <p:blipFill>
          <a:blip r:embed="rId7"/>
          <a:stretch>
            <a:fillRect/>
          </a:stretch>
        </p:blipFill>
        <p:spPr>
          <a:xfrm>
            <a:off x="961214" y="2918416"/>
            <a:ext cx="3406666" cy="1264524"/>
          </a:xfrm>
          <a:prstGeom prst="rect">
            <a:avLst/>
          </a:prstGeom>
        </p:spPr>
      </p:pic>
      <p:pic>
        <p:nvPicPr>
          <p:cNvPr id="14" name="图片 13"/>
          <p:cNvPicPr>
            <a:picLocks noChangeAspect="1"/>
          </p:cNvPicPr>
          <p:nvPr/>
        </p:nvPicPr>
        <p:blipFill>
          <a:blip r:embed="rId8"/>
          <a:stretch>
            <a:fillRect/>
          </a:stretch>
        </p:blipFill>
        <p:spPr>
          <a:xfrm>
            <a:off x="1068763" y="4382794"/>
            <a:ext cx="5400375" cy="1816640"/>
          </a:xfrm>
          <a:prstGeom prst="rect">
            <a:avLst/>
          </a:prstGeom>
        </p:spPr>
      </p:pic>
      <p:pic>
        <p:nvPicPr>
          <p:cNvPr id="18" name="图片 17"/>
          <p:cNvPicPr>
            <a:picLocks noChangeAspect="1"/>
          </p:cNvPicPr>
          <p:nvPr/>
        </p:nvPicPr>
        <p:blipFill>
          <a:blip r:embed="rId9"/>
          <a:stretch>
            <a:fillRect/>
          </a:stretch>
        </p:blipFill>
        <p:spPr>
          <a:xfrm>
            <a:off x="6801495" y="3004413"/>
            <a:ext cx="4321742" cy="293774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10.4</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典型相关分析步骤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90" y="1053250"/>
            <a:ext cx="4577193" cy="523220"/>
          </a:xfrm>
          <a:prstGeom prst="rect">
            <a:avLst/>
          </a:prstGeom>
          <a:noFill/>
          <a:ln w="9525">
            <a:noFill/>
          </a:ln>
        </p:spPr>
        <p:txBody>
          <a:bodyPr wrap="square">
            <a:spAutoFit/>
          </a:bodyPr>
          <a:lstStyle/>
          <a:p>
            <a:pPr lvl="0"/>
            <a:r>
              <a:rPr lang="en-US" altLang="zh-CN" sz="2800" b="1" dirty="0">
                <a:solidFill>
                  <a:schemeClr val="tx2">
                    <a:lumMod val="60000"/>
                    <a:lumOff val="40000"/>
                  </a:schemeClr>
                </a:solidFill>
              </a:rPr>
              <a:t>10.4.2</a:t>
            </a:r>
            <a:r>
              <a:rPr lang="zh-CN" altLang="en-US" sz="2800" b="1" dirty="0">
                <a:solidFill>
                  <a:schemeClr val="tx2">
                    <a:lumMod val="60000"/>
                    <a:lumOff val="40000"/>
                  </a:schemeClr>
                </a:solidFill>
              </a:rPr>
              <a:t>典型相关的实证分析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7" name="图片 6"/>
          <p:cNvPicPr>
            <a:picLocks noChangeAspect="1"/>
          </p:cNvPicPr>
          <p:nvPr/>
        </p:nvPicPr>
        <p:blipFill>
          <a:blip r:embed="rId3"/>
          <a:stretch>
            <a:fillRect/>
          </a:stretch>
        </p:blipFill>
        <p:spPr>
          <a:xfrm>
            <a:off x="292931" y="1566886"/>
            <a:ext cx="2376165" cy="482121"/>
          </a:xfrm>
          <a:prstGeom prst="rect">
            <a:avLst/>
          </a:prstGeom>
        </p:spPr>
      </p:pic>
      <p:pic>
        <p:nvPicPr>
          <p:cNvPr id="8" name="图片 7"/>
          <p:cNvPicPr>
            <a:picLocks noChangeAspect="1"/>
          </p:cNvPicPr>
          <p:nvPr/>
        </p:nvPicPr>
        <p:blipFill>
          <a:blip r:embed="rId4"/>
          <a:stretch>
            <a:fillRect/>
          </a:stretch>
        </p:blipFill>
        <p:spPr>
          <a:xfrm>
            <a:off x="911638" y="2210793"/>
            <a:ext cx="9623855" cy="613509"/>
          </a:xfrm>
          <a:prstGeom prst="rect">
            <a:avLst/>
          </a:prstGeom>
        </p:spPr>
      </p:pic>
      <p:pic>
        <p:nvPicPr>
          <p:cNvPr id="15" name="图片 14"/>
          <p:cNvPicPr>
            <a:picLocks noChangeAspect="1"/>
          </p:cNvPicPr>
          <p:nvPr/>
        </p:nvPicPr>
        <p:blipFill>
          <a:blip r:embed="rId5"/>
          <a:stretch>
            <a:fillRect/>
          </a:stretch>
        </p:blipFill>
        <p:spPr>
          <a:xfrm>
            <a:off x="1415675" y="3061095"/>
            <a:ext cx="9749861" cy="203284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89" y="1053250"/>
            <a:ext cx="7848545" cy="523220"/>
          </a:xfrm>
          <a:prstGeom prst="rect">
            <a:avLst/>
          </a:prstGeom>
          <a:noFill/>
          <a:ln w="9525">
            <a:noFill/>
          </a:ln>
        </p:spPr>
        <p:txBody>
          <a:bodyPr wrap="square">
            <a:spAutoFit/>
          </a:bodyPr>
          <a:lstStyle/>
          <a:p>
            <a:pPr lvl="0"/>
            <a:r>
              <a:rPr lang="zh-CN" altLang="en-US" sz="2800" b="1" dirty="0">
                <a:solidFill>
                  <a:schemeClr val="tx2">
                    <a:lumMod val="60000"/>
                    <a:lumOff val="40000"/>
                  </a:schemeClr>
                </a:solidFill>
              </a:rPr>
              <a:t>案例</a:t>
            </a:r>
            <a:r>
              <a:rPr lang="en-US" altLang="zh-CN" sz="2800" b="1" dirty="0">
                <a:solidFill>
                  <a:schemeClr val="tx2">
                    <a:lumMod val="60000"/>
                    <a:lumOff val="40000"/>
                  </a:schemeClr>
                </a:solidFill>
              </a:rPr>
              <a:t>10 R&amp;D</a:t>
            </a:r>
            <a:r>
              <a:rPr lang="zh-CN" altLang="en-US" sz="2800" b="1" dirty="0">
                <a:solidFill>
                  <a:schemeClr val="tx2">
                    <a:lumMod val="60000"/>
                    <a:lumOff val="40000"/>
                  </a:schemeClr>
                </a:solidFill>
              </a:rPr>
              <a:t>投入与产出的典型相关分析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12" name="图片 11"/>
          <p:cNvPicPr>
            <a:picLocks noChangeAspect="1"/>
          </p:cNvPicPr>
          <p:nvPr/>
        </p:nvPicPr>
        <p:blipFill>
          <a:blip r:embed="rId3"/>
          <a:stretch>
            <a:fillRect/>
          </a:stretch>
        </p:blipFill>
        <p:spPr>
          <a:xfrm>
            <a:off x="691234" y="3397248"/>
            <a:ext cx="5532599" cy="3391194"/>
          </a:xfrm>
          <a:prstGeom prst="rect">
            <a:avLst/>
          </a:prstGeom>
        </p:spPr>
      </p:pic>
      <p:pic>
        <p:nvPicPr>
          <p:cNvPr id="14" name="图片 13"/>
          <p:cNvPicPr>
            <a:picLocks noChangeAspect="1"/>
          </p:cNvPicPr>
          <p:nvPr/>
        </p:nvPicPr>
        <p:blipFill>
          <a:blip r:embed="rId4"/>
          <a:stretch>
            <a:fillRect/>
          </a:stretch>
        </p:blipFill>
        <p:spPr>
          <a:xfrm>
            <a:off x="479610" y="1576470"/>
            <a:ext cx="1584110" cy="422983"/>
          </a:xfrm>
          <a:prstGeom prst="rect">
            <a:avLst/>
          </a:prstGeom>
        </p:spPr>
      </p:pic>
      <p:sp>
        <p:nvSpPr>
          <p:cNvPr id="17" name="文本框 16"/>
          <p:cNvSpPr txBox="1"/>
          <p:nvPr/>
        </p:nvSpPr>
        <p:spPr>
          <a:xfrm>
            <a:off x="644247" y="1942654"/>
            <a:ext cx="11156165" cy="923330"/>
          </a:xfrm>
          <a:prstGeom prst="rect">
            <a:avLst/>
          </a:prstGeom>
          <a:noFill/>
        </p:spPr>
        <p:txBody>
          <a:bodyPr wrap="square">
            <a:spAutoFit/>
          </a:bodyPr>
          <a:lstStyle/>
          <a:p>
            <a:pPr indent="457200"/>
            <a:r>
              <a:rPr lang="zh-CN" altLang="en-US" dirty="0">
                <a:latin typeface="微软雅黑" panose="020B0503020204020204" pitchFamily="2" charset="-122"/>
                <a:ea typeface="微软雅黑" panose="020B0503020204020204" pitchFamily="2" charset="-122"/>
              </a:rPr>
              <a:t>社会经济的发展以及知识信息的创新、扩散和应用主要依赖与掌握先进技术和知识的</a:t>
            </a:r>
            <a:r>
              <a:rPr lang="en-US" altLang="zh-CN" dirty="0">
                <a:latin typeface="微软雅黑" panose="020B0503020204020204" pitchFamily="2" charset="-122"/>
                <a:ea typeface="微软雅黑" panose="020B0503020204020204" pitchFamily="2" charset="-122"/>
              </a:rPr>
              <a:t>R&amp;D</a:t>
            </a:r>
            <a:r>
              <a:rPr lang="zh-CN" altLang="en-US" dirty="0">
                <a:latin typeface="微软雅黑" panose="020B0503020204020204" pitchFamily="2" charset="-122"/>
                <a:ea typeface="微软雅黑" panose="020B0503020204020204" pitchFamily="2" charset="-122"/>
              </a:rPr>
              <a:t>资源。</a:t>
            </a:r>
            <a:r>
              <a:rPr lang="en-US" altLang="zh-CN" dirty="0">
                <a:latin typeface="微软雅黑" panose="020B0503020204020204" pitchFamily="2" charset="-122"/>
                <a:ea typeface="微软雅黑" panose="020B0503020204020204" pitchFamily="2" charset="-122"/>
              </a:rPr>
              <a:t>R&amp;D</a:t>
            </a:r>
            <a:r>
              <a:rPr lang="zh-CN" altLang="en-US" dirty="0">
                <a:latin typeface="微软雅黑" panose="020B0503020204020204" pitchFamily="2" charset="-122"/>
                <a:ea typeface="微软雅黑" panose="020B0503020204020204" pitchFamily="2" charset="-122"/>
              </a:rPr>
              <a:t>水平的高低是衡量一个国家或区域的科技创新、技术进步的首要因素，而</a:t>
            </a:r>
            <a:r>
              <a:rPr lang="en-US" altLang="zh-CN" dirty="0">
                <a:latin typeface="微软雅黑" panose="020B0503020204020204" pitchFamily="2" charset="-122"/>
                <a:ea typeface="微软雅黑" panose="020B0503020204020204" pitchFamily="2" charset="-122"/>
              </a:rPr>
              <a:t>R&amp;D</a:t>
            </a:r>
            <a:r>
              <a:rPr lang="zh-CN" altLang="en-US" dirty="0">
                <a:latin typeface="微软雅黑" panose="020B0503020204020204" pitchFamily="2" charset="-122"/>
                <a:ea typeface="微软雅黑" panose="020B0503020204020204" pitchFamily="2" charset="-122"/>
              </a:rPr>
              <a:t>水平的高低主要在于</a:t>
            </a:r>
            <a:r>
              <a:rPr lang="en-US" altLang="zh-CN" dirty="0">
                <a:latin typeface="微软雅黑" panose="020B0503020204020204" pitchFamily="2" charset="-122"/>
                <a:ea typeface="微软雅黑" panose="020B0503020204020204" pitchFamily="2" charset="-122"/>
              </a:rPr>
              <a:t>R&amp;D</a:t>
            </a:r>
            <a:r>
              <a:rPr lang="zh-CN" altLang="en-US" dirty="0">
                <a:latin typeface="微软雅黑" panose="020B0503020204020204" pitchFamily="2" charset="-122"/>
                <a:ea typeface="微软雅黑" panose="020B0503020204020204" pitchFamily="2" charset="-122"/>
              </a:rPr>
              <a:t>投入能力与其产出效果。</a:t>
            </a:r>
          </a:p>
        </p:txBody>
      </p:sp>
      <p:pic>
        <p:nvPicPr>
          <p:cNvPr id="19" name="图片 18"/>
          <p:cNvPicPr>
            <a:picLocks noChangeAspect="1"/>
          </p:cNvPicPr>
          <p:nvPr/>
        </p:nvPicPr>
        <p:blipFill>
          <a:blip r:embed="rId5"/>
          <a:stretch>
            <a:fillRect/>
          </a:stretch>
        </p:blipFill>
        <p:spPr>
          <a:xfrm>
            <a:off x="355997" y="2801349"/>
            <a:ext cx="3127425" cy="430819"/>
          </a:xfrm>
          <a:prstGeom prst="rect">
            <a:avLst/>
          </a:prstGeom>
        </p:spPr>
      </p:pic>
      <p:pic>
        <p:nvPicPr>
          <p:cNvPr id="21" name="图片 20"/>
          <p:cNvPicPr>
            <a:picLocks noChangeAspect="1"/>
          </p:cNvPicPr>
          <p:nvPr/>
        </p:nvPicPr>
        <p:blipFill>
          <a:blip r:embed="rId6"/>
          <a:stretch>
            <a:fillRect/>
          </a:stretch>
        </p:blipFill>
        <p:spPr>
          <a:xfrm>
            <a:off x="6477433" y="3367537"/>
            <a:ext cx="5161457" cy="1594736"/>
          </a:xfrm>
          <a:prstGeom prst="rect">
            <a:avLst/>
          </a:prstGeom>
        </p:spPr>
      </p:pic>
      <p:sp>
        <p:nvSpPr>
          <p:cNvPr id="23" name="文本框 22"/>
          <p:cNvSpPr txBox="1"/>
          <p:nvPr/>
        </p:nvSpPr>
        <p:spPr>
          <a:xfrm>
            <a:off x="6580010" y="5343085"/>
            <a:ext cx="5161457" cy="923330"/>
          </a:xfrm>
          <a:prstGeom prst="rect">
            <a:avLst/>
          </a:prstGeom>
          <a:noFill/>
        </p:spPr>
        <p:txBody>
          <a:bodyPr wrap="square">
            <a:spAutoFit/>
          </a:bodyPr>
          <a:lstStyle/>
          <a:p>
            <a:pPr indent="457200"/>
            <a:r>
              <a:rPr lang="zh-CN" altLang="en-US" dirty="0">
                <a:latin typeface="微软雅黑" panose="020B0503020204020204" pitchFamily="2" charset="-122"/>
                <a:ea typeface="微软雅黑" panose="020B0503020204020204" pitchFamily="2" charset="-122"/>
              </a:rPr>
              <a:t>以中国</a:t>
            </a:r>
            <a:r>
              <a:rPr lang="en-US" altLang="zh-CN" dirty="0">
                <a:latin typeface="微软雅黑" panose="020B0503020204020204" pitchFamily="2" charset="-122"/>
                <a:ea typeface="微软雅黑" panose="020B0503020204020204" pitchFamily="2" charset="-122"/>
              </a:rPr>
              <a:t>29</a:t>
            </a:r>
            <a:r>
              <a:rPr lang="zh-CN" altLang="en-US" dirty="0">
                <a:latin typeface="微软雅黑" panose="020B0503020204020204" pitchFamily="2" charset="-122"/>
                <a:ea typeface="微软雅黑" panose="020B0503020204020204" pitchFamily="2" charset="-122"/>
              </a:rPr>
              <a:t>个域省级区域，为研究样本，利用</a:t>
            </a:r>
            <a:r>
              <a:rPr lang="en-US" altLang="zh-CN" dirty="0">
                <a:latin typeface="微软雅黑" panose="020B0503020204020204" pitchFamily="2" charset="-122"/>
                <a:ea typeface="微软雅黑" panose="020B0503020204020204" pitchFamily="2" charset="-122"/>
              </a:rPr>
              <a:t>2009</a:t>
            </a:r>
            <a:r>
              <a:rPr lang="zh-CN" altLang="en-US" dirty="0">
                <a:latin typeface="微软雅黑" panose="020B0503020204020204" pitchFamily="2" charset="-122"/>
                <a:ea typeface="微软雅黑" panose="020B0503020204020204" pitchFamily="2" charset="-122"/>
              </a:rPr>
              <a:t>年数据进行分析，数据来源于</a:t>
            </a:r>
            <a:r>
              <a:rPr lang="en-US" altLang="zh-CN" dirty="0">
                <a:latin typeface="微软雅黑" panose="020B0503020204020204" pitchFamily="2" charset="-122"/>
                <a:ea typeface="微软雅黑" panose="020B0503020204020204" pitchFamily="2" charset="-122"/>
              </a:rPr>
              <a:t>2010</a:t>
            </a:r>
            <a:r>
              <a:rPr lang="zh-CN" altLang="en-US" dirty="0">
                <a:latin typeface="微软雅黑" panose="020B0503020204020204" pitchFamily="2" charset="-122"/>
                <a:ea typeface="微软雅黑" panose="020B0503020204020204" pitchFamily="2" charset="-122"/>
              </a:rPr>
              <a:t>年版</a:t>
            </a:r>
            <a:r>
              <a:rPr lang="en-US" altLang="zh-CN" dirty="0">
                <a:latin typeface="微软雅黑" panose="020B0503020204020204" pitchFamily="2" charset="-122"/>
                <a:ea typeface="微软雅黑" panose="020B0503020204020204" pitchFamily="2" charset="-122"/>
              </a:rPr>
              <a:t>《</a:t>
            </a:r>
            <a:r>
              <a:rPr lang="zh-CN" altLang="en-US" dirty="0">
                <a:latin typeface="微软雅黑" panose="020B0503020204020204" pitchFamily="2" charset="-122"/>
                <a:ea typeface="微软雅黑" panose="020B0503020204020204" pitchFamily="2" charset="-122"/>
              </a:rPr>
              <a:t>中国科技统计年鉴</a:t>
            </a:r>
            <a:r>
              <a:rPr lang="en-US" altLang="zh-CN" dirty="0">
                <a:latin typeface="微软雅黑" panose="020B0503020204020204" pitchFamily="2" charset="-122"/>
                <a:ea typeface="微软雅黑" panose="020B0503020204020204" pitchFamily="2" charset="-122"/>
              </a:rPr>
              <a:t>》</a:t>
            </a:r>
            <a:endParaRPr lang="zh-CN" altLang="en-US" dirty="0">
              <a:latin typeface="微软雅黑" panose="020B0503020204020204" pitchFamily="2" charset="-122"/>
              <a:ea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89" y="1053250"/>
            <a:ext cx="7848545" cy="523220"/>
          </a:xfrm>
          <a:prstGeom prst="rect">
            <a:avLst/>
          </a:prstGeom>
          <a:noFill/>
          <a:ln w="9525">
            <a:noFill/>
          </a:ln>
        </p:spPr>
        <p:txBody>
          <a:bodyPr wrap="square">
            <a:spAutoFit/>
          </a:bodyPr>
          <a:lstStyle/>
          <a:p>
            <a:pPr lvl="0"/>
            <a:r>
              <a:rPr lang="zh-CN" altLang="en-US" sz="2800" b="1" dirty="0">
                <a:solidFill>
                  <a:schemeClr val="tx2">
                    <a:lumMod val="60000"/>
                    <a:lumOff val="40000"/>
                  </a:schemeClr>
                </a:solidFill>
              </a:rPr>
              <a:t>案例</a:t>
            </a:r>
            <a:r>
              <a:rPr lang="en-US" altLang="zh-CN" sz="2800" b="1" dirty="0">
                <a:solidFill>
                  <a:schemeClr val="tx2">
                    <a:lumMod val="60000"/>
                    <a:lumOff val="40000"/>
                  </a:schemeClr>
                </a:solidFill>
              </a:rPr>
              <a:t>10 R&amp;D</a:t>
            </a:r>
            <a:r>
              <a:rPr lang="zh-CN" altLang="en-US" sz="2800" b="1" dirty="0">
                <a:solidFill>
                  <a:schemeClr val="tx2">
                    <a:lumMod val="60000"/>
                    <a:lumOff val="40000"/>
                  </a:schemeClr>
                </a:solidFill>
              </a:rPr>
              <a:t>投入与产出的典型相关分析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90150" y="1567702"/>
            <a:ext cx="2088145" cy="365001"/>
          </a:xfrm>
          <a:prstGeom prst="rect">
            <a:avLst/>
          </a:prstGeom>
        </p:spPr>
      </p:pic>
      <p:pic>
        <p:nvPicPr>
          <p:cNvPr id="8" name="图片 7"/>
          <p:cNvPicPr>
            <a:picLocks noChangeAspect="1"/>
          </p:cNvPicPr>
          <p:nvPr/>
        </p:nvPicPr>
        <p:blipFill rotWithShape="1">
          <a:blip r:embed="rId4"/>
          <a:srcRect r="28441" b="51925"/>
          <a:stretch>
            <a:fillRect/>
          </a:stretch>
        </p:blipFill>
        <p:spPr>
          <a:xfrm>
            <a:off x="123148" y="2010791"/>
            <a:ext cx="5616390" cy="320539"/>
          </a:xfrm>
          <a:prstGeom prst="rect">
            <a:avLst/>
          </a:prstGeom>
        </p:spPr>
      </p:pic>
      <p:pic>
        <p:nvPicPr>
          <p:cNvPr id="13" name="图片 12"/>
          <p:cNvPicPr>
            <a:picLocks noChangeAspect="1"/>
          </p:cNvPicPr>
          <p:nvPr/>
        </p:nvPicPr>
        <p:blipFill>
          <a:blip r:embed="rId5"/>
          <a:stretch>
            <a:fillRect/>
          </a:stretch>
        </p:blipFill>
        <p:spPr>
          <a:xfrm>
            <a:off x="42493" y="2454316"/>
            <a:ext cx="2900798" cy="365001"/>
          </a:xfrm>
          <a:prstGeom prst="rect">
            <a:avLst/>
          </a:prstGeom>
        </p:spPr>
      </p:pic>
      <p:pic>
        <p:nvPicPr>
          <p:cNvPr id="5" name="图片 4"/>
          <p:cNvPicPr>
            <a:picLocks noChangeAspect="1"/>
          </p:cNvPicPr>
          <p:nvPr/>
        </p:nvPicPr>
        <p:blipFill rotWithShape="1">
          <a:blip r:embed="rId6"/>
          <a:srcRect l="3929" t="19953"/>
          <a:stretch>
            <a:fillRect/>
          </a:stretch>
        </p:blipFill>
        <p:spPr>
          <a:xfrm>
            <a:off x="1919710" y="2959848"/>
            <a:ext cx="1760764" cy="320539"/>
          </a:xfrm>
          <a:prstGeom prst="rect">
            <a:avLst/>
          </a:prstGeom>
        </p:spPr>
      </p:pic>
      <p:pic>
        <p:nvPicPr>
          <p:cNvPr id="7" name="图片 6"/>
          <p:cNvPicPr>
            <a:picLocks noChangeAspect="1"/>
          </p:cNvPicPr>
          <p:nvPr/>
        </p:nvPicPr>
        <p:blipFill>
          <a:blip r:embed="rId7"/>
          <a:stretch>
            <a:fillRect/>
          </a:stretch>
        </p:blipFill>
        <p:spPr>
          <a:xfrm>
            <a:off x="191590" y="3410273"/>
            <a:ext cx="5820902" cy="3066059"/>
          </a:xfrm>
          <a:prstGeom prst="rect">
            <a:avLst/>
          </a:prstGeom>
        </p:spPr>
      </p:pic>
      <p:pic>
        <p:nvPicPr>
          <p:cNvPr id="10" name="图片 9"/>
          <p:cNvPicPr>
            <a:picLocks noChangeAspect="1"/>
          </p:cNvPicPr>
          <p:nvPr/>
        </p:nvPicPr>
        <p:blipFill rotWithShape="1">
          <a:blip r:embed="rId8"/>
          <a:srcRect l="1579" t="-9809" b="-1"/>
          <a:stretch>
            <a:fillRect/>
          </a:stretch>
        </p:blipFill>
        <p:spPr>
          <a:xfrm>
            <a:off x="6477433" y="2959848"/>
            <a:ext cx="5683452" cy="294251"/>
          </a:xfrm>
          <a:prstGeom prst="rect">
            <a:avLst/>
          </a:prstGeom>
        </p:spPr>
      </p:pic>
      <p:pic>
        <p:nvPicPr>
          <p:cNvPr id="12" name="图片 11"/>
          <p:cNvPicPr>
            <a:picLocks noChangeAspect="1"/>
          </p:cNvPicPr>
          <p:nvPr/>
        </p:nvPicPr>
        <p:blipFill>
          <a:blip r:embed="rId9"/>
          <a:stretch>
            <a:fillRect/>
          </a:stretch>
        </p:blipFill>
        <p:spPr>
          <a:xfrm>
            <a:off x="7024949" y="3351218"/>
            <a:ext cx="4297101" cy="3429000"/>
          </a:xfrm>
          <a:prstGeom prst="rect">
            <a:avLst/>
          </a:prstGeom>
        </p:spPr>
      </p:pic>
      <p:pic>
        <p:nvPicPr>
          <p:cNvPr id="14" name="图片 13"/>
          <p:cNvPicPr>
            <a:picLocks noChangeAspect="1"/>
          </p:cNvPicPr>
          <p:nvPr/>
        </p:nvPicPr>
        <p:blipFill rotWithShape="1">
          <a:blip r:embed="rId10"/>
          <a:srcRect l="1404" t="1870" b="-1"/>
          <a:stretch>
            <a:fillRect/>
          </a:stretch>
        </p:blipFill>
        <p:spPr>
          <a:xfrm>
            <a:off x="5807980" y="1958337"/>
            <a:ext cx="6352905" cy="38192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checkerboard(across)">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checkerboard(across)">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89" y="1053250"/>
            <a:ext cx="7848545" cy="523220"/>
          </a:xfrm>
          <a:prstGeom prst="rect">
            <a:avLst/>
          </a:prstGeom>
          <a:noFill/>
          <a:ln w="9525">
            <a:noFill/>
          </a:ln>
        </p:spPr>
        <p:txBody>
          <a:bodyPr wrap="square">
            <a:spAutoFit/>
          </a:bodyPr>
          <a:lstStyle/>
          <a:p>
            <a:pPr lvl="0"/>
            <a:r>
              <a:rPr lang="zh-CN" altLang="en-US" sz="2800" b="1" dirty="0">
                <a:solidFill>
                  <a:schemeClr val="tx2">
                    <a:lumMod val="60000"/>
                    <a:lumOff val="40000"/>
                  </a:schemeClr>
                </a:solidFill>
              </a:rPr>
              <a:t>案例</a:t>
            </a:r>
            <a:r>
              <a:rPr lang="en-US" altLang="zh-CN" sz="2800" b="1" dirty="0">
                <a:solidFill>
                  <a:schemeClr val="tx2">
                    <a:lumMod val="60000"/>
                    <a:lumOff val="40000"/>
                  </a:schemeClr>
                </a:solidFill>
              </a:rPr>
              <a:t>10 R&amp;D</a:t>
            </a:r>
            <a:r>
              <a:rPr lang="zh-CN" altLang="en-US" sz="2800" b="1" dirty="0">
                <a:solidFill>
                  <a:schemeClr val="tx2">
                    <a:lumMod val="60000"/>
                    <a:lumOff val="40000"/>
                  </a:schemeClr>
                </a:solidFill>
              </a:rPr>
              <a:t>投入与产出的典型相关分析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sp>
        <p:nvSpPr>
          <p:cNvPr id="7" name="文本框 6"/>
          <p:cNvSpPr txBox="1"/>
          <p:nvPr/>
        </p:nvSpPr>
        <p:spPr>
          <a:xfrm>
            <a:off x="191589" y="1672140"/>
            <a:ext cx="11926719" cy="1015663"/>
          </a:xfrm>
          <a:prstGeom prst="rect">
            <a:avLst/>
          </a:prstGeom>
          <a:noFill/>
        </p:spPr>
        <p:txBody>
          <a:bodyPr wrap="square">
            <a:spAutoFit/>
          </a:bodyPr>
          <a:lstStyle/>
          <a:p>
            <a:pPr indent="457200"/>
            <a:r>
              <a:rPr lang="zh-CN" altLang="en-US" sz="2000" dirty="0">
                <a:latin typeface="微软雅黑" panose="020B0503020204020204" pitchFamily="2" charset="-122"/>
                <a:ea typeface="微软雅黑" panose="020B0503020204020204" pitchFamily="2" charset="-122"/>
              </a:rPr>
              <a:t>由</a:t>
            </a:r>
            <a:r>
              <a:rPr lang="en-US" altLang="zh-CN" sz="2000" dirty="0">
                <a:latin typeface="微软雅黑" panose="020B0503020204020204" pitchFamily="2" charset="-122"/>
                <a:ea typeface="微软雅黑" panose="020B0503020204020204" pitchFamily="2" charset="-122"/>
              </a:rPr>
              <a:t>Python</a:t>
            </a:r>
            <a:r>
              <a:rPr lang="zh-CN" altLang="en-US" sz="2000" dirty="0">
                <a:latin typeface="微软雅黑" panose="020B0503020204020204" pitchFamily="2" charset="-122"/>
                <a:ea typeface="微软雅黑" panose="020B0503020204020204" pitchFamily="2" charset="-122"/>
              </a:rPr>
              <a:t>得出三数对典型相关变量的相关系数</a:t>
            </a:r>
            <a:r>
              <a:rPr lang="en-US" altLang="zh-CN" sz="2000" dirty="0">
                <a:latin typeface="微软雅黑" panose="020B0503020204020204" pitchFamily="2" charset="-122"/>
                <a:ea typeface="微软雅黑" panose="020B0503020204020204" pitchFamily="2" charset="-122"/>
              </a:rPr>
              <a:t>CR</a:t>
            </a:r>
            <a:r>
              <a:rPr lang="zh-CN" altLang="en-US" sz="2000" dirty="0">
                <a:latin typeface="微软雅黑" panose="020B0503020204020204" pitchFamily="2" charset="-122"/>
                <a:ea typeface="微软雅黑" panose="020B0503020204020204" pitchFamily="2" charset="-122"/>
              </a:rPr>
              <a:t>为依次分别为</a:t>
            </a:r>
            <a:r>
              <a:rPr lang="en-US" altLang="zh-CN" sz="2000" dirty="0">
                <a:latin typeface="微软雅黑" panose="020B0503020204020204" pitchFamily="2" charset="-122"/>
                <a:ea typeface="微软雅黑" panose="020B0503020204020204" pitchFamily="2" charset="-122"/>
              </a:rPr>
              <a:t>0.9928</a:t>
            </a:r>
            <a:r>
              <a:rPr lang="zh-CN" altLang="en-US" sz="2000" dirty="0">
                <a:latin typeface="微软雅黑" panose="020B0503020204020204" pitchFamily="2" charset="-122"/>
                <a:ea typeface="微软雅黑" panose="020B0503020204020204" pitchFamily="2" charset="-122"/>
              </a:rPr>
              <a:t>，</a:t>
            </a:r>
            <a:r>
              <a:rPr lang="en-US" altLang="zh-CN" sz="2000" dirty="0">
                <a:latin typeface="微软雅黑" panose="020B0503020204020204" pitchFamily="2" charset="-122"/>
                <a:ea typeface="微软雅黑" panose="020B0503020204020204" pitchFamily="2" charset="-122"/>
              </a:rPr>
              <a:t>0.8662</a:t>
            </a:r>
            <a:r>
              <a:rPr lang="zh-CN" altLang="en-US" sz="2000" dirty="0">
                <a:latin typeface="微软雅黑" panose="020B0503020204020204" pitchFamily="2" charset="-122"/>
                <a:ea typeface="微软雅黑" panose="020B0503020204020204" pitchFamily="2" charset="-122"/>
              </a:rPr>
              <a:t>，</a:t>
            </a:r>
            <a:r>
              <a:rPr lang="en-US" altLang="zh-CN" sz="2000" dirty="0">
                <a:latin typeface="微软雅黑" panose="020B0503020204020204" pitchFamily="2" charset="-122"/>
                <a:ea typeface="微软雅黑" panose="020B0503020204020204" pitchFamily="2" charset="-122"/>
              </a:rPr>
              <a:t>0.3362</a:t>
            </a:r>
            <a:r>
              <a:rPr lang="zh-CN" altLang="en-US" sz="2000" dirty="0">
                <a:latin typeface="微软雅黑" panose="020B0503020204020204" pitchFamily="2" charset="-122"/>
                <a:ea typeface="微软雅黑" panose="020B0503020204020204" pitchFamily="2" charset="-122"/>
              </a:rPr>
              <a:t>。前两对典型变量的相关系数较大。经过卡方检验，可知前两对典型变量的相关关系是显著的，即通过检验。因此我们只需分析前两对典型相关变量。</a:t>
            </a:r>
          </a:p>
        </p:txBody>
      </p:sp>
      <p:pic>
        <p:nvPicPr>
          <p:cNvPr id="5" name="图片 4"/>
          <p:cNvPicPr>
            <a:picLocks noChangeAspect="1"/>
          </p:cNvPicPr>
          <p:nvPr/>
        </p:nvPicPr>
        <p:blipFill>
          <a:blip r:embed="rId3"/>
          <a:stretch>
            <a:fillRect/>
          </a:stretch>
        </p:blipFill>
        <p:spPr>
          <a:xfrm>
            <a:off x="724028" y="2620873"/>
            <a:ext cx="10373987" cy="620371"/>
          </a:xfrm>
          <a:prstGeom prst="rect">
            <a:avLst/>
          </a:prstGeom>
        </p:spPr>
      </p:pic>
      <p:pic>
        <p:nvPicPr>
          <p:cNvPr id="6" name="图片 5"/>
          <p:cNvPicPr>
            <a:picLocks noChangeAspect="1"/>
          </p:cNvPicPr>
          <p:nvPr/>
        </p:nvPicPr>
        <p:blipFill>
          <a:blip r:embed="rId4"/>
          <a:stretch>
            <a:fillRect/>
          </a:stretch>
        </p:blipFill>
        <p:spPr>
          <a:xfrm>
            <a:off x="530715" y="3427165"/>
            <a:ext cx="3611243" cy="1015662"/>
          </a:xfrm>
          <a:prstGeom prst="rect">
            <a:avLst/>
          </a:prstGeom>
        </p:spPr>
      </p:pic>
      <p:pic>
        <p:nvPicPr>
          <p:cNvPr id="8" name="图片 7"/>
          <p:cNvPicPr>
            <a:picLocks noChangeAspect="1"/>
          </p:cNvPicPr>
          <p:nvPr/>
        </p:nvPicPr>
        <p:blipFill>
          <a:blip r:embed="rId5"/>
          <a:stretch>
            <a:fillRect/>
          </a:stretch>
        </p:blipFill>
        <p:spPr>
          <a:xfrm>
            <a:off x="519881" y="4660185"/>
            <a:ext cx="1893031" cy="375716"/>
          </a:xfrm>
          <a:prstGeom prst="rect">
            <a:avLst/>
          </a:prstGeom>
        </p:spPr>
      </p:pic>
      <p:pic>
        <p:nvPicPr>
          <p:cNvPr id="10" name="图片 9"/>
          <p:cNvPicPr>
            <a:picLocks noChangeAspect="1"/>
          </p:cNvPicPr>
          <p:nvPr/>
        </p:nvPicPr>
        <p:blipFill>
          <a:blip r:embed="rId6"/>
          <a:stretch>
            <a:fillRect/>
          </a:stretch>
        </p:blipFill>
        <p:spPr>
          <a:xfrm>
            <a:off x="530715" y="5058785"/>
            <a:ext cx="5613400" cy="1409700"/>
          </a:xfrm>
          <a:prstGeom prst="rect">
            <a:avLst/>
          </a:prstGeom>
        </p:spPr>
      </p:pic>
      <p:pic>
        <p:nvPicPr>
          <p:cNvPr id="12" name="图片 11"/>
          <p:cNvPicPr>
            <a:picLocks noChangeAspect="1"/>
          </p:cNvPicPr>
          <p:nvPr/>
        </p:nvPicPr>
        <p:blipFill>
          <a:blip r:embed="rId7"/>
          <a:stretch>
            <a:fillRect/>
          </a:stretch>
        </p:blipFill>
        <p:spPr>
          <a:xfrm>
            <a:off x="6572246" y="3326773"/>
            <a:ext cx="4231867" cy="312658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p:tgtEl>
                                          <p:spTgt spid="6"/>
                                        </p:tgtEl>
                                        <p:attrNameLst>
                                          <p:attrName>ppt_y</p:attrName>
                                        </p:attrNameLst>
                                      </p:cBhvr>
                                      <p:tavLst>
                                        <p:tav tm="0">
                                          <p:val>
                                            <p:strVal val="#ppt_y+#ppt_h*1.125000"/>
                                          </p:val>
                                        </p:tav>
                                        <p:tav tm="100000">
                                          <p:val>
                                            <p:strVal val="#ppt_y"/>
                                          </p:val>
                                        </p:tav>
                                      </p:tavLst>
                                    </p:anim>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par>
                                <p:cTn id="23" presetID="16" presetClass="entr" presetSubtype="21"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477433" y="200636"/>
            <a:ext cx="442149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操作案例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015719" y="381668"/>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TextBox 1"/>
          <p:cNvSpPr/>
          <p:nvPr/>
        </p:nvSpPr>
        <p:spPr>
          <a:xfrm flipH="1">
            <a:off x="191589" y="1053250"/>
            <a:ext cx="7848545" cy="523220"/>
          </a:xfrm>
          <a:prstGeom prst="rect">
            <a:avLst/>
          </a:prstGeom>
          <a:noFill/>
          <a:ln w="9525">
            <a:noFill/>
          </a:ln>
        </p:spPr>
        <p:txBody>
          <a:bodyPr wrap="square">
            <a:spAutoFit/>
          </a:bodyPr>
          <a:lstStyle/>
          <a:p>
            <a:pPr lvl="0"/>
            <a:r>
              <a:rPr lang="zh-CN" altLang="en-US" sz="2800" b="1" dirty="0">
                <a:solidFill>
                  <a:schemeClr val="tx2">
                    <a:lumMod val="60000"/>
                    <a:lumOff val="40000"/>
                  </a:schemeClr>
                </a:solidFill>
              </a:rPr>
              <a:t>案例</a:t>
            </a:r>
            <a:r>
              <a:rPr lang="en-US" altLang="zh-CN" sz="2800" b="1" dirty="0">
                <a:solidFill>
                  <a:schemeClr val="tx2">
                    <a:lumMod val="60000"/>
                    <a:lumOff val="40000"/>
                  </a:schemeClr>
                </a:solidFill>
              </a:rPr>
              <a:t>10 R&amp;D</a:t>
            </a:r>
            <a:r>
              <a:rPr lang="zh-CN" altLang="en-US" sz="2800" b="1" dirty="0">
                <a:solidFill>
                  <a:schemeClr val="tx2">
                    <a:lumMod val="60000"/>
                    <a:lumOff val="40000"/>
                  </a:schemeClr>
                </a:solidFill>
              </a:rPr>
              <a:t>投入与产出的典型相关分析</a:t>
            </a:r>
            <a:endParaRPr lang="zh-CN" altLang="en-US" sz="2800" b="1" dirty="0">
              <a:solidFill>
                <a:schemeClr val="tx2">
                  <a:lumMod val="60000"/>
                  <a:lumOff val="40000"/>
                </a:schemeClr>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TextBox 28"/>
          <p:cNvSpPr/>
          <p:nvPr/>
        </p:nvSpPr>
        <p:spPr>
          <a:xfrm>
            <a:off x="47625" y="168910"/>
            <a:ext cx="6840430" cy="523220"/>
          </a:xfrm>
          <a:prstGeom prst="rect">
            <a:avLst/>
          </a:prstGeom>
          <a:noFill/>
          <a:ln w="9525">
            <a:noFill/>
          </a:ln>
        </p:spPr>
        <p:txBody>
          <a:bodyPr wrap="square">
            <a:spAutoFit/>
            <a:scene3d>
              <a:camera prst="orthographicFront"/>
              <a:lightRig rig="threePt" dir="t"/>
            </a:scene3d>
          </a:bodyPr>
          <a:lstStyle/>
          <a:p>
            <a:pPr lvl="0"/>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章典型相关分析及</a:t>
            </a:r>
            <a:r>
              <a:rPr lang="en-US" altLang="zh-CN"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28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使用</a:t>
            </a:r>
          </a:p>
        </p:txBody>
      </p:sp>
      <p:pic>
        <p:nvPicPr>
          <p:cNvPr id="6" name="图片 5"/>
          <p:cNvPicPr>
            <a:picLocks noChangeAspect="1"/>
          </p:cNvPicPr>
          <p:nvPr/>
        </p:nvPicPr>
        <p:blipFill>
          <a:blip r:embed="rId3"/>
          <a:stretch>
            <a:fillRect/>
          </a:stretch>
        </p:blipFill>
        <p:spPr>
          <a:xfrm>
            <a:off x="711341" y="1868127"/>
            <a:ext cx="10895899" cy="1560873"/>
          </a:xfrm>
          <a:prstGeom prst="rect">
            <a:avLst/>
          </a:prstGeom>
        </p:spPr>
      </p:pic>
      <p:pic>
        <p:nvPicPr>
          <p:cNvPr id="10" name="图片 9"/>
          <p:cNvPicPr>
            <a:picLocks noChangeAspect="1"/>
          </p:cNvPicPr>
          <p:nvPr/>
        </p:nvPicPr>
        <p:blipFill>
          <a:blip r:embed="rId4"/>
          <a:stretch>
            <a:fillRect/>
          </a:stretch>
        </p:blipFill>
        <p:spPr>
          <a:xfrm>
            <a:off x="1343670" y="3573010"/>
            <a:ext cx="9631243" cy="187383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mt="62000"/>
          </a:blip>
          <a:tile tx="0" ty="0" sx="100000" sy="100000" flip="none" algn="tl"/>
        </a:blipFill>
        <a:effectLst/>
      </p:bgPr>
    </p:bg>
    <p:spTree>
      <p:nvGrpSpPr>
        <p:cNvPr id="1" name=""/>
        <p:cNvGrpSpPr/>
        <p:nvPr/>
      </p:nvGrpSpPr>
      <p:grpSpPr>
        <a:xfrm>
          <a:off x="0" y="0"/>
          <a:ext cx="0" cy="0"/>
          <a:chOff x="0" y="0"/>
          <a:chExt cx="0" cy="0"/>
        </a:xfrm>
      </p:grpSpPr>
      <p:sp>
        <p:nvSpPr>
          <p:cNvPr id="5123" name="WordArt 10"/>
          <p:cNvSpPr>
            <a:spLocks noTextEdit="1"/>
          </p:cNvSpPr>
          <p:nvPr/>
        </p:nvSpPr>
        <p:spPr>
          <a:xfrm>
            <a:off x="2797810" y="4220845"/>
            <a:ext cx="7213600" cy="737870"/>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3030126" y="2946914"/>
            <a:ext cx="6117775" cy="923330"/>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5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5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10</a:t>
            </a:r>
            <a:r>
              <a:rPr lang="zh-CN" altLang="en-US" sz="5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章就讲到这里</a:t>
            </a:r>
          </a:p>
        </p:txBody>
      </p:sp>
      <p:sp>
        <p:nvSpPr>
          <p:cNvPr id="2" name="矩形 1"/>
          <p:cNvSpPr/>
          <p:nvPr/>
        </p:nvSpPr>
        <p:spPr>
          <a:xfrm>
            <a:off x="2769035" y="4558811"/>
            <a:ext cx="6639959" cy="707886"/>
          </a:xfrm>
          <a:prstGeom prst="rect">
            <a:avLst/>
          </a:prstGeom>
        </p:spPr>
        <p:txBody>
          <a:bodyPr wrap="none">
            <a:spAutoFit/>
          </a:bodyPr>
          <a:lstStyle/>
          <a:p>
            <a:r>
              <a:rPr lang="zh-CN" altLang="en-US" sz="4000" b="1">
                <a:solidFill>
                  <a:srgbClr val="3399FF"/>
                </a:solidFill>
              </a:rPr>
              <a:t>欢迎大家继续学习下章内容</a:t>
            </a:r>
            <a:r>
              <a:rPr lang="en-US" altLang="zh-CN" sz="4000" b="1">
                <a:solidFill>
                  <a:srgbClr val="3399FF"/>
                </a:solidFill>
              </a:rPr>
              <a:t>~</a:t>
            </a:r>
            <a:endParaRPr lang="zh-CN" altLang="en-US" sz="4000" b="1">
              <a:solidFill>
                <a:srgbClr val="3399FF"/>
              </a:solidFill>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9e0fb486-faa3-426b-b9f7-262f79ec7645"/>
  <p:tag name="COMMONDATA" val="eyJoZGlkIjoiZjZiNTVmYWQxZDAwNTY5YjQ0ZjYxYTE3OGU0OTdhO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856</Words>
  <Application>Microsoft Macintosh PowerPoint</Application>
  <PresentationFormat>宽屏</PresentationFormat>
  <Paragraphs>113</Paragraphs>
  <Slides>28</Slides>
  <Notes>28</Notes>
  <HiddenSlides>0</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28</vt:i4>
      </vt:variant>
    </vt:vector>
  </HeadingPairs>
  <TitlesOfParts>
    <vt:vector size="37" baseType="lpstr">
      <vt:lpstr>宋体</vt:lpstr>
      <vt:lpstr>微软雅黑</vt:lpstr>
      <vt:lpstr>Arial</vt:lpstr>
      <vt:lpstr>Calibri</vt:lpstr>
      <vt:lpstr>Calibri Light</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241</cp:revision>
  <dcterms:created xsi:type="dcterms:W3CDTF">2015-05-24T15:13:00Z</dcterms:created>
  <dcterms:modified xsi:type="dcterms:W3CDTF">2025-04-09T02:55:58Z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2D407D57AEA2473FA10F61FC76E55D63_12</vt:lpwstr>
  </property>
</Properties>
</file>