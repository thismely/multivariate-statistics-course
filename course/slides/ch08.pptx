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11.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notesSlides/notesSlide12.xml" ContentType="application/vnd.openxmlformats-officedocument.presentationml.notesSlide+xml"/>
  <Override PartName="/ppt/tags/tag17.xml" ContentType="application/vnd.openxmlformats-officedocument.presentationml.tags+xml"/>
  <Override PartName="/ppt/notesSlides/notesSlide13.xml" ContentType="application/vnd.openxmlformats-officedocument.presentationml.notesSlide+xml"/>
  <Override PartName="/ppt/tags/tag18.xml" ContentType="application/vnd.openxmlformats-officedocument.presentationml.tags+xml"/>
  <Override PartName="/ppt/notesSlides/notesSlide14.xml" ContentType="application/vnd.openxmlformats-officedocument.presentationml.notesSlide+xml"/>
  <Override PartName="/ppt/tags/tag19.xml" ContentType="application/vnd.openxmlformats-officedocument.presentationml.tags+xml"/>
  <Override PartName="/ppt/notesSlides/notesSlide15.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16.xml" ContentType="application/vnd.openxmlformats-officedocument.presentationml.notesSlide+xml"/>
  <Override PartName="/ppt/tags/tag22.xml" ContentType="application/vnd.openxmlformats-officedocument.presentationml.tags+xml"/>
  <Override PartName="/ppt/notesSlides/notesSlide17.xml" ContentType="application/vnd.openxmlformats-officedocument.presentationml.notesSlide+xml"/>
  <Override PartName="/ppt/tags/tag23.xml" ContentType="application/vnd.openxmlformats-officedocument.presentationml.tags+xml"/>
  <Override PartName="/ppt/notesSlides/notesSlide18.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19.xml" ContentType="application/vnd.openxmlformats-officedocument.presentationml.notesSlide+xml"/>
  <Override PartName="/ppt/tags/tag28.xml" ContentType="application/vnd.openxmlformats-officedocument.presentationml.tags+xml"/>
  <Override PartName="/ppt/notesSlides/notesSlide20.xml" ContentType="application/vnd.openxmlformats-officedocument.presentationml.notesSlide+xml"/>
  <Override PartName="/ppt/tags/tag29.xml" ContentType="application/vnd.openxmlformats-officedocument.presentationml.tags+xml"/>
  <Override PartName="/ppt/notesSlides/notesSlide21.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22.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23.xml" ContentType="application/vnd.openxmlformats-officedocument.presentationml.notesSlide+xml"/>
  <Override PartName="/ppt/tags/tag34.xml" ContentType="application/vnd.openxmlformats-officedocument.presentationml.tags+xml"/>
  <Override PartName="/ppt/notesSlides/notesSlide24.xml" ContentType="application/vnd.openxmlformats-officedocument.presentationml.notesSlide+xml"/>
  <Override PartName="/ppt/tags/tag35.xml" ContentType="application/vnd.openxmlformats-officedocument.presentationml.tags+xml"/>
  <Override PartName="/ppt/notesSlides/notesSlide25.xml" ContentType="application/vnd.openxmlformats-officedocument.presentationml.notesSlide+xml"/>
  <Override PartName="/ppt/tags/tag36.xml" ContentType="application/vnd.openxmlformats-officedocument.presentationml.tags+xml"/>
  <Override PartName="/ppt/notesSlides/notesSlide26.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27.xml" ContentType="application/vnd.openxmlformats-officedocument.presentationml.notesSlide+xml"/>
  <Override PartName="/ppt/tags/tag40.xml" ContentType="application/vnd.openxmlformats-officedocument.presentationml.tags+xml"/>
  <Override PartName="/ppt/notesSlides/notesSlide28.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notesSlides/notesSlide29.xml" ContentType="application/vnd.openxmlformats-officedocument.presentationml.notesSlide+xml"/>
  <Override PartName="/ppt/tags/tag43.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32.xml" ContentType="application/vnd.openxmlformats-officedocument.presentationml.notesSlide+xml"/>
  <Override PartName="/ppt/tags/tag47.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48.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notesSlides/notesSlide38.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notesSlides/notesSlide39.xml" ContentType="application/vnd.openxmlformats-officedocument.presentationml.notesSlide+xml"/>
  <Override PartName="/ppt/tags/tag53.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42.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omments/comment2.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1" r:id="rId3"/>
    <p:sldMasterId id="2147483683" r:id="rId4"/>
  </p:sldMasterIdLst>
  <p:notesMasterIdLst>
    <p:notesMasterId r:id="rId52"/>
  </p:notesMasterIdLst>
  <p:sldIdLst>
    <p:sldId id="297" r:id="rId5"/>
    <p:sldId id="264" r:id="rId6"/>
    <p:sldId id="479" r:id="rId7"/>
    <p:sldId id="406" r:id="rId8"/>
    <p:sldId id="431" r:id="rId9"/>
    <p:sldId id="432" r:id="rId10"/>
    <p:sldId id="434" r:id="rId11"/>
    <p:sldId id="433" r:id="rId12"/>
    <p:sldId id="435" r:id="rId13"/>
    <p:sldId id="436" r:id="rId14"/>
    <p:sldId id="437" r:id="rId15"/>
    <p:sldId id="438" r:id="rId16"/>
    <p:sldId id="439" r:id="rId17"/>
    <p:sldId id="440" r:id="rId18"/>
    <p:sldId id="441" r:id="rId19"/>
    <p:sldId id="443" r:id="rId20"/>
    <p:sldId id="444" r:id="rId21"/>
    <p:sldId id="445" r:id="rId22"/>
    <p:sldId id="446" r:id="rId23"/>
    <p:sldId id="448" r:id="rId24"/>
    <p:sldId id="449" r:id="rId25"/>
    <p:sldId id="450" r:id="rId26"/>
    <p:sldId id="451" r:id="rId27"/>
    <p:sldId id="452" r:id="rId28"/>
    <p:sldId id="453" r:id="rId29"/>
    <p:sldId id="454" r:id="rId30"/>
    <p:sldId id="455" r:id="rId31"/>
    <p:sldId id="456" r:id="rId32"/>
    <p:sldId id="457" r:id="rId33"/>
    <p:sldId id="458" r:id="rId34"/>
    <p:sldId id="460" r:id="rId35"/>
    <p:sldId id="461" r:id="rId36"/>
    <p:sldId id="462" r:id="rId37"/>
    <p:sldId id="465" r:id="rId38"/>
    <p:sldId id="464" r:id="rId39"/>
    <p:sldId id="466" r:id="rId40"/>
    <p:sldId id="467" r:id="rId41"/>
    <p:sldId id="468" r:id="rId42"/>
    <p:sldId id="469" r:id="rId43"/>
    <p:sldId id="470" r:id="rId44"/>
    <p:sldId id="471" r:id="rId45"/>
    <p:sldId id="472" r:id="rId46"/>
    <p:sldId id="473" r:id="rId47"/>
    <p:sldId id="474" r:id="rId48"/>
    <p:sldId id="475" r:id="rId49"/>
    <p:sldId id="476" r:id="rId50"/>
    <p:sldId id="412" r:id="rId51"/>
  </p:sldIdLst>
  <p:sldSz cx="12192000" cy="6858000"/>
  <p:notesSz cx="9777413" cy="6646863"/>
  <p:custDataLst>
    <p:tags r:id="rId53"/>
  </p:custDataLst>
  <p:defaultTextStyle>
    <a:defPPr>
      <a:defRPr lang="zh-CN"/>
    </a:defPPr>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9pPr>
  </p:defaultTextStyle>
  <p:extLst>
    <p:ext uri="{521415D9-36F7-43E2-AB2F-B90AF26B5E84}">
      <p14:sectionLst xmlns:p14="http://schemas.microsoft.com/office/powerpoint/2010/main">
        <p14:section name="默认节" id="{33DF3B17-A065-47B3-A172-DC5982F3E9F4}">
          <p14:sldIdLst>
            <p14:sldId id="297"/>
            <p14:sldId id="264"/>
            <p14:sldId id="479"/>
            <p14:sldId id="406"/>
            <p14:sldId id="431"/>
            <p14:sldId id="432"/>
            <p14:sldId id="434"/>
            <p14:sldId id="433"/>
            <p14:sldId id="435"/>
            <p14:sldId id="436"/>
            <p14:sldId id="437"/>
            <p14:sldId id="438"/>
            <p14:sldId id="439"/>
            <p14:sldId id="440"/>
            <p14:sldId id="441"/>
            <p14:sldId id="443"/>
            <p14:sldId id="444"/>
            <p14:sldId id="445"/>
            <p14:sldId id="446"/>
            <p14:sldId id="448"/>
            <p14:sldId id="449"/>
            <p14:sldId id="450"/>
            <p14:sldId id="451"/>
            <p14:sldId id="452"/>
            <p14:sldId id="453"/>
            <p14:sldId id="454"/>
            <p14:sldId id="455"/>
            <p14:sldId id="456"/>
            <p14:sldId id="457"/>
            <p14:sldId id="458"/>
            <p14:sldId id="460"/>
            <p14:sldId id="461"/>
            <p14:sldId id="462"/>
            <p14:sldId id="465"/>
            <p14:sldId id="464"/>
            <p14:sldId id="466"/>
            <p14:sldId id="467"/>
            <p14:sldId id="468"/>
            <p14:sldId id="469"/>
            <p14:sldId id="470"/>
            <p14:sldId id="471"/>
            <p14:sldId id="472"/>
            <p14:sldId id="473"/>
            <p14:sldId id="474"/>
            <p14:sldId id="475"/>
            <p14:sldId id="476"/>
            <p14:sldId id="41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3399FF"/>
    <a:srgbClr val="0053EC"/>
    <a:srgbClr val="66CCFF"/>
    <a:srgbClr val="F9FAF5"/>
    <a:srgbClr val="EDF1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631"/>
    <p:restoredTop sz="94505"/>
  </p:normalViewPr>
  <p:slideViewPr>
    <p:cSldViewPr showGuides="1">
      <p:cViewPr varScale="1">
        <p:scale>
          <a:sx n="105" d="100"/>
          <a:sy n="105" d="100"/>
        </p:scale>
        <p:origin x="232" y="192"/>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2005" cy="72005"/>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gs" Target="tags/tag1.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6-09-13T11:31:55.013" idx="1">
    <p:pos x="8236" y="324"/>
    <p:text>vcbvc </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16-09-13T11:31:55.013" idx="1">
    <p:pos x="8236" y="324"/>
    <p:text>vcbvc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37038" cy="3333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538788" y="0"/>
            <a:ext cx="4237037" cy="333375"/>
          </a:xfrm>
          <a:prstGeom prst="rect">
            <a:avLst/>
          </a:prstGeom>
        </p:spPr>
        <p:txBody>
          <a:bodyPr vert="horz" lIns="91440" tIns="45720" rIns="91440" bIns="45720" rtlCol="0"/>
          <a:lstStyle>
            <a:lvl1pPr algn="r">
              <a:defRPr sz="1200"/>
            </a:lvl1pPr>
          </a:lstStyle>
          <a:p>
            <a:fld id="{4383AC52-F2B7-DA46-A3F9-F3C6DBD0AD00}" type="datetimeFigureOut">
              <a:rPr lang="en-US" smtClean="0"/>
              <a:t>4/2/25</a:t>
            </a:fld>
            <a:endParaRPr lang="en-US"/>
          </a:p>
        </p:txBody>
      </p:sp>
      <p:sp>
        <p:nvSpPr>
          <p:cNvPr id="4" name="Slide Image Placeholder 3"/>
          <p:cNvSpPr>
            <a:spLocks noGrp="1" noRot="1" noChangeAspect="1"/>
          </p:cNvSpPr>
          <p:nvPr>
            <p:ph type="sldImg" idx="2"/>
          </p:nvPr>
        </p:nvSpPr>
        <p:spPr>
          <a:xfrm>
            <a:off x="2894013" y="830263"/>
            <a:ext cx="3989387" cy="224313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77900" y="3198813"/>
            <a:ext cx="7821613" cy="2617787"/>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6" name="Footer Placeholder 5"/>
          <p:cNvSpPr>
            <a:spLocks noGrp="1"/>
          </p:cNvSpPr>
          <p:nvPr>
            <p:ph type="ftr" sz="quarter" idx="4"/>
          </p:nvPr>
        </p:nvSpPr>
        <p:spPr>
          <a:xfrm>
            <a:off x="0" y="6313488"/>
            <a:ext cx="4237038" cy="3333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538788" y="6313488"/>
            <a:ext cx="4237037" cy="333375"/>
          </a:xfrm>
          <a:prstGeom prst="rect">
            <a:avLst/>
          </a:prstGeom>
        </p:spPr>
        <p:txBody>
          <a:bodyPr vert="horz" lIns="91440" tIns="45720" rIns="91440" bIns="45720" rtlCol="0" anchor="b"/>
          <a:lstStyle>
            <a:lvl1pPr algn="r">
              <a:defRPr sz="1200"/>
            </a:lvl1pPr>
          </a:lstStyle>
          <a:p>
            <a:fld id="{B3DE468A-FDBC-3147-967B-C0C3831069F0}"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10</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20</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30</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40</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05728"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8" name="页脚占位符 7"/>
          <p:cNvSpPr>
            <a:spLocks noGrp="1"/>
          </p:cNvSpPr>
          <p:nvPr>
            <p:ph type="ftr" sz="quarter" idx="11"/>
          </p:nvPr>
        </p:nvSpPr>
        <p:spPr/>
        <p:txBody>
          <a:bodyPr/>
          <a:lstStyle/>
          <a:p>
            <a:pPr lvl="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4" name="页脚占位符 3"/>
          <p:cNvSpPr>
            <a:spLocks noGrp="1"/>
          </p:cNvSpPr>
          <p:nvPr>
            <p:ph type="ftr" sz="quarter" idx="11"/>
          </p:nvPr>
        </p:nvSpPr>
        <p:spPr/>
        <p:txBody>
          <a:bodyPr/>
          <a:lstStyle/>
          <a:p>
            <a:pPr lvl="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3" name="页脚占位符 2"/>
          <p:cNvSpPr>
            <a:spLocks noGrp="1"/>
          </p:cNvSpPr>
          <p:nvPr>
            <p:ph type="ftr" sz="quarter" idx="11"/>
          </p:nvPr>
        </p:nvSpPr>
        <p:spPr/>
        <p:txBody>
          <a:bodyPr/>
          <a:lstStyle/>
          <a:p>
            <a:pPr lvl="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70573"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2025/4/2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2025/4/2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2025/4/2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2025/4/2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2025/4/2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2025/4/2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05728"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8" name="页脚占位符 7"/>
          <p:cNvSpPr>
            <a:spLocks noGrp="1"/>
          </p:cNvSpPr>
          <p:nvPr>
            <p:ph type="ftr" sz="quarter" idx="11"/>
          </p:nvPr>
        </p:nvSpPr>
        <p:spPr/>
        <p:txBody>
          <a:bodyPr/>
          <a:lstStyle/>
          <a:p>
            <a:pPr lvl="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4" name="页脚占位符 3"/>
          <p:cNvSpPr>
            <a:spLocks noGrp="1"/>
          </p:cNvSpPr>
          <p:nvPr>
            <p:ph type="ftr" sz="quarter" idx="11"/>
          </p:nvPr>
        </p:nvSpPr>
        <p:spPr/>
        <p:txBody>
          <a:bodyPr/>
          <a:lstStyle/>
          <a:p>
            <a:pPr lvl="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3" name="页脚占位符 2"/>
          <p:cNvSpPr>
            <a:spLocks noGrp="1"/>
          </p:cNvSpPr>
          <p:nvPr>
            <p:ph type="ftr" sz="quarter" idx="11"/>
          </p:nvPr>
        </p:nvSpPr>
        <p:spPr/>
        <p:txBody>
          <a:bodyPr/>
          <a:lstStyle/>
          <a:p>
            <a:pPr lvl="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70573"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05728"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8" name="页脚占位符 7"/>
          <p:cNvSpPr>
            <a:spLocks noGrp="1"/>
          </p:cNvSpPr>
          <p:nvPr>
            <p:ph type="ftr" sz="quarter" idx="11"/>
          </p:nvPr>
        </p:nvSpPr>
        <p:spPr/>
        <p:txBody>
          <a:bodyPr/>
          <a:lstStyle/>
          <a:p>
            <a:pPr lvl="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4" name="页脚占位符 3"/>
          <p:cNvSpPr>
            <a:spLocks noGrp="1"/>
          </p:cNvSpPr>
          <p:nvPr>
            <p:ph type="ftr" sz="quarter" idx="11"/>
          </p:nvPr>
        </p:nvSpPr>
        <p:spPr/>
        <p:txBody>
          <a:bodyPr/>
          <a:lstStyle/>
          <a:p>
            <a:pPr lvl="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3" name="页脚占位符 2"/>
          <p:cNvSpPr>
            <a:spLocks noGrp="1"/>
          </p:cNvSpPr>
          <p:nvPr>
            <p:ph type="ftr" sz="quarter" idx="11"/>
          </p:nvPr>
        </p:nvSpPr>
        <p:spPr/>
        <p:txBody>
          <a:bodyPr/>
          <a:lstStyle/>
          <a:p>
            <a:pPr lvl="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70573"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4.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609600" y="274638"/>
            <a:ext cx="10972800" cy="1143000"/>
          </a:xfrm>
          <a:prstGeom prst="rect">
            <a:avLst/>
          </a:prstGeom>
          <a:noFill/>
          <a:ln w="9525">
            <a:noFill/>
          </a:ln>
        </p:spPr>
        <p:txBody>
          <a:bodyPr vert="horz" anchor="ctr">
            <a:normAutofit/>
          </a:bodyPr>
          <a:lstStyle/>
          <a:p>
            <a:pPr lvl="0"/>
            <a:r>
              <a:rPr lang="zh-CN" altLang="en-US"/>
              <a:t>单击此处编辑母版标题样式</a:t>
            </a:r>
          </a:p>
        </p:txBody>
      </p:sp>
      <p:sp>
        <p:nvSpPr>
          <p:cNvPr id="1027" name="文本占位符 2"/>
          <p:cNvSpPr>
            <a:spLocks noGrp="1"/>
          </p:cNvSpPr>
          <p:nvPr>
            <p:ph type="body" idx="1"/>
          </p:nvPr>
        </p:nvSpPr>
        <p:spPr>
          <a:xfrm>
            <a:off x="609600" y="1600200"/>
            <a:ext cx="10972800" cy="4525963"/>
          </a:xfrm>
          <a:prstGeom prst="rect">
            <a:avLst/>
          </a:prstGeom>
          <a:noFill/>
          <a:ln w="9525">
            <a:noFill/>
          </a:ln>
        </p:spPr>
        <p:txBody>
          <a:bodyPr vert="horz">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3"/>
          <p:cNvSpPr>
            <a:spLocks noGrp="1"/>
          </p:cNvSpPr>
          <p:nvPr>
            <p:ph type="dt" sz="half" idx="2"/>
          </p:nvPr>
        </p:nvSpPr>
        <p:spPr>
          <a:xfrm>
            <a:off x="609600" y="6356350"/>
            <a:ext cx="2844800" cy="365125"/>
          </a:xfrm>
          <a:prstGeom prst="rect">
            <a:avLst/>
          </a:prstGeom>
          <a:noFill/>
          <a:ln w="9525">
            <a:noFill/>
          </a:ln>
        </p:spPr>
        <p:txBody>
          <a:bodyPr vert="horz" anchor="ctr"/>
          <a:lstStyle>
            <a:lvl1pPr algn="l">
              <a:defRPr sz="1200">
                <a:solidFill>
                  <a:srgbClr val="898989"/>
                </a:solidFill>
                <a:ea typeface="宋体" panose="02010600030101010101" pitchFamily="2" charset="-122"/>
              </a:defRPr>
            </a:lvl1pPr>
          </a:lstStyle>
          <a:p>
            <a:pPr lvl="0"/>
            <a:fld id="{BB962C8B-B14F-4D97-AF65-F5344CB8AC3E}" type="datetime1">
              <a:rPr lang="zh-CN" altLang="en-US" dirty="0"/>
              <a:t>2025/4/2</a:t>
            </a:fld>
            <a:endParaRPr lang="zh-CN" altLang="en-US" dirty="0"/>
          </a:p>
        </p:txBody>
      </p:sp>
      <p:sp>
        <p:nvSpPr>
          <p:cNvPr id="1029" name="页脚占位符 4"/>
          <p:cNvSpPr>
            <a:spLocks noGrp="1"/>
          </p:cNvSpPr>
          <p:nvPr>
            <p:ph type="ftr" sz="quarter" idx="3"/>
          </p:nvPr>
        </p:nvSpPr>
        <p:spPr>
          <a:xfrm>
            <a:off x="4165600" y="6356350"/>
            <a:ext cx="3860800" cy="365125"/>
          </a:xfrm>
          <a:prstGeom prst="rect">
            <a:avLst/>
          </a:prstGeom>
          <a:noFill/>
          <a:ln w="9525">
            <a:noFill/>
          </a:ln>
        </p:spPr>
        <p:txBody>
          <a:bodyPr vert="horz" anchor="ctr"/>
          <a:lstStyle>
            <a:lvl1pPr algn="ctr">
              <a:defRPr sz="1200">
                <a:solidFill>
                  <a:srgbClr val="898989"/>
                </a:solidFill>
                <a:ea typeface="宋体" panose="02010600030101010101" pitchFamily="2" charset="-122"/>
              </a:defRPr>
            </a:lvl1pPr>
          </a:lstStyle>
          <a:p>
            <a:pPr lvl="0"/>
            <a:endParaRPr/>
          </a:p>
        </p:txBody>
      </p:sp>
      <p:sp>
        <p:nvSpPr>
          <p:cNvPr id="1030" name="灯片编号占位符 5"/>
          <p:cNvSpPr>
            <a:spLocks noGrp="1"/>
          </p:cNvSpPr>
          <p:nvPr>
            <p:ph type="sldNum" sz="quarter" idx="4"/>
          </p:nvPr>
        </p:nvSpPr>
        <p:spPr>
          <a:xfrm>
            <a:off x="8737600" y="6356350"/>
            <a:ext cx="2844800" cy="365125"/>
          </a:xfrm>
          <a:prstGeom prst="rect">
            <a:avLst/>
          </a:prstGeom>
          <a:noFill/>
          <a:ln w="9525">
            <a:noFill/>
          </a:ln>
        </p:spPr>
        <p:txBody>
          <a:bodyPr vert="horz" anchor="ctr"/>
          <a:lstStyle>
            <a:lvl1pPr algn="r">
              <a:defRPr sz="1200">
                <a:solidFill>
                  <a:srgbClr val="898989"/>
                </a:solidFill>
                <a:ea typeface="宋体" panose="02010600030101010101" pitchFamily="2" charset="-122"/>
              </a:defRPr>
            </a:lvl1pPr>
          </a:lstStyle>
          <a:p>
            <a:pPr lvl="0"/>
            <a:fld id="{9A0DB2DC-4C9A-4742-B13C-FB6460FD3503}" type="slidenum">
              <a:rPr lang="zh-CN" altLang="en-US" dirty="0"/>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lvl="0" algn="ctr" defTabSz="914400" eaLnBrk="1" fontAlgn="base" latinLnBrk="0" hangingPunct="1">
        <a:lnSpc>
          <a:spcPct val="100000"/>
        </a:lnSpc>
        <a:spcBef>
          <a:spcPct val="0"/>
        </a:spcBef>
        <a:buClr>
          <a:srgbClr val="000000"/>
        </a:buClr>
        <a:buNone/>
        <a:defRPr sz="4400" kern="1200">
          <a:solidFill>
            <a:schemeClr val="tx1"/>
          </a:solidFill>
          <a:latin typeface="+mj-lt"/>
          <a:ea typeface="+mj-ea"/>
          <a:cs typeface="+mj-cs"/>
          <a:sym typeface="Calibri" panose="020F0502020204030204" charset="0"/>
        </a:defRPr>
      </a:lvl1pPr>
    </p:titleStyle>
    <p:body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mn-lt"/>
          <a:ea typeface="+mn-ea"/>
          <a:cs typeface="+mn-cs"/>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mn-lt"/>
          <a:ea typeface="+mn-ea"/>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mn-lt"/>
          <a:ea typeface="+mn-ea"/>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5pPr>
      <a:lvl6pPr marL="2514600" lvl="5"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6pPr>
      <a:lvl7pPr marL="2971800" lvl="6"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7pPr>
      <a:lvl8pPr marL="3429000" lvl="7"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8pPr>
      <a:lvl9pPr marL="3886200" lvl="8"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9pPr>
    </p:bodyStyle>
    <p:otherStyle>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2F288E0-7875-42C4-84C8-98DBBD3BF4D2}" type="datetimeFigureOut">
              <a:rPr lang="zh-CN" altLang="en-US" smtClean="0"/>
              <a:t>2025/4/2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0815"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0815"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0815"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标题占位符 1"/>
          <p:cNvSpPr>
            <a:spLocks noGrp="1"/>
          </p:cNvSpPr>
          <p:nvPr>
            <p:ph type="title"/>
          </p:nvPr>
        </p:nvSpPr>
        <p:spPr>
          <a:xfrm>
            <a:off x="609600" y="274638"/>
            <a:ext cx="10972800" cy="1143000"/>
          </a:xfrm>
          <a:prstGeom prst="rect">
            <a:avLst/>
          </a:prstGeom>
          <a:noFill/>
          <a:ln w="9525">
            <a:noFill/>
          </a:ln>
        </p:spPr>
        <p:txBody>
          <a:bodyPr vert="horz" anchor="ctr">
            <a:normAutofit/>
          </a:bodyPr>
          <a:lstStyle/>
          <a:p>
            <a:pPr lvl="0"/>
            <a:r>
              <a:rPr lang="zh-CN" altLang="en-US"/>
              <a:t>单击此处编辑母版标题样式</a:t>
            </a:r>
          </a:p>
        </p:txBody>
      </p:sp>
      <p:sp>
        <p:nvSpPr>
          <p:cNvPr id="2051" name="文本占位符 2"/>
          <p:cNvSpPr>
            <a:spLocks noGrp="1"/>
          </p:cNvSpPr>
          <p:nvPr>
            <p:ph type="body" idx="1"/>
          </p:nvPr>
        </p:nvSpPr>
        <p:spPr>
          <a:xfrm>
            <a:off x="609600" y="1600200"/>
            <a:ext cx="10972800" cy="4525963"/>
          </a:xfrm>
          <a:prstGeom prst="rect">
            <a:avLst/>
          </a:prstGeom>
          <a:noFill/>
          <a:ln w="9525">
            <a:noFill/>
          </a:ln>
        </p:spPr>
        <p:txBody>
          <a:bodyPr vert="horz">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052" name="日期占位符 3"/>
          <p:cNvSpPr>
            <a:spLocks noGrp="1"/>
          </p:cNvSpPr>
          <p:nvPr>
            <p:ph type="dt" sz="half" idx="2"/>
          </p:nvPr>
        </p:nvSpPr>
        <p:spPr>
          <a:xfrm>
            <a:off x="609600" y="6356350"/>
            <a:ext cx="2844800" cy="365125"/>
          </a:xfrm>
          <a:prstGeom prst="rect">
            <a:avLst/>
          </a:prstGeom>
          <a:noFill/>
          <a:ln w="9525">
            <a:noFill/>
          </a:ln>
        </p:spPr>
        <p:txBody>
          <a:bodyPr vert="horz" anchor="ctr"/>
          <a:lstStyle>
            <a:lvl1pPr algn="l">
              <a:defRPr sz="1200">
                <a:solidFill>
                  <a:srgbClr val="898989"/>
                </a:solidFill>
                <a:ea typeface="宋体" panose="02010600030101010101" pitchFamily="2" charset="-122"/>
              </a:defRPr>
            </a:lvl1pPr>
          </a:lstStyle>
          <a:p>
            <a:pPr lvl="0"/>
            <a:fld id="{BB962C8B-B14F-4D97-AF65-F5344CB8AC3E}" type="datetime1">
              <a:rPr lang="zh-CN" altLang="en-US" dirty="0"/>
              <a:t>2025/4/2</a:t>
            </a:fld>
            <a:endParaRPr lang="zh-CN" altLang="en-US" dirty="0"/>
          </a:p>
        </p:txBody>
      </p:sp>
      <p:sp>
        <p:nvSpPr>
          <p:cNvPr id="2053" name="页脚占位符 4"/>
          <p:cNvSpPr>
            <a:spLocks noGrp="1"/>
          </p:cNvSpPr>
          <p:nvPr>
            <p:ph type="ftr" sz="quarter" idx="3"/>
          </p:nvPr>
        </p:nvSpPr>
        <p:spPr>
          <a:xfrm>
            <a:off x="4165600" y="6356350"/>
            <a:ext cx="3860800" cy="365125"/>
          </a:xfrm>
          <a:prstGeom prst="rect">
            <a:avLst/>
          </a:prstGeom>
          <a:noFill/>
          <a:ln w="9525">
            <a:noFill/>
          </a:ln>
        </p:spPr>
        <p:txBody>
          <a:bodyPr vert="horz" anchor="ctr"/>
          <a:lstStyle>
            <a:lvl1pPr algn="ctr">
              <a:defRPr sz="1200">
                <a:solidFill>
                  <a:srgbClr val="898989"/>
                </a:solidFill>
                <a:ea typeface="宋体" panose="02010600030101010101" pitchFamily="2" charset="-122"/>
              </a:defRPr>
            </a:lvl1pPr>
          </a:lstStyle>
          <a:p>
            <a:pPr lvl="0"/>
            <a:endParaRPr/>
          </a:p>
        </p:txBody>
      </p:sp>
      <p:sp>
        <p:nvSpPr>
          <p:cNvPr id="2054" name="灯片编号占位符 5"/>
          <p:cNvSpPr>
            <a:spLocks noGrp="1"/>
          </p:cNvSpPr>
          <p:nvPr>
            <p:ph type="sldNum" sz="quarter" idx="4"/>
          </p:nvPr>
        </p:nvSpPr>
        <p:spPr>
          <a:xfrm>
            <a:off x="8737600" y="6356350"/>
            <a:ext cx="2844800" cy="365125"/>
          </a:xfrm>
          <a:prstGeom prst="rect">
            <a:avLst/>
          </a:prstGeom>
          <a:noFill/>
          <a:ln w="9525">
            <a:noFill/>
          </a:ln>
        </p:spPr>
        <p:txBody>
          <a:bodyPr vert="horz" anchor="ctr"/>
          <a:lstStyle>
            <a:lvl1pPr algn="r">
              <a:defRPr sz="1200">
                <a:solidFill>
                  <a:srgbClr val="898989"/>
                </a:solidFill>
                <a:ea typeface="宋体" panose="02010600030101010101" pitchFamily="2" charset="-122"/>
              </a:defRPr>
            </a:lvl1pPr>
          </a:lstStyle>
          <a:p>
            <a:pPr lvl="0"/>
            <a:fld id="{9A0DB2DC-4C9A-4742-B13C-FB6460FD3503}" type="slidenum">
              <a:rPr lang="zh-CN" altLang="en-US" dirty="0"/>
              <a:t>‹#›</a:t>
            </a:fld>
            <a:endParaRPr lang="zh-CN" altLang="en-US" dirty="0"/>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sldNum="0" hdr="0" ftr="0" dt="0"/>
  <p:txStyles>
    <p:titleStyle>
      <a:lvl1pPr lvl="0" algn="ctr" defTabSz="914400" eaLnBrk="1" fontAlgn="base" latinLnBrk="0" hangingPunct="1">
        <a:lnSpc>
          <a:spcPct val="100000"/>
        </a:lnSpc>
        <a:spcBef>
          <a:spcPct val="0"/>
        </a:spcBef>
        <a:buClr>
          <a:srgbClr val="000000"/>
        </a:buClr>
        <a:buNone/>
        <a:defRPr sz="4400" kern="1200">
          <a:solidFill>
            <a:schemeClr val="tx1"/>
          </a:solidFill>
          <a:latin typeface="+mj-lt"/>
          <a:ea typeface="+mj-ea"/>
          <a:cs typeface="+mj-cs"/>
          <a:sym typeface="Calibri" panose="020F0502020204030204" charset="0"/>
        </a:defRPr>
      </a:lvl1pPr>
    </p:titleStyle>
    <p:body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mn-lt"/>
          <a:ea typeface="+mn-ea"/>
          <a:cs typeface="+mn-cs"/>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mn-lt"/>
          <a:ea typeface="+mn-ea"/>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mn-lt"/>
          <a:ea typeface="+mn-ea"/>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5pPr>
      <a:lvl6pPr marL="2514600" lvl="5"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6pPr>
      <a:lvl7pPr marL="2971800" lvl="6"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7pPr>
      <a:lvl8pPr marL="3429000" lvl="7"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8pPr>
      <a:lvl9pPr marL="3886200" lvl="8"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9pPr>
    </p:bodyStyle>
    <p:otherStyle>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标题占位符 1"/>
          <p:cNvSpPr>
            <a:spLocks noGrp="1"/>
          </p:cNvSpPr>
          <p:nvPr>
            <p:ph type="title"/>
          </p:nvPr>
        </p:nvSpPr>
        <p:spPr>
          <a:xfrm>
            <a:off x="609600" y="274638"/>
            <a:ext cx="10972800" cy="1143000"/>
          </a:xfrm>
          <a:prstGeom prst="rect">
            <a:avLst/>
          </a:prstGeom>
          <a:noFill/>
          <a:ln w="9525">
            <a:noFill/>
          </a:ln>
        </p:spPr>
        <p:txBody>
          <a:bodyPr vert="horz" anchor="ctr">
            <a:normAutofit/>
          </a:bodyPr>
          <a:lstStyle/>
          <a:p>
            <a:pPr lvl="0"/>
            <a:r>
              <a:rPr lang="zh-CN" altLang="en-US"/>
              <a:t>单击此处编辑母版标题样式</a:t>
            </a:r>
          </a:p>
        </p:txBody>
      </p:sp>
      <p:sp>
        <p:nvSpPr>
          <p:cNvPr id="3075" name="文本占位符 2"/>
          <p:cNvSpPr>
            <a:spLocks noGrp="1"/>
          </p:cNvSpPr>
          <p:nvPr>
            <p:ph type="body" idx="1"/>
          </p:nvPr>
        </p:nvSpPr>
        <p:spPr>
          <a:xfrm>
            <a:off x="609600" y="1600200"/>
            <a:ext cx="10972800" cy="4525963"/>
          </a:xfrm>
          <a:prstGeom prst="rect">
            <a:avLst/>
          </a:prstGeom>
          <a:noFill/>
          <a:ln w="9525">
            <a:noFill/>
          </a:ln>
        </p:spPr>
        <p:txBody>
          <a:bodyPr vert="horz">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6" name="日期占位符 3"/>
          <p:cNvSpPr>
            <a:spLocks noGrp="1"/>
          </p:cNvSpPr>
          <p:nvPr>
            <p:ph type="dt" sz="half" idx="2"/>
          </p:nvPr>
        </p:nvSpPr>
        <p:spPr>
          <a:xfrm>
            <a:off x="609600" y="6356350"/>
            <a:ext cx="2844800" cy="365125"/>
          </a:xfrm>
          <a:prstGeom prst="rect">
            <a:avLst/>
          </a:prstGeom>
          <a:noFill/>
          <a:ln w="9525">
            <a:noFill/>
          </a:ln>
        </p:spPr>
        <p:txBody>
          <a:bodyPr vert="horz" anchor="ctr"/>
          <a:lstStyle>
            <a:lvl1pPr algn="l">
              <a:defRPr sz="1200">
                <a:solidFill>
                  <a:srgbClr val="898989"/>
                </a:solidFill>
                <a:ea typeface="宋体" panose="02010600030101010101" pitchFamily="2" charset="-122"/>
              </a:defRPr>
            </a:lvl1pPr>
          </a:lstStyle>
          <a:p>
            <a:pPr lvl="0"/>
            <a:fld id="{BB962C8B-B14F-4D97-AF65-F5344CB8AC3E}" type="datetime1">
              <a:rPr lang="zh-CN" altLang="en-US" dirty="0"/>
              <a:t>2025/4/2</a:t>
            </a:fld>
            <a:endParaRPr lang="zh-CN" altLang="en-US" dirty="0"/>
          </a:p>
        </p:txBody>
      </p:sp>
      <p:sp>
        <p:nvSpPr>
          <p:cNvPr id="3077" name="页脚占位符 4"/>
          <p:cNvSpPr>
            <a:spLocks noGrp="1"/>
          </p:cNvSpPr>
          <p:nvPr>
            <p:ph type="ftr" sz="quarter" idx="3"/>
          </p:nvPr>
        </p:nvSpPr>
        <p:spPr>
          <a:xfrm>
            <a:off x="4165600" y="6356350"/>
            <a:ext cx="3860800" cy="365125"/>
          </a:xfrm>
          <a:prstGeom prst="rect">
            <a:avLst/>
          </a:prstGeom>
          <a:noFill/>
          <a:ln w="9525">
            <a:noFill/>
          </a:ln>
        </p:spPr>
        <p:txBody>
          <a:bodyPr vert="horz" anchor="ctr"/>
          <a:lstStyle>
            <a:lvl1pPr algn="ctr">
              <a:defRPr sz="1200">
                <a:solidFill>
                  <a:srgbClr val="898989"/>
                </a:solidFill>
                <a:ea typeface="宋体" panose="02010600030101010101" pitchFamily="2" charset="-122"/>
              </a:defRPr>
            </a:lvl1pPr>
          </a:lstStyle>
          <a:p>
            <a:pPr lvl="0"/>
            <a:endParaRPr/>
          </a:p>
        </p:txBody>
      </p:sp>
      <p:sp>
        <p:nvSpPr>
          <p:cNvPr id="3078" name="灯片编号占位符 5"/>
          <p:cNvSpPr>
            <a:spLocks noGrp="1"/>
          </p:cNvSpPr>
          <p:nvPr>
            <p:ph type="sldNum" sz="quarter" idx="4"/>
          </p:nvPr>
        </p:nvSpPr>
        <p:spPr>
          <a:xfrm>
            <a:off x="8737600" y="6356350"/>
            <a:ext cx="2844800" cy="365125"/>
          </a:xfrm>
          <a:prstGeom prst="rect">
            <a:avLst/>
          </a:prstGeom>
          <a:noFill/>
          <a:ln w="9525">
            <a:noFill/>
          </a:ln>
        </p:spPr>
        <p:txBody>
          <a:bodyPr vert="horz" anchor="ctr"/>
          <a:lstStyle>
            <a:lvl1pPr algn="r">
              <a:defRPr sz="1200">
                <a:solidFill>
                  <a:srgbClr val="898989"/>
                </a:solidFill>
                <a:ea typeface="宋体" panose="02010600030101010101" pitchFamily="2" charset="-122"/>
              </a:defRPr>
            </a:lvl1pPr>
          </a:lstStyle>
          <a:p>
            <a:pPr lvl="0"/>
            <a:fld id="{9A0DB2DC-4C9A-4742-B13C-FB6460FD3503}" type="slidenum">
              <a:rPr lang="zh-CN" altLang="en-US" dirty="0"/>
              <a:t>‹#›</a:t>
            </a:fld>
            <a:endParaRPr lang="zh-CN" altLang="en-US" dirty="0"/>
          </a:p>
        </p:txBody>
      </p:sp>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hf sldNum="0" hdr="0" ftr="0" dt="0"/>
  <p:txStyles>
    <p:titleStyle>
      <a:lvl1pPr lvl="0" algn="ctr" defTabSz="914400" eaLnBrk="1" fontAlgn="base" latinLnBrk="0" hangingPunct="1">
        <a:lnSpc>
          <a:spcPct val="100000"/>
        </a:lnSpc>
        <a:spcBef>
          <a:spcPct val="0"/>
        </a:spcBef>
        <a:buClr>
          <a:srgbClr val="000000"/>
        </a:buClr>
        <a:buNone/>
        <a:defRPr sz="4400" kern="1200">
          <a:solidFill>
            <a:schemeClr val="tx1"/>
          </a:solidFill>
          <a:latin typeface="+mj-lt"/>
          <a:ea typeface="+mj-ea"/>
          <a:cs typeface="+mj-cs"/>
          <a:sym typeface="Calibri" panose="020F0502020204030204" charset="0"/>
        </a:defRPr>
      </a:lvl1pPr>
    </p:titleStyle>
    <p:body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mn-lt"/>
          <a:ea typeface="+mn-ea"/>
          <a:cs typeface="+mn-cs"/>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mn-lt"/>
          <a:ea typeface="+mn-ea"/>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mn-lt"/>
          <a:ea typeface="+mn-ea"/>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5pPr>
      <a:lvl6pPr marL="2514600" lvl="5"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6pPr>
      <a:lvl7pPr marL="2971800" lvl="6"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7pPr>
      <a:lvl8pPr marL="3429000" lvl="7"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8pPr>
      <a:lvl9pPr marL="3886200" lvl="8"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9pPr>
    </p:bodyStyle>
    <p:otherStyle>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8.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10.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9.png"/><Relationship Id="rId5" Type="http://schemas.openxmlformats.org/officeDocument/2006/relationships/notesSlide" Target="../notesSlides/notesSlide11.xml"/><Relationship Id="rId4"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slideLayout" Target="../slideLayouts/slideLayout1.xml"/><Relationship Id="rId7" Type="http://schemas.openxmlformats.org/officeDocument/2006/relationships/image" Target="../media/image13.pn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12.xml"/><Relationship Id="rId9"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1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18.xml"/><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19.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24.pn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22.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23.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tags" Target="../tags/tag26.xml"/><Relationship Id="rId7" Type="http://schemas.openxmlformats.org/officeDocument/2006/relationships/image" Target="../media/image27.pn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notesSlide" Target="../notesSlides/notesSlide19.xml"/><Relationship Id="rId5" Type="http://schemas.openxmlformats.org/officeDocument/2006/relationships/slideLayout" Target="../slideLayouts/slideLayout1.xml"/><Relationship Id="rId10" Type="http://schemas.openxmlformats.org/officeDocument/2006/relationships/image" Target="../media/image30.png"/><Relationship Id="rId4" Type="http://schemas.openxmlformats.org/officeDocument/2006/relationships/tags" Target="../tags/tag27.xml"/><Relationship Id="rId9"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tags" Target="../tags/tag28.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tags" Target="../tags/tag29.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1.xml"/><Relationship Id="rId1" Type="http://schemas.openxmlformats.org/officeDocument/2006/relationships/tags" Target="../tags/tag30.xml"/><Relationship Id="rId5" Type="http://schemas.openxmlformats.org/officeDocument/2006/relationships/image" Target="../media/image33.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tags" Target="../tags/tag34.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tags" Target="../tags/tag35.xml"/><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tags" Target="../tags/tag36.xml"/><Relationship Id="rId5" Type="http://schemas.openxmlformats.org/officeDocument/2006/relationships/image" Target="../media/image39.png"/><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tags" Target="../tags/tag39.xml"/><Relationship Id="rId7" Type="http://schemas.openxmlformats.org/officeDocument/2006/relationships/image" Target="../media/image41.pn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40.png"/><Relationship Id="rId5" Type="http://schemas.openxmlformats.org/officeDocument/2006/relationships/notesSlide" Target="../notesSlides/notesSlide27.xml"/><Relationship Id="rId4"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tags" Target="../tags/tag40.xml"/><Relationship Id="rId4" Type="http://schemas.openxmlformats.org/officeDocument/2006/relationships/image" Target="../media/image43.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46.png"/><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tags" Target="../tags/tag43.xml"/><Relationship Id="rId5" Type="http://schemas.openxmlformats.org/officeDocument/2006/relationships/image" Target="../media/image47.png"/><Relationship Id="rId4" Type="http://schemas.openxmlformats.org/officeDocument/2006/relationships/image" Target="../media/image46.png"/></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32.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tags" Target="../tags/tag46.xml"/><Relationship Id="rId7" Type="http://schemas.openxmlformats.org/officeDocument/2006/relationships/image" Target="../media/image51.png"/><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image" Target="../media/image50.png"/><Relationship Id="rId5" Type="http://schemas.openxmlformats.org/officeDocument/2006/relationships/notesSlide" Target="../notesSlides/notesSlide32.xml"/><Relationship Id="rId4"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tags" Target="../tags/tag47.xml"/><Relationship Id="rId4" Type="http://schemas.openxmlformats.org/officeDocument/2006/relationships/image" Target="../media/image53.png"/></Relationships>
</file>

<file path=ppt/slides/_rels/slide3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tags" Target="../tags/tag48.xml"/><Relationship Id="rId5" Type="http://schemas.openxmlformats.org/officeDocument/2006/relationships/image" Target="../media/image56.png"/><Relationship Id="rId4" Type="http://schemas.openxmlformats.org/officeDocument/2006/relationships/image" Target="../media/image55.png"/></Relationships>
</file>

<file path=ppt/slides/_rels/slide3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61.png"/><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64.png"/><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tags" Target="../tags/tag53.xml"/><Relationship Id="rId5" Type="http://schemas.openxmlformats.org/officeDocument/2006/relationships/image" Target="../media/image65.png"/><Relationship Id="rId4" Type="http://schemas.openxmlformats.org/officeDocument/2006/relationships/image" Target="../media/image62.png"/></Relationships>
</file>

<file path=ppt/slides/_rels/slide4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tags" Target="../tags/tag56.xml"/><Relationship Id="rId7" Type="http://schemas.openxmlformats.org/officeDocument/2006/relationships/image" Target="../media/image68.png"/><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image" Target="../media/image67.png"/><Relationship Id="rId5" Type="http://schemas.openxmlformats.org/officeDocument/2006/relationships/notesSlide" Target="../notesSlides/notesSlide42.xml"/><Relationship Id="rId4" Type="http://schemas.openxmlformats.org/officeDocument/2006/relationships/slideLayout" Target="../slideLayouts/slideLayout1.xml"/><Relationship Id="rId9" Type="http://schemas.openxmlformats.org/officeDocument/2006/relationships/image" Target="../media/image70.png"/></Relationships>
</file>

<file path=ppt/slides/_rels/slide43.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slideLayout" Target="../slideLayouts/slideLayout1.xml"/><Relationship Id="rId7" Type="http://schemas.openxmlformats.org/officeDocument/2006/relationships/image" Target="../media/image73.png"/><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72.png"/><Relationship Id="rId5" Type="http://schemas.openxmlformats.org/officeDocument/2006/relationships/image" Target="../media/image71.png"/><Relationship Id="rId10" Type="http://schemas.openxmlformats.org/officeDocument/2006/relationships/image" Target="../media/image76.png"/><Relationship Id="rId4" Type="http://schemas.openxmlformats.org/officeDocument/2006/relationships/notesSlide" Target="../notesSlides/notesSlide43.xml"/><Relationship Id="rId9" Type="http://schemas.openxmlformats.org/officeDocument/2006/relationships/image" Target="../media/image75.png"/></Relationships>
</file>

<file path=ppt/slides/_rels/slide4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comments" Target="../comments/commen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5122" name="Rectangle 9"/>
          <p:cNvSpPr>
            <a:spLocks noGrp="1"/>
          </p:cNvSpPr>
          <p:nvPr>
            <p:ph type="subTitle"/>
          </p:nvPr>
        </p:nvSpPr>
        <p:spPr>
          <a:xfrm>
            <a:off x="2783840" y="4940935"/>
            <a:ext cx="6736715" cy="630555"/>
          </a:xfrm>
        </p:spPr>
        <p:txBody>
          <a:bodyPr wrap="square" anchor="t">
            <a:normAutofit fontScale="95000"/>
          </a:bodyPr>
          <a:lstStyle>
            <a:lvl1pPr lvl="0">
              <a:defRPr kern="1200"/>
            </a:lvl1pPr>
            <a:lvl2pPr lvl="1">
              <a:defRPr kern="1200"/>
            </a:lvl2pPr>
            <a:lvl3pPr lvl="2">
              <a:defRPr kern="1200"/>
            </a:lvl3pPr>
            <a:lvl4pPr lvl="3">
              <a:defRPr kern="1200"/>
            </a:lvl4pPr>
            <a:lvl5pPr lvl="4">
              <a:defRPr kern="1200"/>
            </a:lvl5pPr>
          </a:lstStyle>
          <a:p>
            <a:pPr marL="1905" lvl="0" indent="-344805">
              <a:lnSpc>
                <a:spcPct val="90000"/>
              </a:lnSpc>
              <a:spcBef>
                <a:spcPct val="50000"/>
              </a:spcBef>
              <a:buNone/>
            </a:pPr>
            <a:r>
              <a:rPr lang="zh-CN" altLang="en-US" sz="3600" b="1" dirty="0">
                <a:solidFill>
                  <a:srgbClr val="3399FF"/>
                </a:solidFill>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600" b="1" dirty="0">
                <a:solidFill>
                  <a:srgbClr val="3399FF"/>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600" b="1" dirty="0">
                <a:solidFill>
                  <a:srgbClr val="3399FF"/>
                </a:solidFill>
                <a:latin typeface="微软雅黑" panose="020B0503020204020204" pitchFamily="2" charset="-122"/>
                <a:ea typeface="微软雅黑" panose="020B0503020204020204" pitchFamily="2" charset="-122"/>
                <a:sym typeface="微软雅黑" panose="020B0503020204020204" pitchFamily="2" charset="-122"/>
              </a:rPr>
              <a:t>章 对应分析及</a:t>
            </a:r>
            <a:r>
              <a:rPr lang="en-US" altLang="zh-CN" sz="3600" b="1" dirty="0">
                <a:solidFill>
                  <a:srgbClr val="3399FF"/>
                </a:solidFill>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600" b="1" dirty="0">
                <a:solidFill>
                  <a:srgbClr val="3399FF"/>
                </a:solidFill>
                <a:latin typeface="微软雅黑" panose="020B0503020204020204" pitchFamily="2" charset="-122"/>
                <a:ea typeface="微软雅黑" panose="020B0503020204020204" pitchFamily="2" charset="-122"/>
                <a:sym typeface="微软雅黑" panose="020B0503020204020204" pitchFamily="2" charset="-122"/>
              </a:rPr>
              <a:t>视图</a:t>
            </a:r>
          </a:p>
          <a:p>
            <a:pPr marL="1905" lvl="0" indent="-1905">
              <a:lnSpc>
                <a:spcPct val="90000"/>
              </a:lnSpc>
              <a:spcBef>
                <a:spcPct val="50000"/>
              </a:spcBef>
            </a:pPr>
            <a:endParaRPr lang="zh-CN" altLang="en-US" sz="3600" b="1" dirty="0">
              <a:solidFill>
                <a:srgbClr val="3399FF"/>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5123" name="WordArt 10"/>
          <p:cNvSpPr>
            <a:spLocks noTextEdit="1"/>
          </p:cNvSpPr>
          <p:nvPr/>
        </p:nvSpPr>
        <p:spPr>
          <a:xfrm>
            <a:off x="2855595" y="4211320"/>
            <a:ext cx="6308090" cy="747395"/>
          </a:xfrm>
          <a:prstGeom prst="rect">
            <a:avLst/>
          </a:prstGeom>
        </p:spPr>
        <p:txBody>
          <a:bodyPr wrap="none" fromWordArt="1">
            <a:prstTxWarp prst="textPlain">
              <a:avLst>
                <a:gd name="adj" fmla="val 50000"/>
              </a:avLst>
            </a:prstTxWarp>
            <a:normAutofit/>
          </a:bodyPr>
          <a:lstStyle/>
          <a:p>
            <a:pPr algn="ctr"/>
            <a:endParaRPr lang="zh-CN" altLang="en-US" sz="3600" i="1">
              <a:noFill/>
              <a:latin typeface="宋体" panose="02010600030101010101" pitchFamily="2" charset="-122"/>
              <a:ea typeface="宋体" panose="02010600030101010101" pitchFamily="2" charset="-122"/>
            </a:endParaRPr>
          </a:p>
        </p:txBody>
      </p:sp>
      <p:sp>
        <p:nvSpPr>
          <p:cNvPr id="5124" name="矩形 7"/>
          <p:cNvSpPr/>
          <p:nvPr/>
        </p:nvSpPr>
        <p:spPr>
          <a:xfrm>
            <a:off x="2135505" y="2924810"/>
            <a:ext cx="7703820" cy="768350"/>
          </a:xfrm>
          <a:prstGeom prst="rect">
            <a:avLst/>
          </a:prstGeom>
          <a:noFill/>
          <a:ln w="9525">
            <a:noFill/>
          </a:ln>
        </p:spPr>
        <p:txBody>
          <a:bodyPr wrap="square">
            <a:spAutoFit/>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cs typeface="+mn-cs"/>
                <a:sym typeface="Calibri" panose="020F0502020204030204" charset="0"/>
              </a:defRPr>
            </a:lvl5pPr>
          </a:lstStyle>
          <a:p>
            <a:pPr marL="0" lvl="0" indent="0" defTabSz="914400">
              <a:spcBef>
                <a:spcPct val="0"/>
              </a:spcBef>
              <a:buFont typeface="Arial" panose="020B0604020202020204" pitchFamily="34" charset="0"/>
              <a:buNone/>
            </a:pPr>
            <a:r>
              <a:rPr lang="zh-CN" altLang="en-US" sz="44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44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44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2">
                                            <p:txEl>
                                              <p:pRg st="0" end="0"/>
                                            </p:txEl>
                                          </p:spTgt>
                                        </p:tgtEl>
                                        <p:attrNameLst>
                                          <p:attrName>style.visibility</p:attrName>
                                        </p:attrNameLst>
                                      </p:cBhvr>
                                      <p:to>
                                        <p:strVal val="visible"/>
                                      </p:to>
                                    </p:set>
                                    <p:anim calcmode="lin" valueType="num">
                                      <p:cBhvr additive="base">
                                        <p:cTn id="7" dur="500" fill="hold"/>
                                        <p:tgtEl>
                                          <p:spTgt spid="512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5937885" y="254000"/>
            <a:ext cx="5450205" cy="431800"/>
          </a:xfrm>
          <a:prstGeom prst="rect">
            <a:avLst/>
          </a:prstGeom>
          <a:noFill/>
          <a:ln w="9525">
            <a:noFill/>
          </a:ln>
        </p:spPr>
        <p:txBody>
          <a:bodyPr wrap="square">
            <a:noAutofit/>
            <a:scene3d>
              <a:camera prst="orthographicFront"/>
              <a:lightRig rig="soft" dir="t">
                <a:rot lat="0" lon="0" rev="15600000"/>
              </a:lightRig>
            </a:scene3d>
            <a:sp3d extrusionH="57150" prstMaterial="softEdge">
              <a:bevelT w="25400" h="38100"/>
            </a:sp3d>
          </a:bodyPr>
          <a:lstStyle/>
          <a:p>
            <a:pPr lvl="0"/>
            <a:r>
              <a:rPr lang="zh-CN" altLang="en-US" sz="2800" b="1" dirty="0">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latin typeface="微软雅黑" panose="020B0503020204020204" pitchFamily="2" charset="-122"/>
                <a:ea typeface="微软雅黑" panose="020B0503020204020204" pitchFamily="2" charset="-122"/>
                <a:sym typeface="微软雅黑" panose="020B0503020204020204" pitchFamily="2" charset="-122"/>
              </a:rPr>
              <a:t>8</a:t>
            </a:r>
            <a:r>
              <a:rPr lang="zh-CN" altLang="en-US" sz="2800" b="1" dirty="0">
                <a:latin typeface="微软雅黑" panose="020B0503020204020204" pitchFamily="2" charset="-122"/>
                <a:ea typeface="微软雅黑" panose="020B0503020204020204" pitchFamily="2" charset="-122"/>
                <a:sym typeface="微软雅黑" panose="020B0503020204020204" pitchFamily="2" charset="-122"/>
              </a:rPr>
              <a:t>章</a:t>
            </a:r>
            <a:r>
              <a:rPr lang="en-US" altLang="zh-CN" sz="2800" b="1" dirty="0">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dirty="0">
                <a:latin typeface="微软雅黑" panose="020B0503020204020204" pitchFamily="2" charset="-122"/>
                <a:ea typeface="微软雅黑" panose="020B0503020204020204" pitchFamily="2" charset="-122"/>
                <a:sym typeface="微软雅黑" panose="020B0503020204020204" pitchFamily="2" charset="-122"/>
              </a:rPr>
              <a:t>对应分析及</a:t>
            </a:r>
            <a:r>
              <a:rPr lang="en-US" altLang="zh-CN" sz="2800" b="1" dirty="0">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800" b="1" dirty="0">
                <a:latin typeface="微软雅黑" panose="020B0503020204020204" pitchFamily="2" charset="-122"/>
                <a:ea typeface="微软雅黑" panose="020B0503020204020204" pitchFamily="2" charset="-122"/>
                <a:sym typeface="微软雅黑" panose="020B0503020204020204" pitchFamily="2" charset="-122"/>
              </a:rPr>
              <a:t>视图</a:t>
            </a:r>
            <a:r>
              <a:rPr lang="en-US" altLang="zh-CN" sz="2800" b="1" dirty="0">
                <a:latin typeface="微软雅黑" panose="020B0503020204020204" pitchFamily="2" charset="-122"/>
                <a:ea typeface="微软雅黑" panose="020B0503020204020204" pitchFamily="2" charset="-122"/>
                <a:sym typeface="微软雅黑" panose="020B0503020204020204" pitchFamily="2" charset="-122"/>
              </a:rPr>
              <a:t>	</a:t>
            </a:r>
            <a:endPar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右箭头 10"/>
          <p:cNvSpPr/>
          <p:nvPr/>
        </p:nvSpPr>
        <p:spPr>
          <a:xfrm>
            <a:off x="5375275"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pic>
        <p:nvPicPr>
          <p:cNvPr id="4" name="图片 3"/>
          <p:cNvPicPr>
            <a:picLocks noChangeAspect="1"/>
          </p:cNvPicPr>
          <p:nvPr>
            <p:custDataLst>
              <p:tags r:id="rId1"/>
            </p:custDataLst>
          </p:nvPr>
        </p:nvPicPr>
        <p:blipFill>
          <a:blip r:embed="rId4"/>
          <a:stretch>
            <a:fillRect/>
          </a:stretch>
        </p:blipFill>
        <p:spPr>
          <a:xfrm>
            <a:off x="1775460" y="1052830"/>
            <a:ext cx="8277225" cy="5800090"/>
          </a:xfrm>
          <a:prstGeom prst="rect">
            <a:avLst/>
          </a:prstGeom>
        </p:spPr>
      </p:pic>
    </p:spTree>
  </p:cSld>
  <p:clrMapOvr>
    <a:masterClrMapping/>
  </p:clrMapOvr>
  <p:transition>
    <p:wipe dir="d"/>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5937885" y="254000"/>
            <a:ext cx="5450205" cy="431800"/>
          </a:xfrm>
          <a:prstGeom prst="rect">
            <a:avLst/>
          </a:prstGeom>
          <a:noFill/>
          <a:ln w="9525">
            <a:noFill/>
          </a:ln>
        </p:spPr>
        <p:txBody>
          <a:bodyPr wrap="square">
            <a:noAutofit/>
            <a:scene3d>
              <a:camera prst="orthographicFront"/>
              <a:lightRig rig="soft" dir="t">
                <a:rot lat="0" lon="0" rev="15600000"/>
              </a:lightRig>
            </a:scene3d>
            <a:sp3d extrusionH="57150" prstMaterial="softEdge">
              <a:bevelT w="25400" h="38100"/>
            </a:sp3d>
          </a:bodyPr>
          <a:lstStyle/>
          <a:p>
            <a:pPr lvl="0"/>
            <a:r>
              <a:rPr lang="zh-CN" altLang="en-US" sz="2800" b="1" dirty="0">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latin typeface="微软雅黑" panose="020B0503020204020204" pitchFamily="2" charset="-122"/>
                <a:ea typeface="微软雅黑" panose="020B0503020204020204" pitchFamily="2" charset="-122"/>
                <a:sym typeface="微软雅黑" panose="020B0503020204020204" pitchFamily="2" charset="-122"/>
              </a:rPr>
              <a:t>8</a:t>
            </a:r>
            <a:r>
              <a:rPr lang="zh-CN" altLang="en-US" sz="2800" b="1" dirty="0">
                <a:latin typeface="微软雅黑" panose="020B0503020204020204" pitchFamily="2" charset="-122"/>
                <a:ea typeface="微软雅黑" panose="020B0503020204020204" pitchFamily="2" charset="-122"/>
                <a:sym typeface="微软雅黑" panose="020B0503020204020204" pitchFamily="2" charset="-122"/>
              </a:rPr>
              <a:t>章</a:t>
            </a:r>
            <a:r>
              <a:rPr lang="en-US" altLang="zh-CN" sz="2800" b="1" dirty="0">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dirty="0">
                <a:latin typeface="微软雅黑" panose="020B0503020204020204" pitchFamily="2" charset="-122"/>
                <a:ea typeface="微软雅黑" panose="020B0503020204020204" pitchFamily="2" charset="-122"/>
                <a:sym typeface="微软雅黑" panose="020B0503020204020204" pitchFamily="2" charset="-122"/>
              </a:rPr>
              <a:t>对应分析及</a:t>
            </a:r>
            <a:r>
              <a:rPr lang="en-US" altLang="zh-CN" sz="2800" b="1" dirty="0">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800" b="1" dirty="0">
                <a:latin typeface="微软雅黑" panose="020B0503020204020204" pitchFamily="2" charset="-122"/>
                <a:ea typeface="微软雅黑" panose="020B0503020204020204" pitchFamily="2" charset="-122"/>
                <a:sym typeface="微软雅黑" panose="020B0503020204020204" pitchFamily="2" charset="-122"/>
              </a:rPr>
              <a:t>视图</a:t>
            </a:r>
            <a:r>
              <a:rPr lang="en-US" altLang="zh-CN" sz="2800" b="1" dirty="0">
                <a:latin typeface="微软雅黑" panose="020B0503020204020204" pitchFamily="2" charset="-122"/>
                <a:ea typeface="微软雅黑" panose="020B0503020204020204" pitchFamily="2" charset="-122"/>
                <a:sym typeface="微软雅黑" panose="020B0503020204020204" pitchFamily="2" charset="-122"/>
              </a:rPr>
              <a:t>	</a:t>
            </a:r>
            <a:endPar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右箭头 10"/>
          <p:cNvSpPr/>
          <p:nvPr/>
        </p:nvSpPr>
        <p:spPr>
          <a:xfrm>
            <a:off x="5375275"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7" name="文本框 16"/>
          <p:cNvSpPr txBox="1"/>
          <p:nvPr/>
        </p:nvSpPr>
        <p:spPr>
          <a:xfrm>
            <a:off x="990600" y="1392555"/>
            <a:ext cx="10556240" cy="2351405"/>
          </a:xfrm>
          <a:prstGeom prst="rect">
            <a:avLst/>
          </a:prstGeom>
          <a:noFill/>
        </p:spPr>
        <p:txBody>
          <a:bodyPr wrap="square" rtlCol="0" anchor="t" anchorCtr="0">
            <a:noAutofit/>
          </a:bodyPr>
          <a:lstStyle/>
          <a:p>
            <a:pPr algn="just" defTabSz="1641475" eaLnBrk="0" latinLnBrk="1" hangingPunct="0">
              <a:lnSpc>
                <a:spcPct val="150000"/>
              </a:lnSpc>
              <a:tabLst>
                <a:tab pos="7789545" algn="l"/>
              </a:tabLst>
            </a:pPr>
            <a:r>
              <a:rPr lang="zh-CN" altLang="en-US" sz="2400" b="1">
                <a:latin typeface="微软雅黑" panose="020B0503020204020204" pitchFamily="2" charset="-122"/>
                <a:ea typeface="微软雅黑" panose="020B0503020204020204" pitchFamily="2" charset="-122"/>
                <a:cs typeface="微软雅黑" panose="020B0503020204020204" pitchFamily="2" charset="-122"/>
              </a:rPr>
              <a:t>【</a:t>
            </a:r>
            <a:r>
              <a:rPr lang="zh-CN" altLang="en-US" sz="2400">
                <a:latin typeface="微软雅黑" panose="020B0503020204020204" pitchFamily="2" charset="-122"/>
                <a:ea typeface="微软雅黑" panose="020B0503020204020204" pitchFamily="2" charset="-122"/>
                <a:cs typeface="微软雅黑" panose="020B0503020204020204" pitchFamily="2" charset="-122"/>
              </a:rPr>
              <a:t>学习目标 </a:t>
            </a:r>
            <a:r>
              <a:rPr lang="zh-CN" altLang="en-US" sz="2400" b="1">
                <a:latin typeface="微软雅黑" panose="020B0503020204020204" pitchFamily="2" charset="-122"/>
                <a:ea typeface="微软雅黑" panose="020B0503020204020204" pitchFamily="2" charset="-122"/>
                <a:cs typeface="微软雅黑" panose="020B0503020204020204" pitchFamily="2" charset="-122"/>
              </a:rPr>
              <a:t>】</a:t>
            </a:r>
            <a:r>
              <a:rPr lang="zh-CN" altLang="en-US" sz="2400">
                <a:latin typeface="微软雅黑" panose="020B0503020204020204" pitchFamily="2" charset="-122"/>
                <a:ea typeface="微软雅黑" panose="020B0503020204020204" pitchFamily="2" charset="-122"/>
                <a:cs typeface="微软雅黑" panose="020B0503020204020204" pitchFamily="2" charset="-122"/>
              </a:rPr>
              <a:t>要求了解对应分析的目的和基本统计思想，以及对应分析的实</a:t>
            </a:r>
            <a:r>
              <a:rPr lang="en-US" altLang="zh-CN" sz="2400">
                <a:latin typeface="微软雅黑" panose="020B0503020204020204" pitchFamily="2" charset="-122"/>
                <a:ea typeface="微软雅黑" panose="020B0503020204020204" pitchFamily="2" charset="-122"/>
                <a:cs typeface="微软雅黑" panose="020B0503020204020204" pitchFamily="2" charset="-122"/>
              </a:rPr>
              <a:t>  </a:t>
            </a:r>
          </a:p>
          <a:p>
            <a:pPr algn="just" defTabSz="1641475" eaLnBrk="0" latinLnBrk="1" hangingPunct="0">
              <a:lnSpc>
                <a:spcPct val="150000"/>
              </a:lnSpc>
              <a:tabLst>
                <a:tab pos="7789545" algn="l"/>
              </a:tabLst>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r>
              <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rPr>
              <a:t>际意义。了解对应分析的统计原理。特别是定性变量定量量化</a:t>
            </a: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p>
          <a:p>
            <a:pPr algn="just" eaLnBrk="0" latinLnBrk="1" hangingPunct="0">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r>
              <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rPr>
              <a:t>，解决社会科学中实际问题的基本思路。了解Python程程序中</a:t>
            </a: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p>
          <a:p>
            <a:pPr algn="just" eaLnBrk="0" latinLnBrk="1" hangingPunct="0">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r>
              <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rPr>
              <a:t>对应分析的基本步骤。</a:t>
            </a:r>
            <a:endParaRPr lang="zh-CN" altLang="en-US" sz="2400">
              <a:latin typeface="微软雅黑" panose="020B0503020204020204" pitchFamily="2" charset="-122"/>
              <a:ea typeface="微软雅黑" panose="020B0503020204020204" pitchFamily="2" charset="-122"/>
              <a:cs typeface="微软雅黑" panose="020B0503020204020204" pitchFamily="2" charset="-122"/>
            </a:endParaRPr>
          </a:p>
          <a:p>
            <a:pPr algn="just">
              <a:lnSpc>
                <a:spcPct val="150000"/>
              </a:lnSpc>
            </a:pPr>
            <a:endParaRPr lang="en-US" altLang="zh-CN" sz="2400">
              <a:latin typeface="微软雅黑" panose="020B0503020204020204" pitchFamily="2" charset="-122"/>
              <a:ea typeface="微软雅黑" panose="020B0503020204020204" pitchFamily="2" charset="-122"/>
              <a:cs typeface="微软雅黑" panose="020B0503020204020204" pitchFamily="2" charset="-122"/>
            </a:endParaRPr>
          </a:p>
        </p:txBody>
      </p:sp>
      <p:sp>
        <p:nvSpPr>
          <p:cNvPr id="19" name="文本框 18"/>
          <p:cNvSpPr txBox="1"/>
          <p:nvPr/>
        </p:nvSpPr>
        <p:spPr>
          <a:xfrm>
            <a:off x="990600" y="3789045"/>
            <a:ext cx="10541000" cy="2351405"/>
          </a:xfrm>
          <a:prstGeom prst="rect">
            <a:avLst/>
          </a:prstGeom>
          <a:noFill/>
        </p:spPr>
        <p:txBody>
          <a:bodyPr wrap="square" rtlCol="0" anchor="t">
            <a:noAutofit/>
          </a:bodyPr>
          <a:lstStyle/>
          <a:p>
            <a:pPr algn="just" eaLnBrk="0">
              <a:lnSpc>
                <a:spcPct val="150000"/>
              </a:lnSpc>
            </a:pPr>
            <a:r>
              <a:rPr lang="zh-CN" altLang="en-US" sz="2400" b="1">
                <a:latin typeface="微软雅黑" panose="020B0503020204020204" pitchFamily="2" charset="-122"/>
                <a:ea typeface="微软雅黑" panose="020B0503020204020204" pitchFamily="2" charset="-122"/>
                <a:cs typeface="微软雅黑" panose="020B0503020204020204" pitchFamily="2" charset="-122"/>
              </a:rPr>
              <a:t>【</a:t>
            </a:r>
            <a:r>
              <a:rPr lang="zh-CN" altLang="en-US" sz="2400">
                <a:latin typeface="微软雅黑" panose="020B0503020204020204" pitchFamily="2" charset="-122"/>
                <a:ea typeface="微软雅黑" panose="020B0503020204020204" pitchFamily="2" charset="-122"/>
                <a:cs typeface="微软雅黑" panose="020B0503020204020204" pitchFamily="2" charset="-122"/>
              </a:rPr>
              <a:t>教学内容 </a:t>
            </a:r>
            <a:r>
              <a:rPr lang="zh-CN" altLang="en-US" sz="2400" b="1">
                <a:latin typeface="微软雅黑" panose="020B0503020204020204" pitchFamily="2" charset="-122"/>
                <a:ea typeface="微软雅黑" panose="020B0503020204020204" pitchFamily="2" charset="-122"/>
                <a:cs typeface="微软雅黑" panose="020B0503020204020204" pitchFamily="2" charset="-122"/>
              </a:rPr>
              <a:t>】</a:t>
            </a:r>
            <a:r>
              <a:rPr lang="zh-CN" altLang="en-US" sz="2400">
                <a:latin typeface="微软雅黑" panose="020B0503020204020204" pitchFamily="2" charset="-122"/>
                <a:ea typeface="微软雅黑" panose="020B0503020204020204" pitchFamily="2" charset="-122"/>
                <a:cs typeface="微软雅黑" panose="020B0503020204020204" pitchFamily="2" charset="-122"/>
              </a:rPr>
              <a:t>对应分析的目的和基本思想。对应分析方法的基本原理。掌</a:t>
            </a:r>
            <a:r>
              <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rPr>
              <a:t>握</a:t>
            </a:r>
            <a:r>
              <a:rPr lang="en-US" altLang="zh-CN" sz="2400">
                <a:latin typeface="微软雅黑" panose="020B0503020204020204" pitchFamily="2" charset="-122"/>
                <a:ea typeface="微软雅黑" panose="020B0503020204020204" pitchFamily="2" charset="-122"/>
                <a:cs typeface="微软雅黑" panose="020B0503020204020204" pitchFamily="2" charset="-122"/>
              </a:rPr>
              <a:t>           </a:t>
            </a:r>
          </a:p>
          <a:p>
            <a:pPr algn="just" eaLnBrk="0">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rPr>
              <a:t>                     </a:t>
            </a:r>
            <a:r>
              <a:rPr lang="zh-CN" altLang="en-US" sz="2400">
                <a:latin typeface="微软雅黑" panose="020B0503020204020204" pitchFamily="2" charset="-122"/>
                <a:ea typeface="微软雅黑" panose="020B0503020204020204" pitchFamily="2" charset="-122"/>
                <a:cs typeface="微软雅黑" panose="020B0503020204020204" pitchFamily="2" charset="-122"/>
              </a:rPr>
              <a:t>对应分析的基本分析步骤，掌握R型和Q型因子分析在对</a:t>
            </a:r>
            <a:r>
              <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rPr>
              <a:t>应分析</a:t>
            </a:r>
            <a:r>
              <a:rPr lang="en-US" altLang="zh-CN" sz="2400">
                <a:latin typeface="微软雅黑" panose="020B0503020204020204" pitchFamily="2" charset="-122"/>
                <a:ea typeface="微软雅黑" panose="020B0503020204020204" pitchFamily="2" charset="-122"/>
                <a:cs typeface="微软雅黑" panose="020B0503020204020204" pitchFamily="2" charset="-122"/>
              </a:rPr>
              <a:t>                           </a:t>
            </a:r>
          </a:p>
          <a:p>
            <a:pPr algn="just" eaLnBrk="0">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rPr>
              <a:t>                     </a:t>
            </a:r>
            <a:r>
              <a:rPr lang="zh-CN" altLang="en-US" sz="2400">
                <a:latin typeface="微软雅黑" panose="020B0503020204020204" pitchFamily="2" charset="-122"/>
                <a:ea typeface="微软雅黑" panose="020B0503020204020204" pitchFamily="2" charset="-122"/>
                <a:cs typeface="微软雅黑" panose="020B0503020204020204" pitchFamily="2" charset="-122"/>
              </a:rPr>
              <a:t>中的应用。简单介绍相关的Python计算程序。</a:t>
            </a:r>
          </a:p>
          <a:p>
            <a:pPr algn="just">
              <a:lnSpc>
                <a:spcPct val="150000"/>
              </a:lnSpc>
            </a:pPr>
            <a:endParaRPr lang="en-US" altLang="zh-CN" sz="2400">
              <a:latin typeface="微软雅黑" panose="020B0503020204020204" pitchFamily="2" charset="-122"/>
              <a:ea typeface="微软雅黑" panose="020B0503020204020204" pitchFamily="2" charset="-122"/>
              <a:cs typeface="微软雅黑" panose="020B0503020204020204" pitchFamily="2"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9"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7" name="TextBox 28"/>
          <p:cNvSpPr/>
          <p:nvPr/>
        </p:nvSpPr>
        <p:spPr>
          <a:xfrm>
            <a:off x="153035" y="179070"/>
            <a:ext cx="6151245"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9" name="TextBox 27"/>
          <p:cNvSpPr/>
          <p:nvPr/>
        </p:nvSpPr>
        <p:spPr>
          <a:xfrm>
            <a:off x="6456680" y="240665"/>
            <a:ext cx="46469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8.1</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对应分析的提出</a:t>
            </a:r>
          </a:p>
        </p:txBody>
      </p:sp>
      <p:sp>
        <p:nvSpPr>
          <p:cNvPr id="11" name="右箭头 10"/>
          <p:cNvSpPr/>
          <p:nvPr/>
        </p:nvSpPr>
        <p:spPr>
          <a:xfrm>
            <a:off x="5821680" y="37084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 name="文本框 3"/>
          <p:cNvSpPr txBox="1"/>
          <p:nvPr>
            <p:custDataLst>
              <p:tags r:id="rId1"/>
            </p:custDataLst>
          </p:nvPr>
        </p:nvSpPr>
        <p:spPr>
          <a:xfrm>
            <a:off x="624205" y="1412875"/>
            <a:ext cx="11191875" cy="1753235"/>
          </a:xfrm>
          <a:prstGeom prst="rect">
            <a:avLst/>
          </a:prstGeom>
          <a:noFill/>
        </p:spPr>
        <p:txBody>
          <a:bodyPr wrap="square" rtlCol="0" anchor="t">
            <a:spAutoFit/>
          </a:bodyPr>
          <a:lstStyle/>
          <a:p>
            <a:pPr algn="just">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r>
              <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rPr>
              <a:t>在错综复杂的经济和管理关系中，不仅需要了解变量之间的关系，样品之间的关系，还需要了解变量与样品之间的对应关系。1970年Beozecri提出了对应分析，是多变量统计分析中一种有用的分析方法。</a:t>
            </a:r>
          </a:p>
        </p:txBody>
      </p:sp>
      <p:sp>
        <p:nvSpPr>
          <p:cNvPr id="5" name="文本框 4"/>
          <p:cNvSpPr txBox="1"/>
          <p:nvPr/>
        </p:nvSpPr>
        <p:spPr>
          <a:xfrm>
            <a:off x="624205" y="3284855"/>
            <a:ext cx="11275060" cy="2306955"/>
          </a:xfrm>
          <a:prstGeom prst="rect">
            <a:avLst/>
          </a:prstGeom>
          <a:noFill/>
        </p:spPr>
        <p:txBody>
          <a:bodyPr wrap="square" rtlCol="0" anchor="t">
            <a:spAutoFit/>
          </a:bodyPr>
          <a:lstStyle/>
          <a:p>
            <a:pPr algn="just">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r>
              <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rPr>
              <a:t>对应分析（Correspondence</a:t>
            </a: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r>
              <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rPr>
              <a:t>Analysis）是在因子分析的基础上发展起来的。是近年新发展起来的一种多元相依变量统计分析技术，通过分析由定性变量构成的交互汇总表来揭示变量间的联系。可以揭示同一变量的各个类别之间的差异，以及不同变量各个类别之间的对应关系。</a:t>
            </a:r>
            <a:endPar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8.1</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对应分析的提出</a:t>
            </a:r>
          </a:p>
        </p:txBody>
      </p:sp>
      <p:sp>
        <p:nvSpPr>
          <p:cNvPr id="11" name="右箭头 10"/>
          <p:cNvSpPr/>
          <p:nvPr/>
        </p:nvSpPr>
        <p:spPr>
          <a:xfrm>
            <a:off x="559054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sp>
        <p:nvSpPr>
          <p:cNvPr id="7" name="文本框 6"/>
          <p:cNvSpPr txBox="1"/>
          <p:nvPr/>
        </p:nvSpPr>
        <p:spPr>
          <a:xfrm>
            <a:off x="407670" y="1844675"/>
            <a:ext cx="11344910" cy="286131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r>
              <a:rPr sz="2400">
                <a:latin typeface="微软雅黑" panose="020B0503020204020204" pitchFamily="2" charset="-122"/>
                <a:ea typeface="微软雅黑" panose="020B0503020204020204" pitchFamily="2" charset="-122"/>
                <a:cs typeface="微软雅黑" panose="020B0503020204020204" pitchFamily="2" charset="-122"/>
                <a:sym typeface="+mn-ea"/>
              </a:rPr>
              <a:t>如对某一行业所属的企业进行经济效益评价时，不仅要研究经济效益指标间的关系，还要将企业按经济效益的好坏进行分类，研究哪些企业与哪些经济效益指标的关系更密切一些，为决策部门正确指导企业的生产经营活动提供更多的信息。这就需要有一种统计方法，将企业（样品）和指标（变量）放在一起进行分析、分类 </a:t>
            </a:r>
          </a:p>
          <a:p>
            <a:pPr>
              <a:lnSpc>
                <a:spcPct val="150000"/>
              </a:lnSpc>
            </a:pPr>
            <a:r>
              <a:rPr sz="2400">
                <a:latin typeface="微软雅黑" panose="020B0503020204020204" pitchFamily="2" charset="-122"/>
                <a:ea typeface="微软雅黑" panose="020B0503020204020204" pitchFamily="2" charset="-122"/>
                <a:cs typeface="微软雅黑" panose="020B0503020204020204" pitchFamily="2" charset="-122"/>
                <a:sym typeface="+mn-ea"/>
              </a:rPr>
              <a:t>、作图，便于做经济意义上的解释 。解决这类问题的统计方法就是对应分析。</a:t>
            </a:r>
          </a:p>
        </p:txBody>
      </p:sp>
      <p:sp>
        <p:nvSpPr>
          <p:cNvPr id="5" name="矩形 4"/>
          <p:cNvSpPr/>
          <p:nvPr>
            <p:custDataLst>
              <p:tags r:id="rId1"/>
            </p:custDataLst>
          </p:nvPr>
        </p:nvSpPr>
        <p:spPr>
          <a:xfrm>
            <a:off x="587402" y="1261170"/>
            <a:ext cx="4874895" cy="583565"/>
          </a:xfrm>
          <a:prstGeom prst="rect">
            <a:avLst/>
          </a:prstGeom>
        </p:spPr>
        <p:txBody>
          <a:bodyPr wrap="none">
            <a:spAutoFit/>
          </a:bodyPr>
          <a:lstStyle/>
          <a:p>
            <a:pPr algn="l"/>
            <a:r>
              <a:rPr lang="en-US" altLang="zh-CN" sz="3200" b="1" dirty="0">
                <a:solidFill>
                  <a:srgbClr val="3399FF"/>
                </a:solidFill>
              </a:rPr>
              <a:t>8.1.1</a:t>
            </a:r>
            <a:r>
              <a:rPr lang="zh-CN" altLang="en-US" sz="3200" b="1" dirty="0">
                <a:solidFill>
                  <a:srgbClr val="3399FF"/>
                </a:solidFill>
              </a:rPr>
              <a:t> 样品与变量间的关系</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8.1</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对应分析的提出</a:t>
            </a:r>
          </a:p>
        </p:txBody>
      </p:sp>
      <p:sp>
        <p:nvSpPr>
          <p:cNvPr id="11" name="右箭头 10"/>
          <p:cNvSpPr/>
          <p:nvPr/>
        </p:nvSpPr>
        <p:spPr>
          <a:xfrm>
            <a:off x="559054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sp>
        <p:nvSpPr>
          <p:cNvPr id="7" name="文本框 6"/>
          <p:cNvSpPr txBox="1"/>
          <p:nvPr/>
        </p:nvSpPr>
        <p:spPr>
          <a:xfrm>
            <a:off x="264160" y="1484630"/>
            <a:ext cx="11344910" cy="4508500"/>
          </a:xfrm>
          <a:prstGeom prst="rect">
            <a:avLst/>
          </a:prstGeom>
          <a:noFill/>
        </p:spPr>
        <p:txBody>
          <a:bodyPr wrap="square" rtlCol="0" anchor="t">
            <a:no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r>
              <a:rPr sz="2400">
                <a:latin typeface="微软雅黑" panose="020B0503020204020204" pitchFamily="2" charset="-122"/>
                <a:ea typeface="微软雅黑" panose="020B0503020204020204" pitchFamily="2" charset="-122"/>
                <a:cs typeface="微软雅黑" panose="020B0503020204020204" pitchFamily="2" charset="-122"/>
                <a:sym typeface="+mn-ea"/>
              </a:rPr>
              <a:t>因子分析分为 R 型因子分析和 Q 型因子分析。</a:t>
            </a:r>
          </a:p>
          <a:p>
            <a:pPr>
              <a:lnSpc>
                <a:spcPct val="150000"/>
              </a:lnSpc>
            </a:pPr>
            <a:r>
              <a:rPr lang="en-US" sz="2400">
                <a:latin typeface="微软雅黑" panose="020B0503020204020204" pitchFamily="2" charset="-122"/>
                <a:ea typeface="微软雅黑" panose="020B0503020204020204" pitchFamily="2" charset="-122"/>
                <a:cs typeface="微软雅黑" panose="020B0503020204020204" pitchFamily="2" charset="-122"/>
                <a:sym typeface="+mn-ea"/>
              </a:rPr>
              <a:t>   </a:t>
            </a:r>
            <a:r>
              <a:rPr sz="2400">
                <a:latin typeface="微软雅黑" panose="020B0503020204020204" pitchFamily="2" charset="-122"/>
                <a:ea typeface="微软雅黑" panose="020B0503020204020204" pitchFamily="2" charset="-122"/>
                <a:cs typeface="微软雅黑" panose="020B0503020204020204" pitchFamily="2" charset="-122"/>
                <a:sym typeface="+mn-ea"/>
              </a:rPr>
              <a:t> （1）Q 型因子分析</a:t>
            </a:r>
          </a:p>
          <a:p>
            <a:pPr>
              <a:lnSpc>
                <a:spcPct val="150000"/>
              </a:lnSpc>
            </a:pPr>
            <a:r>
              <a:rPr lang="en-US" sz="2400">
                <a:latin typeface="微软雅黑" panose="020B0503020204020204" pitchFamily="2" charset="-122"/>
                <a:ea typeface="微软雅黑" panose="020B0503020204020204" pitchFamily="2" charset="-122"/>
                <a:cs typeface="微软雅黑" panose="020B0503020204020204" pitchFamily="2" charset="-122"/>
                <a:sym typeface="+mn-ea"/>
              </a:rPr>
              <a:t>               </a:t>
            </a:r>
            <a:r>
              <a:rPr sz="2400">
                <a:latin typeface="微软雅黑" panose="020B0503020204020204" pitchFamily="2" charset="-122"/>
                <a:ea typeface="微软雅黑" panose="020B0503020204020204" pitchFamily="2" charset="-122"/>
                <a:cs typeface="微软雅黑" panose="020B0503020204020204" pitchFamily="2" charset="-122"/>
                <a:sym typeface="+mn-ea"/>
              </a:rPr>
              <a:t>Q 型因子分析是对样品作因子分析，研究样品之间的相互关系；</a:t>
            </a:r>
          </a:p>
          <a:p>
            <a:pPr>
              <a:lnSpc>
                <a:spcPct val="150000"/>
              </a:lnSpc>
            </a:pPr>
            <a:r>
              <a:rPr lang="en-US" sz="2400">
                <a:latin typeface="微软雅黑" panose="020B0503020204020204" pitchFamily="2" charset="-122"/>
                <a:ea typeface="微软雅黑" panose="020B0503020204020204" pitchFamily="2" charset="-122"/>
                <a:cs typeface="微软雅黑" panose="020B0503020204020204" pitchFamily="2" charset="-122"/>
                <a:sym typeface="+mn-ea"/>
              </a:rPr>
              <a:t>    </a:t>
            </a:r>
            <a:r>
              <a:rPr sz="2400">
                <a:latin typeface="微软雅黑" panose="020B0503020204020204" pitchFamily="2" charset="-122"/>
                <a:ea typeface="微软雅黑" panose="020B0503020204020204" pitchFamily="2" charset="-122"/>
                <a:cs typeface="微软雅黑" panose="020B0503020204020204" pitchFamily="2" charset="-122"/>
                <a:sym typeface="+mn-ea"/>
              </a:rPr>
              <a:t>（2）R 型因子分析</a:t>
            </a:r>
          </a:p>
          <a:p>
            <a:pPr>
              <a:lnSpc>
                <a:spcPct val="150000"/>
              </a:lnSpc>
            </a:pPr>
            <a:r>
              <a:rPr lang="en-US" sz="2400">
                <a:latin typeface="微软雅黑" panose="020B0503020204020204" pitchFamily="2" charset="-122"/>
                <a:ea typeface="微软雅黑" panose="020B0503020204020204" pitchFamily="2" charset="-122"/>
                <a:cs typeface="微软雅黑" panose="020B0503020204020204" pitchFamily="2" charset="-122"/>
                <a:sym typeface="+mn-ea"/>
              </a:rPr>
              <a:t>               </a:t>
            </a:r>
            <a:r>
              <a:rPr sz="2400">
                <a:latin typeface="微软雅黑" panose="020B0503020204020204" pitchFamily="2" charset="-122"/>
                <a:ea typeface="微软雅黑" panose="020B0503020204020204" pitchFamily="2" charset="-122"/>
                <a:cs typeface="微软雅黑" panose="020B0503020204020204" pitchFamily="2" charset="-122"/>
                <a:sym typeface="+mn-ea"/>
              </a:rPr>
              <a:t>R 型因子分析是对变量作因子分析，研究的是变量之间的相互关系；</a:t>
            </a:r>
          </a:p>
          <a:p>
            <a:pPr>
              <a:lnSpc>
                <a:spcPct val="150000"/>
              </a:lnSpc>
            </a:pPr>
            <a:r>
              <a:rPr lang="en-US" sz="2400">
                <a:latin typeface="微软雅黑" panose="020B0503020204020204" pitchFamily="2" charset="-122"/>
                <a:ea typeface="微软雅黑" panose="020B0503020204020204" pitchFamily="2" charset="-122"/>
                <a:cs typeface="微软雅黑" panose="020B0503020204020204" pitchFamily="2" charset="-122"/>
                <a:sym typeface="+mn-ea"/>
              </a:rPr>
              <a:t>    </a:t>
            </a:r>
            <a:r>
              <a:rPr sz="2400">
                <a:latin typeface="微软雅黑" panose="020B0503020204020204" pitchFamily="2" charset="-122"/>
                <a:ea typeface="微软雅黑" panose="020B0503020204020204" pitchFamily="2" charset="-122"/>
                <a:cs typeface="微软雅黑" panose="020B0503020204020204" pitchFamily="2" charset="-122"/>
                <a:sym typeface="+mn-ea"/>
              </a:rPr>
              <a:t>（3）</a:t>
            </a:r>
            <a:r>
              <a:rPr lang="zh-CN" sz="2400">
                <a:latin typeface="微软雅黑" panose="020B0503020204020204" pitchFamily="2" charset="-122"/>
                <a:ea typeface="微软雅黑" panose="020B0503020204020204" pitchFamily="2" charset="-122"/>
                <a:cs typeface="微软雅黑" panose="020B0503020204020204" pitchFamily="2" charset="-122"/>
                <a:sym typeface="+mn-ea"/>
              </a:rPr>
              <a:t>对</a:t>
            </a:r>
            <a:r>
              <a:rPr sz="2400">
                <a:latin typeface="微软雅黑" panose="020B0503020204020204" pitchFamily="2" charset="-122"/>
                <a:ea typeface="微软雅黑" panose="020B0503020204020204" pitchFamily="2" charset="-122"/>
                <a:cs typeface="微软雅黑" panose="020B0503020204020204" pitchFamily="2" charset="-122"/>
                <a:sym typeface="+mn-ea"/>
              </a:rPr>
              <a:t>应型因子分析   </a:t>
            </a:r>
          </a:p>
          <a:p>
            <a:pPr>
              <a:lnSpc>
                <a:spcPct val="150000"/>
              </a:lnSpc>
            </a:pPr>
            <a:r>
              <a:rPr lang="en-US" sz="2400">
                <a:latin typeface="微软雅黑" panose="020B0503020204020204" pitchFamily="2" charset="-122"/>
                <a:ea typeface="微软雅黑" panose="020B0503020204020204" pitchFamily="2" charset="-122"/>
                <a:cs typeface="微软雅黑" panose="020B0503020204020204" pitchFamily="2" charset="-122"/>
                <a:sym typeface="+mn-ea"/>
              </a:rPr>
              <a:t>     </a:t>
            </a:r>
            <a:r>
              <a:rPr sz="2400">
                <a:latin typeface="微软雅黑" panose="020B0503020204020204" pitchFamily="2" charset="-122"/>
                <a:ea typeface="微软雅黑" panose="020B0503020204020204" pitchFamily="2" charset="-122"/>
                <a:cs typeface="微软雅黑" panose="020B0503020204020204" pitchFamily="2" charset="-122"/>
                <a:sym typeface="+mn-ea"/>
              </a:rPr>
              <a:t>对应分析把 R 型因子分析和 Q 型因子分析统一了起来，通过 R 型因子分析直接得到Q型因子分析的结果， 同时把变量（ 指标 ） 和样品反映到相同的坐标轴（ 因子轴 ） 的一张图形上，用此来说明变量（指标）与样品之间的对应关系。</a:t>
            </a:r>
          </a:p>
        </p:txBody>
      </p:sp>
      <p:sp>
        <p:nvSpPr>
          <p:cNvPr id="5" name="矩形 4"/>
          <p:cNvSpPr/>
          <p:nvPr>
            <p:custDataLst>
              <p:tags r:id="rId1"/>
            </p:custDataLst>
          </p:nvPr>
        </p:nvSpPr>
        <p:spPr>
          <a:xfrm>
            <a:off x="587402" y="1047175"/>
            <a:ext cx="4058285" cy="583565"/>
          </a:xfrm>
          <a:prstGeom prst="rect">
            <a:avLst/>
          </a:prstGeom>
        </p:spPr>
        <p:txBody>
          <a:bodyPr wrap="none">
            <a:spAutoFit/>
          </a:bodyPr>
          <a:lstStyle/>
          <a:p>
            <a:pPr algn="l"/>
            <a:r>
              <a:rPr lang="en-US" altLang="zh-CN" sz="3200" b="1" dirty="0">
                <a:solidFill>
                  <a:srgbClr val="3399FF"/>
                </a:solidFill>
              </a:rPr>
              <a:t>8.1.2</a:t>
            </a:r>
            <a:r>
              <a:rPr lang="zh-CN" altLang="en-US" sz="3200" b="1" dirty="0">
                <a:solidFill>
                  <a:srgbClr val="3399FF"/>
                </a:solidFill>
              </a:rPr>
              <a:t> 对应分析的类型</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blinds(horizontal)">
                                      <p:cBhvr>
                                        <p:cTn id="7" dur="500"/>
                                        <p:tgtEl>
                                          <p:spTgt spid="7">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
                                            <p:txEl>
                                              <p:pRg st="4" end="4"/>
                                            </p:txEl>
                                          </p:spTgt>
                                        </p:tgtEl>
                                        <p:attrNameLst>
                                          <p:attrName>style.visibility</p:attrName>
                                        </p:attrNameLst>
                                      </p:cBhvr>
                                      <p:to>
                                        <p:strVal val="visible"/>
                                      </p:to>
                                    </p:set>
                                    <p:animEffect transition="in" filter="blinds(horizontal)">
                                      <p:cBhvr>
                                        <p:cTn id="10" dur="500"/>
                                        <p:tgtEl>
                                          <p:spTgt spid="7">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animEffect transition="in" filter="blinds(horizontal)">
                                      <p:cBhvr>
                                        <p:cTn id="13" dur="500"/>
                                        <p:tgtEl>
                                          <p:spTgt spid="7">
                                            <p:txEl>
                                              <p:pRg st="5" end="5"/>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7">
                                            <p:txEl>
                                              <p:pRg st="6" end="6"/>
                                            </p:txEl>
                                          </p:spTgt>
                                        </p:tgtEl>
                                        <p:attrNameLst>
                                          <p:attrName>style.visibility</p:attrName>
                                        </p:attrNameLst>
                                      </p:cBhvr>
                                      <p:to>
                                        <p:strVal val="visible"/>
                                      </p:to>
                                    </p:set>
                                    <p:animEffect transition="in" filter="blinds(horizontal)">
                                      <p:cBhvr>
                                        <p:cTn id="16"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对应分析基本原理</a:t>
            </a:r>
          </a:p>
        </p:txBody>
      </p:sp>
      <p:sp>
        <p:nvSpPr>
          <p:cNvPr id="11" name="右箭头 10"/>
          <p:cNvSpPr/>
          <p:nvPr/>
        </p:nvSpPr>
        <p:spPr>
          <a:xfrm>
            <a:off x="559054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sp>
        <p:nvSpPr>
          <p:cNvPr id="7" name="文本框 6"/>
          <p:cNvSpPr txBox="1"/>
          <p:nvPr/>
        </p:nvSpPr>
        <p:spPr>
          <a:xfrm>
            <a:off x="407670" y="1844675"/>
            <a:ext cx="11138535" cy="3415030"/>
          </a:xfrm>
          <a:prstGeom prst="rect">
            <a:avLst/>
          </a:prstGeom>
          <a:noFill/>
        </p:spPr>
        <p:txBody>
          <a:bodyPr wrap="square" rtlCol="0" anchor="t">
            <a:spAutoFit/>
          </a:bodyPr>
          <a:lstStyle/>
          <a:p>
            <a:pPr algn="just">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r>
              <a:rPr sz="2400">
                <a:latin typeface="微软雅黑" panose="020B0503020204020204" pitchFamily="2" charset="-122"/>
                <a:ea typeface="微软雅黑" panose="020B0503020204020204" pitchFamily="2" charset="-122"/>
                <a:cs typeface="微软雅黑" panose="020B0503020204020204" pitchFamily="2" charset="-122"/>
                <a:sym typeface="+mn-ea"/>
              </a:rPr>
              <a:t>对应分析是分析两组或多组变量之间关系的有效方法，在离散情况下，它是从资料出发通过建立因素间的二维或多维列联表来对数据进行分析，在此我们要问， 这种分析是否有意义，或者说对于所给的数据是否值得做这种相应分析。也就是说通常我们首先需要了解因素间有无联系或是否独立，这一节我们将介绍对应分析与独立性检验的内在关系，以此说明应用对应分析方法解决实际问题时， 避免盲目性，并需先进行因素的独立性检验。一般用</a:t>
            </a:r>
            <a:r>
              <a:rPr lang="en-US" sz="2400">
                <a:latin typeface="微软雅黑" panose="020B0503020204020204" pitchFamily="2" charset="-122"/>
                <a:ea typeface="微软雅黑" panose="020B0503020204020204" pitchFamily="2" charset="-122"/>
                <a:cs typeface="微软雅黑" panose="020B0503020204020204" pitchFamily="2" charset="-122"/>
                <a:sym typeface="+mn-ea"/>
              </a:rPr>
              <a:t>X²</a:t>
            </a:r>
            <a:r>
              <a:rPr sz="2400">
                <a:latin typeface="微软雅黑" panose="020B0503020204020204" pitchFamily="2" charset="-122"/>
                <a:ea typeface="微软雅黑" panose="020B0503020204020204" pitchFamily="2" charset="-122"/>
                <a:cs typeface="微软雅黑" panose="020B0503020204020204" pitchFamily="2" charset="-122"/>
                <a:sym typeface="+mn-ea"/>
              </a:rPr>
              <a:t>检验来分析它们之间的关系。</a:t>
            </a:r>
          </a:p>
        </p:txBody>
      </p:sp>
      <p:sp>
        <p:nvSpPr>
          <p:cNvPr id="5" name="矩形 4"/>
          <p:cNvSpPr/>
          <p:nvPr>
            <p:custDataLst>
              <p:tags r:id="rId1"/>
            </p:custDataLst>
          </p:nvPr>
        </p:nvSpPr>
        <p:spPr>
          <a:xfrm>
            <a:off x="587402" y="1261170"/>
            <a:ext cx="3241675" cy="583565"/>
          </a:xfrm>
          <a:prstGeom prst="rect">
            <a:avLst/>
          </a:prstGeom>
        </p:spPr>
        <p:txBody>
          <a:bodyPr wrap="none">
            <a:spAutoFit/>
          </a:bodyPr>
          <a:lstStyle/>
          <a:p>
            <a:pPr algn="l"/>
            <a:r>
              <a:rPr lang="en-US" altLang="zh-CN" sz="3200" b="1" dirty="0">
                <a:solidFill>
                  <a:srgbClr val="3399FF"/>
                </a:solidFill>
              </a:rPr>
              <a:t>8.2.1</a:t>
            </a:r>
            <a:r>
              <a:rPr lang="zh-CN" altLang="en-US" sz="3200" b="1" dirty="0">
                <a:solidFill>
                  <a:srgbClr val="3399FF"/>
                </a:solidFill>
              </a:rPr>
              <a:t> 列联表分析</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对应分析基本原理</a:t>
            </a:r>
          </a:p>
        </p:txBody>
      </p:sp>
      <p:sp>
        <p:nvSpPr>
          <p:cNvPr id="11" name="右箭头 10"/>
          <p:cNvSpPr/>
          <p:nvPr/>
        </p:nvSpPr>
        <p:spPr>
          <a:xfrm>
            <a:off x="559054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sp>
        <p:nvSpPr>
          <p:cNvPr id="5" name="矩形 4"/>
          <p:cNvSpPr/>
          <p:nvPr>
            <p:custDataLst>
              <p:tags r:id="rId1"/>
            </p:custDataLst>
          </p:nvPr>
        </p:nvSpPr>
        <p:spPr>
          <a:xfrm>
            <a:off x="587402" y="1261170"/>
            <a:ext cx="3241675" cy="583565"/>
          </a:xfrm>
          <a:prstGeom prst="rect">
            <a:avLst/>
          </a:prstGeom>
        </p:spPr>
        <p:txBody>
          <a:bodyPr wrap="none">
            <a:spAutoFit/>
          </a:bodyPr>
          <a:lstStyle/>
          <a:p>
            <a:pPr algn="l"/>
            <a:r>
              <a:rPr lang="en-US" altLang="zh-CN" sz="3200" b="1" dirty="0">
                <a:solidFill>
                  <a:srgbClr val="3399FF"/>
                </a:solidFill>
              </a:rPr>
              <a:t>8.2.1</a:t>
            </a:r>
            <a:r>
              <a:rPr lang="zh-CN" altLang="en-US" sz="3200" b="1" dirty="0">
                <a:solidFill>
                  <a:srgbClr val="3399FF"/>
                </a:solidFill>
              </a:rPr>
              <a:t> 列联表分析</a:t>
            </a:r>
          </a:p>
        </p:txBody>
      </p:sp>
      <p:pic>
        <p:nvPicPr>
          <p:cNvPr id="8" name="图片 7"/>
          <p:cNvPicPr>
            <a:picLocks noChangeAspect="1"/>
          </p:cNvPicPr>
          <p:nvPr/>
        </p:nvPicPr>
        <p:blipFill>
          <a:blip r:embed="rId4"/>
          <a:stretch>
            <a:fillRect/>
          </a:stretch>
        </p:blipFill>
        <p:spPr>
          <a:xfrm>
            <a:off x="24130" y="1917065"/>
            <a:ext cx="11791950" cy="4015740"/>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对应分析基本原理</a:t>
            </a:r>
          </a:p>
        </p:txBody>
      </p:sp>
      <p:sp>
        <p:nvSpPr>
          <p:cNvPr id="11" name="右箭头 10"/>
          <p:cNvSpPr/>
          <p:nvPr/>
        </p:nvSpPr>
        <p:spPr>
          <a:xfrm>
            <a:off x="559054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sp>
        <p:nvSpPr>
          <p:cNvPr id="5" name="矩形 4"/>
          <p:cNvSpPr/>
          <p:nvPr>
            <p:custDataLst>
              <p:tags r:id="rId1"/>
            </p:custDataLst>
          </p:nvPr>
        </p:nvSpPr>
        <p:spPr>
          <a:xfrm>
            <a:off x="587402" y="1261170"/>
            <a:ext cx="3241675" cy="583565"/>
          </a:xfrm>
          <a:prstGeom prst="rect">
            <a:avLst/>
          </a:prstGeom>
        </p:spPr>
        <p:txBody>
          <a:bodyPr wrap="none">
            <a:spAutoFit/>
          </a:bodyPr>
          <a:lstStyle/>
          <a:p>
            <a:pPr algn="l"/>
            <a:r>
              <a:rPr lang="en-US" altLang="zh-CN" sz="3200" b="1" dirty="0">
                <a:solidFill>
                  <a:srgbClr val="3399FF"/>
                </a:solidFill>
              </a:rPr>
              <a:t>8.2.1</a:t>
            </a:r>
            <a:r>
              <a:rPr lang="zh-CN" altLang="en-US" sz="3200" b="1" dirty="0">
                <a:solidFill>
                  <a:srgbClr val="3399FF"/>
                </a:solidFill>
              </a:rPr>
              <a:t> 列联表分析</a:t>
            </a:r>
          </a:p>
        </p:txBody>
      </p:sp>
      <p:pic>
        <p:nvPicPr>
          <p:cNvPr id="7" name="图片 6"/>
          <p:cNvPicPr>
            <a:picLocks noChangeAspect="1"/>
          </p:cNvPicPr>
          <p:nvPr>
            <p:custDataLst>
              <p:tags r:id="rId2"/>
            </p:custDataLst>
          </p:nvPr>
        </p:nvPicPr>
        <p:blipFill>
          <a:blip r:embed="rId5"/>
          <a:stretch>
            <a:fillRect/>
          </a:stretch>
        </p:blipFill>
        <p:spPr>
          <a:xfrm>
            <a:off x="587375" y="2277110"/>
            <a:ext cx="4907280" cy="480060"/>
          </a:xfrm>
          <a:prstGeom prst="rect">
            <a:avLst/>
          </a:prstGeom>
        </p:spPr>
      </p:pic>
      <p:pic>
        <p:nvPicPr>
          <p:cNvPr id="16" name="图片 15"/>
          <p:cNvPicPr>
            <a:picLocks noChangeAspect="1"/>
          </p:cNvPicPr>
          <p:nvPr/>
        </p:nvPicPr>
        <p:blipFill>
          <a:blip r:embed="rId6"/>
          <a:stretch>
            <a:fillRect/>
          </a:stretch>
        </p:blipFill>
        <p:spPr>
          <a:xfrm>
            <a:off x="68580" y="3068955"/>
            <a:ext cx="12001500" cy="1808480"/>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对应分析基本原理</a:t>
            </a:r>
          </a:p>
        </p:txBody>
      </p:sp>
      <p:sp>
        <p:nvSpPr>
          <p:cNvPr id="11" name="右箭头 10"/>
          <p:cNvSpPr/>
          <p:nvPr/>
        </p:nvSpPr>
        <p:spPr>
          <a:xfrm>
            <a:off x="559054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sp>
        <p:nvSpPr>
          <p:cNvPr id="5" name="矩形 4"/>
          <p:cNvSpPr/>
          <p:nvPr>
            <p:custDataLst>
              <p:tags r:id="rId1"/>
            </p:custDataLst>
          </p:nvPr>
        </p:nvSpPr>
        <p:spPr>
          <a:xfrm>
            <a:off x="587402" y="1261170"/>
            <a:ext cx="3241675" cy="583565"/>
          </a:xfrm>
          <a:prstGeom prst="rect">
            <a:avLst/>
          </a:prstGeom>
        </p:spPr>
        <p:txBody>
          <a:bodyPr wrap="none">
            <a:spAutoFit/>
          </a:bodyPr>
          <a:lstStyle/>
          <a:p>
            <a:pPr algn="l"/>
            <a:r>
              <a:rPr lang="en-US" altLang="zh-CN" sz="3200" b="1" dirty="0">
                <a:solidFill>
                  <a:srgbClr val="3399FF"/>
                </a:solidFill>
              </a:rPr>
              <a:t>8.2.1</a:t>
            </a:r>
            <a:r>
              <a:rPr lang="zh-CN" altLang="en-US" sz="3200" b="1" dirty="0">
                <a:solidFill>
                  <a:srgbClr val="3399FF"/>
                </a:solidFill>
              </a:rPr>
              <a:t> 列联表分析</a:t>
            </a:r>
          </a:p>
        </p:txBody>
      </p:sp>
      <p:pic>
        <p:nvPicPr>
          <p:cNvPr id="4" name="图片 3"/>
          <p:cNvPicPr>
            <a:picLocks noChangeAspect="1"/>
          </p:cNvPicPr>
          <p:nvPr>
            <p:custDataLst>
              <p:tags r:id="rId2"/>
            </p:custDataLst>
          </p:nvPr>
        </p:nvPicPr>
        <p:blipFill>
          <a:blip r:embed="rId5"/>
          <a:stretch>
            <a:fillRect/>
          </a:stretch>
        </p:blipFill>
        <p:spPr>
          <a:xfrm>
            <a:off x="169545" y="2094230"/>
            <a:ext cx="12022455" cy="1058545"/>
          </a:xfrm>
          <a:prstGeom prst="rect">
            <a:avLst/>
          </a:prstGeom>
        </p:spPr>
      </p:pic>
      <p:pic>
        <p:nvPicPr>
          <p:cNvPr id="8" name="图片 7"/>
          <p:cNvPicPr>
            <a:picLocks noChangeAspect="1"/>
          </p:cNvPicPr>
          <p:nvPr/>
        </p:nvPicPr>
        <p:blipFill>
          <a:blip r:embed="rId6"/>
          <a:stretch>
            <a:fillRect/>
          </a:stretch>
        </p:blipFill>
        <p:spPr>
          <a:xfrm>
            <a:off x="2496185" y="3140710"/>
            <a:ext cx="6057900" cy="1600200"/>
          </a:xfrm>
          <a:prstGeom prst="rect">
            <a:avLst/>
          </a:prstGeom>
        </p:spPr>
      </p:pic>
      <p:pic>
        <p:nvPicPr>
          <p:cNvPr id="10" name="图片 9"/>
          <p:cNvPicPr>
            <a:picLocks noChangeAspect="1"/>
          </p:cNvPicPr>
          <p:nvPr/>
        </p:nvPicPr>
        <p:blipFill>
          <a:blip r:embed="rId7"/>
          <a:stretch>
            <a:fillRect/>
          </a:stretch>
        </p:blipFill>
        <p:spPr>
          <a:xfrm>
            <a:off x="551815" y="4653280"/>
            <a:ext cx="10704830" cy="1614805"/>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对应分析基本原理</a:t>
            </a:r>
          </a:p>
        </p:txBody>
      </p:sp>
      <p:sp>
        <p:nvSpPr>
          <p:cNvPr id="11" name="右箭头 10"/>
          <p:cNvSpPr/>
          <p:nvPr/>
        </p:nvSpPr>
        <p:spPr>
          <a:xfrm>
            <a:off x="559054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sp>
        <p:nvSpPr>
          <p:cNvPr id="5" name="矩形 4"/>
          <p:cNvSpPr/>
          <p:nvPr>
            <p:custDataLst>
              <p:tags r:id="rId1"/>
            </p:custDataLst>
          </p:nvPr>
        </p:nvSpPr>
        <p:spPr>
          <a:xfrm>
            <a:off x="587402" y="1261170"/>
            <a:ext cx="3241675" cy="583565"/>
          </a:xfrm>
          <a:prstGeom prst="rect">
            <a:avLst/>
          </a:prstGeom>
        </p:spPr>
        <p:txBody>
          <a:bodyPr wrap="none">
            <a:spAutoFit/>
          </a:bodyPr>
          <a:lstStyle/>
          <a:p>
            <a:pPr algn="l"/>
            <a:r>
              <a:rPr lang="en-US" altLang="zh-CN" sz="3200" b="1" dirty="0">
                <a:solidFill>
                  <a:srgbClr val="3399FF"/>
                </a:solidFill>
              </a:rPr>
              <a:t>8.2.1</a:t>
            </a:r>
            <a:r>
              <a:rPr lang="zh-CN" altLang="en-US" sz="3200" b="1" dirty="0">
                <a:solidFill>
                  <a:srgbClr val="3399FF"/>
                </a:solidFill>
              </a:rPr>
              <a:t> 列联表分析</a:t>
            </a:r>
          </a:p>
        </p:txBody>
      </p:sp>
      <p:pic>
        <p:nvPicPr>
          <p:cNvPr id="7" name="图片 6"/>
          <p:cNvPicPr>
            <a:picLocks noChangeAspect="1"/>
          </p:cNvPicPr>
          <p:nvPr>
            <p:custDataLst>
              <p:tags r:id="rId2"/>
            </p:custDataLst>
          </p:nvPr>
        </p:nvPicPr>
        <p:blipFill>
          <a:blip r:embed="rId6"/>
          <a:stretch>
            <a:fillRect/>
          </a:stretch>
        </p:blipFill>
        <p:spPr>
          <a:xfrm>
            <a:off x="436245" y="1917065"/>
            <a:ext cx="11109960" cy="513080"/>
          </a:xfrm>
          <a:prstGeom prst="rect">
            <a:avLst/>
          </a:prstGeom>
        </p:spPr>
      </p:pic>
      <p:pic>
        <p:nvPicPr>
          <p:cNvPr id="4" name="图片 3"/>
          <p:cNvPicPr>
            <a:picLocks noChangeAspect="1"/>
          </p:cNvPicPr>
          <p:nvPr>
            <p:custDataLst>
              <p:tags r:id="rId3"/>
            </p:custDataLst>
          </p:nvPr>
        </p:nvPicPr>
        <p:blipFill>
          <a:blip r:embed="rId7"/>
          <a:stretch>
            <a:fillRect/>
          </a:stretch>
        </p:blipFill>
        <p:spPr>
          <a:xfrm>
            <a:off x="1055370" y="2564765"/>
            <a:ext cx="10350500" cy="3984625"/>
          </a:xfrm>
          <a:prstGeom prst="rect">
            <a:avLst/>
          </a:prstGeom>
        </p:spPr>
      </p:pic>
    </p:spTree>
  </p:cSld>
  <p:clrMapOvr>
    <a:masterClrMapping/>
  </p:clrMapOvr>
  <p:transition>
    <p:wipe dir="d"/>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对应分析基本原理</a:t>
            </a:r>
          </a:p>
        </p:txBody>
      </p:sp>
      <p:sp>
        <p:nvSpPr>
          <p:cNvPr id="11" name="右箭头 10"/>
          <p:cNvSpPr/>
          <p:nvPr/>
        </p:nvSpPr>
        <p:spPr>
          <a:xfrm>
            <a:off x="559054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sp>
        <p:nvSpPr>
          <p:cNvPr id="5" name="矩形 4"/>
          <p:cNvSpPr/>
          <p:nvPr>
            <p:custDataLst>
              <p:tags r:id="rId1"/>
            </p:custDataLst>
          </p:nvPr>
        </p:nvSpPr>
        <p:spPr>
          <a:xfrm>
            <a:off x="587402" y="1261170"/>
            <a:ext cx="3241675" cy="583565"/>
          </a:xfrm>
          <a:prstGeom prst="rect">
            <a:avLst/>
          </a:prstGeom>
        </p:spPr>
        <p:txBody>
          <a:bodyPr wrap="none">
            <a:spAutoFit/>
          </a:bodyPr>
          <a:lstStyle/>
          <a:p>
            <a:pPr algn="l"/>
            <a:r>
              <a:rPr lang="en-US" altLang="zh-CN" sz="3200" b="1" dirty="0">
                <a:solidFill>
                  <a:srgbClr val="3399FF"/>
                </a:solidFill>
              </a:rPr>
              <a:t>8.2.1</a:t>
            </a:r>
            <a:r>
              <a:rPr lang="zh-CN" altLang="en-US" sz="3200" b="1" dirty="0">
                <a:solidFill>
                  <a:srgbClr val="3399FF"/>
                </a:solidFill>
              </a:rPr>
              <a:t> 列联表分析</a:t>
            </a:r>
          </a:p>
        </p:txBody>
      </p:sp>
      <p:pic>
        <p:nvPicPr>
          <p:cNvPr id="8" name="图片 7"/>
          <p:cNvPicPr>
            <a:picLocks noChangeAspect="1"/>
          </p:cNvPicPr>
          <p:nvPr/>
        </p:nvPicPr>
        <p:blipFill>
          <a:blip r:embed="rId5"/>
          <a:stretch>
            <a:fillRect/>
          </a:stretch>
        </p:blipFill>
        <p:spPr>
          <a:xfrm>
            <a:off x="120015" y="3169920"/>
            <a:ext cx="11810365" cy="1098550"/>
          </a:xfrm>
          <a:prstGeom prst="rect">
            <a:avLst/>
          </a:prstGeom>
        </p:spPr>
      </p:pic>
      <p:pic>
        <p:nvPicPr>
          <p:cNvPr id="10" name="图片 9"/>
          <p:cNvPicPr>
            <a:picLocks noChangeAspect="1"/>
          </p:cNvPicPr>
          <p:nvPr/>
        </p:nvPicPr>
        <p:blipFill>
          <a:blip r:embed="rId6"/>
          <a:stretch>
            <a:fillRect/>
          </a:stretch>
        </p:blipFill>
        <p:spPr>
          <a:xfrm>
            <a:off x="2063750" y="4652645"/>
            <a:ext cx="4587875" cy="674370"/>
          </a:xfrm>
          <a:prstGeom prst="rect">
            <a:avLst/>
          </a:prstGeom>
        </p:spPr>
      </p:pic>
      <p:pic>
        <p:nvPicPr>
          <p:cNvPr id="12" name="图片 11"/>
          <p:cNvPicPr>
            <a:picLocks noChangeAspect="1"/>
          </p:cNvPicPr>
          <p:nvPr/>
        </p:nvPicPr>
        <p:blipFill>
          <a:blip r:embed="rId7"/>
          <a:stretch>
            <a:fillRect/>
          </a:stretch>
        </p:blipFill>
        <p:spPr>
          <a:xfrm>
            <a:off x="9984740" y="4727575"/>
            <a:ext cx="1013460" cy="381000"/>
          </a:xfrm>
          <a:prstGeom prst="rect">
            <a:avLst/>
          </a:prstGeom>
        </p:spPr>
      </p:pic>
      <p:pic>
        <p:nvPicPr>
          <p:cNvPr id="13" name="图片 12"/>
          <p:cNvPicPr>
            <a:picLocks noChangeAspect="1"/>
          </p:cNvPicPr>
          <p:nvPr>
            <p:custDataLst>
              <p:tags r:id="rId2"/>
            </p:custDataLst>
          </p:nvPr>
        </p:nvPicPr>
        <p:blipFill>
          <a:blip r:embed="rId8"/>
          <a:stretch>
            <a:fillRect/>
          </a:stretch>
        </p:blipFill>
        <p:spPr>
          <a:xfrm>
            <a:off x="1775460" y="1916430"/>
            <a:ext cx="5962015" cy="1040765"/>
          </a:xfrm>
          <a:prstGeom prst="rect">
            <a:avLst/>
          </a:prstGeom>
        </p:spPr>
      </p:pic>
      <p:pic>
        <p:nvPicPr>
          <p:cNvPr id="15" name="图片 14"/>
          <p:cNvPicPr>
            <a:picLocks noChangeAspect="1"/>
          </p:cNvPicPr>
          <p:nvPr/>
        </p:nvPicPr>
        <p:blipFill>
          <a:blip r:embed="rId9"/>
          <a:stretch>
            <a:fillRect/>
          </a:stretch>
        </p:blipFill>
        <p:spPr>
          <a:xfrm>
            <a:off x="9912350" y="2058035"/>
            <a:ext cx="989330" cy="506095"/>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linds(horizontal)">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对应分析基本原理</a:t>
            </a:r>
          </a:p>
        </p:txBody>
      </p:sp>
      <p:sp>
        <p:nvSpPr>
          <p:cNvPr id="11" name="右箭头 10"/>
          <p:cNvSpPr/>
          <p:nvPr/>
        </p:nvSpPr>
        <p:spPr>
          <a:xfrm>
            <a:off x="559054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pic>
        <p:nvPicPr>
          <p:cNvPr id="16" name="图片 15"/>
          <p:cNvPicPr>
            <a:picLocks noChangeAspect="1"/>
          </p:cNvPicPr>
          <p:nvPr>
            <p:custDataLst>
              <p:tags r:id="rId1"/>
            </p:custDataLst>
          </p:nvPr>
        </p:nvPicPr>
        <p:blipFill>
          <a:blip r:embed="rId4"/>
          <a:stretch>
            <a:fillRect/>
          </a:stretch>
        </p:blipFill>
        <p:spPr>
          <a:xfrm>
            <a:off x="191770" y="1234440"/>
            <a:ext cx="11750040" cy="1264920"/>
          </a:xfrm>
          <a:prstGeom prst="rect">
            <a:avLst/>
          </a:prstGeom>
        </p:spPr>
      </p:pic>
      <p:pic>
        <p:nvPicPr>
          <p:cNvPr id="17" name="图片 16"/>
          <p:cNvPicPr>
            <a:picLocks noChangeAspect="1"/>
          </p:cNvPicPr>
          <p:nvPr/>
        </p:nvPicPr>
        <p:blipFill>
          <a:blip r:embed="rId5"/>
          <a:stretch>
            <a:fillRect/>
          </a:stretch>
        </p:blipFill>
        <p:spPr>
          <a:xfrm>
            <a:off x="120015" y="2513330"/>
            <a:ext cx="11877675" cy="1278890"/>
          </a:xfrm>
          <a:prstGeom prst="rect">
            <a:avLst/>
          </a:prstGeom>
        </p:spPr>
      </p:pic>
      <p:pic>
        <p:nvPicPr>
          <p:cNvPr id="18" name="图片 17"/>
          <p:cNvPicPr>
            <a:picLocks noChangeAspect="1"/>
          </p:cNvPicPr>
          <p:nvPr/>
        </p:nvPicPr>
        <p:blipFill>
          <a:blip r:embed="rId6"/>
          <a:stretch>
            <a:fillRect/>
          </a:stretch>
        </p:blipFill>
        <p:spPr>
          <a:xfrm>
            <a:off x="517525" y="3806190"/>
            <a:ext cx="11028680" cy="2739390"/>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linds(horizontal)">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对应分析基本原理</a:t>
            </a:r>
          </a:p>
        </p:txBody>
      </p:sp>
      <p:sp>
        <p:nvSpPr>
          <p:cNvPr id="11" name="右箭头 10"/>
          <p:cNvSpPr/>
          <p:nvPr/>
        </p:nvSpPr>
        <p:spPr>
          <a:xfrm>
            <a:off x="559054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pic>
        <p:nvPicPr>
          <p:cNvPr id="4" name="图片 3"/>
          <p:cNvPicPr>
            <a:picLocks noChangeAspect="1"/>
          </p:cNvPicPr>
          <p:nvPr>
            <p:custDataLst>
              <p:tags r:id="rId1"/>
            </p:custDataLst>
          </p:nvPr>
        </p:nvPicPr>
        <p:blipFill>
          <a:blip r:embed="rId4"/>
          <a:stretch>
            <a:fillRect/>
          </a:stretch>
        </p:blipFill>
        <p:spPr>
          <a:xfrm>
            <a:off x="120015" y="1129665"/>
            <a:ext cx="3573780" cy="350520"/>
          </a:xfrm>
          <a:prstGeom prst="rect">
            <a:avLst/>
          </a:prstGeom>
        </p:spPr>
      </p:pic>
      <p:pic>
        <p:nvPicPr>
          <p:cNvPr id="5" name="图片 4"/>
          <p:cNvPicPr>
            <a:picLocks noChangeAspect="1"/>
          </p:cNvPicPr>
          <p:nvPr/>
        </p:nvPicPr>
        <p:blipFill>
          <a:blip r:embed="rId5"/>
          <a:stretch>
            <a:fillRect/>
          </a:stretch>
        </p:blipFill>
        <p:spPr>
          <a:xfrm>
            <a:off x="3708400" y="1047115"/>
            <a:ext cx="6510655" cy="5833110"/>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对应分析基本原理</a:t>
            </a:r>
          </a:p>
        </p:txBody>
      </p:sp>
      <p:sp>
        <p:nvSpPr>
          <p:cNvPr id="11" name="右箭头 10"/>
          <p:cNvSpPr/>
          <p:nvPr/>
        </p:nvSpPr>
        <p:spPr>
          <a:xfrm>
            <a:off x="559054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sp>
        <p:nvSpPr>
          <p:cNvPr id="8" name="矩形 7"/>
          <p:cNvSpPr/>
          <p:nvPr>
            <p:custDataLst>
              <p:tags r:id="rId1"/>
            </p:custDataLst>
          </p:nvPr>
        </p:nvSpPr>
        <p:spPr>
          <a:xfrm>
            <a:off x="587402" y="1261170"/>
            <a:ext cx="3241675" cy="583565"/>
          </a:xfrm>
          <a:prstGeom prst="rect">
            <a:avLst/>
          </a:prstGeom>
        </p:spPr>
        <p:txBody>
          <a:bodyPr wrap="none">
            <a:spAutoFit/>
          </a:bodyPr>
          <a:lstStyle/>
          <a:p>
            <a:pPr algn="l"/>
            <a:r>
              <a:rPr lang="en-US" altLang="zh-CN" sz="3200" b="1" dirty="0">
                <a:solidFill>
                  <a:srgbClr val="3399FF"/>
                </a:solidFill>
              </a:rPr>
              <a:t>8.2.1</a:t>
            </a:r>
            <a:r>
              <a:rPr lang="zh-CN" altLang="en-US" sz="3200" b="1" dirty="0">
                <a:solidFill>
                  <a:srgbClr val="3399FF"/>
                </a:solidFill>
              </a:rPr>
              <a:t> 列联表分析</a:t>
            </a:r>
          </a:p>
        </p:txBody>
      </p:sp>
      <p:pic>
        <p:nvPicPr>
          <p:cNvPr id="10" name="图片 9"/>
          <p:cNvPicPr>
            <a:picLocks noChangeAspect="1"/>
          </p:cNvPicPr>
          <p:nvPr/>
        </p:nvPicPr>
        <p:blipFill>
          <a:blip r:embed="rId4"/>
          <a:stretch>
            <a:fillRect/>
          </a:stretch>
        </p:blipFill>
        <p:spPr>
          <a:xfrm>
            <a:off x="120015" y="2132965"/>
            <a:ext cx="11866880" cy="2322830"/>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对应分析基本原理</a:t>
            </a:r>
          </a:p>
        </p:txBody>
      </p:sp>
      <p:sp>
        <p:nvSpPr>
          <p:cNvPr id="11" name="右箭头 10"/>
          <p:cNvSpPr/>
          <p:nvPr/>
        </p:nvSpPr>
        <p:spPr>
          <a:xfrm>
            <a:off x="559054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sp>
        <p:nvSpPr>
          <p:cNvPr id="8" name="矩形 7"/>
          <p:cNvSpPr/>
          <p:nvPr>
            <p:custDataLst>
              <p:tags r:id="rId1"/>
            </p:custDataLst>
          </p:nvPr>
        </p:nvSpPr>
        <p:spPr>
          <a:xfrm>
            <a:off x="587402" y="1261170"/>
            <a:ext cx="3649980" cy="583565"/>
          </a:xfrm>
          <a:prstGeom prst="rect">
            <a:avLst/>
          </a:prstGeom>
        </p:spPr>
        <p:txBody>
          <a:bodyPr wrap="none">
            <a:spAutoFit/>
          </a:bodyPr>
          <a:lstStyle/>
          <a:p>
            <a:pPr algn="l"/>
            <a:r>
              <a:rPr lang="en-US" altLang="zh-CN" sz="3200" b="1" dirty="0">
                <a:solidFill>
                  <a:srgbClr val="3399FF"/>
                </a:solidFill>
              </a:rPr>
              <a:t>8.2.2</a:t>
            </a:r>
            <a:r>
              <a:rPr lang="zh-CN" altLang="en-US" sz="3200" b="1" dirty="0">
                <a:solidFill>
                  <a:srgbClr val="3399FF"/>
                </a:solidFill>
              </a:rPr>
              <a:t> 对应分析方法</a:t>
            </a:r>
          </a:p>
        </p:txBody>
      </p:sp>
      <p:pic>
        <p:nvPicPr>
          <p:cNvPr id="5" name="图片 4"/>
          <p:cNvPicPr>
            <a:picLocks noChangeAspect="1"/>
          </p:cNvPicPr>
          <p:nvPr>
            <p:custDataLst>
              <p:tags r:id="rId2"/>
            </p:custDataLst>
          </p:nvPr>
        </p:nvPicPr>
        <p:blipFill>
          <a:blip r:embed="rId5"/>
          <a:stretch>
            <a:fillRect/>
          </a:stretch>
        </p:blipFill>
        <p:spPr>
          <a:xfrm>
            <a:off x="407670" y="1772920"/>
            <a:ext cx="11254105" cy="1656715"/>
          </a:xfrm>
          <a:prstGeom prst="rect">
            <a:avLst/>
          </a:prstGeom>
        </p:spPr>
      </p:pic>
      <p:pic>
        <p:nvPicPr>
          <p:cNvPr id="7" name="图片 6"/>
          <p:cNvPicPr>
            <a:picLocks noChangeAspect="1"/>
          </p:cNvPicPr>
          <p:nvPr/>
        </p:nvPicPr>
        <p:blipFill>
          <a:blip r:embed="rId6"/>
          <a:stretch>
            <a:fillRect/>
          </a:stretch>
        </p:blipFill>
        <p:spPr>
          <a:xfrm>
            <a:off x="911860" y="3501390"/>
            <a:ext cx="6027420" cy="297180"/>
          </a:xfrm>
          <a:prstGeom prst="rect">
            <a:avLst/>
          </a:prstGeom>
        </p:spPr>
      </p:pic>
      <p:pic>
        <p:nvPicPr>
          <p:cNvPr id="12" name="图片 11"/>
          <p:cNvPicPr>
            <a:picLocks noChangeAspect="1"/>
          </p:cNvPicPr>
          <p:nvPr/>
        </p:nvPicPr>
        <p:blipFill>
          <a:blip r:embed="rId7"/>
          <a:stretch>
            <a:fillRect/>
          </a:stretch>
        </p:blipFill>
        <p:spPr>
          <a:xfrm>
            <a:off x="1775460" y="4004945"/>
            <a:ext cx="7764780" cy="2446020"/>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对应分析基本原理</a:t>
            </a:r>
          </a:p>
        </p:txBody>
      </p:sp>
      <p:sp>
        <p:nvSpPr>
          <p:cNvPr id="11" name="右箭头 10"/>
          <p:cNvSpPr/>
          <p:nvPr/>
        </p:nvSpPr>
        <p:spPr>
          <a:xfrm>
            <a:off x="559054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sp>
        <p:nvSpPr>
          <p:cNvPr id="8" name="矩形 7"/>
          <p:cNvSpPr/>
          <p:nvPr>
            <p:custDataLst>
              <p:tags r:id="rId1"/>
            </p:custDataLst>
          </p:nvPr>
        </p:nvSpPr>
        <p:spPr>
          <a:xfrm>
            <a:off x="587402" y="1261170"/>
            <a:ext cx="3649980" cy="583565"/>
          </a:xfrm>
          <a:prstGeom prst="rect">
            <a:avLst/>
          </a:prstGeom>
        </p:spPr>
        <p:txBody>
          <a:bodyPr wrap="none">
            <a:spAutoFit/>
          </a:bodyPr>
          <a:lstStyle/>
          <a:p>
            <a:pPr algn="l"/>
            <a:r>
              <a:rPr lang="en-US" altLang="zh-CN" sz="3200" b="1" dirty="0">
                <a:solidFill>
                  <a:srgbClr val="3399FF"/>
                </a:solidFill>
              </a:rPr>
              <a:t>8.2.2</a:t>
            </a:r>
            <a:r>
              <a:rPr lang="zh-CN" altLang="en-US" sz="3200" b="1" dirty="0">
                <a:solidFill>
                  <a:srgbClr val="3399FF"/>
                </a:solidFill>
              </a:rPr>
              <a:t> 对应分析方法</a:t>
            </a:r>
          </a:p>
        </p:txBody>
      </p:sp>
      <p:pic>
        <p:nvPicPr>
          <p:cNvPr id="4" name="图片 3"/>
          <p:cNvPicPr>
            <a:picLocks noChangeAspect="1"/>
          </p:cNvPicPr>
          <p:nvPr/>
        </p:nvPicPr>
        <p:blipFill>
          <a:blip r:embed="rId4"/>
          <a:stretch>
            <a:fillRect/>
          </a:stretch>
        </p:blipFill>
        <p:spPr>
          <a:xfrm>
            <a:off x="191770" y="1844675"/>
            <a:ext cx="11598275" cy="3334385"/>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对应分析基本原理</a:t>
            </a:r>
          </a:p>
        </p:txBody>
      </p:sp>
      <p:sp>
        <p:nvSpPr>
          <p:cNvPr id="11" name="右箭头 10"/>
          <p:cNvSpPr/>
          <p:nvPr/>
        </p:nvSpPr>
        <p:spPr>
          <a:xfrm>
            <a:off x="559054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sp>
        <p:nvSpPr>
          <p:cNvPr id="8" name="矩形 7"/>
          <p:cNvSpPr/>
          <p:nvPr>
            <p:custDataLst>
              <p:tags r:id="rId1"/>
            </p:custDataLst>
          </p:nvPr>
        </p:nvSpPr>
        <p:spPr>
          <a:xfrm>
            <a:off x="587402" y="1261170"/>
            <a:ext cx="3649980" cy="583565"/>
          </a:xfrm>
          <a:prstGeom prst="rect">
            <a:avLst/>
          </a:prstGeom>
        </p:spPr>
        <p:txBody>
          <a:bodyPr wrap="none">
            <a:spAutoFit/>
          </a:bodyPr>
          <a:lstStyle/>
          <a:p>
            <a:pPr algn="l"/>
            <a:r>
              <a:rPr lang="en-US" altLang="zh-CN" sz="3200" b="1" dirty="0">
                <a:solidFill>
                  <a:srgbClr val="3399FF"/>
                </a:solidFill>
              </a:rPr>
              <a:t>8.2.2</a:t>
            </a:r>
            <a:r>
              <a:rPr lang="zh-CN" altLang="en-US" sz="3200" b="1" dirty="0">
                <a:solidFill>
                  <a:srgbClr val="3399FF"/>
                </a:solidFill>
              </a:rPr>
              <a:t> 对应分析方法</a:t>
            </a:r>
          </a:p>
        </p:txBody>
      </p:sp>
      <p:pic>
        <p:nvPicPr>
          <p:cNvPr id="5" name="图片 4"/>
          <p:cNvPicPr>
            <a:picLocks noChangeAspect="1"/>
          </p:cNvPicPr>
          <p:nvPr/>
        </p:nvPicPr>
        <p:blipFill>
          <a:blip r:embed="rId4"/>
          <a:stretch>
            <a:fillRect/>
          </a:stretch>
        </p:blipFill>
        <p:spPr>
          <a:xfrm>
            <a:off x="623570" y="1988820"/>
            <a:ext cx="10303510" cy="4673600"/>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对应分析基本原理</a:t>
            </a:r>
          </a:p>
        </p:txBody>
      </p:sp>
      <p:sp>
        <p:nvSpPr>
          <p:cNvPr id="11" name="右箭头 10"/>
          <p:cNvSpPr/>
          <p:nvPr/>
        </p:nvSpPr>
        <p:spPr>
          <a:xfrm>
            <a:off x="559054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sp>
        <p:nvSpPr>
          <p:cNvPr id="8" name="矩形 7"/>
          <p:cNvSpPr/>
          <p:nvPr>
            <p:custDataLst>
              <p:tags r:id="rId1"/>
            </p:custDataLst>
          </p:nvPr>
        </p:nvSpPr>
        <p:spPr>
          <a:xfrm>
            <a:off x="587402" y="1261170"/>
            <a:ext cx="3649980" cy="583565"/>
          </a:xfrm>
          <a:prstGeom prst="rect">
            <a:avLst/>
          </a:prstGeom>
        </p:spPr>
        <p:txBody>
          <a:bodyPr wrap="none">
            <a:spAutoFit/>
          </a:bodyPr>
          <a:lstStyle/>
          <a:p>
            <a:pPr algn="l"/>
            <a:r>
              <a:rPr lang="en-US" altLang="zh-CN" sz="3200" b="1" dirty="0">
                <a:solidFill>
                  <a:srgbClr val="3399FF"/>
                </a:solidFill>
              </a:rPr>
              <a:t>8.2.2</a:t>
            </a:r>
            <a:r>
              <a:rPr lang="zh-CN" altLang="en-US" sz="3200" b="1" dirty="0">
                <a:solidFill>
                  <a:srgbClr val="3399FF"/>
                </a:solidFill>
              </a:rPr>
              <a:t> 对应分析方法</a:t>
            </a:r>
          </a:p>
        </p:txBody>
      </p:sp>
      <p:pic>
        <p:nvPicPr>
          <p:cNvPr id="4" name="图片 3"/>
          <p:cNvPicPr>
            <a:picLocks noChangeAspect="1"/>
          </p:cNvPicPr>
          <p:nvPr>
            <p:custDataLst>
              <p:tags r:id="rId2"/>
            </p:custDataLst>
          </p:nvPr>
        </p:nvPicPr>
        <p:blipFill>
          <a:blip r:embed="rId7"/>
          <a:stretch>
            <a:fillRect/>
          </a:stretch>
        </p:blipFill>
        <p:spPr>
          <a:xfrm>
            <a:off x="551815" y="1772920"/>
            <a:ext cx="10011410" cy="890270"/>
          </a:xfrm>
          <a:prstGeom prst="rect">
            <a:avLst/>
          </a:prstGeom>
        </p:spPr>
      </p:pic>
      <p:pic>
        <p:nvPicPr>
          <p:cNvPr id="10" name="图片 9"/>
          <p:cNvPicPr>
            <a:picLocks noChangeAspect="1"/>
          </p:cNvPicPr>
          <p:nvPr>
            <p:custDataLst>
              <p:tags r:id="rId3"/>
            </p:custDataLst>
          </p:nvPr>
        </p:nvPicPr>
        <p:blipFill>
          <a:blip r:embed="rId8"/>
          <a:stretch>
            <a:fillRect/>
          </a:stretch>
        </p:blipFill>
        <p:spPr>
          <a:xfrm>
            <a:off x="1055370" y="2636520"/>
            <a:ext cx="9987915" cy="687070"/>
          </a:xfrm>
          <a:prstGeom prst="rect">
            <a:avLst/>
          </a:prstGeom>
        </p:spPr>
      </p:pic>
      <p:pic>
        <p:nvPicPr>
          <p:cNvPr id="12" name="图片 11"/>
          <p:cNvPicPr>
            <a:picLocks noChangeAspect="1"/>
          </p:cNvPicPr>
          <p:nvPr/>
        </p:nvPicPr>
        <p:blipFill>
          <a:blip r:embed="rId9"/>
          <a:stretch>
            <a:fillRect/>
          </a:stretch>
        </p:blipFill>
        <p:spPr>
          <a:xfrm>
            <a:off x="587375" y="3418205"/>
            <a:ext cx="2539365" cy="395605"/>
          </a:xfrm>
          <a:prstGeom prst="rect">
            <a:avLst/>
          </a:prstGeom>
        </p:spPr>
      </p:pic>
      <p:pic>
        <p:nvPicPr>
          <p:cNvPr id="5" name="图片 4"/>
          <p:cNvPicPr>
            <a:picLocks noChangeAspect="1"/>
          </p:cNvPicPr>
          <p:nvPr>
            <p:custDataLst>
              <p:tags r:id="rId4"/>
            </p:custDataLst>
          </p:nvPr>
        </p:nvPicPr>
        <p:blipFill>
          <a:blip r:embed="rId10"/>
          <a:stretch>
            <a:fillRect/>
          </a:stretch>
        </p:blipFill>
        <p:spPr>
          <a:xfrm>
            <a:off x="1343660" y="4004945"/>
            <a:ext cx="9516745" cy="2058035"/>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对应分析基本原理</a:t>
            </a:r>
          </a:p>
        </p:txBody>
      </p:sp>
      <p:sp>
        <p:nvSpPr>
          <p:cNvPr id="11" name="右箭头 10"/>
          <p:cNvSpPr/>
          <p:nvPr/>
        </p:nvSpPr>
        <p:spPr>
          <a:xfrm>
            <a:off x="559054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sp>
        <p:nvSpPr>
          <p:cNvPr id="8" name="矩形 7"/>
          <p:cNvSpPr/>
          <p:nvPr>
            <p:custDataLst>
              <p:tags r:id="rId1"/>
            </p:custDataLst>
          </p:nvPr>
        </p:nvSpPr>
        <p:spPr>
          <a:xfrm>
            <a:off x="587402" y="1261170"/>
            <a:ext cx="3649980" cy="583565"/>
          </a:xfrm>
          <a:prstGeom prst="rect">
            <a:avLst/>
          </a:prstGeom>
        </p:spPr>
        <p:txBody>
          <a:bodyPr wrap="none">
            <a:spAutoFit/>
          </a:bodyPr>
          <a:lstStyle/>
          <a:p>
            <a:pPr algn="l"/>
            <a:r>
              <a:rPr lang="en-US" altLang="zh-CN" sz="3200" b="1" dirty="0">
                <a:solidFill>
                  <a:srgbClr val="3399FF"/>
                </a:solidFill>
              </a:rPr>
              <a:t>8.2.2</a:t>
            </a:r>
            <a:r>
              <a:rPr lang="zh-CN" altLang="en-US" sz="3200" b="1" dirty="0">
                <a:solidFill>
                  <a:srgbClr val="3399FF"/>
                </a:solidFill>
              </a:rPr>
              <a:t> 对应分析方法</a:t>
            </a:r>
          </a:p>
        </p:txBody>
      </p:sp>
      <p:pic>
        <p:nvPicPr>
          <p:cNvPr id="5" name="图片 4"/>
          <p:cNvPicPr>
            <a:picLocks noChangeAspect="1"/>
          </p:cNvPicPr>
          <p:nvPr/>
        </p:nvPicPr>
        <p:blipFill>
          <a:blip r:embed="rId4"/>
          <a:stretch>
            <a:fillRect/>
          </a:stretch>
        </p:blipFill>
        <p:spPr>
          <a:xfrm>
            <a:off x="92075" y="1917065"/>
            <a:ext cx="12068810" cy="3517265"/>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8.3</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对应分析计算步骤</a:t>
            </a:r>
          </a:p>
        </p:txBody>
      </p:sp>
      <p:sp>
        <p:nvSpPr>
          <p:cNvPr id="11" name="右箭头 10"/>
          <p:cNvSpPr/>
          <p:nvPr/>
        </p:nvSpPr>
        <p:spPr>
          <a:xfrm>
            <a:off x="559054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sp>
        <p:nvSpPr>
          <p:cNvPr id="8" name="矩形 7"/>
          <p:cNvSpPr/>
          <p:nvPr>
            <p:custDataLst>
              <p:tags r:id="rId1"/>
            </p:custDataLst>
          </p:nvPr>
        </p:nvSpPr>
        <p:spPr>
          <a:xfrm>
            <a:off x="587402" y="1261170"/>
            <a:ext cx="3536950" cy="583565"/>
          </a:xfrm>
          <a:prstGeom prst="rect">
            <a:avLst/>
          </a:prstGeom>
        </p:spPr>
        <p:txBody>
          <a:bodyPr wrap="none">
            <a:spAutoFit/>
          </a:bodyPr>
          <a:lstStyle/>
          <a:p>
            <a:pPr algn="l"/>
            <a:r>
              <a:rPr lang="en-US" altLang="zh-CN" sz="3200" b="1" dirty="0">
                <a:solidFill>
                  <a:srgbClr val="3399FF"/>
                </a:solidFill>
              </a:rPr>
              <a:t>8.3.</a:t>
            </a:r>
            <a:r>
              <a:rPr lang="en-US" sz="3200" b="1" dirty="0">
                <a:solidFill>
                  <a:srgbClr val="3399FF"/>
                </a:solidFill>
              </a:rPr>
              <a:t>1</a:t>
            </a:r>
            <a:r>
              <a:rPr lang="zh-CN" altLang="en-US" sz="3200" b="1" dirty="0">
                <a:solidFill>
                  <a:srgbClr val="3399FF"/>
                </a:solidFill>
              </a:rPr>
              <a:t>对应分析方法</a:t>
            </a:r>
          </a:p>
        </p:txBody>
      </p:sp>
      <p:pic>
        <p:nvPicPr>
          <p:cNvPr id="4" name="图片 3"/>
          <p:cNvPicPr>
            <a:picLocks noChangeAspect="1"/>
          </p:cNvPicPr>
          <p:nvPr/>
        </p:nvPicPr>
        <p:blipFill>
          <a:blip r:embed="rId4"/>
          <a:stretch>
            <a:fillRect/>
          </a:stretch>
        </p:blipFill>
        <p:spPr>
          <a:xfrm>
            <a:off x="191770" y="2132965"/>
            <a:ext cx="11794490" cy="2326640"/>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8.3</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对应分析计算步骤</a:t>
            </a:r>
          </a:p>
        </p:txBody>
      </p:sp>
      <p:sp>
        <p:nvSpPr>
          <p:cNvPr id="11" name="右箭头 10"/>
          <p:cNvSpPr/>
          <p:nvPr/>
        </p:nvSpPr>
        <p:spPr>
          <a:xfrm>
            <a:off x="559054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sp>
        <p:nvSpPr>
          <p:cNvPr id="8" name="矩形 7"/>
          <p:cNvSpPr/>
          <p:nvPr>
            <p:custDataLst>
              <p:tags r:id="rId1"/>
            </p:custDataLst>
          </p:nvPr>
        </p:nvSpPr>
        <p:spPr>
          <a:xfrm>
            <a:off x="587402" y="1261170"/>
            <a:ext cx="3649980" cy="583565"/>
          </a:xfrm>
          <a:prstGeom prst="rect">
            <a:avLst/>
          </a:prstGeom>
        </p:spPr>
        <p:txBody>
          <a:bodyPr wrap="none">
            <a:spAutoFit/>
          </a:bodyPr>
          <a:lstStyle/>
          <a:p>
            <a:pPr algn="l"/>
            <a:r>
              <a:rPr lang="en-US" altLang="zh-CN" sz="3200" b="1" dirty="0">
                <a:solidFill>
                  <a:srgbClr val="3399FF"/>
                </a:solidFill>
              </a:rPr>
              <a:t>8.3.</a:t>
            </a:r>
            <a:r>
              <a:rPr lang="en-US" sz="3200" b="1" dirty="0">
                <a:solidFill>
                  <a:srgbClr val="3399FF"/>
                </a:solidFill>
              </a:rPr>
              <a:t>1 </a:t>
            </a:r>
            <a:r>
              <a:rPr lang="zh-CN" altLang="en-US" sz="3200" b="1" dirty="0">
                <a:solidFill>
                  <a:srgbClr val="3399FF"/>
                </a:solidFill>
              </a:rPr>
              <a:t>对应分析方法</a:t>
            </a:r>
          </a:p>
        </p:txBody>
      </p:sp>
      <p:pic>
        <p:nvPicPr>
          <p:cNvPr id="4" name="图片 3"/>
          <p:cNvPicPr>
            <a:picLocks noChangeAspect="1"/>
          </p:cNvPicPr>
          <p:nvPr>
            <p:custDataLst>
              <p:tags r:id="rId2"/>
            </p:custDataLst>
          </p:nvPr>
        </p:nvPicPr>
        <p:blipFill>
          <a:blip r:embed="rId5"/>
          <a:stretch>
            <a:fillRect/>
          </a:stretch>
        </p:blipFill>
        <p:spPr>
          <a:xfrm>
            <a:off x="911860" y="2060575"/>
            <a:ext cx="10906125" cy="4097020"/>
          </a:xfrm>
          <a:prstGeom prst="rect">
            <a:avLst/>
          </a:prstGeom>
        </p:spPr>
      </p:pic>
    </p:spTree>
  </p:cSld>
  <p:clrMapOvr>
    <a:masterClrMapping/>
  </p:clrMapOvr>
  <p:transition>
    <p:wipe dir="d"/>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8.3</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对应分析计算步骤</a:t>
            </a:r>
          </a:p>
        </p:txBody>
      </p:sp>
      <p:sp>
        <p:nvSpPr>
          <p:cNvPr id="11" name="右箭头 10"/>
          <p:cNvSpPr/>
          <p:nvPr/>
        </p:nvSpPr>
        <p:spPr>
          <a:xfrm>
            <a:off x="559054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pic>
        <p:nvPicPr>
          <p:cNvPr id="4" name="图片 3"/>
          <p:cNvPicPr>
            <a:picLocks noChangeAspect="1"/>
          </p:cNvPicPr>
          <p:nvPr>
            <p:custDataLst>
              <p:tags r:id="rId1"/>
            </p:custDataLst>
          </p:nvPr>
        </p:nvPicPr>
        <p:blipFill>
          <a:blip r:embed="rId5"/>
          <a:stretch>
            <a:fillRect/>
          </a:stretch>
        </p:blipFill>
        <p:spPr>
          <a:xfrm>
            <a:off x="263525" y="1196975"/>
            <a:ext cx="11505565" cy="839470"/>
          </a:xfrm>
          <a:prstGeom prst="rect">
            <a:avLst/>
          </a:prstGeom>
        </p:spPr>
      </p:pic>
      <p:pic>
        <p:nvPicPr>
          <p:cNvPr id="5" name="图片 4"/>
          <p:cNvPicPr>
            <a:picLocks noChangeAspect="1"/>
          </p:cNvPicPr>
          <p:nvPr>
            <p:custDataLst>
              <p:tags r:id="rId2"/>
            </p:custDataLst>
          </p:nvPr>
        </p:nvPicPr>
        <p:blipFill>
          <a:blip r:embed="rId6"/>
          <a:stretch>
            <a:fillRect/>
          </a:stretch>
        </p:blipFill>
        <p:spPr>
          <a:xfrm>
            <a:off x="983615" y="2132965"/>
            <a:ext cx="10715625" cy="4252595"/>
          </a:xfrm>
          <a:prstGeom prst="rect">
            <a:avLst/>
          </a:prstGeom>
        </p:spPr>
      </p:pic>
    </p:spTree>
  </p:cSld>
  <p:clrMapOvr>
    <a:masterClrMapping/>
  </p:clrMapOvr>
  <p:transition>
    <p:wipe dir="d"/>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8.3</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对应分析计算步骤</a:t>
            </a:r>
          </a:p>
        </p:txBody>
      </p:sp>
      <p:sp>
        <p:nvSpPr>
          <p:cNvPr id="11" name="右箭头 10"/>
          <p:cNvSpPr/>
          <p:nvPr/>
        </p:nvSpPr>
        <p:spPr>
          <a:xfrm>
            <a:off x="559054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sp>
        <p:nvSpPr>
          <p:cNvPr id="8" name="矩形 7"/>
          <p:cNvSpPr/>
          <p:nvPr>
            <p:custDataLst>
              <p:tags r:id="rId1"/>
            </p:custDataLst>
          </p:nvPr>
        </p:nvSpPr>
        <p:spPr>
          <a:xfrm>
            <a:off x="587402" y="1261170"/>
            <a:ext cx="3649980" cy="583565"/>
          </a:xfrm>
          <a:prstGeom prst="rect">
            <a:avLst/>
          </a:prstGeom>
        </p:spPr>
        <p:txBody>
          <a:bodyPr wrap="none">
            <a:spAutoFit/>
          </a:bodyPr>
          <a:lstStyle/>
          <a:p>
            <a:pPr algn="l"/>
            <a:r>
              <a:rPr lang="en-US" altLang="zh-CN" sz="3200" b="1" dirty="0">
                <a:solidFill>
                  <a:srgbClr val="3399FF"/>
                </a:solidFill>
              </a:rPr>
              <a:t>8.3.</a:t>
            </a:r>
            <a:r>
              <a:rPr lang="en-US" sz="3200" b="1" dirty="0">
                <a:solidFill>
                  <a:srgbClr val="3399FF"/>
                </a:solidFill>
              </a:rPr>
              <a:t>1 </a:t>
            </a:r>
            <a:r>
              <a:rPr lang="zh-CN" altLang="en-US" sz="3200" b="1" dirty="0">
                <a:solidFill>
                  <a:srgbClr val="3399FF"/>
                </a:solidFill>
              </a:rPr>
              <a:t>对应分析方法</a:t>
            </a:r>
          </a:p>
        </p:txBody>
      </p:sp>
      <p:pic>
        <p:nvPicPr>
          <p:cNvPr id="5" name="图片 4"/>
          <p:cNvPicPr>
            <a:picLocks noChangeAspect="1"/>
          </p:cNvPicPr>
          <p:nvPr/>
        </p:nvPicPr>
        <p:blipFill>
          <a:blip r:embed="rId4"/>
          <a:stretch>
            <a:fillRect/>
          </a:stretch>
        </p:blipFill>
        <p:spPr>
          <a:xfrm>
            <a:off x="278130" y="1917065"/>
            <a:ext cx="11025505" cy="1448435"/>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8.3</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对应分析计算步骤</a:t>
            </a:r>
          </a:p>
        </p:txBody>
      </p:sp>
      <p:sp>
        <p:nvSpPr>
          <p:cNvPr id="11" name="右箭头 10"/>
          <p:cNvSpPr/>
          <p:nvPr/>
        </p:nvSpPr>
        <p:spPr>
          <a:xfrm>
            <a:off x="559054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sp>
        <p:nvSpPr>
          <p:cNvPr id="8" name="矩形 7"/>
          <p:cNvSpPr/>
          <p:nvPr>
            <p:custDataLst>
              <p:tags r:id="rId1"/>
            </p:custDataLst>
          </p:nvPr>
        </p:nvSpPr>
        <p:spPr>
          <a:xfrm>
            <a:off x="587402" y="1125280"/>
            <a:ext cx="2833370" cy="583565"/>
          </a:xfrm>
          <a:prstGeom prst="rect">
            <a:avLst/>
          </a:prstGeom>
        </p:spPr>
        <p:txBody>
          <a:bodyPr wrap="none">
            <a:spAutoFit/>
          </a:bodyPr>
          <a:lstStyle/>
          <a:p>
            <a:pPr algn="l"/>
            <a:r>
              <a:rPr lang="en-US" altLang="zh-CN" sz="3200" b="1" dirty="0">
                <a:solidFill>
                  <a:srgbClr val="3399FF"/>
                </a:solidFill>
              </a:rPr>
              <a:t>8.3.</a:t>
            </a:r>
            <a:r>
              <a:rPr lang="en-US" sz="3200" b="1" dirty="0">
                <a:solidFill>
                  <a:srgbClr val="3399FF"/>
                </a:solidFill>
              </a:rPr>
              <a:t>2 </a:t>
            </a:r>
            <a:r>
              <a:rPr lang="zh-CN" altLang="en-US" sz="3200" b="1" dirty="0">
                <a:solidFill>
                  <a:srgbClr val="3399FF"/>
                </a:solidFill>
              </a:rPr>
              <a:t>实证分析</a:t>
            </a:r>
          </a:p>
        </p:txBody>
      </p:sp>
      <p:pic>
        <p:nvPicPr>
          <p:cNvPr id="4" name="图片 3"/>
          <p:cNvPicPr>
            <a:picLocks noChangeAspect="1"/>
          </p:cNvPicPr>
          <p:nvPr/>
        </p:nvPicPr>
        <p:blipFill>
          <a:blip r:embed="rId4"/>
          <a:stretch>
            <a:fillRect/>
          </a:stretch>
        </p:blipFill>
        <p:spPr>
          <a:xfrm>
            <a:off x="3771900" y="1129665"/>
            <a:ext cx="5069840" cy="5733415"/>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8.3</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对应分析计算步骤</a:t>
            </a:r>
          </a:p>
        </p:txBody>
      </p:sp>
      <p:sp>
        <p:nvSpPr>
          <p:cNvPr id="11" name="右箭头 10"/>
          <p:cNvSpPr/>
          <p:nvPr/>
        </p:nvSpPr>
        <p:spPr>
          <a:xfrm>
            <a:off x="559054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pic>
        <p:nvPicPr>
          <p:cNvPr id="12" name="图片 11"/>
          <p:cNvPicPr>
            <a:picLocks noChangeAspect="1"/>
          </p:cNvPicPr>
          <p:nvPr>
            <p:custDataLst>
              <p:tags r:id="rId1"/>
            </p:custDataLst>
          </p:nvPr>
        </p:nvPicPr>
        <p:blipFill>
          <a:blip r:embed="rId4"/>
          <a:stretch>
            <a:fillRect/>
          </a:stretch>
        </p:blipFill>
        <p:spPr>
          <a:xfrm>
            <a:off x="1271905" y="5399405"/>
            <a:ext cx="8855075" cy="1234440"/>
          </a:xfrm>
          <a:prstGeom prst="rect">
            <a:avLst/>
          </a:prstGeom>
        </p:spPr>
      </p:pic>
      <p:pic>
        <p:nvPicPr>
          <p:cNvPr id="13" name="图片 12"/>
          <p:cNvPicPr>
            <a:picLocks noChangeAspect="1"/>
          </p:cNvPicPr>
          <p:nvPr/>
        </p:nvPicPr>
        <p:blipFill>
          <a:blip r:embed="rId5"/>
          <a:stretch>
            <a:fillRect/>
          </a:stretch>
        </p:blipFill>
        <p:spPr>
          <a:xfrm>
            <a:off x="1307465" y="1176020"/>
            <a:ext cx="9208135" cy="4223385"/>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8.3</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对应分析计算步骤</a:t>
            </a:r>
          </a:p>
        </p:txBody>
      </p:sp>
      <p:sp>
        <p:nvSpPr>
          <p:cNvPr id="11" name="右箭头 10"/>
          <p:cNvSpPr/>
          <p:nvPr/>
        </p:nvSpPr>
        <p:spPr>
          <a:xfrm>
            <a:off x="559054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pic>
        <p:nvPicPr>
          <p:cNvPr id="5" name="图片 4"/>
          <p:cNvPicPr>
            <a:picLocks noChangeAspect="1"/>
          </p:cNvPicPr>
          <p:nvPr/>
        </p:nvPicPr>
        <p:blipFill>
          <a:blip r:embed="rId6"/>
          <a:stretch>
            <a:fillRect/>
          </a:stretch>
        </p:blipFill>
        <p:spPr>
          <a:xfrm>
            <a:off x="3432175" y="1129665"/>
            <a:ext cx="6153150" cy="5699125"/>
          </a:xfrm>
          <a:prstGeom prst="rect">
            <a:avLst/>
          </a:prstGeom>
        </p:spPr>
      </p:pic>
      <p:sp>
        <p:nvSpPr>
          <p:cNvPr id="8" name="矩形 7"/>
          <p:cNvSpPr/>
          <p:nvPr>
            <p:custDataLst>
              <p:tags r:id="rId1"/>
            </p:custDataLst>
          </p:nvPr>
        </p:nvSpPr>
        <p:spPr>
          <a:xfrm>
            <a:off x="587402" y="1125280"/>
            <a:ext cx="2833370" cy="583565"/>
          </a:xfrm>
          <a:prstGeom prst="rect">
            <a:avLst/>
          </a:prstGeom>
        </p:spPr>
        <p:txBody>
          <a:bodyPr wrap="none">
            <a:spAutoFit/>
          </a:bodyPr>
          <a:lstStyle/>
          <a:p>
            <a:pPr algn="l"/>
            <a:r>
              <a:rPr lang="en-US" altLang="zh-CN" sz="3200" b="1" dirty="0">
                <a:solidFill>
                  <a:srgbClr val="3399FF"/>
                </a:solidFill>
              </a:rPr>
              <a:t>8.3.</a:t>
            </a:r>
            <a:r>
              <a:rPr lang="en-US" sz="3200" b="1" dirty="0">
                <a:solidFill>
                  <a:srgbClr val="3399FF"/>
                </a:solidFill>
              </a:rPr>
              <a:t>2 </a:t>
            </a:r>
            <a:r>
              <a:rPr lang="zh-CN" altLang="en-US" sz="3200" b="1" dirty="0">
                <a:solidFill>
                  <a:srgbClr val="3399FF"/>
                </a:solidFill>
              </a:rPr>
              <a:t>实证分析</a:t>
            </a:r>
          </a:p>
        </p:txBody>
      </p:sp>
      <p:pic>
        <p:nvPicPr>
          <p:cNvPr id="15" name="图片 14"/>
          <p:cNvPicPr>
            <a:picLocks noChangeAspect="1"/>
          </p:cNvPicPr>
          <p:nvPr/>
        </p:nvPicPr>
        <p:blipFill>
          <a:blip r:embed="rId7"/>
          <a:stretch>
            <a:fillRect/>
          </a:stretch>
        </p:blipFill>
        <p:spPr>
          <a:xfrm>
            <a:off x="4113530" y="2471420"/>
            <a:ext cx="6881495" cy="4271645"/>
          </a:xfrm>
          <a:prstGeom prst="rect">
            <a:avLst/>
          </a:prstGeom>
        </p:spPr>
      </p:pic>
      <p:pic>
        <p:nvPicPr>
          <p:cNvPr id="18" name="图片 17"/>
          <p:cNvPicPr>
            <a:picLocks noChangeAspect="1"/>
          </p:cNvPicPr>
          <p:nvPr>
            <p:custDataLst>
              <p:tags r:id="rId2"/>
            </p:custDataLst>
          </p:nvPr>
        </p:nvPicPr>
        <p:blipFill>
          <a:blip r:embed="rId8"/>
          <a:stretch>
            <a:fillRect/>
          </a:stretch>
        </p:blipFill>
        <p:spPr>
          <a:xfrm>
            <a:off x="9585325" y="1124585"/>
            <a:ext cx="1409700" cy="45720"/>
          </a:xfrm>
          <a:prstGeom prst="rect">
            <a:avLst/>
          </a:prstGeom>
        </p:spPr>
      </p:pic>
      <p:pic>
        <p:nvPicPr>
          <p:cNvPr id="19" name="图片 18"/>
          <p:cNvPicPr>
            <a:picLocks noChangeAspect="1"/>
          </p:cNvPicPr>
          <p:nvPr>
            <p:custDataLst>
              <p:tags r:id="rId3"/>
            </p:custDataLst>
          </p:nvPr>
        </p:nvPicPr>
        <p:blipFill>
          <a:blip r:embed="rId8"/>
          <a:stretch>
            <a:fillRect/>
          </a:stretch>
        </p:blipFill>
        <p:spPr>
          <a:xfrm>
            <a:off x="9552305" y="6764655"/>
            <a:ext cx="1409700" cy="45720"/>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8.3</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对应分析计算步骤</a:t>
            </a:r>
          </a:p>
        </p:txBody>
      </p:sp>
      <p:sp>
        <p:nvSpPr>
          <p:cNvPr id="11" name="右箭头 10"/>
          <p:cNvSpPr/>
          <p:nvPr/>
        </p:nvSpPr>
        <p:spPr>
          <a:xfrm>
            <a:off x="559054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sp>
        <p:nvSpPr>
          <p:cNvPr id="8" name="矩形 7"/>
          <p:cNvSpPr/>
          <p:nvPr>
            <p:custDataLst>
              <p:tags r:id="rId1"/>
            </p:custDataLst>
          </p:nvPr>
        </p:nvSpPr>
        <p:spPr>
          <a:xfrm>
            <a:off x="587402" y="1125280"/>
            <a:ext cx="2833370" cy="583565"/>
          </a:xfrm>
          <a:prstGeom prst="rect">
            <a:avLst/>
          </a:prstGeom>
        </p:spPr>
        <p:txBody>
          <a:bodyPr wrap="none">
            <a:spAutoFit/>
          </a:bodyPr>
          <a:lstStyle/>
          <a:p>
            <a:pPr algn="l"/>
            <a:r>
              <a:rPr lang="en-US" altLang="zh-CN" sz="3200" b="1" dirty="0">
                <a:solidFill>
                  <a:srgbClr val="3399FF"/>
                </a:solidFill>
              </a:rPr>
              <a:t>8.3.</a:t>
            </a:r>
            <a:r>
              <a:rPr lang="en-US" sz="3200" b="1" dirty="0">
                <a:solidFill>
                  <a:srgbClr val="3399FF"/>
                </a:solidFill>
              </a:rPr>
              <a:t>2 </a:t>
            </a:r>
            <a:r>
              <a:rPr lang="zh-CN" altLang="en-US" sz="3200" b="1" dirty="0">
                <a:solidFill>
                  <a:srgbClr val="3399FF"/>
                </a:solidFill>
              </a:rPr>
              <a:t>实证分析</a:t>
            </a:r>
          </a:p>
        </p:txBody>
      </p:sp>
      <p:pic>
        <p:nvPicPr>
          <p:cNvPr id="4" name="图片 3"/>
          <p:cNvPicPr>
            <a:picLocks noChangeAspect="1"/>
          </p:cNvPicPr>
          <p:nvPr/>
        </p:nvPicPr>
        <p:blipFill>
          <a:blip r:embed="rId4"/>
          <a:stretch>
            <a:fillRect/>
          </a:stretch>
        </p:blipFill>
        <p:spPr>
          <a:xfrm>
            <a:off x="911860" y="1628775"/>
            <a:ext cx="10947400" cy="5138420"/>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8.3</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对应分析计算步骤</a:t>
            </a:r>
          </a:p>
        </p:txBody>
      </p:sp>
      <p:sp>
        <p:nvSpPr>
          <p:cNvPr id="11" name="右箭头 10"/>
          <p:cNvSpPr/>
          <p:nvPr/>
        </p:nvSpPr>
        <p:spPr>
          <a:xfrm>
            <a:off x="559054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pic>
        <p:nvPicPr>
          <p:cNvPr id="5" name="图片 4"/>
          <p:cNvPicPr>
            <a:picLocks noChangeAspect="1"/>
          </p:cNvPicPr>
          <p:nvPr>
            <p:custDataLst>
              <p:tags r:id="rId1"/>
            </p:custDataLst>
          </p:nvPr>
        </p:nvPicPr>
        <p:blipFill>
          <a:blip r:embed="rId5"/>
          <a:stretch>
            <a:fillRect/>
          </a:stretch>
        </p:blipFill>
        <p:spPr>
          <a:xfrm>
            <a:off x="695960" y="1015365"/>
            <a:ext cx="10903585" cy="1570990"/>
          </a:xfrm>
          <a:prstGeom prst="rect">
            <a:avLst/>
          </a:prstGeom>
        </p:spPr>
      </p:pic>
      <p:pic>
        <p:nvPicPr>
          <p:cNvPr id="7" name="图片 6"/>
          <p:cNvPicPr>
            <a:picLocks noChangeAspect="1"/>
          </p:cNvPicPr>
          <p:nvPr/>
        </p:nvPicPr>
        <p:blipFill>
          <a:blip r:embed="rId6"/>
          <a:stretch>
            <a:fillRect/>
          </a:stretch>
        </p:blipFill>
        <p:spPr>
          <a:xfrm>
            <a:off x="2352040" y="2204720"/>
            <a:ext cx="7233920" cy="4271645"/>
          </a:xfrm>
          <a:prstGeom prst="rect">
            <a:avLst/>
          </a:prstGeom>
        </p:spPr>
      </p:pic>
      <p:pic>
        <p:nvPicPr>
          <p:cNvPr id="12" name="图片 11"/>
          <p:cNvPicPr>
            <a:picLocks noChangeAspect="1"/>
          </p:cNvPicPr>
          <p:nvPr>
            <p:custDataLst>
              <p:tags r:id="rId2"/>
            </p:custDataLst>
          </p:nvPr>
        </p:nvPicPr>
        <p:blipFill>
          <a:blip r:embed="rId7"/>
          <a:stretch>
            <a:fillRect/>
          </a:stretch>
        </p:blipFill>
        <p:spPr>
          <a:xfrm>
            <a:off x="2416175" y="6452870"/>
            <a:ext cx="7232015" cy="86995"/>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8.3</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对应分析计算步骤</a:t>
            </a:r>
          </a:p>
        </p:txBody>
      </p:sp>
      <p:sp>
        <p:nvSpPr>
          <p:cNvPr id="11" name="右箭头 10"/>
          <p:cNvSpPr/>
          <p:nvPr/>
        </p:nvSpPr>
        <p:spPr>
          <a:xfrm>
            <a:off x="559054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pic>
        <p:nvPicPr>
          <p:cNvPr id="12" name="图片 11"/>
          <p:cNvPicPr>
            <a:picLocks noChangeAspect="1"/>
          </p:cNvPicPr>
          <p:nvPr>
            <p:custDataLst>
              <p:tags r:id="rId1"/>
            </p:custDataLst>
          </p:nvPr>
        </p:nvPicPr>
        <p:blipFill>
          <a:blip r:embed="rId4"/>
          <a:stretch>
            <a:fillRect/>
          </a:stretch>
        </p:blipFill>
        <p:spPr>
          <a:xfrm>
            <a:off x="2642870" y="1329055"/>
            <a:ext cx="6985000" cy="83820"/>
          </a:xfrm>
          <a:prstGeom prst="rect">
            <a:avLst/>
          </a:prstGeom>
        </p:spPr>
      </p:pic>
      <p:pic>
        <p:nvPicPr>
          <p:cNvPr id="4" name="图片 3"/>
          <p:cNvPicPr>
            <a:picLocks noChangeAspect="1"/>
          </p:cNvPicPr>
          <p:nvPr/>
        </p:nvPicPr>
        <p:blipFill>
          <a:blip r:embed="rId5"/>
          <a:stretch>
            <a:fillRect/>
          </a:stretch>
        </p:blipFill>
        <p:spPr>
          <a:xfrm>
            <a:off x="2642870" y="1381125"/>
            <a:ext cx="6920230" cy="5004435"/>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8.3</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对应分析计算步骤</a:t>
            </a:r>
          </a:p>
        </p:txBody>
      </p:sp>
      <p:sp>
        <p:nvSpPr>
          <p:cNvPr id="11" name="右箭头 10"/>
          <p:cNvSpPr/>
          <p:nvPr/>
        </p:nvSpPr>
        <p:spPr>
          <a:xfrm>
            <a:off x="559181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pic>
        <p:nvPicPr>
          <p:cNvPr id="10" name="图片 9"/>
          <p:cNvPicPr>
            <a:picLocks noChangeAspect="1"/>
          </p:cNvPicPr>
          <p:nvPr/>
        </p:nvPicPr>
        <p:blipFill>
          <a:blip r:embed="rId3"/>
          <a:stretch>
            <a:fillRect/>
          </a:stretch>
        </p:blipFill>
        <p:spPr>
          <a:xfrm>
            <a:off x="2403475" y="1083310"/>
            <a:ext cx="4740910" cy="3942715"/>
          </a:xfrm>
          <a:prstGeom prst="rect">
            <a:avLst/>
          </a:prstGeom>
        </p:spPr>
      </p:pic>
      <p:pic>
        <p:nvPicPr>
          <p:cNvPr id="12" name="图片 11"/>
          <p:cNvPicPr>
            <a:picLocks noChangeAspect="1"/>
          </p:cNvPicPr>
          <p:nvPr/>
        </p:nvPicPr>
        <p:blipFill>
          <a:blip r:embed="rId4"/>
          <a:stretch>
            <a:fillRect/>
          </a:stretch>
        </p:blipFill>
        <p:spPr>
          <a:xfrm>
            <a:off x="2362835" y="5031740"/>
            <a:ext cx="4907280" cy="1783080"/>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167755"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8.3</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对应分析计算步骤</a:t>
            </a:r>
          </a:p>
        </p:txBody>
      </p:sp>
      <p:sp>
        <p:nvSpPr>
          <p:cNvPr id="11" name="右箭头 10"/>
          <p:cNvSpPr/>
          <p:nvPr/>
        </p:nvSpPr>
        <p:spPr>
          <a:xfrm>
            <a:off x="559054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pic>
        <p:nvPicPr>
          <p:cNvPr id="4" name="图片 3"/>
          <p:cNvPicPr>
            <a:picLocks noChangeAspect="1"/>
          </p:cNvPicPr>
          <p:nvPr/>
        </p:nvPicPr>
        <p:blipFill>
          <a:blip r:embed="rId6"/>
          <a:stretch>
            <a:fillRect/>
          </a:stretch>
        </p:blipFill>
        <p:spPr>
          <a:xfrm>
            <a:off x="2489835" y="1047115"/>
            <a:ext cx="5416550" cy="5717540"/>
          </a:xfrm>
          <a:prstGeom prst="rect">
            <a:avLst/>
          </a:prstGeom>
        </p:spPr>
      </p:pic>
      <p:pic>
        <p:nvPicPr>
          <p:cNvPr id="5" name="图片 4"/>
          <p:cNvPicPr>
            <a:picLocks noChangeAspect="1"/>
          </p:cNvPicPr>
          <p:nvPr/>
        </p:nvPicPr>
        <p:blipFill>
          <a:blip r:embed="rId7"/>
          <a:stretch>
            <a:fillRect/>
          </a:stretch>
        </p:blipFill>
        <p:spPr>
          <a:xfrm>
            <a:off x="3143885" y="2564765"/>
            <a:ext cx="6743700" cy="4110990"/>
          </a:xfrm>
          <a:prstGeom prst="rect">
            <a:avLst/>
          </a:prstGeom>
        </p:spPr>
      </p:pic>
      <p:pic>
        <p:nvPicPr>
          <p:cNvPr id="13" name="图片 12"/>
          <p:cNvPicPr>
            <a:picLocks noChangeAspect="1"/>
          </p:cNvPicPr>
          <p:nvPr>
            <p:custDataLst>
              <p:tags r:id="rId1"/>
            </p:custDataLst>
          </p:nvPr>
        </p:nvPicPr>
        <p:blipFill>
          <a:blip r:embed="rId8"/>
          <a:stretch>
            <a:fillRect/>
          </a:stretch>
        </p:blipFill>
        <p:spPr>
          <a:xfrm flipV="1">
            <a:off x="7906385" y="1437640"/>
            <a:ext cx="2468880" cy="76200"/>
          </a:xfrm>
          <a:prstGeom prst="rect">
            <a:avLst/>
          </a:prstGeom>
        </p:spPr>
      </p:pic>
      <p:pic>
        <p:nvPicPr>
          <p:cNvPr id="14" name="图片 13"/>
          <p:cNvPicPr>
            <a:picLocks noChangeAspect="1"/>
          </p:cNvPicPr>
          <p:nvPr>
            <p:custDataLst>
              <p:tags r:id="rId2"/>
            </p:custDataLst>
          </p:nvPr>
        </p:nvPicPr>
        <p:blipFill>
          <a:blip r:embed="rId8"/>
          <a:stretch>
            <a:fillRect/>
          </a:stretch>
        </p:blipFill>
        <p:spPr>
          <a:xfrm>
            <a:off x="7896225" y="6680835"/>
            <a:ext cx="2559050" cy="83820"/>
          </a:xfrm>
          <a:prstGeom prst="rect">
            <a:avLst/>
          </a:prstGeom>
        </p:spPr>
      </p:pic>
      <p:pic>
        <p:nvPicPr>
          <p:cNvPr id="15" name="图片 14"/>
          <p:cNvPicPr>
            <a:picLocks noChangeAspect="1"/>
          </p:cNvPicPr>
          <p:nvPr>
            <p:custDataLst>
              <p:tags r:id="rId3"/>
            </p:custDataLst>
          </p:nvPr>
        </p:nvPicPr>
        <p:blipFill>
          <a:blip r:embed="rId8"/>
          <a:stretch>
            <a:fillRect/>
          </a:stretch>
        </p:blipFill>
        <p:spPr>
          <a:xfrm flipV="1">
            <a:off x="7896225" y="1223010"/>
            <a:ext cx="2459355" cy="76200"/>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240145" y="258445"/>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8.3</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对应分析计算步骤</a:t>
            </a:r>
          </a:p>
        </p:txBody>
      </p:sp>
      <p:sp>
        <p:nvSpPr>
          <p:cNvPr id="11" name="右箭头 10"/>
          <p:cNvSpPr/>
          <p:nvPr/>
        </p:nvSpPr>
        <p:spPr>
          <a:xfrm>
            <a:off x="5662295"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pic>
        <p:nvPicPr>
          <p:cNvPr id="8" name="图片 7"/>
          <p:cNvPicPr>
            <a:picLocks noChangeAspect="1"/>
          </p:cNvPicPr>
          <p:nvPr/>
        </p:nvPicPr>
        <p:blipFill>
          <a:blip r:embed="rId4"/>
          <a:stretch>
            <a:fillRect/>
          </a:stretch>
        </p:blipFill>
        <p:spPr>
          <a:xfrm>
            <a:off x="624205" y="1701165"/>
            <a:ext cx="7976870" cy="4763135"/>
          </a:xfrm>
          <a:prstGeom prst="rect">
            <a:avLst/>
          </a:prstGeom>
        </p:spPr>
      </p:pic>
      <p:sp>
        <p:nvSpPr>
          <p:cNvPr id="13" name="矩形 12"/>
          <p:cNvSpPr/>
          <p:nvPr>
            <p:custDataLst>
              <p:tags r:id="rId1"/>
            </p:custDataLst>
          </p:nvPr>
        </p:nvSpPr>
        <p:spPr>
          <a:xfrm>
            <a:off x="587402" y="1125280"/>
            <a:ext cx="2833370" cy="583565"/>
          </a:xfrm>
          <a:prstGeom prst="rect">
            <a:avLst/>
          </a:prstGeom>
        </p:spPr>
        <p:txBody>
          <a:bodyPr wrap="none">
            <a:spAutoFit/>
          </a:bodyPr>
          <a:lstStyle/>
          <a:p>
            <a:pPr algn="l"/>
            <a:r>
              <a:rPr lang="en-US" altLang="zh-CN" sz="3200" b="1" dirty="0">
                <a:solidFill>
                  <a:srgbClr val="3399FF"/>
                </a:solidFill>
              </a:rPr>
              <a:t>8.3.</a:t>
            </a:r>
            <a:r>
              <a:rPr lang="en-US" sz="3200" b="1" dirty="0">
                <a:solidFill>
                  <a:srgbClr val="3399FF"/>
                </a:solidFill>
              </a:rPr>
              <a:t>2 </a:t>
            </a:r>
            <a:r>
              <a:rPr lang="zh-CN" altLang="en-US" sz="3200" b="1" dirty="0">
                <a:solidFill>
                  <a:srgbClr val="3399FF"/>
                </a:solidFill>
              </a:rPr>
              <a:t>实证分析</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en-US" altLang="zh-CN"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240145" y="254000"/>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8.4</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对应分析注意事项</a:t>
            </a:r>
          </a:p>
        </p:txBody>
      </p:sp>
      <p:sp>
        <p:nvSpPr>
          <p:cNvPr id="11" name="右箭头 10"/>
          <p:cNvSpPr/>
          <p:nvPr/>
        </p:nvSpPr>
        <p:spPr>
          <a:xfrm>
            <a:off x="5663565"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pic>
        <p:nvPicPr>
          <p:cNvPr id="4" name="图片 3"/>
          <p:cNvPicPr>
            <a:picLocks noChangeAspect="1"/>
          </p:cNvPicPr>
          <p:nvPr/>
        </p:nvPicPr>
        <p:blipFill>
          <a:blip r:embed="rId3"/>
          <a:stretch>
            <a:fillRect/>
          </a:stretch>
        </p:blipFill>
        <p:spPr>
          <a:xfrm>
            <a:off x="1188085" y="1047115"/>
            <a:ext cx="9894570" cy="5764530"/>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460375"/>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4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4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8：对应分析在农民收入中的应用</a:t>
            </a:r>
          </a:p>
        </p:txBody>
      </p:sp>
      <p:sp>
        <p:nvSpPr>
          <p:cNvPr id="11" name="右箭头 10"/>
          <p:cNvSpPr/>
          <p:nvPr/>
        </p:nvSpPr>
        <p:spPr>
          <a:xfrm>
            <a:off x="544703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pic>
        <p:nvPicPr>
          <p:cNvPr id="7" name="图片 6"/>
          <p:cNvPicPr>
            <a:picLocks noChangeAspect="1"/>
          </p:cNvPicPr>
          <p:nvPr>
            <p:custDataLst>
              <p:tags r:id="rId1"/>
            </p:custDataLst>
          </p:nvPr>
        </p:nvPicPr>
        <p:blipFill>
          <a:blip r:embed="rId4"/>
          <a:stretch>
            <a:fillRect/>
          </a:stretch>
        </p:blipFill>
        <p:spPr>
          <a:xfrm>
            <a:off x="479425" y="1052830"/>
            <a:ext cx="1744980" cy="358140"/>
          </a:xfrm>
          <a:prstGeom prst="rect">
            <a:avLst/>
          </a:prstGeom>
        </p:spPr>
      </p:pic>
      <p:pic>
        <p:nvPicPr>
          <p:cNvPr id="10" name="图片 9"/>
          <p:cNvPicPr>
            <a:picLocks noChangeAspect="1"/>
          </p:cNvPicPr>
          <p:nvPr/>
        </p:nvPicPr>
        <p:blipFill>
          <a:blip r:embed="rId5"/>
          <a:stretch>
            <a:fillRect/>
          </a:stretch>
        </p:blipFill>
        <p:spPr>
          <a:xfrm>
            <a:off x="479425" y="1412875"/>
            <a:ext cx="9767570" cy="5399405"/>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460375"/>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4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4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8：对应分析在农民收入中的应用</a:t>
            </a:r>
          </a:p>
        </p:txBody>
      </p:sp>
      <p:sp>
        <p:nvSpPr>
          <p:cNvPr id="11" name="右箭头 10"/>
          <p:cNvSpPr/>
          <p:nvPr/>
        </p:nvSpPr>
        <p:spPr>
          <a:xfrm>
            <a:off x="544703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pic>
        <p:nvPicPr>
          <p:cNvPr id="4" name="图片 3"/>
          <p:cNvPicPr>
            <a:picLocks noChangeAspect="1"/>
          </p:cNvPicPr>
          <p:nvPr/>
        </p:nvPicPr>
        <p:blipFill>
          <a:blip r:embed="rId3"/>
          <a:stretch>
            <a:fillRect/>
          </a:stretch>
        </p:blipFill>
        <p:spPr>
          <a:xfrm>
            <a:off x="479425" y="1191260"/>
            <a:ext cx="10279380" cy="3569970"/>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460375"/>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4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4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8：对应分析在农民收入中的应用</a:t>
            </a:r>
          </a:p>
        </p:txBody>
      </p:sp>
      <p:sp>
        <p:nvSpPr>
          <p:cNvPr id="11" name="右箭头 10"/>
          <p:cNvSpPr/>
          <p:nvPr/>
        </p:nvSpPr>
        <p:spPr>
          <a:xfrm>
            <a:off x="544703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pic>
        <p:nvPicPr>
          <p:cNvPr id="5" name="图片 4"/>
          <p:cNvPicPr>
            <a:picLocks noChangeAspect="1"/>
          </p:cNvPicPr>
          <p:nvPr/>
        </p:nvPicPr>
        <p:blipFill>
          <a:blip r:embed="rId3"/>
          <a:stretch>
            <a:fillRect/>
          </a:stretch>
        </p:blipFill>
        <p:spPr>
          <a:xfrm>
            <a:off x="2063750" y="1047115"/>
            <a:ext cx="7432675" cy="5784215"/>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460375"/>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4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4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8：对应分析在农民收入中的应用</a:t>
            </a:r>
          </a:p>
        </p:txBody>
      </p:sp>
      <p:sp>
        <p:nvSpPr>
          <p:cNvPr id="11" name="右箭头 10"/>
          <p:cNvSpPr/>
          <p:nvPr/>
        </p:nvSpPr>
        <p:spPr>
          <a:xfrm>
            <a:off x="544703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pic>
        <p:nvPicPr>
          <p:cNvPr id="10" name="图片 9"/>
          <p:cNvPicPr>
            <a:picLocks noChangeAspect="1"/>
          </p:cNvPicPr>
          <p:nvPr>
            <p:custDataLst>
              <p:tags r:id="rId1"/>
            </p:custDataLst>
          </p:nvPr>
        </p:nvPicPr>
        <p:blipFill>
          <a:blip r:embed="rId5"/>
          <a:stretch>
            <a:fillRect/>
          </a:stretch>
        </p:blipFill>
        <p:spPr>
          <a:xfrm>
            <a:off x="0" y="1047115"/>
            <a:ext cx="6248400" cy="784860"/>
          </a:xfrm>
          <a:prstGeom prst="rect">
            <a:avLst/>
          </a:prstGeom>
        </p:spPr>
      </p:pic>
      <p:pic>
        <p:nvPicPr>
          <p:cNvPr id="12" name="图片 11"/>
          <p:cNvPicPr>
            <a:picLocks noChangeAspect="1"/>
          </p:cNvPicPr>
          <p:nvPr>
            <p:custDataLst>
              <p:tags r:id="rId2"/>
            </p:custDataLst>
          </p:nvPr>
        </p:nvPicPr>
        <p:blipFill>
          <a:blip r:embed="rId6"/>
          <a:stretch>
            <a:fillRect/>
          </a:stretch>
        </p:blipFill>
        <p:spPr>
          <a:xfrm>
            <a:off x="68580" y="1866900"/>
            <a:ext cx="6227445" cy="953770"/>
          </a:xfrm>
          <a:prstGeom prst="rect">
            <a:avLst/>
          </a:prstGeom>
        </p:spPr>
      </p:pic>
      <p:pic>
        <p:nvPicPr>
          <p:cNvPr id="13" name="图片 12"/>
          <p:cNvPicPr>
            <a:picLocks noChangeAspect="1"/>
          </p:cNvPicPr>
          <p:nvPr/>
        </p:nvPicPr>
        <p:blipFill>
          <a:blip r:embed="rId7"/>
          <a:stretch>
            <a:fillRect/>
          </a:stretch>
        </p:blipFill>
        <p:spPr>
          <a:xfrm>
            <a:off x="6248400" y="1052830"/>
            <a:ext cx="5859780" cy="5452110"/>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460375"/>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4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4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8：对应分析在农民收入中的应用</a:t>
            </a:r>
          </a:p>
        </p:txBody>
      </p:sp>
      <p:sp>
        <p:nvSpPr>
          <p:cNvPr id="11" name="右箭头 10"/>
          <p:cNvSpPr/>
          <p:nvPr/>
        </p:nvSpPr>
        <p:spPr>
          <a:xfrm>
            <a:off x="544703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pic>
        <p:nvPicPr>
          <p:cNvPr id="4" name="图片 3"/>
          <p:cNvPicPr>
            <a:picLocks noChangeAspect="1"/>
          </p:cNvPicPr>
          <p:nvPr>
            <p:custDataLst>
              <p:tags r:id="rId1"/>
            </p:custDataLst>
          </p:nvPr>
        </p:nvPicPr>
        <p:blipFill>
          <a:blip r:embed="rId5"/>
          <a:stretch>
            <a:fillRect/>
          </a:stretch>
        </p:blipFill>
        <p:spPr>
          <a:xfrm>
            <a:off x="335915" y="1128395"/>
            <a:ext cx="2332355" cy="340360"/>
          </a:xfrm>
          <a:prstGeom prst="rect">
            <a:avLst/>
          </a:prstGeom>
        </p:spPr>
      </p:pic>
      <p:pic>
        <p:nvPicPr>
          <p:cNvPr id="7" name="图片 6"/>
          <p:cNvPicPr>
            <a:picLocks noChangeAspect="1"/>
          </p:cNvPicPr>
          <p:nvPr>
            <p:custDataLst>
              <p:tags r:id="rId2"/>
            </p:custDataLst>
          </p:nvPr>
        </p:nvPicPr>
        <p:blipFill>
          <a:blip r:embed="rId6"/>
          <a:stretch>
            <a:fillRect/>
          </a:stretch>
        </p:blipFill>
        <p:spPr>
          <a:xfrm>
            <a:off x="335915" y="1484630"/>
            <a:ext cx="10253345" cy="1874520"/>
          </a:xfrm>
          <a:prstGeom prst="rect">
            <a:avLst/>
          </a:prstGeom>
        </p:spPr>
      </p:pic>
      <p:pic>
        <p:nvPicPr>
          <p:cNvPr id="8" name="图片 7"/>
          <p:cNvPicPr>
            <a:picLocks noChangeAspect="1"/>
          </p:cNvPicPr>
          <p:nvPr/>
        </p:nvPicPr>
        <p:blipFill>
          <a:blip r:embed="rId7"/>
          <a:stretch>
            <a:fillRect/>
          </a:stretch>
        </p:blipFill>
        <p:spPr>
          <a:xfrm>
            <a:off x="2783840" y="3068955"/>
            <a:ext cx="5409565" cy="3692525"/>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460375"/>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4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4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8：对应分析在农民收入中的应用</a:t>
            </a:r>
          </a:p>
        </p:txBody>
      </p:sp>
      <p:sp>
        <p:nvSpPr>
          <p:cNvPr id="11" name="右箭头 10"/>
          <p:cNvSpPr/>
          <p:nvPr/>
        </p:nvSpPr>
        <p:spPr>
          <a:xfrm>
            <a:off x="544703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pic>
        <p:nvPicPr>
          <p:cNvPr id="4" name="图片 3"/>
          <p:cNvPicPr>
            <a:picLocks noChangeAspect="1"/>
          </p:cNvPicPr>
          <p:nvPr>
            <p:custDataLst>
              <p:tags r:id="rId1"/>
            </p:custDataLst>
          </p:nvPr>
        </p:nvPicPr>
        <p:blipFill>
          <a:blip r:embed="rId4"/>
          <a:stretch>
            <a:fillRect/>
          </a:stretch>
        </p:blipFill>
        <p:spPr>
          <a:xfrm>
            <a:off x="335915" y="1196975"/>
            <a:ext cx="2248535" cy="328295"/>
          </a:xfrm>
          <a:prstGeom prst="rect">
            <a:avLst/>
          </a:prstGeom>
        </p:spPr>
      </p:pic>
      <p:pic>
        <p:nvPicPr>
          <p:cNvPr id="5" name="图片 4"/>
          <p:cNvPicPr>
            <a:picLocks noChangeAspect="1"/>
          </p:cNvPicPr>
          <p:nvPr/>
        </p:nvPicPr>
        <p:blipFill>
          <a:blip r:embed="rId5"/>
          <a:stretch>
            <a:fillRect/>
          </a:stretch>
        </p:blipFill>
        <p:spPr>
          <a:xfrm>
            <a:off x="263525" y="1701165"/>
            <a:ext cx="11884025" cy="2542540"/>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460375"/>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4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4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8：对应分析在农民收入中的应用</a:t>
            </a:r>
          </a:p>
        </p:txBody>
      </p:sp>
      <p:sp>
        <p:nvSpPr>
          <p:cNvPr id="11" name="右箭头 10"/>
          <p:cNvSpPr/>
          <p:nvPr/>
        </p:nvSpPr>
        <p:spPr>
          <a:xfrm>
            <a:off x="544703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pic>
        <p:nvPicPr>
          <p:cNvPr id="7" name="图片 6"/>
          <p:cNvPicPr>
            <a:picLocks noChangeAspect="1"/>
          </p:cNvPicPr>
          <p:nvPr/>
        </p:nvPicPr>
        <p:blipFill>
          <a:blip r:embed="rId3"/>
          <a:stretch>
            <a:fillRect/>
          </a:stretch>
        </p:blipFill>
        <p:spPr>
          <a:xfrm>
            <a:off x="463550" y="1191260"/>
            <a:ext cx="11536680" cy="5386070"/>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460375"/>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4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4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8：对应分析在农民收入中的应用</a:t>
            </a:r>
          </a:p>
        </p:txBody>
      </p:sp>
      <p:sp>
        <p:nvSpPr>
          <p:cNvPr id="11" name="右箭头 10"/>
          <p:cNvSpPr/>
          <p:nvPr/>
        </p:nvSpPr>
        <p:spPr>
          <a:xfrm>
            <a:off x="544703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pic>
        <p:nvPicPr>
          <p:cNvPr id="4" name="图片 3"/>
          <p:cNvPicPr>
            <a:picLocks noChangeAspect="1"/>
          </p:cNvPicPr>
          <p:nvPr>
            <p:custDataLst>
              <p:tags r:id="rId1"/>
            </p:custDataLst>
          </p:nvPr>
        </p:nvPicPr>
        <p:blipFill>
          <a:blip r:embed="rId6"/>
          <a:stretch>
            <a:fillRect/>
          </a:stretch>
        </p:blipFill>
        <p:spPr>
          <a:xfrm>
            <a:off x="278130" y="1191260"/>
            <a:ext cx="5099050" cy="1713230"/>
          </a:xfrm>
          <a:prstGeom prst="rect">
            <a:avLst/>
          </a:prstGeom>
        </p:spPr>
      </p:pic>
      <p:pic>
        <p:nvPicPr>
          <p:cNvPr id="5" name="图片 4"/>
          <p:cNvPicPr>
            <a:picLocks noChangeAspect="1"/>
          </p:cNvPicPr>
          <p:nvPr>
            <p:custDataLst>
              <p:tags r:id="rId2"/>
            </p:custDataLst>
          </p:nvPr>
        </p:nvPicPr>
        <p:blipFill>
          <a:blip r:embed="rId7"/>
          <a:stretch>
            <a:fillRect/>
          </a:stretch>
        </p:blipFill>
        <p:spPr>
          <a:xfrm>
            <a:off x="335915" y="2924810"/>
            <a:ext cx="3091180" cy="1327785"/>
          </a:xfrm>
          <a:prstGeom prst="rect">
            <a:avLst/>
          </a:prstGeom>
        </p:spPr>
      </p:pic>
      <p:pic>
        <p:nvPicPr>
          <p:cNvPr id="8" name="图片 7"/>
          <p:cNvPicPr>
            <a:picLocks noChangeAspect="1"/>
          </p:cNvPicPr>
          <p:nvPr/>
        </p:nvPicPr>
        <p:blipFill>
          <a:blip r:embed="rId8"/>
          <a:stretch>
            <a:fillRect/>
          </a:stretch>
        </p:blipFill>
        <p:spPr>
          <a:xfrm>
            <a:off x="5088255" y="1191260"/>
            <a:ext cx="7012305" cy="4556125"/>
          </a:xfrm>
          <a:prstGeom prst="rect">
            <a:avLst/>
          </a:prstGeom>
        </p:spPr>
      </p:pic>
      <p:pic>
        <p:nvPicPr>
          <p:cNvPr id="10" name="图片 9"/>
          <p:cNvPicPr>
            <a:picLocks noChangeAspect="1"/>
          </p:cNvPicPr>
          <p:nvPr>
            <p:custDataLst>
              <p:tags r:id="rId3"/>
            </p:custDataLst>
          </p:nvPr>
        </p:nvPicPr>
        <p:blipFill>
          <a:blip r:embed="rId9"/>
          <a:stretch>
            <a:fillRect/>
          </a:stretch>
        </p:blipFill>
        <p:spPr>
          <a:xfrm>
            <a:off x="5951855" y="5805170"/>
            <a:ext cx="5383530" cy="429895"/>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460375"/>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4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4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8：对应分析在农民收入中的应用</a:t>
            </a:r>
          </a:p>
        </p:txBody>
      </p:sp>
      <p:sp>
        <p:nvSpPr>
          <p:cNvPr id="11" name="右箭头 10"/>
          <p:cNvSpPr/>
          <p:nvPr/>
        </p:nvSpPr>
        <p:spPr>
          <a:xfrm>
            <a:off x="544703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pic>
        <p:nvPicPr>
          <p:cNvPr id="4" name="图片 3"/>
          <p:cNvPicPr>
            <a:picLocks noChangeAspect="1"/>
          </p:cNvPicPr>
          <p:nvPr/>
        </p:nvPicPr>
        <p:blipFill>
          <a:blip r:embed="rId5"/>
          <a:stretch>
            <a:fillRect/>
          </a:stretch>
        </p:blipFill>
        <p:spPr>
          <a:xfrm>
            <a:off x="263525" y="1128395"/>
            <a:ext cx="9545320" cy="1691005"/>
          </a:xfrm>
          <a:prstGeom prst="rect">
            <a:avLst/>
          </a:prstGeom>
        </p:spPr>
      </p:pic>
      <p:pic>
        <p:nvPicPr>
          <p:cNvPr id="10" name="图片 9"/>
          <p:cNvPicPr>
            <a:picLocks noChangeAspect="1"/>
          </p:cNvPicPr>
          <p:nvPr>
            <p:custDataLst>
              <p:tags r:id="rId1"/>
            </p:custDataLst>
          </p:nvPr>
        </p:nvPicPr>
        <p:blipFill>
          <a:blip r:embed="rId6"/>
          <a:stretch>
            <a:fillRect/>
          </a:stretch>
        </p:blipFill>
        <p:spPr>
          <a:xfrm>
            <a:off x="506730" y="2964815"/>
            <a:ext cx="4463415" cy="425450"/>
          </a:xfrm>
          <a:prstGeom prst="rect">
            <a:avLst/>
          </a:prstGeom>
        </p:spPr>
      </p:pic>
      <p:pic>
        <p:nvPicPr>
          <p:cNvPr id="12" name="图片 11"/>
          <p:cNvPicPr>
            <a:picLocks noChangeAspect="1"/>
          </p:cNvPicPr>
          <p:nvPr>
            <p:custDataLst>
              <p:tags r:id="rId2"/>
            </p:custDataLst>
          </p:nvPr>
        </p:nvPicPr>
        <p:blipFill>
          <a:blip r:embed="rId7"/>
          <a:stretch>
            <a:fillRect/>
          </a:stretch>
        </p:blipFill>
        <p:spPr>
          <a:xfrm>
            <a:off x="479425" y="3375660"/>
            <a:ext cx="4490720" cy="376555"/>
          </a:xfrm>
          <a:prstGeom prst="rect">
            <a:avLst/>
          </a:prstGeom>
        </p:spPr>
      </p:pic>
      <p:pic>
        <p:nvPicPr>
          <p:cNvPr id="13" name="图片 12"/>
          <p:cNvPicPr>
            <a:picLocks noChangeAspect="1"/>
          </p:cNvPicPr>
          <p:nvPr/>
        </p:nvPicPr>
        <p:blipFill>
          <a:blip r:embed="rId8"/>
          <a:stretch>
            <a:fillRect/>
          </a:stretch>
        </p:blipFill>
        <p:spPr>
          <a:xfrm>
            <a:off x="551815" y="3752215"/>
            <a:ext cx="3665855" cy="1513205"/>
          </a:xfrm>
          <a:prstGeom prst="rect">
            <a:avLst/>
          </a:prstGeom>
        </p:spPr>
      </p:pic>
      <p:pic>
        <p:nvPicPr>
          <p:cNvPr id="14" name="图片 13"/>
          <p:cNvPicPr>
            <a:picLocks noChangeAspect="1"/>
          </p:cNvPicPr>
          <p:nvPr/>
        </p:nvPicPr>
        <p:blipFill>
          <a:blip r:embed="rId9"/>
          <a:stretch>
            <a:fillRect/>
          </a:stretch>
        </p:blipFill>
        <p:spPr>
          <a:xfrm>
            <a:off x="5088255" y="2853055"/>
            <a:ext cx="7094220" cy="4014470"/>
          </a:xfrm>
          <a:prstGeom prst="rect">
            <a:avLst/>
          </a:prstGeom>
        </p:spPr>
      </p:pic>
      <p:pic>
        <p:nvPicPr>
          <p:cNvPr id="15" name="图片 14"/>
          <p:cNvPicPr>
            <a:picLocks noChangeAspect="1"/>
          </p:cNvPicPr>
          <p:nvPr/>
        </p:nvPicPr>
        <p:blipFill>
          <a:blip r:embed="rId10"/>
          <a:stretch>
            <a:fillRect/>
          </a:stretch>
        </p:blipFill>
        <p:spPr>
          <a:xfrm>
            <a:off x="6816090" y="2493010"/>
            <a:ext cx="4488180" cy="312420"/>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460375"/>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4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4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8：对应分析在农民收入中的应用</a:t>
            </a:r>
          </a:p>
        </p:txBody>
      </p:sp>
      <p:sp>
        <p:nvSpPr>
          <p:cNvPr id="11" name="右箭头 10"/>
          <p:cNvSpPr/>
          <p:nvPr/>
        </p:nvSpPr>
        <p:spPr>
          <a:xfrm>
            <a:off x="544703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pic>
        <p:nvPicPr>
          <p:cNvPr id="4" name="图片 3"/>
          <p:cNvPicPr>
            <a:picLocks noChangeAspect="1"/>
          </p:cNvPicPr>
          <p:nvPr/>
        </p:nvPicPr>
        <p:blipFill>
          <a:blip r:embed="rId3"/>
          <a:stretch>
            <a:fillRect/>
          </a:stretch>
        </p:blipFill>
        <p:spPr>
          <a:xfrm>
            <a:off x="479425" y="1124585"/>
            <a:ext cx="11214100" cy="5349875"/>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460375"/>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4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4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8：对应分析在农民收入中的应用</a:t>
            </a:r>
          </a:p>
        </p:txBody>
      </p:sp>
      <p:sp>
        <p:nvSpPr>
          <p:cNvPr id="11" name="右箭头 10"/>
          <p:cNvSpPr/>
          <p:nvPr/>
        </p:nvSpPr>
        <p:spPr>
          <a:xfrm>
            <a:off x="544703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pic>
        <p:nvPicPr>
          <p:cNvPr id="5" name="图片 4"/>
          <p:cNvPicPr>
            <a:picLocks noChangeAspect="1"/>
          </p:cNvPicPr>
          <p:nvPr/>
        </p:nvPicPr>
        <p:blipFill>
          <a:blip r:embed="rId3"/>
          <a:stretch>
            <a:fillRect/>
          </a:stretch>
        </p:blipFill>
        <p:spPr>
          <a:xfrm>
            <a:off x="407670" y="1241425"/>
            <a:ext cx="11029315" cy="4446905"/>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TextBox 28"/>
          <p:cNvSpPr/>
          <p:nvPr/>
        </p:nvSpPr>
        <p:spPr>
          <a:xfrm>
            <a:off x="0" y="193675"/>
            <a:ext cx="6546850" cy="583565"/>
          </a:xfrm>
          <a:prstGeom prst="rect">
            <a:avLst/>
          </a:prstGeom>
          <a:noFill/>
          <a:ln w="9525">
            <a:noFill/>
          </a:ln>
        </p:spPr>
        <p:txBody>
          <a:bodyPr wrap="square">
            <a:spAutoFit/>
          </a:bodyPr>
          <a:lstStyle/>
          <a:p>
            <a:pPr lvl="0">
              <a:lnSpc>
                <a:spcPct val="100000"/>
              </a:lnSpc>
            </a:pP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endPar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6096000" y="254000"/>
            <a:ext cx="5450205" cy="460375"/>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4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4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8：对应分析在农民收入中的应用</a:t>
            </a:r>
          </a:p>
        </p:txBody>
      </p:sp>
      <p:sp>
        <p:nvSpPr>
          <p:cNvPr id="11" name="右箭头 10"/>
          <p:cNvSpPr/>
          <p:nvPr/>
        </p:nvSpPr>
        <p:spPr>
          <a:xfrm>
            <a:off x="544703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文本框 5"/>
          <p:cNvSpPr txBox="1"/>
          <p:nvPr/>
        </p:nvSpPr>
        <p:spPr>
          <a:xfrm>
            <a:off x="624205" y="1412875"/>
            <a:ext cx="11191875" cy="645160"/>
          </a:xfrm>
          <a:prstGeom prst="rect">
            <a:avLst/>
          </a:prstGeom>
          <a:noFill/>
        </p:spPr>
        <p:txBody>
          <a:bodyPr wrap="square" rtlCol="0" anchor="t">
            <a:spAutoFit/>
          </a:bodyPr>
          <a:lstStyle/>
          <a:p>
            <a:pPr>
              <a:lnSpc>
                <a:spcPct val="150000"/>
              </a:lnSpc>
            </a:pPr>
            <a:r>
              <a:rPr lang="en-US" altLang="zh-CN" sz="240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zh-CN" altLang="en-US" sz="2400">
              <a:latin typeface="微软雅黑" panose="020B0503020204020204" pitchFamily="2" charset="-122"/>
              <a:ea typeface="微软雅黑" panose="020B0503020204020204" pitchFamily="2" charset="-122"/>
              <a:cs typeface="微软雅黑" panose="020B0503020204020204" pitchFamily="2" charset="-122"/>
              <a:sym typeface="+mn-ea"/>
            </a:endParaRPr>
          </a:p>
        </p:txBody>
      </p:sp>
      <p:pic>
        <p:nvPicPr>
          <p:cNvPr id="4" name="图片 3"/>
          <p:cNvPicPr>
            <a:picLocks noChangeAspect="1"/>
          </p:cNvPicPr>
          <p:nvPr/>
        </p:nvPicPr>
        <p:blipFill>
          <a:blip r:embed="rId3"/>
          <a:stretch>
            <a:fillRect/>
          </a:stretch>
        </p:blipFill>
        <p:spPr>
          <a:xfrm>
            <a:off x="191770" y="1128395"/>
            <a:ext cx="11506835" cy="4666615"/>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5122" name="Rectangle 9"/>
          <p:cNvSpPr>
            <a:spLocks noGrp="1"/>
          </p:cNvSpPr>
          <p:nvPr>
            <p:ph type="subTitle" idx="4294967295"/>
          </p:nvPr>
        </p:nvSpPr>
        <p:spPr>
          <a:xfrm>
            <a:off x="3556675" y="3717020"/>
            <a:ext cx="5347520" cy="630555"/>
          </a:xfrm>
        </p:spPr>
        <p:txBody>
          <a:bodyPr wrap="square" anchor="t">
            <a:noAutofit/>
          </a:bodyPr>
          <a:lstStyle>
            <a:lvl1pPr lvl="0">
              <a:defRPr kern="1200"/>
            </a:lvl1pPr>
            <a:lvl2pPr lvl="1">
              <a:defRPr kern="1200"/>
            </a:lvl2pPr>
            <a:lvl3pPr lvl="2">
              <a:defRPr kern="1200"/>
            </a:lvl3pPr>
            <a:lvl4pPr lvl="3">
              <a:defRPr kern="1200"/>
            </a:lvl4pPr>
            <a:lvl5pPr lvl="4">
              <a:defRPr kern="1200"/>
            </a:lvl5pPr>
          </a:lstStyle>
          <a:p>
            <a:pPr marL="1905" lvl="0" indent="-344805">
              <a:lnSpc>
                <a:spcPct val="90000"/>
              </a:lnSpc>
              <a:spcBef>
                <a:spcPct val="50000"/>
              </a:spcBef>
              <a:buNone/>
            </a:pPr>
            <a:r>
              <a:rPr lang="zh-CN" altLang="en-US" sz="4800" b="1">
                <a:solidFill>
                  <a:srgbClr val="66CCFF"/>
                </a:solidFill>
                <a:latin typeface="微软雅黑" panose="020B0503020204020204" pitchFamily="2" charset="-122"/>
                <a:ea typeface="微软雅黑" panose="020B0503020204020204" pitchFamily="2" charset="-122"/>
                <a:sym typeface="微软雅黑" panose="020B0503020204020204" pitchFamily="2" charset="-122"/>
              </a:rPr>
              <a:t>欢迎大家继续学习</a:t>
            </a:r>
            <a:endParaRPr lang="zh-CN" altLang="en-US" sz="4800" b="1" dirty="0">
              <a:solidFill>
                <a:srgbClr val="66CCFF"/>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5123" name="WordArt 10"/>
          <p:cNvSpPr>
            <a:spLocks noTextEdit="1"/>
          </p:cNvSpPr>
          <p:nvPr/>
        </p:nvSpPr>
        <p:spPr>
          <a:xfrm>
            <a:off x="2797810" y="4220845"/>
            <a:ext cx="7213600" cy="737870"/>
          </a:xfrm>
          <a:prstGeom prst="rect">
            <a:avLst/>
          </a:prstGeom>
        </p:spPr>
        <p:txBody>
          <a:bodyPr wrap="none" fromWordArt="1">
            <a:prstTxWarp prst="textPlain">
              <a:avLst>
                <a:gd name="adj" fmla="val 50000"/>
              </a:avLst>
            </a:prstTxWarp>
            <a:normAutofit/>
          </a:bodyPr>
          <a:lstStyle/>
          <a:p>
            <a:pPr algn="ctr"/>
            <a:endParaRPr lang="zh-CN" altLang="en-US" sz="3600" i="1">
              <a:noFill/>
              <a:latin typeface="宋体" panose="02010600030101010101" pitchFamily="2" charset="-122"/>
              <a:ea typeface="宋体" panose="02010600030101010101" pitchFamily="2" charset="-122"/>
            </a:endParaRPr>
          </a:p>
        </p:txBody>
      </p:sp>
      <p:sp>
        <p:nvSpPr>
          <p:cNvPr id="5124" name="矩形 7"/>
          <p:cNvSpPr/>
          <p:nvPr/>
        </p:nvSpPr>
        <p:spPr>
          <a:xfrm>
            <a:off x="2797810" y="2132910"/>
            <a:ext cx="6610420" cy="829945"/>
          </a:xfrm>
          <a:prstGeom prst="rect">
            <a:avLst/>
          </a:prstGeom>
          <a:noFill/>
          <a:ln w="9525">
            <a:noFill/>
          </a:ln>
        </p:spPr>
        <p:txBody>
          <a:bodyPr wrap="square">
            <a:spAutoFit/>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cs typeface="+mn-cs"/>
                <a:sym typeface="Calibri" panose="020F0502020204030204" charset="0"/>
              </a:defRPr>
            </a:lvl5pPr>
          </a:lstStyle>
          <a:p>
            <a:pPr marL="0" lvl="0" indent="0" defTabSz="914400">
              <a:spcBef>
                <a:spcPct val="0"/>
              </a:spcBef>
              <a:buFont typeface="Arial" panose="020B0604020202020204" pitchFamily="34" charset="0"/>
              <a:buNone/>
            </a:pPr>
            <a:r>
              <a:rPr lang="zh-CN" altLang="en-US" sz="4800" b="1">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4800" b="1">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8</a:t>
            </a:r>
            <a:r>
              <a:rPr lang="zh-CN" altLang="en-US" sz="4800" b="1">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章内容就讲到这里</a:t>
            </a:r>
            <a:endParaRPr lang="zh-CN" altLang="en-US" sz="48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2">
                                            <p:txEl>
                                              <p:pRg st="0" end="0"/>
                                            </p:txEl>
                                          </p:spTgt>
                                        </p:tgtEl>
                                        <p:attrNameLst>
                                          <p:attrName>style.visibility</p:attrName>
                                        </p:attrNameLst>
                                      </p:cBhvr>
                                      <p:to>
                                        <p:strVal val="visible"/>
                                      </p:to>
                                    </p:set>
                                    <p:anim calcmode="lin" valueType="num">
                                      <p:cBhvr additive="base">
                                        <p:cTn id="7" dur="500" fill="hold"/>
                                        <p:tgtEl>
                                          <p:spTgt spid="512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jZiNTVmYWQxZDAwNTY5YjQ0ZjYxYTE3OGU0OTdhODEifQ=="/>
  <p:tag name="KSO_WPP_MARK_KEY" val="c5a8b402-ed58-4c02-a683-b9703a2d2a58"/>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自定义设计方案">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自定义设计方案">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993</TotalTime>
  <Words>1302</Words>
  <Application>Microsoft Macintosh PowerPoint</Application>
  <PresentationFormat>宽屏</PresentationFormat>
  <Paragraphs>267</Paragraphs>
  <Slides>47</Slides>
  <Notes>47</Notes>
  <HiddenSlides>0</HiddenSlides>
  <MMClips>0</MMClips>
  <ScaleCrop>false</ScaleCrop>
  <HeadingPairs>
    <vt:vector size="6" baseType="variant">
      <vt:variant>
        <vt:lpstr>已用的字体</vt:lpstr>
      </vt:variant>
      <vt:variant>
        <vt:i4>5</vt:i4>
      </vt:variant>
      <vt:variant>
        <vt:lpstr>主题</vt:lpstr>
      </vt:variant>
      <vt:variant>
        <vt:i4>4</vt:i4>
      </vt:variant>
      <vt:variant>
        <vt:lpstr>幻灯片标题</vt:lpstr>
      </vt:variant>
      <vt:variant>
        <vt:i4>47</vt:i4>
      </vt:variant>
    </vt:vector>
  </HeadingPairs>
  <TitlesOfParts>
    <vt:vector size="56" baseType="lpstr">
      <vt:lpstr>宋体</vt:lpstr>
      <vt:lpstr>微软雅黑</vt:lpstr>
      <vt:lpstr>Arial</vt:lpstr>
      <vt:lpstr>Calibri</vt:lpstr>
      <vt:lpstr>Calibri Light</vt:lpstr>
      <vt:lpstr>自定义设计方案</vt:lpstr>
      <vt:lpstr>3_自定义设计方案</vt:lpstr>
      <vt:lpstr>2_自定义设计方案</vt:lpstr>
      <vt:lpstr>1_自定义设计方案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你随便坐  我学学 做</dc:title>
  <dc:creator>Course contributors</dc:creator>
  <cp:lastModifiedBy>Course contributors</cp:lastModifiedBy>
  <cp:revision>332</cp:revision>
  <dcterms:created xsi:type="dcterms:W3CDTF">2015-05-24T15:13:00Z</dcterms:created>
  <dcterms:modified xsi:type="dcterms:W3CDTF">2025-04-03T03:03:29Z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CACB9DB7A0B5401DAC70C6BE1CF19A73_13</vt:lpwstr>
  </property>
</Properties>
</file>