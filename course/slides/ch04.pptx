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9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0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2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3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4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5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6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7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8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9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20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21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22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23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24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25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26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27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28.xml" ContentType="application/vnd.openxmlformats-officedocument.presentationml.notesSlide+xml"/>
  <Override PartName="/ppt/tags/tag68.xml" ContentType="application/vnd.openxmlformats-officedocument.presentationml.tags+xml"/>
  <Override PartName="/ppt/notesSlides/notesSlide29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30.xml" ContentType="application/vnd.openxmlformats-officedocument.presentationml.notesSlide+xml"/>
  <Override PartName="/ppt/tags/tag72.xml" ContentType="application/vnd.openxmlformats-officedocument.presentationml.tags+xml"/>
  <Override PartName="/ppt/notesSlides/notesSlide31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32.xml" ContentType="application/vnd.openxmlformats-officedocument.presentationml.notesSlide+xml"/>
  <Override PartName="/ppt/tags/tag75.xml" ContentType="application/vnd.openxmlformats-officedocument.presentationml.tags+xml"/>
  <Override PartName="/ppt/notesSlides/notesSlide33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34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35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36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37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38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39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40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41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42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43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44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45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46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47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48.xml" ContentType="application/vnd.openxmlformats-officedocument.presentationml.notesSlide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49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notesSlides/notesSlide50.xml" ContentType="application/vnd.openxmlformats-officedocument.presentationml.notesSlid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51.xml" ContentType="application/vnd.openxmlformats-officedocument.presentationml.notesSlid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52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53.xml" ContentType="application/vnd.openxmlformats-officedocument.presentationml.notesSlide+xml"/>
  <Override PartName="/ppt/tags/tag134.xml" ContentType="application/vnd.openxmlformats-officedocument.presentationml.tags+xml"/>
  <Override PartName="/ppt/notesSlides/notesSlide54.xml" ContentType="application/vnd.openxmlformats-officedocument.presentationml.notesSlide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55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56.xml" ContentType="application/vnd.openxmlformats-officedocument.presentationml.notesSlide+xml"/>
  <Override PartName="/ppt/tags/tag142.xml" ContentType="application/vnd.openxmlformats-officedocument.presentationml.tags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1" r:id="rId3"/>
    <p:sldMasterId id="2147483683" r:id="rId4"/>
  </p:sldMasterIdLst>
  <p:notesMasterIdLst>
    <p:notesMasterId r:id="rId63"/>
  </p:notesMasterIdLst>
  <p:sldIdLst>
    <p:sldId id="297" r:id="rId5"/>
    <p:sldId id="408" r:id="rId6"/>
    <p:sldId id="593" r:id="rId7"/>
    <p:sldId id="467" r:id="rId8"/>
    <p:sldId id="468" r:id="rId9"/>
    <p:sldId id="509" r:id="rId10"/>
    <p:sldId id="508" r:id="rId11"/>
    <p:sldId id="510" r:id="rId12"/>
    <p:sldId id="511" r:id="rId13"/>
    <p:sldId id="512" r:id="rId14"/>
    <p:sldId id="514" r:id="rId15"/>
    <p:sldId id="515" r:id="rId16"/>
    <p:sldId id="516" r:id="rId17"/>
    <p:sldId id="517" r:id="rId18"/>
    <p:sldId id="518" r:id="rId19"/>
    <p:sldId id="519" r:id="rId20"/>
    <p:sldId id="520" r:id="rId21"/>
    <p:sldId id="521" r:id="rId22"/>
    <p:sldId id="522" r:id="rId23"/>
    <p:sldId id="523" r:id="rId24"/>
    <p:sldId id="524" r:id="rId25"/>
    <p:sldId id="525" r:id="rId26"/>
    <p:sldId id="526" r:id="rId27"/>
    <p:sldId id="527" r:id="rId28"/>
    <p:sldId id="528" r:id="rId29"/>
    <p:sldId id="529" r:id="rId30"/>
    <p:sldId id="530" r:id="rId31"/>
    <p:sldId id="531" r:id="rId32"/>
    <p:sldId id="563" r:id="rId33"/>
    <p:sldId id="532" r:id="rId34"/>
    <p:sldId id="564" r:id="rId35"/>
    <p:sldId id="565" r:id="rId36"/>
    <p:sldId id="533" r:id="rId37"/>
    <p:sldId id="534" r:id="rId38"/>
    <p:sldId id="535" r:id="rId39"/>
    <p:sldId id="536" r:id="rId40"/>
    <p:sldId id="537" r:id="rId41"/>
    <p:sldId id="538" r:id="rId42"/>
    <p:sldId id="539" r:id="rId43"/>
    <p:sldId id="540" r:id="rId44"/>
    <p:sldId id="541" r:id="rId45"/>
    <p:sldId id="542" r:id="rId46"/>
    <p:sldId id="547" r:id="rId47"/>
    <p:sldId id="543" r:id="rId48"/>
    <p:sldId id="544" r:id="rId49"/>
    <p:sldId id="545" r:id="rId50"/>
    <p:sldId id="546" r:id="rId51"/>
    <p:sldId id="548" r:id="rId52"/>
    <p:sldId id="550" r:id="rId53"/>
    <p:sldId id="551" r:id="rId54"/>
    <p:sldId id="552" r:id="rId55"/>
    <p:sldId id="553" r:id="rId56"/>
    <p:sldId id="554" r:id="rId57"/>
    <p:sldId id="555" r:id="rId58"/>
    <p:sldId id="557" r:id="rId59"/>
    <p:sldId id="558" r:id="rId60"/>
    <p:sldId id="559" r:id="rId61"/>
    <p:sldId id="439" r:id="rId62"/>
  </p:sldIdLst>
  <p:sldSz cx="12192000" cy="6858000"/>
  <p:notesSz cx="9777413" cy="6646863"/>
  <p:custDataLst>
    <p:tags r:id="rId64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800" kern="1200" baseline="0">
        <a:solidFill>
          <a:schemeClr val="tx1"/>
        </a:solidFill>
      </a:defRPr>
    </a:lvl9pPr>
  </p:defaultTextStyle>
  <p:extLst>
    <p:ext uri="{521415D9-36F7-43E2-AB2F-B90AF26B5E84}">
      <p14:sectionLst xmlns:p14="http://schemas.microsoft.com/office/powerpoint/2010/main">
        <p14:section name="默认节" id="{33DF3B17-A065-47B3-A172-DC5982F3E9F4}">
          <p14:sldIdLst>
            <p14:sldId id="297"/>
            <p14:sldId id="408"/>
            <p14:sldId id="593"/>
            <p14:sldId id="467"/>
            <p14:sldId id="468"/>
            <p14:sldId id="509"/>
            <p14:sldId id="508"/>
            <p14:sldId id="510"/>
            <p14:sldId id="511"/>
            <p14:sldId id="512"/>
            <p14:sldId id="514"/>
            <p14:sldId id="515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63"/>
            <p14:sldId id="532"/>
            <p14:sldId id="564"/>
            <p14:sldId id="565"/>
            <p14:sldId id="533"/>
            <p14:sldId id="534"/>
            <p14:sldId id="535"/>
            <p14:sldId id="536"/>
            <p14:sldId id="537"/>
            <p14:sldId id="538"/>
            <p14:sldId id="539"/>
            <p14:sldId id="540"/>
            <p14:sldId id="541"/>
            <p14:sldId id="542"/>
            <p14:sldId id="547"/>
            <p14:sldId id="543"/>
            <p14:sldId id="544"/>
            <p14:sldId id="545"/>
            <p14:sldId id="546"/>
            <p14:sldId id="548"/>
            <p14:sldId id="550"/>
            <p14:sldId id="551"/>
            <p14:sldId id="552"/>
            <p14:sldId id="553"/>
            <p14:sldId id="554"/>
            <p14:sldId id="555"/>
            <p14:sldId id="557"/>
            <p14:sldId id="558"/>
            <p14:sldId id="559"/>
            <p14:sldId id="439"/>
          </p14:sldIdLst>
        </p14:section>
        <p14:section name="无标题节" id="{33F6ABA1-F5C6-4F78-97CC-498E8A87B3A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0053E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33" autoAdjust="0"/>
    <p:restoredTop sz="94660"/>
  </p:normalViewPr>
  <p:slideViewPr>
    <p:cSldViewPr showGuides="1">
      <p:cViewPr varScale="1">
        <p:scale>
          <a:sx n="118" d="100"/>
          <a:sy n="118" d="100"/>
        </p:scale>
        <p:origin x="536" y="208"/>
      </p:cViewPr>
      <p:guideLst>
        <p:guide orient="horz" pos="2174"/>
        <p:guide pos="38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gs" Target="tags/tag1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6-09-13T11:31:55.013" idx="1">
    <p:pos x="8236" y="324"/>
    <p:text>vcbvc 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37038" cy="331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538788" y="0"/>
            <a:ext cx="4237037" cy="331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8CEF9-FBB3-466E-9D1D-30E1B136AAEA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673350" y="498475"/>
            <a:ext cx="4432300" cy="2492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77900" y="3157538"/>
            <a:ext cx="7821613" cy="29908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313488"/>
            <a:ext cx="4237038" cy="331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538788" y="6313488"/>
            <a:ext cx="4237037" cy="331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FAD9C-AE9E-477F-9637-EC5C28AAFB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6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7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8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9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10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12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13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14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15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16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17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18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19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20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22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23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24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25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26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27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28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29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30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32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33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34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35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36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37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38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39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40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42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43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44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45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46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47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48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49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50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51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52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53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54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55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56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57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灯片编号占位符 2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58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/>
          </p:nvPr>
        </p:nvSpPr>
        <p:spPr>
          <a:xfrm>
            <a:off x="943864" y="2857982"/>
            <a:ext cx="7550911" cy="2338349"/>
          </a:xfrm>
          <a:prstGeom prst="rect">
            <a:avLst/>
          </a:prstGeom>
        </p:spPr>
        <p:txBody>
          <a:bodyPr/>
          <a:lstStyle/>
          <a:p>
            <a:r>
              <a:rPr lang="en-US" altLang="zh-CN" sz="4000">
                <a:solidFill>
                  <a:srgbClr val="FF0000"/>
                </a:solidFill>
              </a:rPr>
              <a:t>plot(1:100)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anchor="ctr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vert="horz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l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10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ct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endParaRPr/>
          </a:p>
        </p:txBody>
      </p:sp>
      <p:sp>
        <p:nvSpPr>
          <p:cNvPr id="10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lvl="0" algn="ctr" defTabSz="914400" eaLnBrk="1" fontAlgn="base" latinLnBrk="0" hangingPunct="1">
        <a:lnSpc>
          <a:spcPct val="100000"/>
        </a:lnSpc>
        <a:spcBef>
          <a:spcPct val="0"/>
        </a:spcBef>
        <a:buClr>
          <a:srgbClr val="000000"/>
        </a:buClr>
        <a:buNone/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charset="0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081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anchor="ctr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vert="horz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2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l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205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ct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endParaRPr/>
          </a:p>
        </p:txBody>
      </p:sp>
      <p:sp>
        <p:nvSpPr>
          <p:cNvPr id="205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lvl1pPr lvl="0" algn="ctr" defTabSz="914400" eaLnBrk="1" fontAlgn="base" latinLnBrk="0" hangingPunct="1">
        <a:lnSpc>
          <a:spcPct val="100000"/>
        </a:lnSpc>
        <a:spcBef>
          <a:spcPct val="0"/>
        </a:spcBef>
        <a:buClr>
          <a:srgbClr val="000000"/>
        </a:buClr>
        <a:buNone/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charset="0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anchor="ctr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vert="horz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6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l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307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ct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endParaRPr/>
          </a:p>
        </p:txBody>
      </p:sp>
      <p:sp>
        <p:nvSpPr>
          <p:cNvPr id="307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r">
              <a:defRPr sz="12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sldNum="0" hdr="0" ftr="0" dt="0"/>
  <p:txStyles>
    <p:titleStyle>
      <a:lvl1pPr lvl="0" algn="ctr" defTabSz="914400" eaLnBrk="1" fontAlgn="base" latinLnBrk="0" hangingPunct="1">
        <a:lnSpc>
          <a:spcPct val="100000"/>
        </a:lnSpc>
        <a:spcBef>
          <a:spcPct val="0"/>
        </a:spcBef>
        <a:buClr>
          <a:srgbClr val="000000"/>
        </a:buClr>
        <a:buNone/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charset="0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11.xml"/><Relationship Id="rId7" Type="http://schemas.openxmlformats.org/officeDocument/2006/relationships/image" Target="../media/image13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.xml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openxmlformats.org/officeDocument/2006/relationships/image" Target="../media/image17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6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21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0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25.xml"/><Relationship Id="rId7" Type="http://schemas.openxmlformats.org/officeDocument/2006/relationships/image" Target="../media/image22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6.xml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tags" Target="../tags/tag39.xml"/><Relationship Id="rId7" Type="http://schemas.openxmlformats.org/officeDocument/2006/relationships/image" Target="../media/image30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0.xml"/><Relationship Id="rId9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43.xml"/><Relationship Id="rId7" Type="http://schemas.openxmlformats.org/officeDocument/2006/relationships/image" Target="../media/image33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4.xml"/><Relationship Id="rId9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8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image" Target="../media/image39.pn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tags" Target="../tags/tag51.xml"/><Relationship Id="rId7" Type="http://schemas.openxmlformats.org/officeDocument/2006/relationships/notesSlide" Target="../notesSlides/notesSlide22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43.png"/><Relationship Id="rId5" Type="http://schemas.openxmlformats.org/officeDocument/2006/relationships/tags" Target="../tags/tag53.xml"/><Relationship Id="rId10" Type="http://schemas.openxmlformats.org/officeDocument/2006/relationships/image" Target="../media/image42.png"/><Relationship Id="rId4" Type="http://schemas.openxmlformats.org/officeDocument/2006/relationships/tags" Target="../tags/tag52.xml"/><Relationship Id="rId9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image" Target="../media/image44.png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7" Type="http://schemas.openxmlformats.org/officeDocument/2006/relationships/image" Target="../media/image46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45.png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tags" Target="../tags/tag63.xml"/><Relationship Id="rId7" Type="http://schemas.openxmlformats.org/officeDocument/2006/relationships/image" Target="../media/image50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49.png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image" Target="../media/image54.png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57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56.png"/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image" Target="../media/image59.png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image" Target="../media/image62.png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7" Type="http://schemas.openxmlformats.org/officeDocument/2006/relationships/image" Target="../media/image66.png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image" Target="../media/image65.png"/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image" Target="../media/image67.png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7" Type="http://schemas.openxmlformats.org/officeDocument/2006/relationships/image" Target="../media/image69.png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image" Target="../media/image68.png"/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5" Type="http://schemas.openxmlformats.org/officeDocument/2006/relationships/image" Target="../media/image70.png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tags" Target="../tags/tag92.xml"/><Relationship Id="rId7" Type="http://schemas.openxmlformats.org/officeDocument/2006/relationships/image" Target="../media/image71.png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notesSlide" Target="../notesSlides/notesSlide40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93.xml"/><Relationship Id="rId9" Type="http://schemas.openxmlformats.org/officeDocument/2006/relationships/image" Target="../media/image7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5" Type="http://schemas.openxmlformats.org/officeDocument/2006/relationships/image" Target="../media/image74.png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75.png"/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tags" Target="../tags/tag101.xml"/><Relationship Id="rId7" Type="http://schemas.openxmlformats.org/officeDocument/2006/relationships/image" Target="../media/image76.png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notesSlide" Target="../notesSlides/notesSlide4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7" Type="http://schemas.openxmlformats.org/officeDocument/2006/relationships/image" Target="../media/image79.png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78.png"/><Relationship Id="rId5" Type="http://schemas.openxmlformats.org/officeDocument/2006/relationships/notesSlide" Target="../notesSlides/notesSlide44.xml"/><Relationship Id="rId4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tags" Target="../tags/tag108.xml"/><Relationship Id="rId7" Type="http://schemas.openxmlformats.org/officeDocument/2006/relationships/image" Target="../media/image80.png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notesSlide" Target="../notesSlides/notesSlide4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9.xml"/><Relationship Id="rId9" Type="http://schemas.openxmlformats.org/officeDocument/2006/relationships/image" Target="../media/image8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image" Target="../media/image83.png"/><Relationship Id="rId5" Type="http://schemas.openxmlformats.org/officeDocument/2006/relationships/notesSlide" Target="../notesSlides/notesSlide46.xml"/><Relationship Id="rId4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tags" Target="../tags/tag115.xml"/><Relationship Id="rId7" Type="http://schemas.openxmlformats.org/officeDocument/2006/relationships/image" Target="../media/image85.png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image" Target="../media/image84.png"/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image" Target="../media/image86.png"/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image" Target="../media/image87.png"/><Relationship Id="rId5" Type="http://schemas.openxmlformats.org/officeDocument/2006/relationships/notesSlide" Target="../notesSlides/notesSlide49.xml"/><Relationship Id="rId4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image" Target="../media/image88.png"/><Relationship Id="rId5" Type="http://schemas.openxmlformats.org/officeDocument/2006/relationships/notesSlide" Target="../notesSlides/notesSlide50.xml"/><Relationship Id="rId4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image" Target="../media/image89.png"/><Relationship Id="rId5" Type="http://schemas.openxmlformats.org/officeDocument/2006/relationships/notesSlide" Target="../notesSlides/notesSlide51.xml"/><Relationship Id="rId4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tags" Target="../tags/tag130.xml"/><Relationship Id="rId7" Type="http://schemas.openxmlformats.org/officeDocument/2006/relationships/image" Target="../media/image90.png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notesSlide" Target="../notesSlides/notesSlide5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31.xml"/><Relationship Id="rId9" Type="http://schemas.openxmlformats.org/officeDocument/2006/relationships/image" Target="../media/image9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4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tags" Target="../tags/tag137.xml"/><Relationship Id="rId7" Type="http://schemas.openxmlformats.org/officeDocument/2006/relationships/image" Target="../media/image99.png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image" Target="../media/image98.png"/><Relationship Id="rId5" Type="http://schemas.openxmlformats.org/officeDocument/2006/relationships/notesSlide" Target="../notesSlides/notesSlide55.xml"/><Relationship Id="rId4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tags" Target="../tags/tag140.xml"/><Relationship Id="rId7" Type="http://schemas.openxmlformats.org/officeDocument/2006/relationships/image" Target="../media/image100.png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notesSlide" Target="../notesSlides/notesSlide5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1.xml"/><Relationship Id="rId9" Type="http://schemas.openxmlformats.org/officeDocument/2006/relationships/image" Target="../media/image10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9"/>
          <p:cNvSpPr>
            <a:spLocks noGrp="1"/>
          </p:cNvSpPr>
          <p:nvPr>
            <p:ph type="subTitle"/>
          </p:nvPr>
        </p:nvSpPr>
        <p:spPr>
          <a:xfrm>
            <a:off x="3293745" y="4328160"/>
            <a:ext cx="6030595" cy="630555"/>
          </a:xfrm>
        </p:spPr>
        <p:txBody>
          <a:bodyPr wrap="square" anchor="t">
            <a:noAutofit/>
          </a:bodyPr>
          <a:lstStyle>
            <a:lvl1pPr lvl="0">
              <a:defRPr kern="1200"/>
            </a:lvl1pPr>
            <a:lvl2pPr lvl="1">
              <a:defRPr kern="1200"/>
            </a:lvl2pPr>
            <a:lvl3pPr lvl="2">
              <a:defRPr kern="1200"/>
            </a:lvl3pPr>
            <a:lvl4pPr lvl="3">
              <a:defRPr kern="1200"/>
            </a:lvl4pPr>
            <a:lvl5pPr lvl="4">
              <a:defRPr kern="1200"/>
            </a:lvl5pPr>
          </a:lstStyle>
          <a:p>
            <a:pPr marL="1905" lvl="0" indent="-344805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b="1">
                <a:solidFill>
                  <a:srgbClr val="3399FF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第</a:t>
            </a:r>
            <a:r>
              <a:rPr lang="en-US" altLang="zh-CN" b="1">
                <a:solidFill>
                  <a:srgbClr val="3399FF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</a:t>
            </a:r>
            <a:r>
              <a:rPr lang="zh-CN" altLang="en-US" b="1">
                <a:solidFill>
                  <a:srgbClr val="3399FF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章 </a:t>
            </a:r>
            <a:r>
              <a:rPr lang="en-US" altLang="zh-CN" b="1">
                <a:solidFill>
                  <a:srgbClr val="3399FF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b="1">
                <a:solidFill>
                  <a:srgbClr val="3399FF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b="1">
                <a:solidFill>
                  <a:srgbClr val="3399FF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b="1">
                <a:solidFill>
                  <a:srgbClr val="3399FF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分类</a:t>
            </a:r>
            <a:endParaRPr lang="zh-CN" altLang="en-US" sz="2800" b="1">
              <a:solidFill>
                <a:srgbClr val="3399FF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  <a:p>
            <a:pPr marL="1905" lvl="0" indent="-1905">
              <a:lnSpc>
                <a:spcPct val="90000"/>
              </a:lnSpc>
              <a:spcBef>
                <a:spcPct val="50000"/>
              </a:spcBef>
            </a:pPr>
            <a:endParaRPr lang="zh-CN" altLang="en-US" sz="2800" b="1">
              <a:solidFill>
                <a:srgbClr val="3399FF"/>
              </a:solidFill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5123" name="WordArt 10"/>
          <p:cNvSpPr>
            <a:spLocks noTextEdit="1"/>
          </p:cNvSpPr>
          <p:nvPr/>
        </p:nvSpPr>
        <p:spPr>
          <a:xfrm>
            <a:off x="2797810" y="4220845"/>
            <a:ext cx="7213600" cy="73787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endParaRPr lang="zh-CN" altLang="en-US" sz="3600" i="1">
              <a:noFill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24" name="矩形 7"/>
          <p:cNvSpPr/>
          <p:nvPr/>
        </p:nvSpPr>
        <p:spPr>
          <a:xfrm>
            <a:off x="2495550" y="2636520"/>
            <a:ext cx="8930640" cy="7683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Calibri" panose="020F0502020204030204" charset="0"/>
              </a:defRPr>
            </a:lvl5pPr>
          </a:lstStyle>
          <a:p>
            <a:pPr marL="0" lvl="0" indent="0" defTabSz="914400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rgbClr val="1115C3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altLang="en-US" sz="4400" b="1" dirty="0">
                <a:solidFill>
                  <a:srgbClr val="1115C3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多元统计分析及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4400" b="1" dirty="0">
                <a:solidFill>
                  <a:srgbClr val="1115C3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37083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多元统计分析及</a:t>
            </a:r>
            <a:r>
              <a:rPr lang="en-US" sz="3200" b="1" dirty="0">
                <a:solidFill>
                  <a:srgbClr val="FF000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27"/>
          <p:cNvSpPr/>
          <p:nvPr/>
        </p:nvSpPr>
        <p:spPr>
          <a:xfrm>
            <a:off x="6023610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聚类分析及</a:t>
            </a: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  <a:endParaRPr lang="zh-CN" altLang="en-US" sz="2800" b="1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5519420" y="370205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625" y="1063625"/>
            <a:ext cx="7221220" cy="47415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095" y="2882265"/>
            <a:ext cx="5070475" cy="397002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37083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多元统计分析及</a:t>
            </a:r>
            <a:r>
              <a:rPr lang="en-US" sz="3200" b="1" dirty="0">
                <a:solidFill>
                  <a:srgbClr val="FF0000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建模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27"/>
          <p:cNvSpPr/>
          <p:nvPr/>
        </p:nvSpPr>
        <p:spPr>
          <a:xfrm>
            <a:off x="6023610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聚类分析及</a:t>
            </a: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  <a:endParaRPr lang="zh-CN" altLang="en-US" sz="2800" b="1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5519420" y="370205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55370" y="1412875"/>
            <a:ext cx="10184765" cy="22148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370" y="3932555"/>
            <a:ext cx="10162540" cy="226060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27"/>
          <p:cNvSpPr/>
          <p:nvPr/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4.1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聚类分析的概念</a:t>
            </a:r>
            <a:endParaRPr lang="zh-CN" sz="2800" b="1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2755" y="1243965"/>
            <a:ext cx="11219180" cy="26555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3840" y="4580890"/>
            <a:ext cx="5304790" cy="130937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4.1.2 聚类分析的类型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70" y="2996565"/>
            <a:ext cx="5664200" cy="1239520"/>
          </a:xfrm>
          <a:prstGeom prst="rect">
            <a:avLst/>
          </a:prstGeom>
        </p:spPr>
      </p:pic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4.1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聚类分析的概念</a:t>
            </a:r>
            <a:endParaRPr lang="zh-CN" sz="2800" b="1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67715" y="1772920"/>
            <a:ext cx="10780395" cy="113919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7845" y="3429000"/>
            <a:ext cx="4258310" cy="4286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5505" y="4290060"/>
            <a:ext cx="7647305" cy="257746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4.2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聚类统计量</a:t>
            </a:r>
            <a:endParaRPr lang="zh-CN" sz="2800" b="1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7715" y="2348865"/>
            <a:ext cx="11113770" cy="248285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2</a:t>
            </a:r>
            <a:r>
              <a:rPr lang="zh-CN" altLang="en-US" sz="2400" b="1"/>
              <a:t>.</a:t>
            </a:r>
            <a:r>
              <a:rPr lang="en-US" altLang="zh-CN" sz="2400" b="1"/>
              <a:t>1</a:t>
            </a:r>
            <a:r>
              <a:rPr lang="zh-CN" altLang="en-US" sz="2400" b="1"/>
              <a:t> 距离的概念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4.2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聚类统计量</a:t>
            </a:r>
            <a:endParaRPr lang="zh-CN" sz="2800" b="1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11860" y="1844675"/>
            <a:ext cx="9927590" cy="36576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416050" y="2493010"/>
            <a:ext cx="7124700" cy="231203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416050" y="4725035"/>
            <a:ext cx="5419725" cy="51625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2</a:t>
            </a:r>
            <a:r>
              <a:rPr lang="zh-CN" altLang="en-US" sz="2400" b="1"/>
              <a:t>.</a:t>
            </a:r>
            <a:r>
              <a:rPr lang="en-US" altLang="zh-CN" sz="2400" b="1"/>
              <a:t>1</a:t>
            </a:r>
            <a:r>
              <a:rPr lang="zh-CN" altLang="en-US" sz="2400" b="1"/>
              <a:t> 距离的概念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4.2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聚类统计量</a:t>
            </a:r>
            <a:endParaRPr lang="zh-CN" sz="2800" b="1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55345" y="2012950"/>
            <a:ext cx="10454005" cy="13341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135505" y="3789045"/>
            <a:ext cx="7836535" cy="193611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2</a:t>
            </a:r>
            <a:r>
              <a:rPr lang="zh-CN" altLang="en-US" sz="2400" b="1"/>
              <a:t>.</a:t>
            </a:r>
            <a:r>
              <a:rPr lang="en-US" altLang="zh-CN" sz="2400" b="1"/>
              <a:t>1</a:t>
            </a:r>
            <a:r>
              <a:rPr lang="zh-CN" altLang="en-US" sz="2400" b="1"/>
              <a:t> 距离的概念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4.2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聚类统计量</a:t>
            </a:r>
            <a:endParaRPr lang="zh-CN" sz="2800" b="1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11860" y="1701165"/>
            <a:ext cx="9855200" cy="505142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4.2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聚类统计量</a:t>
            </a:r>
            <a:endParaRPr lang="zh-CN" sz="2800" b="1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79650" y="1125220"/>
            <a:ext cx="8104505" cy="564388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2</a:t>
            </a:r>
            <a:r>
              <a:rPr lang="zh-CN" altLang="en-US" sz="2400" b="1"/>
              <a:t>.</a:t>
            </a:r>
            <a:r>
              <a:rPr lang="en-US" altLang="zh-CN" sz="2400" b="1"/>
              <a:t>2</a:t>
            </a:r>
            <a:r>
              <a:rPr lang="zh-CN" altLang="en-US" sz="2400" b="1"/>
              <a:t> 距离的计算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4.2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聚类统计量</a:t>
            </a:r>
            <a:endParaRPr lang="zh-CN" sz="2800" b="1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51815" y="1882775"/>
            <a:ext cx="2209800" cy="4940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83615" y="2493010"/>
            <a:ext cx="10066655" cy="323532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2</a:t>
            </a:r>
            <a:r>
              <a:rPr lang="zh-CN" altLang="en-US" sz="2400" b="1"/>
              <a:t>.</a:t>
            </a:r>
            <a:r>
              <a:rPr lang="en-US" altLang="zh-CN" sz="2400" b="1"/>
              <a:t>2</a:t>
            </a:r>
            <a:r>
              <a:rPr lang="zh-CN" altLang="en-US" sz="2400" b="1"/>
              <a:t> 距离的计算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4.2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聚类统计量</a:t>
            </a:r>
            <a:endParaRPr lang="zh-CN" sz="2800" b="1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17830" y="1855470"/>
            <a:ext cx="11609070" cy="14077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rcRect b="11966"/>
          <a:stretch>
            <a:fillRect/>
          </a:stretch>
        </p:blipFill>
        <p:spPr>
          <a:xfrm>
            <a:off x="1271270" y="4725035"/>
            <a:ext cx="9784715" cy="8140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631950" y="3572510"/>
            <a:ext cx="9045575" cy="53657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4.2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聚类统计量</a:t>
            </a:r>
            <a:endParaRPr lang="zh-CN" sz="2800" b="1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43660" y="1189990"/>
            <a:ext cx="9575800" cy="538543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4.2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聚类统计量</a:t>
            </a:r>
            <a:endParaRPr lang="zh-CN" sz="2800" b="1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23570" y="1700530"/>
            <a:ext cx="11248390" cy="433070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4.2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聚类统计量</a:t>
            </a:r>
            <a:endParaRPr lang="zh-CN" sz="2800" b="1">
              <a:solidFill>
                <a:schemeClr val="accent4"/>
              </a:solidFill>
              <a:effectLst/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3945" y="1341120"/>
            <a:ext cx="10213340" cy="525081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3</a:t>
            </a:r>
            <a:r>
              <a:rPr lang="zh-CN" altLang="en-US" sz="2400" b="1"/>
              <a:t>.</a:t>
            </a:r>
            <a:r>
              <a:rPr lang="en-US" altLang="zh-CN" sz="2400" b="1"/>
              <a:t>1</a:t>
            </a:r>
            <a:r>
              <a:rPr lang="zh-CN" altLang="en-US" sz="2400" b="1"/>
              <a:t> 系统聚类法的基本思想与方法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1815" y="2077720"/>
            <a:ext cx="10869930" cy="193611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3</a:t>
            </a:r>
            <a:r>
              <a:rPr lang="zh-CN" altLang="en-US" sz="2400" b="1"/>
              <a:t>.</a:t>
            </a:r>
            <a:r>
              <a:rPr lang="en-US" altLang="zh-CN" sz="2400" b="1"/>
              <a:t>1</a:t>
            </a:r>
            <a:r>
              <a:rPr lang="zh-CN" altLang="en-US" sz="2400" b="1"/>
              <a:t> 系统聚类法的基本思想与方法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3035" y="1917065"/>
            <a:ext cx="11629390" cy="361696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3</a:t>
            </a:r>
            <a:r>
              <a:rPr lang="zh-CN" altLang="en-US" sz="2400" b="1"/>
              <a:t>.</a:t>
            </a:r>
            <a:r>
              <a:rPr lang="en-US" altLang="zh-CN" sz="2400" b="1"/>
              <a:t>1</a:t>
            </a:r>
            <a:r>
              <a:rPr lang="zh-CN" altLang="en-US" sz="2400" b="1"/>
              <a:t> 系统聚类法的基本思想与方法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51815" y="1772920"/>
            <a:ext cx="11102975" cy="19380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360420" y="3933190"/>
            <a:ext cx="5461635" cy="7226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503930" y="4946015"/>
            <a:ext cx="5269230" cy="155067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3</a:t>
            </a:r>
            <a:r>
              <a:rPr lang="zh-CN" altLang="en-US" sz="2400" b="1"/>
              <a:t>.</a:t>
            </a:r>
            <a:r>
              <a:rPr lang="en-US" altLang="zh-CN" sz="2400" b="1"/>
              <a:t>1</a:t>
            </a:r>
            <a:r>
              <a:rPr lang="zh-CN" altLang="en-US" sz="2400" b="1"/>
              <a:t> 系统聚类法的基本思想与方法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07670" y="1845310"/>
            <a:ext cx="11051540" cy="18376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215640" y="4149090"/>
            <a:ext cx="5429250" cy="5765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647440" y="5191760"/>
            <a:ext cx="4366260" cy="118745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3</a:t>
            </a:r>
            <a:r>
              <a:rPr lang="zh-CN" altLang="en-US" sz="2400" b="1"/>
              <a:t>.</a:t>
            </a:r>
            <a:r>
              <a:rPr lang="en-US" altLang="zh-CN" sz="2400" b="1"/>
              <a:t>1</a:t>
            </a:r>
            <a:r>
              <a:rPr lang="zh-CN" altLang="en-US" sz="2400" b="1"/>
              <a:t> 系统聚类法的基本思想与方法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91135" y="1845310"/>
            <a:ext cx="11687175" cy="15081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80" y="3501390"/>
            <a:ext cx="11452225" cy="11004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570" y="4797425"/>
            <a:ext cx="10974705" cy="194246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3</a:t>
            </a:r>
            <a:r>
              <a:rPr lang="zh-CN" altLang="en-US" sz="2400" b="1"/>
              <a:t>.</a:t>
            </a:r>
            <a:r>
              <a:rPr lang="en-US" altLang="zh-CN" sz="2400" b="1"/>
              <a:t>1</a:t>
            </a:r>
            <a:r>
              <a:rPr lang="zh-CN" altLang="en-US" sz="2400" b="1"/>
              <a:t> 系统聚类法的基本思想与方法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0095" y="1917065"/>
            <a:ext cx="10895965" cy="209169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3</a:t>
            </a:r>
            <a:r>
              <a:rPr lang="zh-CN" altLang="en-US" sz="2400" b="1"/>
              <a:t>.</a:t>
            </a:r>
            <a:r>
              <a:rPr lang="en-US" altLang="zh-CN" sz="2400" b="1"/>
              <a:t>2</a:t>
            </a:r>
            <a:r>
              <a:rPr lang="zh-CN" altLang="en-US" sz="2400" b="1"/>
              <a:t> 系统聚类法的基本步骤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51815" y="1557020"/>
            <a:ext cx="10596880" cy="32302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24205" y="4838065"/>
            <a:ext cx="2374900" cy="4616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200150" y="5373370"/>
            <a:ext cx="9511665" cy="4413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51180" y="5920105"/>
            <a:ext cx="8236585" cy="95821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3</a:t>
            </a:r>
            <a:r>
              <a:rPr lang="zh-CN" altLang="en-US" sz="2400" b="1"/>
              <a:t>.</a:t>
            </a:r>
            <a:r>
              <a:rPr lang="en-US" altLang="zh-CN" sz="2400" b="1"/>
              <a:t>2</a:t>
            </a:r>
            <a:r>
              <a:rPr lang="zh-CN" altLang="en-US" sz="2400" b="1"/>
              <a:t> 系统聚类法的基本步骤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83615" y="1917065"/>
            <a:ext cx="10576560" cy="290893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3</a:t>
            </a:r>
            <a:r>
              <a:rPr lang="zh-CN" altLang="en-US" sz="2400" b="1"/>
              <a:t>.</a:t>
            </a:r>
            <a:r>
              <a:rPr lang="en-US" altLang="zh-CN" sz="2400" b="1"/>
              <a:t>3</a:t>
            </a:r>
            <a:r>
              <a:rPr lang="zh-CN" altLang="en-US" sz="2400" b="1"/>
              <a:t> 聚类分析实例分析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67715" y="1772920"/>
            <a:ext cx="9591040" cy="3994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415415" y="2338070"/>
            <a:ext cx="9578975" cy="422402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3</a:t>
            </a:r>
            <a:r>
              <a:rPr lang="zh-CN" altLang="en-US" sz="2400" b="1"/>
              <a:t>.</a:t>
            </a:r>
            <a:r>
              <a:rPr lang="en-US" altLang="zh-CN" sz="2400" b="1"/>
              <a:t>3</a:t>
            </a:r>
            <a:r>
              <a:rPr lang="zh-CN" altLang="en-US" sz="2400" b="1"/>
              <a:t> 聚类分析实例分析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23570" y="1701165"/>
            <a:ext cx="9759950" cy="20447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rcRect t="1816"/>
          <a:stretch>
            <a:fillRect/>
          </a:stretch>
        </p:blipFill>
        <p:spPr>
          <a:xfrm>
            <a:off x="2279650" y="2492375"/>
            <a:ext cx="7943850" cy="427609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3</a:t>
            </a:r>
            <a:r>
              <a:rPr lang="zh-CN" altLang="en-US" sz="2400" b="1"/>
              <a:t>.</a:t>
            </a:r>
            <a:r>
              <a:rPr lang="en-US" altLang="zh-CN" sz="2400" b="1"/>
              <a:t>3</a:t>
            </a:r>
            <a:r>
              <a:rPr lang="zh-CN" altLang="en-US" sz="2400" b="1"/>
              <a:t> 聚类分析实例分析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9380" y="2564765"/>
            <a:ext cx="6686550" cy="31305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6090" y="1024255"/>
            <a:ext cx="5029835" cy="58089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07670" y="1840230"/>
            <a:ext cx="6021705" cy="53467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3</a:t>
            </a:r>
            <a:r>
              <a:rPr lang="zh-CN" altLang="en-US" sz="2400" b="1"/>
              <a:t>.</a:t>
            </a:r>
            <a:r>
              <a:rPr lang="en-US" altLang="zh-CN" sz="2400" b="1"/>
              <a:t>3</a:t>
            </a:r>
            <a:r>
              <a:rPr lang="zh-CN" altLang="en-US" sz="2400" b="1"/>
              <a:t> 聚类分析实例分析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rcRect t="3184"/>
          <a:stretch>
            <a:fillRect/>
          </a:stretch>
        </p:blipFill>
        <p:spPr>
          <a:xfrm>
            <a:off x="839470" y="1917065"/>
            <a:ext cx="10439400" cy="21818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3660" y="4415790"/>
            <a:ext cx="9703435" cy="133794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07260" y="1052830"/>
            <a:ext cx="8013065" cy="567753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550" y="1124585"/>
            <a:ext cx="7856220" cy="568833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923415" y="1029335"/>
            <a:ext cx="7344410" cy="10267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923415" y="1988820"/>
            <a:ext cx="7349490" cy="475297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9695" y="1189990"/>
            <a:ext cx="6809105" cy="538289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919605" y="1024255"/>
            <a:ext cx="7822565" cy="557911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9695" y="1367790"/>
            <a:ext cx="8397240" cy="5235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r="2499" b="20561"/>
          <a:stretch>
            <a:fillRect/>
          </a:stretch>
        </p:blipFill>
        <p:spPr>
          <a:xfrm>
            <a:off x="2639695" y="1071880"/>
            <a:ext cx="8488045" cy="29718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2458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3</a:t>
            </a:r>
            <a:r>
              <a:rPr lang="zh-CN" altLang="en-US" sz="2400" b="1"/>
              <a:t>.</a:t>
            </a:r>
            <a:r>
              <a:rPr lang="en-US" altLang="zh-CN" sz="2400" b="1"/>
              <a:t>3</a:t>
            </a:r>
            <a:r>
              <a:rPr lang="zh-CN" altLang="en-US" sz="2400" b="1"/>
              <a:t> 聚类分析实例分析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7715" y="1628140"/>
            <a:ext cx="5793105" cy="52641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319645" y="2780665"/>
            <a:ext cx="3905885" cy="2562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/>
            <a:r>
              <a:rPr lang="zh-CN" altLang="en-US" sz="2000">
                <a:latin typeface="微软雅黑" panose="020B0503020204020204" pitchFamily="2" charset="-122"/>
                <a:ea typeface="微软雅黑" panose="020B0503020204020204" pitchFamily="2" charset="-122"/>
                <a:cs typeface="微软雅黑" panose="020B0503020204020204" pitchFamily="2" charset="-122"/>
              </a:rPr>
              <a:t>综合考虑以上的分析结果，笔者认为从全国各省、市、自治区的费情况来看，如果使用欧氏距离，从上面方法的比较看，使用 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2" charset="-122"/>
                <a:ea typeface="微软雅黑" panose="020B0503020204020204" pitchFamily="2" charset="-122"/>
                <a:cs typeface="微软雅黑" panose="020B0503020204020204" pitchFamily="2" charset="-122"/>
              </a:rPr>
              <a:t>ward 方法</a:t>
            </a:r>
            <a:r>
              <a:rPr lang="zh-CN" altLang="en-US" sz="2000">
                <a:latin typeface="微软雅黑" panose="020B0503020204020204" pitchFamily="2" charset="-122"/>
                <a:ea typeface="微软雅黑" panose="020B0503020204020204" pitchFamily="2" charset="-122"/>
                <a:cs typeface="微软雅黑" panose="020B0503020204020204" pitchFamily="2" charset="-122"/>
              </a:rPr>
              <a:t>聚类的效果较好（有时要根据实际数据聚类情况判断），且分为四类较为合适。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3</a:t>
            </a:r>
            <a:r>
              <a:rPr lang="zh-CN" altLang="en-US" sz="2400" b="1"/>
              <a:t>.</a:t>
            </a:r>
            <a:r>
              <a:rPr lang="en-US" altLang="zh-CN" sz="2400" b="1"/>
              <a:t>3</a:t>
            </a:r>
            <a:r>
              <a:rPr lang="zh-CN" altLang="en-US" sz="2400" b="1"/>
              <a:t> 聚类分析实例分析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43660" y="1700530"/>
            <a:ext cx="6917055" cy="50196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6315" y="1844675"/>
            <a:ext cx="2440940" cy="493141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05283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3</a:t>
            </a:r>
            <a:r>
              <a:rPr lang="zh-CN" altLang="en-US" sz="2400" b="1"/>
              <a:t>.</a:t>
            </a:r>
            <a:r>
              <a:rPr lang="en-US" altLang="zh-CN" sz="2400" b="1"/>
              <a:t>3</a:t>
            </a:r>
            <a:r>
              <a:rPr lang="zh-CN" altLang="en-US" sz="2400" b="1"/>
              <a:t> 聚类分析实例分析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71905" y="1484630"/>
            <a:ext cx="4310380" cy="538797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880100" y="2013585"/>
            <a:ext cx="4170045" cy="442150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3</a:t>
            </a:r>
            <a:r>
              <a:rPr lang="zh-CN" altLang="en-US" sz="2400" b="1"/>
              <a:t>.</a:t>
            </a:r>
            <a:r>
              <a:rPr lang="en-US" altLang="zh-CN" sz="2400" b="1"/>
              <a:t>3</a:t>
            </a:r>
            <a:r>
              <a:rPr lang="zh-CN" altLang="en-US" sz="2400" b="1"/>
              <a:t> 聚类分析实例分析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4.3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系统聚类法</a:t>
            </a: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14805" y="1701165"/>
            <a:ext cx="8962390" cy="486600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4</a:t>
            </a:r>
            <a:r>
              <a:rPr lang="zh-CN" altLang="en-US" sz="2400" b="1"/>
              <a:t>.</a:t>
            </a:r>
            <a:r>
              <a:rPr lang="en-US" altLang="zh-CN" sz="2400" b="1"/>
              <a:t>1</a:t>
            </a:r>
            <a:r>
              <a:rPr lang="zh-CN" altLang="en-US" sz="2400" b="1"/>
              <a:t> 快速聚类基本概念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4.4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快速聚类法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23570" y="2061210"/>
            <a:ext cx="11376025" cy="17322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83615" y="3717290"/>
            <a:ext cx="7719695" cy="95377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4</a:t>
            </a:r>
            <a:r>
              <a:rPr lang="zh-CN" altLang="en-US" sz="2400" b="1"/>
              <a:t>.</a:t>
            </a:r>
            <a:r>
              <a:rPr lang="en-US" altLang="zh-CN" sz="2400" b="1"/>
              <a:t>2</a:t>
            </a:r>
            <a:r>
              <a:rPr lang="zh-CN" altLang="en-US" sz="2400" b="1"/>
              <a:t> 快速聚类计算原理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4.4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快速聚类法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79425" y="2061210"/>
            <a:ext cx="10582910" cy="192087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4</a:t>
            </a:r>
            <a:r>
              <a:rPr lang="zh-CN" altLang="en-US" sz="2400" b="1"/>
              <a:t>.</a:t>
            </a:r>
            <a:r>
              <a:rPr lang="en-US" altLang="zh-CN" sz="2400" b="1"/>
              <a:t>2</a:t>
            </a:r>
            <a:r>
              <a:rPr lang="zh-CN" altLang="en-US" sz="2400" b="1"/>
              <a:t> 快速聚类计算原理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4.4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快速聚类法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42315" y="1988820"/>
            <a:ext cx="10333990" cy="11671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143885" y="3717290"/>
            <a:ext cx="5961380" cy="11385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271905" y="5300980"/>
            <a:ext cx="7967345" cy="78232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4</a:t>
            </a:r>
            <a:r>
              <a:rPr lang="zh-CN" altLang="en-US" sz="2400" b="1"/>
              <a:t>.</a:t>
            </a:r>
            <a:r>
              <a:rPr lang="en-US" altLang="zh-CN" sz="2400" b="1"/>
              <a:t>2</a:t>
            </a:r>
            <a:r>
              <a:rPr lang="zh-CN" altLang="en-US" sz="2400" b="1"/>
              <a:t> 快速聚类计算原理</a:t>
            </a:r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4.4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快速聚类法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487805" y="1882775"/>
            <a:ext cx="9152255" cy="448310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4.4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快速聚类法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95960" y="1772920"/>
            <a:ext cx="8027670" cy="84518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4</a:t>
            </a:r>
            <a:r>
              <a:rPr lang="zh-CN" altLang="en-US" sz="2400" b="1"/>
              <a:t>.</a:t>
            </a:r>
            <a:r>
              <a:rPr lang="en-US" altLang="zh-CN" sz="2400" b="1"/>
              <a:t>3</a:t>
            </a:r>
            <a:r>
              <a:rPr lang="zh-CN" altLang="en-US" sz="2400" b="1"/>
              <a:t> 快速聚类的模拟研究</a:t>
            </a:r>
          </a:p>
        </p:txBody>
      </p:sp>
    </p:spTree>
  </p:cSld>
  <p:clrMapOvr>
    <a:masterClrMapping/>
  </p:clrMapOvr>
  <p:transition>
    <p:wipe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4.4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快速聚类法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63525" y="1650365"/>
            <a:ext cx="10833100" cy="19119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rcRect b="18713"/>
          <a:stretch>
            <a:fillRect/>
          </a:stretch>
        </p:blipFill>
        <p:spPr>
          <a:xfrm>
            <a:off x="2639695" y="3429000"/>
            <a:ext cx="7450455" cy="307594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4</a:t>
            </a:r>
            <a:r>
              <a:rPr lang="zh-CN" altLang="en-US" sz="2400" b="1"/>
              <a:t>.</a:t>
            </a:r>
            <a:r>
              <a:rPr lang="en-US" altLang="zh-CN" sz="2400" b="1"/>
              <a:t>3</a:t>
            </a:r>
            <a:r>
              <a:rPr lang="zh-CN" altLang="en-US" sz="2400" b="1"/>
              <a:t> 快速聚类的模拟研究</a:t>
            </a:r>
          </a:p>
        </p:txBody>
      </p:sp>
    </p:spTree>
  </p:cSld>
  <p:clrMapOvr>
    <a:masterClrMapping/>
  </p:clrMapOvr>
  <p:transition>
    <p:wipe dir="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4.4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快速聚类法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rcRect b="29536"/>
          <a:stretch>
            <a:fillRect/>
          </a:stretch>
        </p:blipFill>
        <p:spPr>
          <a:xfrm>
            <a:off x="68580" y="1814830"/>
            <a:ext cx="5739765" cy="38963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rcRect t="3091"/>
          <a:stretch>
            <a:fillRect/>
          </a:stretch>
        </p:blipFill>
        <p:spPr>
          <a:xfrm>
            <a:off x="5772785" y="3429000"/>
            <a:ext cx="5467350" cy="22694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rcRect t="69497"/>
          <a:stretch>
            <a:fillRect/>
          </a:stretch>
        </p:blipFill>
        <p:spPr>
          <a:xfrm>
            <a:off x="5819140" y="1754505"/>
            <a:ext cx="6287770" cy="169672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4</a:t>
            </a:r>
            <a:r>
              <a:rPr lang="zh-CN" altLang="en-US" sz="2400" b="1"/>
              <a:t>.</a:t>
            </a:r>
            <a:r>
              <a:rPr lang="en-US" altLang="zh-CN" sz="2400" b="1"/>
              <a:t>3</a:t>
            </a:r>
            <a:r>
              <a:rPr lang="zh-CN" altLang="en-US" sz="2400" b="1"/>
              <a:t> 快速聚类的模拟研究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4.4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快速聚类法</a:t>
            </a: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rcRect t="2188"/>
          <a:stretch>
            <a:fillRect/>
          </a:stretch>
        </p:blipFill>
        <p:spPr>
          <a:xfrm>
            <a:off x="177165" y="2681605"/>
            <a:ext cx="5458460" cy="32073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0100" y="2493010"/>
            <a:ext cx="6065520" cy="3584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95325" y="1772920"/>
            <a:ext cx="5918835" cy="4064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4</a:t>
            </a:r>
            <a:r>
              <a:rPr lang="zh-CN" altLang="en-US" sz="2400" b="1"/>
              <a:t>.</a:t>
            </a:r>
            <a:r>
              <a:rPr lang="en-US" altLang="zh-CN" sz="2400" b="1"/>
              <a:t>3</a:t>
            </a:r>
            <a:r>
              <a:rPr lang="zh-CN" altLang="en-US" sz="2400" b="1"/>
              <a:t> 快速聚类的模拟研究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4.4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快速聚类法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35915" y="1917065"/>
            <a:ext cx="11212195" cy="191452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4</a:t>
            </a:r>
            <a:r>
              <a:rPr lang="zh-CN" altLang="en-US" sz="2400" b="1"/>
              <a:t>.</a:t>
            </a:r>
            <a:r>
              <a:rPr lang="en-US" altLang="zh-CN" sz="2400" b="1"/>
              <a:t>3</a:t>
            </a:r>
            <a:r>
              <a:rPr lang="zh-CN" altLang="en-US" sz="2400" b="1"/>
              <a:t> 快速聚类的模拟研究</a:t>
            </a:r>
          </a:p>
        </p:txBody>
      </p:sp>
    </p:spTree>
  </p:cSld>
  <p:clrMapOvr>
    <a:masterClrMapping/>
  </p:clrMapOvr>
  <p:transition>
    <p:wipe dir="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4.4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快速聚类法</a:t>
            </a: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rcRect t="9246"/>
          <a:stretch>
            <a:fillRect/>
          </a:stretch>
        </p:blipFill>
        <p:spPr>
          <a:xfrm>
            <a:off x="2279650" y="1393190"/>
            <a:ext cx="7344410" cy="8172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279650" y="1917065"/>
            <a:ext cx="7227570" cy="463613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4.5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聚类分析注意的问题</a:t>
            </a: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5</a:t>
            </a:r>
            <a:r>
              <a:rPr lang="zh-CN" altLang="en-US" sz="2400" b="1"/>
              <a:t>.</a:t>
            </a:r>
            <a:r>
              <a:rPr lang="en-US" altLang="zh-CN" sz="2400" b="1"/>
              <a:t>1</a:t>
            </a:r>
            <a:r>
              <a:rPr lang="zh-CN" altLang="en-US" sz="2400" b="1"/>
              <a:t> 系统聚类的一些特点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11225" y="2061210"/>
            <a:ext cx="10438765" cy="172910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>
              <a:lnSpc>
                <a:spcPct val="100000"/>
              </a:lnSpc>
            </a:pPr>
            <a:r>
              <a:rPr lang="en-US" alt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4.5</a:t>
            </a:r>
            <a:r>
              <a:rPr lang="zh-CN" altLang="en-US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</a:t>
            </a:r>
            <a:r>
              <a:rPr lang="zh-CN" sz="2800" b="1"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 聚类分析注意的问题</a:t>
            </a: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/>
              <a:t>4.</a:t>
            </a:r>
            <a:r>
              <a:rPr lang="en-US" altLang="zh-CN" sz="2400" b="1"/>
              <a:t>5</a:t>
            </a:r>
            <a:r>
              <a:rPr lang="zh-CN" altLang="en-US" sz="2400" b="1"/>
              <a:t>.</a:t>
            </a:r>
            <a:r>
              <a:rPr lang="en-US" altLang="zh-CN" sz="2400" b="1"/>
              <a:t>2</a:t>
            </a:r>
            <a:r>
              <a:rPr lang="zh-CN" altLang="en-US" sz="2400" b="1"/>
              <a:t> 关于 KMeans 算法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67715" y="2077720"/>
            <a:ext cx="10313670" cy="228663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50952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4 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Python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104130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5635625" y="193675"/>
            <a:ext cx="54502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lang="zh-CN" altLang="en-US" sz="2800" b="1" dirty="0">
                <a:solidFill>
                  <a:schemeClr val="accent4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操作案例</a:t>
            </a:r>
            <a:endParaRPr lang="zh-CN" sz="2800" b="1"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400" b="1"/>
              <a:t>案例 4：全国区域经济发展的聚类分析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39470" y="1988820"/>
            <a:ext cx="10291445" cy="362140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22244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操作案例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2135505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2783840" y="193675"/>
            <a:ext cx="687451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>
                <a:sym typeface="+mn-ea"/>
              </a:rPr>
              <a:t>案例 4：全国区域经济发展的聚类分析</a:t>
            </a:r>
            <a:endParaRPr lang="zh-CN" sz="2800" b="1"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400" b="1"/>
              <a:t>一、数据管理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575685" y="836930"/>
            <a:ext cx="6873875" cy="597090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22244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操作案例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2135505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2783840" y="193675"/>
            <a:ext cx="687451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>
                <a:sym typeface="+mn-ea"/>
              </a:rPr>
              <a:t>案例 4：全国区域经济发展的聚类分析</a:t>
            </a:r>
            <a:endParaRPr lang="zh-CN" sz="2800" b="1"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551815" y="11899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400" b="1"/>
              <a:t>二、Jupyter 操作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40130" y="1844675"/>
            <a:ext cx="7409815" cy="15989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63525" y="3717290"/>
            <a:ext cx="6911975" cy="14116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3565" y="3284855"/>
            <a:ext cx="6026150" cy="340360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22244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操作案例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2135505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2783840" y="193675"/>
            <a:ext cx="687451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>
                <a:sym typeface="+mn-ea"/>
              </a:rPr>
              <a:t>案例 4：全国区域经济发展的聚类分析</a:t>
            </a:r>
            <a:endParaRPr lang="zh-CN" sz="2800" b="1"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11225" y="1137285"/>
            <a:ext cx="9063355" cy="8921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5595" y="1124585"/>
            <a:ext cx="5956935" cy="562102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b="575"/>
          <a:stretch>
            <a:fillRect/>
          </a:stretch>
        </p:blipFill>
        <p:spPr>
          <a:xfrm>
            <a:off x="5600700" y="44450"/>
            <a:ext cx="2306955" cy="66967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0370" y="44450"/>
            <a:ext cx="2543810" cy="25184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7625" y="2132330"/>
            <a:ext cx="5233670" cy="1962785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22244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操作案例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2135505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2783840" y="193675"/>
            <a:ext cx="687451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>
                <a:sym typeface="+mn-ea"/>
              </a:rPr>
              <a:t>案例 4：全国区域经济发展的聚类分析</a:t>
            </a:r>
            <a:endParaRPr lang="zh-CN" sz="2800" b="1"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487805" y="3717290"/>
            <a:ext cx="9221470" cy="29324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557655" y="963930"/>
            <a:ext cx="9151620" cy="283591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179070"/>
            <a:ext cx="222440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sz="32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操作案例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2135505" y="370840"/>
            <a:ext cx="504190" cy="16700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" name="TextBox 27"/>
          <p:cNvSpPr/>
          <p:nvPr>
            <p:custDataLst>
              <p:tags r:id="rId1"/>
            </p:custDataLst>
          </p:nvPr>
        </p:nvSpPr>
        <p:spPr>
          <a:xfrm>
            <a:off x="2783840" y="193675"/>
            <a:ext cx="687451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sz="2800" b="1">
                <a:sym typeface="+mn-ea"/>
              </a:rPr>
              <a:t>案例 4：全国区域经济发展的聚类分析</a:t>
            </a:r>
            <a:endParaRPr lang="zh-CN" sz="2800" b="1">
              <a:latin typeface="微软雅黑" panose="020B0503020204020204" pitchFamily="2" charset="-122"/>
              <a:ea typeface="微软雅黑" panose="020B0503020204020204" pitchFamily="2" charset="-122"/>
              <a:sym typeface="微软雅黑" panose="020B0503020204020204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91135" y="1196975"/>
            <a:ext cx="5019040" cy="3276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343660" y="2132330"/>
            <a:ext cx="8030210" cy="17030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271270" y="4220845"/>
            <a:ext cx="8646160" cy="37973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390" y="332740"/>
            <a:ext cx="2129790" cy="62661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415" y="404495"/>
            <a:ext cx="1478915" cy="47986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0015" y="2351405"/>
            <a:ext cx="5822315" cy="1430020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Box 28"/>
          <p:cNvSpPr/>
          <p:nvPr/>
        </p:nvSpPr>
        <p:spPr>
          <a:xfrm>
            <a:off x="153035" y="81341"/>
            <a:ext cx="5095240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altLang="zh-CN" sz="40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7 </a:t>
            </a:r>
            <a:r>
              <a:rPr lang="zh-CN" altLang="en-US" sz="40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聚类分析及</a:t>
            </a:r>
            <a:r>
              <a:rPr lang="en-US" altLang="zh-CN" sz="40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R</a:t>
            </a:r>
            <a:r>
              <a:rPr lang="zh-CN" altLang="en-US" sz="4000" b="1" dirty="0">
                <a:solidFill>
                  <a:schemeClr val="accent1"/>
                </a:solidFill>
                <a:latin typeface="微软雅黑" panose="020B0503020204020204" pitchFamily="2" charset="-122"/>
                <a:ea typeface="微软雅黑" panose="020B0503020204020204" pitchFamily="2" charset="-122"/>
                <a:sym typeface="微软雅黑" panose="020B0503020204020204" pitchFamily="2" charset="-122"/>
              </a:rPr>
              <a:t>使用</a:t>
            </a:r>
          </a:p>
        </p:txBody>
      </p:sp>
      <p:sp>
        <p:nvSpPr>
          <p:cNvPr id="2" name="直接连接符 29"/>
          <p:cNvSpPr/>
          <p:nvPr/>
        </p:nvSpPr>
        <p:spPr>
          <a:xfrm flipV="1">
            <a:off x="68263" y="948055"/>
            <a:ext cx="12045600" cy="9525"/>
          </a:xfrm>
          <a:prstGeom prst="line">
            <a:avLst/>
          </a:prstGeom>
          <a:ln w="136525" cap="sq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865772" y="1772885"/>
            <a:ext cx="8450580" cy="383095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66CCFF"/>
                </a:solidFill>
                <a:effectLst/>
              </a:rPr>
              <a:t>第四章</a:t>
            </a:r>
            <a:endParaRPr lang="en-US" altLang="zh-CN" sz="5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rgbClr val="66CCFF"/>
              </a:solidFill>
              <a:effectLst/>
            </a:endParaRPr>
          </a:p>
          <a:p>
            <a:pPr algn="ctr">
              <a:lnSpc>
                <a:spcPct val="150000"/>
              </a:lnSpc>
            </a:pPr>
            <a:r>
              <a:rPr lang="zh-CN" alt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66CCFF"/>
                </a:solidFill>
                <a:effectLst/>
              </a:rPr>
              <a:t>讲到这里就结束了</a:t>
            </a:r>
            <a:endParaRPr lang="en-US" altLang="zh-CN" sz="5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rgbClr val="66CCFF"/>
              </a:solidFill>
              <a:effectLst/>
            </a:endParaRPr>
          </a:p>
          <a:p>
            <a:pPr algn="ctr">
              <a:lnSpc>
                <a:spcPct val="150000"/>
              </a:lnSpc>
            </a:pPr>
            <a:r>
              <a:rPr lang="zh-CN" alt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66CCFF"/>
                </a:solidFill>
                <a:effectLst/>
              </a:rPr>
              <a:t>欢迎大家继续学习第五章！</a:t>
            </a:r>
          </a:p>
        </p:txBody>
      </p:sp>
    </p:spTree>
  </p:cSld>
  <p:clrMapOvr>
    <a:masterClrMapping/>
  </p:clrMapOvr>
  <p:transition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92fa4a87-a437-4a70-83e5-73c62ac464fa"/>
  <p:tag name="COMMONDATA" val="eyJoZGlkIjoiZjZiNTVmYWQxZDAwNTY5YjQ0ZjYxYTE3OGU0OTdhOD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自定义设计方案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自定义设计方案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1300</Words>
  <Application>Microsoft Macintosh PowerPoint</Application>
  <PresentationFormat>宽屏</PresentationFormat>
  <Paragraphs>266</Paragraphs>
  <Slides>58</Slides>
  <Notes>58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58</vt:i4>
      </vt:variant>
    </vt:vector>
  </HeadingPairs>
  <TitlesOfParts>
    <vt:vector size="67" baseType="lpstr">
      <vt:lpstr>宋体</vt:lpstr>
      <vt:lpstr>微软雅黑</vt:lpstr>
      <vt:lpstr>Arial</vt:lpstr>
      <vt:lpstr>Calibri</vt:lpstr>
      <vt:lpstr>Calibri Light</vt:lpstr>
      <vt:lpstr>自定义设计方案</vt:lpstr>
      <vt:lpstr>3_自定义设计方案</vt:lpstr>
      <vt:lpstr>2_自定义设计方案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你随便坐  我学学 做</dc:title>
  <dc:creator>Course contributors</dc:creator>
  <cp:lastModifiedBy>Course contributors</cp:lastModifiedBy>
  <cp:revision>228</cp:revision>
  <dcterms:created xsi:type="dcterms:W3CDTF">2015-05-24T15:13:00Z</dcterms:created>
  <dcterms:modified xsi:type="dcterms:W3CDTF">2025-02-26T03:08:44Z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ADD4A071BA744C829934F73FB65F3F43_12</vt:lpwstr>
  </property>
</Properties>
</file>