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1" r:id="rId3"/>
    <p:sldMasterId id="2147483683" r:id="rId4"/>
  </p:sldMasterIdLst>
  <p:notesMasterIdLst>
    <p:notesMasterId r:id="rId36"/>
  </p:notesMasterIdLst>
  <p:sldIdLst>
    <p:sldId id="297" r:id="rId5"/>
    <p:sldId id="449" r:id="rId6"/>
    <p:sldId id="331" r:id="rId7"/>
    <p:sldId id="369" r:id="rId8"/>
    <p:sldId id="404" r:id="rId9"/>
    <p:sldId id="381" r:id="rId10"/>
    <p:sldId id="389" r:id="rId11"/>
    <p:sldId id="405" r:id="rId12"/>
    <p:sldId id="388" r:id="rId13"/>
    <p:sldId id="425" r:id="rId14"/>
    <p:sldId id="426" r:id="rId15"/>
    <p:sldId id="427" r:id="rId16"/>
    <p:sldId id="428" r:id="rId17"/>
    <p:sldId id="429" r:id="rId18"/>
    <p:sldId id="431" r:id="rId19"/>
    <p:sldId id="432" r:id="rId20"/>
    <p:sldId id="433" r:id="rId21"/>
    <p:sldId id="434" r:id="rId22"/>
    <p:sldId id="435" r:id="rId23"/>
    <p:sldId id="436" r:id="rId24"/>
    <p:sldId id="437" r:id="rId25"/>
    <p:sldId id="439" r:id="rId26"/>
    <p:sldId id="438" r:id="rId27"/>
    <p:sldId id="440" r:id="rId28"/>
    <p:sldId id="441" r:id="rId29"/>
    <p:sldId id="442" r:id="rId30"/>
    <p:sldId id="443" r:id="rId31"/>
    <p:sldId id="445" r:id="rId32"/>
    <p:sldId id="446" r:id="rId33"/>
    <p:sldId id="447" r:id="rId34"/>
    <p:sldId id="424" r:id="rId35"/>
  </p:sldIdLst>
  <p:sldSz cx="12192000" cy="6858000"/>
  <p:notesSz cx="9777413" cy="6646863"/>
  <p:custDataLst>
    <p:tags r:id="rId37"/>
  </p:custDataLst>
  <p:defaultTextStyle>
    <a:defPPr>
      <a:defRPr lang="zh-CN"/>
    </a:defPPr>
    <a:lvl1pPr marL="0" lvl="0"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1pPr>
    <a:lvl2pPr marL="457200" lvl="1"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2pPr>
    <a:lvl3pPr marL="914400" lvl="2"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3pPr>
    <a:lvl4pPr marL="1371600" lvl="3"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4pPr>
    <a:lvl5pPr marL="1828800" lvl="4"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5pPr>
    <a:lvl6pPr marL="2286000" lvl="5"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6pPr>
    <a:lvl7pPr marL="2743200" lvl="6"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7pPr>
    <a:lvl8pPr marL="3200400" lvl="7"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8pPr>
    <a:lvl9pPr marL="3657600" lvl="8"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9pPr>
  </p:defaultTextStyle>
  <p:extLst>
    <p:ext uri="{521415D9-36F7-43E2-AB2F-B90AF26B5E84}">
      <p14:sectionLst xmlns:p14="http://schemas.microsoft.com/office/powerpoint/2010/main">
        <p14:section name="默认节" id="{33DF3B17-A065-47B3-A172-DC5982F3E9F4}">
          <p14:sldIdLst>
            <p14:sldId id="297"/>
            <p14:sldId id="449"/>
            <p14:sldId id="331"/>
            <p14:sldId id="369"/>
            <p14:sldId id="404"/>
            <p14:sldId id="381"/>
            <p14:sldId id="389"/>
            <p14:sldId id="405"/>
            <p14:sldId id="388"/>
            <p14:sldId id="425"/>
            <p14:sldId id="426"/>
            <p14:sldId id="427"/>
            <p14:sldId id="428"/>
            <p14:sldId id="429"/>
            <p14:sldId id="431"/>
            <p14:sldId id="432"/>
            <p14:sldId id="433"/>
            <p14:sldId id="434"/>
            <p14:sldId id="435"/>
            <p14:sldId id="436"/>
            <p14:sldId id="437"/>
            <p14:sldId id="439"/>
            <p14:sldId id="438"/>
            <p14:sldId id="440"/>
            <p14:sldId id="441"/>
            <p14:sldId id="442"/>
            <p14:sldId id="443"/>
            <p14:sldId id="445"/>
            <p14:sldId id="446"/>
            <p14:sldId id="447"/>
            <p14:sldId id="424"/>
          </p14:sldIdLst>
        </p14:section>
      </p14:sectionLst>
    </p:ext>
    <p:ext uri="{EFAFB233-063F-42B5-8137-9DF3F51BA10A}">
      <p15:sldGuideLst xmlns:p15="http://schemas.microsoft.com/office/powerpoint/2012/main">
        <p15:guide id="1" orient="horz" pos="2158" userDrawn="1">
          <p15:clr>
            <a:srgbClr val="A4A3A4"/>
          </p15:clr>
        </p15:guide>
        <p15:guide id="2" pos="386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EC"/>
    <a:srgbClr val="66CCFF"/>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403"/>
    <p:restoredTop sz="94617"/>
  </p:normalViewPr>
  <p:slideViewPr>
    <p:cSldViewPr showGuides="1">
      <p:cViewPr varScale="1">
        <p:scale>
          <a:sx n="71" d="100"/>
          <a:sy n="71" d="100"/>
        </p:scale>
        <p:origin x="200" y="1032"/>
      </p:cViewPr>
      <p:guideLst>
        <p:guide orient="horz" pos="2158"/>
        <p:guide pos="3862"/>
      </p:guideLst>
    </p:cSldViewPr>
  </p:slideViewPr>
  <p:notesTextViewPr>
    <p:cViewPr>
      <p:scale>
        <a:sx n="1" d="1"/>
        <a:sy n="1" d="1"/>
      </p:scale>
      <p:origin x="0" y="0"/>
    </p:cViewPr>
  </p:notesTextViewPr>
  <p:gridSpacing cx="72005" cy="72005"/>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gs" Target="tags/tag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6-09-13T11:31:55.013" idx="1">
    <p:pos x="8236" y="324"/>
    <p:text>vcbvc</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237038" cy="331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538788" y="0"/>
            <a:ext cx="4237037" cy="331788"/>
          </a:xfrm>
          <a:prstGeom prst="rect">
            <a:avLst/>
          </a:prstGeom>
        </p:spPr>
        <p:txBody>
          <a:bodyPr vert="horz" lIns="91440" tIns="45720" rIns="91440" bIns="45720" rtlCol="0"/>
          <a:lstStyle>
            <a:lvl1pPr algn="r">
              <a:defRPr sz="1200"/>
            </a:lvl1pPr>
          </a:lstStyle>
          <a:p>
            <a:fld id="{9B082C7C-FACF-47D7-8447-A7A2C092257A}" type="datetimeFigureOut">
              <a:rPr lang="zh-CN" altLang="en-US" smtClean="0"/>
              <a:t>2025/3/9</a:t>
            </a:fld>
            <a:endParaRPr lang="zh-CN" altLang="en-US"/>
          </a:p>
        </p:txBody>
      </p:sp>
      <p:sp>
        <p:nvSpPr>
          <p:cNvPr id="4" name="幻灯片图像占位符 3"/>
          <p:cNvSpPr>
            <a:spLocks noGrp="1" noRot="1" noChangeAspect="1"/>
          </p:cNvSpPr>
          <p:nvPr>
            <p:ph type="sldImg" idx="2"/>
          </p:nvPr>
        </p:nvSpPr>
        <p:spPr>
          <a:xfrm>
            <a:off x="2673350" y="498475"/>
            <a:ext cx="4432300" cy="24923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77900" y="3157538"/>
            <a:ext cx="7821613" cy="29908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6313488"/>
            <a:ext cx="4237038" cy="331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538788" y="6313488"/>
            <a:ext cx="4237037" cy="331787"/>
          </a:xfrm>
          <a:prstGeom prst="rect">
            <a:avLst/>
          </a:prstGeom>
        </p:spPr>
        <p:txBody>
          <a:bodyPr vert="horz" lIns="91440" tIns="45720" rIns="91440" bIns="45720" rtlCol="0" anchor="b"/>
          <a:lstStyle>
            <a:lvl1pPr algn="r">
              <a:defRPr sz="1200"/>
            </a:lvl1pPr>
          </a:lstStyle>
          <a:p>
            <a:fld id="{2B3F8D5B-8596-4649-8330-B42C57710D62}"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3</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4</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5</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6</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7</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8</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9</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10</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11</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12</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13</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14</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15</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16</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17</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18</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19</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20</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21</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22</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23</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24</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25</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26</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27</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28</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29</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30</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2025/3/9</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2025/3/9</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8"/>
            <a:ext cx="105156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2025/3/9</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0"/>
            <a:ext cx="5376672"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05728" y="1600200"/>
            <a:ext cx="5376672"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2025/3/9</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5" y="1778438"/>
            <a:ext cx="4873575"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1186775" y="2665379"/>
            <a:ext cx="4873575"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9" y="1778438"/>
            <a:ext cx="4897576"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6256939"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lvl="0"/>
            <a:fld id="{BB962C8B-B14F-4D97-AF65-F5344CB8AC3E}" type="datetime1">
              <a:rPr lang="zh-CN" altLang="en-US" dirty="0"/>
              <a:t>2025/3/9</a:t>
            </a:fld>
            <a:endParaRPr lang="zh-CN" altLang="en-US" dirty="0"/>
          </a:p>
        </p:txBody>
      </p:sp>
      <p:sp>
        <p:nvSpPr>
          <p:cNvPr id="8" name="页脚占位符 7"/>
          <p:cNvSpPr>
            <a:spLocks noGrp="1"/>
          </p:cNvSpPr>
          <p:nvPr>
            <p:ph type="ftr" sz="quarter" idx="11"/>
          </p:nvPr>
        </p:nvSpPr>
        <p:spPr/>
        <p:txBody>
          <a:bodyPr/>
          <a:lstStyle/>
          <a:p>
            <a:pPr lvl="0"/>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a:fld id="{BB962C8B-B14F-4D97-AF65-F5344CB8AC3E}" type="datetime1">
              <a:rPr lang="zh-CN" altLang="en-US" dirty="0"/>
              <a:t>2025/3/9</a:t>
            </a:fld>
            <a:endParaRPr lang="zh-CN" altLang="en-US" dirty="0"/>
          </a:p>
        </p:txBody>
      </p:sp>
      <p:sp>
        <p:nvSpPr>
          <p:cNvPr id="4" name="页脚占位符 3"/>
          <p:cNvSpPr>
            <a:spLocks noGrp="1"/>
          </p:cNvSpPr>
          <p:nvPr>
            <p:ph type="ftr" sz="quarter" idx="11"/>
          </p:nvPr>
        </p:nvSpPr>
        <p:spPr/>
        <p:txBody>
          <a:bodyPr/>
          <a:lstStyle/>
          <a:p>
            <a:pPr lvl="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fld id="{BB962C8B-B14F-4D97-AF65-F5344CB8AC3E}" type="datetime1">
              <a:rPr lang="zh-CN" altLang="en-US" dirty="0"/>
              <a:t>2025/3/9</a:t>
            </a:fld>
            <a:endParaRPr lang="zh-CN" altLang="en-US" dirty="0"/>
          </a:p>
        </p:txBody>
      </p:sp>
      <p:sp>
        <p:nvSpPr>
          <p:cNvPr id="3" name="页脚占位符 2"/>
          <p:cNvSpPr>
            <a:spLocks noGrp="1"/>
          </p:cNvSpPr>
          <p:nvPr>
            <p:ph type="ftr" sz="quarter" idx="11"/>
          </p:nvPr>
        </p:nvSpPr>
        <p:spPr/>
        <p:txBody>
          <a:bodyPr/>
          <a:lstStyle/>
          <a:p>
            <a:pPr lvl="0"/>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2025/3/9</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2025/3/9</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2025/3/9</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8"/>
            <a:ext cx="8070573"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2025/3/9</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2025/3/9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2025/3/9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8"/>
            <a:ext cx="105156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2025/3/9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2025/3/9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5" y="1778438"/>
            <a:ext cx="4873575"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1186775" y="2665379"/>
            <a:ext cx="4873575"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9" y="1778438"/>
            <a:ext cx="4897576"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6256939"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2F288E0-7875-42C4-84C8-98DBBD3BF4D2}" type="datetimeFigureOut">
              <a:rPr lang="zh-CN" altLang="en-US" smtClean="0"/>
              <a:t>2025/3/9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2025/3/9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t>2025/3/9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2025/3/9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2025/3/9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2025/3/9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2025/3/9</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2025/3/9</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8"/>
            <a:ext cx="105156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2025/3/9</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0"/>
            <a:ext cx="5376672"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05728" y="1600200"/>
            <a:ext cx="5376672"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2025/3/9</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5" y="1778438"/>
            <a:ext cx="4873575"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1186775" y="2665379"/>
            <a:ext cx="4873575"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9" y="1778438"/>
            <a:ext cx="4897576"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6256939"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lvl="0"/>
            <a:fld id="{BB962C8B-B14F-4D97-AF65-F5344CB8AC3E}" type="datetime1">
              <a:rPr lang="zh-CN" altLang="en-US" dirty="0"/>
              <a:t>2025/3/9</a:t>
            </a:fld>
            <a:endParaRPr lang="zh-CN" altLang="en-US" dirty="0"/>
          </a:p>
        </p:txBody>
      </p:sp>
      <p:sp>
        <p:nvSpPr>
          <p:cNvPr id="8" name="页脚占位符 7"/>
          <p:cNvSpPr>
            <a:spLocks noGrp="1"/>
          </p:cNvSpPr>
          <p:nvPr>
            <p:ph type="ftr" sz="quarter" idx="11"/>
          </p:nvPr>
        </p:nvSpPr>
        <p:spPr/>
        <p:txBody>
          <a:bodyPr/>
          <a:lstStyle/>
          <a:p>
            <a:pPr lvl="0"/>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a:fld id="{BB962C8B-B14F-4D97-AF65-F5344CB8AC3E}" type="datetime1">
              <a:rPr lang="zh-CN" altLang="en-US" dirty="0"/>
              <a:t>2025/3/9</a:t>
            </a:fld>
            <a:endParaRPr lang="zh-CN" altLang="en-US" dirty="0"/>
          </a:p>
        </p:txBody>
      </p:sp>
      <p:sp>
        <p:nvSpPr>
          <p:cNvPr id="4" name="页脚占位符 3"/>
          <p:cNvSpPr>
            <a:spLocks noGrp="1"/>
          </p:cNvSpPr>
          <p:nvPr>
            <p:ph type="ftr" sz="quarter" idx="11"/>
          </p:nvPr>
        </p:nvSpPr>
        <p:spPr/>
        <p:txBody>
          <a:bodyPr/>
          <a:lstStyle/>
          <a:p>
            <a:pPr lvl="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fld id="{BB962C8B-B14F-4D97-AF65-F5344CB8AC3E}" type="datetime1">
              <a:rPr lang="zh-CN" altLang="en-US" dirty="0"/>
              <a:t>2025/3/9</a:t>
            </a:fld>
            <a:endParaRPr lang="zh-CN" altLang="en-US" dirty="0"/>
          </a:p>
        </p:txBody>
      </p:sp>
      <p:sp>
        <p:nvSpPr>
          <p:cNvPr id="3" name="页脚占位符 2"/>
          <p:cNvSpPr>
            <a:spLocks noGrp="1"/>
          </p:cNvSpPr>
          <p:nvPr>
            <p:ph type="ftr" sz="quarter" idx="11"/>
          </p:nvPr>
        </p:nvSpPr>
        <p:spPr/>
        <p:txBody>
          <a:bodyPr/>
          <a:lstStyle/>
          <a:p>
            <a:pPr lvl="0"/>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2025/3/9</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2025/3/9</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2025/3/9</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8"/>
            <a:ext cx="8070573"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2025/3/9</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2025/3/9</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2025/3/9</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8"/>
            <a:ext cx="105156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2025/3/9</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0"/>
            <a:ext cx="5376672"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05728" y="1600200"/>
            <a:ext cx="5376672"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2025/3/9</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5" y="1778438"/>
            <a:ext cx="4873575"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1186775" y="2665379"/>
            <a:ext cx="4873575"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9" y="1778438"/>
            <a:ext cx="4897576"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6256939"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lvl="0"/>
            <a:fld id="{BB962C8B-B14F-4D97-AF65-F5344CB8AC3E}" type="datetime1">
              <a:rPr lang="zh-CN" altLang="en-US" dirty="0"/>
              <a:t>2025/3/9</a:t>
            </a:fld>
            <a:endParaRPr lang="zh-CN" altLang="en-US" dirty="0"/>
          </a:p>
        </p:txBody>
      </p:sp>
      <p:sp>
        <p:nvSpPr>
          <p:cNvPr id="8" name="页脚占位符 7"/>
          <p:cNvSpPr>
            <a:spLocks noGrp="1"/>
          </p:cNvSpPr>
          <p:nvPr>
            <p:ph type="ftr" sz="quarter" idx="11"/>
          </p:nvPr>
        </p:nvSpPr>
        <p:spPr/>
        <p:txBody>
          <a:bodyPr/>
          <a:lstStyle/>
          <a:p>
            <a:pPr lvl="0"/>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a:fld id="{BB962C8B-B14F-4D97-AF65-F5344CB8AC3E}" type="datetime1">
              <a:rPr lang="zh-CN" altLang="en-US" dirty="0"/>
              <a:t>2025/3/9</a:t>
            </a:fld>
            <a:endParaRPr lang="zh-CN" altLang="en-US" dirty="0"/>
          </a:p>
        </p:txBody>
      </p:sp>
      <p:sp>
        <p:nvSpPr>
          <p:cNvPr id="4" name="页脚占位符 3"/>
          <p:cNvSpPr>
            <a:spLocks noGrp="1"/>
          </p:cNvSpPr>
          <p:nvPr>
            <p:ph type="ftr" sz="quarter" idx="11"/>
          </p:nvPr>
        </p:nvSpPr>
        <p:spPr/>
        <p:txBody>
          <a:bodyPr/>
          <a:lstStyle/>
          <a:p>
            <a:pPr lvl="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fld id="{BB962C8B-B14F-4D97-AF65-F5344CB8AC3E}" type="datetime1">
              <a:rPr lang="zh-CN" altLang="en-US" dirty="0"/>
              <a:t>2025/3/9</a:t>
            </a:fld>
            <a:endParaRPr lang="zh-CN" altLang="en-US" dirty="0"/>
          </a:p>
        </p:txBody>
      </p:sp>
      <p:sp>
        <p:nvSpPr>
          <p:cNvPr id="3" name="页脚占位符 2"/>
          <p:cNvSpPr>
            <a:spLocks noGrp="1"/>
          </p:cNvSpPr>
          <p:nvPr>
            <p:ph type="ftr" sz="quarter" idx="11"/>
          </p:nvPr>
        </p:nvSpPr>
        <p:spPr/>
        <p:txBody>
          <a:bodyPr/>
          <a:lstStyle/>
          <a:p>
            <a:pPr lvl="0"/>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2025/3/9</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2025/3/9</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2025/3/9</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8"/>
            <a:ext cx="8070573"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2025/3/9</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theme" Target="../theme/theme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0.xml"/><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theme" Target="../theme/theme4.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609600" y="274638"/>
            <a:ext cx="10972800" cy="1143000"/>
          </a:xfrm>
          <a:prstGeom prst="rect">
            <a:avLst/>
          </a:prstGeom>
          <a:noFill/>
          <a:ln w="9525">
            <a:noFill/>
          </a:ln>
        </p:spPr>
        <p:txBody>
          <a:bodyPr vert="horz" anchor="ctr">
            <a:normAutofit/>
          </a:bodyPr>
          <a:lstStyle/>
          <a:p>
            <a:pPr lvl="0"/>
            <a:r>
              <a:rPr lang="zh-CN" altLang="en-US"/>
              <a:t>单击此处编辑母版标题样式</a:t>
            </a:r>
          </a:p>
        </p:txBody>
      </p:sp>
      <p:sp>
        <p:nvSpPr>
          <p:cNvPr id="1027" name="文本占位符 2"/>
          <p:cNvSpPr>
            <a:spLocks noGrp="1"/>
          </p:cNvSpPr>
          <p:nvPr>
            <p:ph type="body" idx="1"/>
          </p:nvPr>
        </p:nvSpPr>
        <p:spPr>
          <a:xfrm>
            <a:off x="609600" y="1600200"/>
            <a:ext cx="10972800" cy="4525963"/>
          </a:xfrm>
          <a:prstGeom prst="rect">
            <a:avLst/>
          </a:prstGeom>
          <a:noFill/>
          <a:ln w="9525">
            <a:noFill/>
          </a:ln>
        </p:spPr>
        <p:txBody>
          <a:bodyPr vert="horz">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日期占位符 3"/>
          <p:cNvSpPr>
            <a:spLocks noGrp="1"/>
          </p:cNvSpPr>
          <p:nvPr>
            <p:ph type="dt" sz="half" idx="2"/>
          </p:nvPr>
        </p:nvSpPr>
        <p:spPr>
          <a:xfrm>
            <a:off x="609600" y="6356350"/>
            <a:ext cx="2844800" cy="365125"/>
          </a:xfrm>
          <a:prstGeom prst="rect">
            <a:avLst/>
          </a:prstGeom>
          <a:noFill/>
          <a:ln w="9525">
            <a:noFill/>
          </a:ln>
        </p:spPr>
        <p:txBody>
          <a:bodyPr vert="horz" anchor="ctr"/>
          <a:lstStyle>
            <a:lvl1pPr algn="l">
              <a:defRPr sz="1200">
                <a:solidFill>
                  <a:srgbClr val="898989"/>
                </a:solidFill>
                <a:ea typeface="宋体" panose="02010600030101010101" pitchFamily="2" charset="-122"/>
              </a:defRPr>
            </a:lvl1pPr>
          </a:lstStyle>
          <a:p>
            <a:pPr lvl="0"/>
            <a:fld id="{BB962C8B-B14F-4D97-AF65-F5344CB8AC3E}" type="datetime1">
              <a:rPr lang="zh-CN" altLang="en-US" dirty="0"/>
              <a:t>2025/3/9</a:t>
            </a:fld>
            <a:endParaRPr lang="zh-CN" altLang="en-US" dirty="0"/>
          </a:p>
        </p:txBody>
      </p:sp>
      <p:sp>
        <p:nvSpPr>
          <p:cNvPr id="1029" name="页脚占位符 4"/>
          <p:cNvSpPr>
            <a:spLocks noGrp="1"/>
          </p:cNvSpPr>
          <p:nvPr>
            <p:ph type="ftr" sz="quarter" idx="3"/>
          </p:nvPr>
        </p:nvSpPr>
        <p:spPr>
          <a:xfrm>
            <a:off x="4165600" y="6356350"/>
            <a:ext cx="3860800" cy="365125"/>
          </a:xfrm>
          <a:prstGeom prst="rect">
            <a:avLst/>
          </a:prstGeom>
          <a:noFill/>
          <a:ln w="9525">
            <a:noFill/>
          </a:ln>
        </p:spPr>
        <p:txBody>
          <a:bodyPr vert="horz" anchor="ctr"/>
          <a:lstStyle>
            <a:lvl1pPr algn="ctr">
              <a:defRPr sz="1200">
                <a:solidFill>
                  <a:srgbClr val="898989"/>
                </a:solidFill>
                <a:ea typeface="宋体" panose="02010600030101010101" pitchFamily="2" charset="-122"/>
              </a:defRPr>
            </a:lvl1pPr>
          </a:lstStyle>
          <a:p>
            <a:pPr lvl="0"/>
            <a:endParaRPr/>
          </a:p>
        </p:txBody>
      </p:sp>
      <p:sp>
        <p:nvSpPr>
          <p:cNvPr id="1030" name="灯片编号占位符 5"/>
          <p:cNvSpPr>
            <a:spLocks noGrp="1"/>
          </p:cNvSpPr>
          <p:nvPr>
            <p:ph type="sldNum" sz="quarter" idx="4"/>
          </p:nvPr>
        </p:nvSpPr>
        <p:spPr>
          <a:xfrm>
            <a:off x="8737600" y="6356350"/>
            <a:ext cx="2844800" cy="365125"/>
          </a:xfrm>
          <a:prstGeom prst="rect">
            <a:avLst/>
          </a:prstGeom>
          <a:noFill/>
          <a:ln w="9525">
            <a:noFill/>
          </a:ln>
        </p:spPr>
        <p:txBody>
          <a:bodyPr vert="horz" anchor="ctr"/>
          <a:lstStyle>
            <a:lvl1pPr algn="r">
              <a:defRPr sz="1200">
                <a:solidFill>
                  <a:srgbClr val="898989"/>
                </a:solidFill>
                <a:ea typeface="宋体" panose="02010600030101010101" pitchFamily="2" charset="-122"/>
              </a:defRPr>
            </a:lvl1pPr>
          </a:lstStyle>
          <a:p>
            <a:pPr lvl="0"/>
            <a:fld id="{9A0DB2DC-4C9A-4742-B13C-FB6460FD3503}" type="slidenum">
              <a:rPr lang="zh-CN" altLang="en-US" dirty="0"/>
              <a:t>‹#›</a:t>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lvl="0" algn="ctr" defTabSz="914400" eaLnBrk="1" fontAlgn="base" latinLnBrk="0" hangingPunct="1">
        <a:lnSpc>
          <a:spcPct val="100000"/>
        </a:lnSpc>
        <a:spcBef>
          <a:spcPct val="0"/>
        </a:spcBef>
        <a:buClr>
          <a:srgbClr val="000000"/>
        </a:buClr>
        <a:buNone/>
        <a:defRPr sz="4400" kern="1200">
          <a:solidFill>
            <a:schemeClr val="tx1"/>
          </a:solidFill>
          <a:latin typeface="+mj-lt"/>
          <a:ea typeface="+mj-ea"/>
          <a:cs typeface="+mj-cs"/>
          <a:sym typeface="Calibri" panose="020F0502020204030204" charset="0"/>
        </a:defRPr>
      </a:lvl1pPr>
    </p:titleStyle>
    <p:body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mn-lt"/>
          <a:ea typeface="+mn-ea"/>
          <a:cs typeface="+mn-cs"/>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mn-lt"/>
          <a:ea typeface="+mn-ea"/>
          <a:cs typeface="+mn-cs"/>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mn-lt"/>
          <a:ea typeface="+mn-ea"/>
          <a:cs typeface="+mn-cs"/>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5pPr>
      <a:lvl6pPr marL="2514600" lvl="5"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6pPr>
      <a:lvl7pPr marL="2971800" lvl="6"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7pPr>
      <a:lvl8pPr marL="3429000" lvl="7"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8pPr>
      <a:lvl9pPr marL="3886200" lvl="8"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9pPr>
    </p:bodyStyle>
    <p:otherStyle>
      <a:lvl1pPr marL="0" lvl="0"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82F288E0-7875-42C4-84C8-98DBBD3BF4D2}" type="datetimeFigureOut">
              <a:rPr lang="zh-CN" altLang="en-US" smtClean="0"/>
              <a:t>2025/3/9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D9BB5D0-35E4-459D-AEF3-FE4D7C45CC1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0815"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0815"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0815"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标题占位符 1"/>
          <p:cNvSpPr>
            <a:spLocks noGrp="1"/>
          </p:cNvSpPr>
          <p:nvPr>
            <p:ph type="title"/>
          </p:nvPr>
        </p:nvSpPr>
        <p:spPr>
          <a:xfrm>
            <a:off x="609600" y="274638"/>
            <a:ext cx="10972800" cy="1143000"/>
          </a:xfrm>
          <a:prstGeom prst="rect">
            <a:avLst/>
          </a:prstGeom>
          <a:noFill/>
          <a:ln w="9525">
            <a:noFill/>
          </a:ln>
        </p:spPr>
        <p:txBody>
          <a:bodyPr vert="horz" anchor="ctr">
            <a:normAutofit/>
          </a:bodyPr>
          <a:lstStyle/>
          <a:p>
            <a:pPr lvl="0"/>
            <a:r>
              <a:rPr lang="zh-CN" altLang="en-US"/>
              <a:t>单击此处编辑母版标题样式</a:t>
            </a:r>
          </a:p>
        </p:txBody>
      </p:sp>
      <p:sp>
        <p:nvSpPr>
          <p:cNvPr id="2051" name="文本占位符 2"/>
          <p:cNvSpPr>
            <a:spLocks noGrp="1"/>
          </p:cNvSpPr>
          <p:nvPr>
            <p:ph type="body" idx="1"/>
          </p:nvPr>
        </p:nvSpPr>
        <p:spPr>
          <a:xfrm>
            <a:off x="609600" y="1600200"/>
            <a:ext cx="10972800" cy="4525963"/>
          </a:xfrm>
          <a:prstGeom prst="rect">
            <a:avLst/>
          </a:prstGeom>
          <a:noFill/>
          <a:ln w="9525">
            <a:noFill/>
          </a:ln>
        </p:spPr>
        <p:txBody>
          <a:bodyPr vert="horz">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052" name="日期占位符 3"/>
          <p:cNvSpPr>
            <a:spLocks noGrp="1"/>
          </p:cNvSpPr>
          <p:nvPr>
            <p:ph type="dt" sz="half" idx="2"/>
          </p:nvPr>
        </p:nvSpPr>
        <p:spPr>
          <a:xfrm>
            <a:off x="609600" y="6356350"/>
            <a:ext cx="2844800" cy="365125"/>
          </a:xfrm>
          <a:prstGeom prst="rect">
            <a:avLst/>
          </a:prstGeom>
          <a:noFill/>
          <a:ln w="9525">
            <a:noFill/>
          </a:ln>
        </p:spPr>
        <p:txBody>
          <a:bodyPr vert="horz" anchor="ctr"/>
          <a:lstStyle>
            <a:lvl1pPr algn="l">
              <a:defRPr sz="1200">
                <a:solidFill>
                  <a:srgbClr val="898989"/>
                </a:solidFill>
                <a:ea typeface="宋体" panose="02010600030101010101" pitchFamily="2" charset="-122"/>
              </a:defRPr>
            </a:lvl1pPr>
          </a:lstStyle>
          <a:p>
            <a:pPr lvl="0"/>
            <a:fld id="{BB962C8B-B14F-4D97-AF65-F5344CB8AC3E}" type="datetime1">
              <a:rPr lang="zh-CN" altLang="en-US" dirty="0"/>
              <a:t>2025/3/9</a:t>
            </a:fld>
            <a:endParaRPr lang="zh-CN" altLang="en-US" dirty="0"/>
          </a:p>
        </p:txBody>
      </p:sp>
      <p:sp>
        <p:nvSpPr>
          <p:cNvPr id="2053" name="页脚占位符 4"/>
          <p:cNvSpPr>
            <a:spLocks noGrp="1"/>
          </p:cNvSpPr>
          <p:nvPr>
            <p:ph type="ftr" sz="quarter" idx="3"/>
          </p:nvPr>
        </p:nvSpPr>
        <p:spPr>
          <a:xfrm>
            <a:off x="4165600" y="6356350"/>
            <a:ext cx="3860800" cy="365125"/>
          </a:xfrm>
          <a:prstGeom prst="rect">
            <a:avLst/>
          </a:prstGeom>
          <a:noFill/>
          <a:ln w="9525">
            <a:noFill/>
          </a:ln>
        </p:spPr>
        <p:txBody>
          <a:bodyPr vert="horz" anchor="ctr"/>
          <a:lstStyle>
            <a:lvl1pPr algn="ctr">
              <a:defRPr sz="1200">
                <a:solidFill>
                  <a:srgbClr val="898989"/>
                </a:solidFill>
                <a:ea typeface="宋体" panose="02010600030101010101" pitchFamily="2" charset="-122"/>
              </a:defRPr>
            </a:lvl1pPr>
          </a:lstStyle>
          <a:p>
            <a:pPr lvl="0"/>
            <a:endParaRPr/>
          </a:p>
        </p:txBody>
      </p:sp>
      <p:sp>
        <p:nvSpPr>
          <p:cNvPr id="2054" name="灯片编号占位符 5"/>
          <p:cNvSpPr>
            <a:spLocks noGrp="1"/>
          </p:cNvSpPr>
          <p:nvPr>
            <p:ph type="sldNum" sz="quarter" idx="4"/>
          </p:nvPr>
        </p:nvSpPr>
        <p:spPr>
          <a:xfrm>
            <a:off x="8737600" y="6356350"/>
            <a:ext cx="2844800" cy="365125"/>
          </a:xfrm>
          <a:prstGeom prst="rect">
            <a:avLst/>
          </a:prstGeom>
          <a:noFill/>
          <a:ln w="9525">
            <a:noFill/>
          </a:ln>
        </p:spPr>
        <p:txBody>
          <a:bodyPr vert="horz" anchor="ctr"/>
          <a:lstStyle>
            <a:lvl1pPr algn="r">
              <a:defRPr sz="1200">
                <a:solidFill>
                  <a:srgbClr val="898989"/>
                </a:solidFill>
                <a:ea typeface="宋体" panose="02010600030101010101" pitchFamily="2" charset="-122"/>
              </a:defRPr>
            </a:lvl1pPr>
          </a:lstStyle>
          <a:p>
            <a:pPr lvl="0"/>
            <a:fld id="{9A0DB2DC-4C9A-4742-B13C-FB6460FD3503}" type="slidenum">
              <a:rPr lang="zh-CN" altLang="en-US" dirty="0"/>
              <a:t>‹#›</a:t>
            </a:fld>
            <a:endParaRPr lang="zh-CN" altLang="en-US" dirty="0"/>
          </a:p>
        </p:txBody>
      </p:sp>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hf sldNum="0" hdr="0" ftr="0" dt="0"/>
  <p:txStyles>
    <p:titleStyle>
      <a:lvl1pPr lvl="0" algn="ctr" defTabSz="914400" eaLnBrk="1" fontAlgn="base" latinLnBrk="0" hangingPunct="1">
        <a:lnSpc>
          <a:spcPct val="100000"/>
        </a:lnSpc>
        <a:spcBef>
          <a:spcPct val="0"/>
        </a:spcBef>
        <a:buClr>
          <a:srgbClr val="000000"/>
        </a:buClr>
        <a:buNone/>
        <a:defRPr sz="4400" kern="1200">
          <a:solidFill>
            <a:schemeClr val="tx1"/>
          </a:solidFill>
          <a:latin typeface="+mj-lt"/>
          <a:ea typeface="+mj-ea"/>
          <a:cs typeface="+mj-cs"/>
          <a:sym typeface="Calibri" panose="020F0502020204030204" charset="0"/>
        </a:defRPr>
      </a:lvl1pPr>
    </p:titleStyle>
    <p:body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mn-lt"/>
          <a:ea typeface="+mn-ea"/>
          <a:cs typeface="+mn-cs"/>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mn-lt"/>
          <a:ea typeface="+mn-ea"/>
          <a:cs typeface="+mn-cs"/>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mn-lt"/>
          <a:ea typeface="+mn-ea"/>
          <a:cs typeface="+mn-cs"/>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5pPr>
      <a:lvl6pPr marL="2514600" lvl="5"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6pPr>
      <a:lvl7pPr marL="2971800" lvl="6"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7pPr>
      <a:lvl8pPr marL="3429000" lvl="7"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8pPr>
      <a:lvl9pPr marL="3886200" lvl="8"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9pPr>
    </p:bodyStyle>
    <p:otherStyle>
      <a:lvl1pPr marL="0" lvl="0"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标题占位符 1"/>
          <p:cNvSpPr>
            <a:spLocks noGrp="1"/>
          </p:cNvSpPr>
          <p:nvPr>
            <p:ph type="title"/>
          </p:nvPr>
        </p:nvSpPr>
        <p:spPr>
          <a:xfrm>
            <a:off x="609600" y="274638"/>
            <a:ext cx="10972800" cy="1143000"/>
          </a:xfrm>
          <a:prstGeom prst="rect">
            <a:avLst/>
          </a:prstGeom>
          <a:noFill/>
          <a:ln w="9525">
            <a:noFill/>
          </a:ln>
        </p:spPr>
        <p:txBody>
          <a:bodyPr vert="horz" anchor="ctr">
            <a:normAutofit/>
          </a:bodyPr>
          <a:lstStyle/>
          <a:p>
            <a:pPr lvl="0"/>
            <a:r>
              <a:rPr lang="zh-CN" altLang="en-US"/>
              <a:t>单击此处编辑母版标题样式</a:t>
            </a:r>
          </a:p>
        </p:txBody>
      </p:sp>
      <p:sp>
        <p:nvSpPr>
          <p:cNvPr id="3075" name="文本占位符 2"/>
          <p:cNvSpPr>
            <a:spLocks noGrp="1"/>
          </p:cNvSpPr>
          <p:nvPr>
            <p:ph type="body" idx="1"/>
          </p:nvPr>
        </p:nvSpPr>
        <p:spPr>
          <a:xfrm>
            <a:off x="609600" y="1600200"/>
            <a:ext cx="10972800" cy="4525963"/>
          </a:xfrm>
          <a:prstGeom prst="rect">
            <a:avLst/>
          </a:prstGeom>
          <a:noFill/>
          <a:ln w="9525">
            <a:noFill/>
          </a:ln>
        </p:spPr>
        <p:txBody>
          <a:bodyPr vert="horz">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076" name="日期占位符 3"/>
          <p:cNvSpPr>
            <a:spLocks noGrp="1"/>
          </p:cNvSpPr>
          <p:nvPr>
            <p:ph type="dt" sz="half" idx="2"/>
          </p:nvPr>
        </p:nvSpPr>
        <p:spPr>
          <a:xfrm>
            <a:off x="609600" y="6356350"/>
            <a:ext cx="2844800" cy="365125"/>
          </a:xfrm>
          <a:prstGeom prst="rect">
            <a:avLst/>
          </a:prstGeom>
          <a:noFill/>
          <a:ln w="9525">
            <a:noFill/>
          </a:ln>
        </p:spPr>
        <p:txBody>
          <a:bodyPr vert="horz" anchor="ctr"/>
          <a:lstStyle>
            <a:lvl1pPr algn="l">
              <a:defRPr sz="1200">
                <a:solidFill>
                  <a:srgbClr val="898989"/>
                </a:solidFill>
                <a:ea typeface="宋体" panose="02010600030101010101" pitchFamily="2" charset="-122"/>
              </a:defRPr>
            </a:lvl1pPr>
          </a:lstStyle>
          <a:p>
            <a:pPr lvl="0"/>
            <a:fld id="{BB962C8B-B14F-4D97-AF65-F5344CB8AC3E}" type="datetime1">
              <a:rPr lang="zh-CN" altLang="en-US" dirty="0"/>
              <a:t>2025/3/9</a:t>
            </a:fld>
            <a:endParaRPr lang="zh-CN" altLang="en-US" dirty="0"/>
          </a:p>
        </p:txBody>
      </p:sp>
      <p:sp>
        <p:nvSpPr>
          <p:cNvPr id="3077" name="页脚占位符 4"/>
          <p:cNvSpPr>
            <a:spLocks noGrp="1"/>
          </p:cNvSpPr>
          <p:nvPr>
            <p:ph type="ftr" sz="quarter" idx="3"/>
          </p:nvPr>
        </p:nvSpPr>
        <p:spPr>
          <a:xfrm>
            <a:off x="4165600" y="6356350"/>
            <a:ext cx="3860800" cy="365125"/>
          </a:xfrm>
          <a:prstGeom prst="rect">
            <a:avLst/>
          </a:prstGeom>
          <a:noFill/>
          <a:ln w="9525">
            <a:noFill/>
          </a:ln>
        </p:spPr>
        <p:txBody>
          <a:bodyPr vert="horz" anchor="ctr"/>
          <a:lstStyle>
            <a:lvl1pPr algn="ctr">
              <a:defRPr sz="1200">
                <a:solidFill>
                  <a:srgbClr val="898989"/>
                </a:solidFill>
                <a:ea typeface="宋体" panose="02010600030101010101" pitchFamily="2" charset="-122"/>
              </a:defRPr>
            </a:lvl1pPr>
          </a:lstStyle>
          <a:p>
            <a:pPr lvl="0"/>
            <a:endParaRPr/>
          </a:p>
        </p:txBody>
      </p:sp>
      <p:sp>
        <p:nvSpPr>
          <p:cNvPr id="3078" name="灯片编号占位符 5"/>
          <p:cNvSpPr>
            <a:spLocks noGrp="1"/>
          </p:cNvSpPr>
          <p:nvPr>
            <p:ph type="sldNum" sz="quarter" idx="4"/>
          </p:nvPr>
        </p:nvSpPr>
        <p:spPr>
          <a:xfrm>
            <a:off x="8737600" y="6356350"/>
            <a:ext cx="2844800" cy="365125"/>
          </a:xfrm>
          <a:prstGeom prst="rect">
            <a:avLst/>
          </a:prstGeom>
          <a:noFill/>
          <a:ln w="9525">
            <a:noFill/>
          </a:ln>
        </p:spPr>
        <p:txBody>
          <a:bodyPr vert="horz" anchor="ctr"/>
          <a:lstStyle>
            <a:lvl1pPr algn="r">
              <a:defRPr sz="1200">
                <a:solidFill>
                  <a:srgbClr val="898989"/>
                </a:solidFill>
                <a:ea typeface="宋体" panose="02010600030101010101" pitchFamily="2" charset="-122"/>
              </a:defRPr>
            </a:lvl1pPr>
          </a:lstStyle>
          <a:p>
            <a:pPr lvl="0"/>
            <a:fld id="{9A0DB2DC-4C9A-4742-B13C-FB6460FD3503}" type="slidenum">
              <a:rPr lang="zh-CN" altLang="en-US" dirty="0"/>
              <a:t>‹#›</a:t>
            </a:fld>
            <a:endParaRPr lang="zh-CN" altLang="en-US" dirty="0"/>
          </a:p>
        </p:txBody>
      </p:sp>
    </p:spTree>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Lst>
  <p:hf sldNum="0" hdr="0" ftr="0" dt="0"/>
  <p:txStyles>
    <p:titleStyle>
      <a:lvl1pPr lvl="0" algn="ctr" defTabSz="914400" eaLnBrk="1" fontAlgn="base" latinLnBrk="0" hangingPunct="1">
        <a:lnSpc>
          <a:spcPct val="100000"/>
        </a:lnSpc>
        <a:spcBef>
          <a:spcPct val="0"/>
        </a:spcBef>
        <a:buClr>
          <a:srgbClr val="000000"/>
        </a:buClr>
        <a:buNone/>
        <a:defRPr sz="4400" kern="1200">
          <a:solidFill>
            <a:schemeClr val="tx1"/>
          </a:solidFill>
          <a:latin typeface="+mj-lt"/>
          <a:ea typeface="+mj-ea"/>
          <a:cs typeface="+mj-cs"/>
          <a:sym typeface="Calibri" panose="020F0502020204030204" charset="0"/>
        </a:defRPr>
      </a:lvl1pPr>
    </p:titleStyle>
    <p:body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mn-lt"/>
          <a:ea typeface="+mn-ea"/>
          <a:cs typeface="+mn-cs"/>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mn-lt"/>
          <a:ea typeface="+mn-ea"/>
          <a:cs typeface="+mn-cs"/>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mn-lt"/>
          <a:ea typeface="+mn-ea"/>
          <a:cs typeface="+mn-cs"/>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5pPr>
      <a:lvl6pPr marL="2514600" lvl="5"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6pPr>
      <a:lvl7pPr marL="2971800" lvl="6"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7pPr>
      <a:lvl8pPr marL="3429000" lvl="7"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8pPr>
      <a:lvl9pPr marL="3886200" lvl="8"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9pPr>
    </p:bodyStyle>
    <p:otherStyle>
      <a:lvl1pPr marL="0" lvl="0"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comments" Target="../comments/commen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1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44.png"/><Relationship Id="rId4" Type="http://schemas.openxmlformats.org/officeDocument/2006/relationships/image" Target="../media/image43.png"/></Relationships>
</file>

<file path=ppt/slides/_rels/slide1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2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50.png"/><Relationship Id="rId4" Type="http://schemas.openxmlformats.org/officeDocument/2006/relationships/image" Target="../media/image49.png"/></Relationships>
</file>

<file path=ppt/slides/_rels/slide2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2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2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2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66.png"/></Relationships>
</file>

<file path=ppt/slides/_rels/slide2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68.png"/></Relationships>
</file>

<file path=ppt/slides/_rels/slide2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70.png"/></Relationships>
</file>

<file path=ppt/slides/_rels/slide28.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image" Target="../media/image71.png"/><Relationship Id="rId7" Type="http://schemas.openxmlformats.org/officeDocument/2006/relationships/image" Target="../media/image75.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 Id="rId9" Type="http://schemas.openxmlformats.org/officeDocument/2006/relationships/image" Target="../media/image77.png"/></Relationships>
</file>

<file path=ppt/slides/_rels/slide2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30.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84.png"/><Relationship Id="rId4" Type="http://schemas.openxmlformats.org/officeDocument/2006/relationships/image" Target="../media/image83.png"/></Relationships>
</file>

<file path=ppt/slides/_rels/slide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tile tx="0" ty="0" sx="100000" sy="100000" flip="none" algn="tl"/>
        </a:blipFill>
        <a:effectLst/>
      </p:bgPr>
    </p:bg>
    <p:spTree>
      <p:nvGrpSpPr>
        <p:cNvPr id="1" name=""/>
        <p:cNvGrpSpPr/>
        <p:nvPr/>
      </p:nvGrpSpPr>
      <p:grpSpPr>
        <a:xfrm>
          <a:off x="0" y="0"/>
          <a:ext cx="0" cy="0"/>
          <a:chOff x="0" y="0"/>
          <a:chExt cx="0" cy="0"/>
        </a:xfrm>
      </p:grpSpPr>
      <p:sp>
        <p:nvSpPr>
          <p:cNvPr id="5122" name="Rectangle 9"/>
          <p:cNvSpPr>
            <a:spLocks noGrp="1"/>
          </p:cNvSpPr>
          <p:nvPr>
            <p:ph type="subTitle"/>
          </p:nvPr>
        </p:nvSpPr>
        <p:spPr>
          <a:xfrm>
            <a:off x="3150295" y="4326756"/>
            <a:ext cx="6794280" cy="630555"/>
          </a:xfrm>
        </p:spPr>
        <p:txBody>
          <a:bodyPr wrap="square" anchor="t">
            <a:normAutofit fontScale="97500"/>
          </a:bodyPr>
          <a:lstStyle>
            <a:lvl1pPr lvl="0">
              <a:defRPr kern="1200"/>
            </a:lvl1pPr>
            <a:lvl2pPr lvl="1">
              <a:defRPr kern="1200"/>
            </a:lvl2pPr>
            <a:lvl3pPr lvl="2">
              <a:defRPr kern="1200"/>
            </a:lvl3pPr>
            <a:lvl4pPr lvl="3">
              <a:defRPr kern="1200"/>
            </a:lvl4pPr>
            <a:lvl5pPr lvl="4">
              <a:defRPr kern="1200"/>
            </a:lvl5pPr>
          </a:lstStyle>
          <a:p>
            <a:pPr marL="1905" lvl="0" indent="-344805">
              <a:lnSpc>
                <a:spcPct val="90000"/>
              </a:lnSpc>
              <a:spcBef>
                <a:spcPct val="50000"/>
              </a:spcBef>
              <a:buNone/>
            </a:pPr>
            <a:r>
              <a:rPr lang="zh-CN" altLang="en-US" sz="3600" b="1" dirty="0">
                <a:solidFill>
                  <a:srgbClr val="66CCFF"/>
                </a:solidFill>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600" b="1" dirty="0">
                <a:solidFill>
                  <a:srgbClr val="66CCFF"/>
                </a:solidFill>
                <a:latin typeface="微软雅黑" panose="020B0503020204020204" pitchFamily="2" charset="-122"/>
                <a:ea typeface="微软雅黑" panose="020B0503020204020204" pitchFamily="2" charset="-122"/>
                <a:sym typeface="微软雅黑" panose="020B0503020204020204" pitchFamily="2" charset="-122"/>
              </a:rPr>
              <a:t>6</a:t>
            </a:r>
            <a:r>
              <a:rPr lang="zh-CN" altLang="en-US" sz="3600" b="1" dirty="0">
                <a:solidFill>
                  <a:srgbClr val="66CCFF"/>
                </a:solidFill>
                <a:latin typeface="微软雅黑" panose="020B0503020204020204" pitchFamily="2" charset="-122"/>
                <a:ea typeface="微软雅黑" panose="020B0503020204020204" pitchFamily="2" charset="-122"/>
                <a:sym typeface="微软雅黑" panose="020B0503020204020204" pitchFamily="2" charset="-122"/>
              </a:rPr>
              <a:t>章 主成分分析及</a:t>
            </a:r>
            <a:r>
              <a:rPr lang="en-US" altLang="zh-CN" sz="3600" b="1" dirty="0">
                <a:solidFill>
                  <a:srgbClr val="66CCFF"/>
                </a:solidFill>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600" b="1" dirty="0">
                <a:solidFill>
                  <a:srgbClr val="66CCFF"/>
                </a:solidFill>
                <a:latin typeface="微软雅黑" panose="020B0503020204020204" pitchFamily="2" charset="-122"/>
                <a:ea typeface="微软雅黑" panose="020B0503020204020204" pitchFamily="2" charset="-122"/>
                <a:sym typeface="微软雅黑" panose="020B0503020204020204" pitchFamily="2" charset="-122"/>
              </a:rPr>
              <a:t>计算</a:t>
            </a:r>
          </a:p>
        </p:txBody>
      </p:sp>
      <p:sp>
        <p:nvSpPr>
          <p:cNvPr id="5123" name="WordArt 10"/>
          <p:cNvSpPr>
            <a:spLocks noTextEdit="1"/>
          </p:cNvSpPr>
          <p:nvPr/>
        </p:nvSpPr>
        <p:spPr>
          <a:xfrm>
            <a:off x="2711765" y="4482465"/>
            <a:ext cx="7213600" cy="737870"/>
          </a:xfrm>
          <a:prstGeom prst="rect">
            <a:avLst/>
          </a:prstGeom>
        </p:spPr>
        <p:txBody>
          <a:bodyPr wrap="none" fromWordArt="1">
            <a:prstTxWarp prst="textPlain">
              <a:avLst>
                <a:gd name="adj" fmla="val 50000"/>
              </a:avLst>
            </a:prstTxWarp>
            <a:normAutofit/>
          </a:bodyPr>
          <a:lstStyle/>
          <a:p>
            <a:pPr algn="ctr"/>
            <a:endParaRPr lang="zh-CN" altLang="en-US" sz="3600" i="1">
              <a:noFill/>
              <a:latin typeface="宋体" panose="02010600030101010101" pitchFamily="2" charset="-122"/>
              <a:ea typeface="宋体" panose="02010600030101010101" pitchFamily="2" charset="-122"/>
            </a:endParaRPr>
          </a:p>
        </p:txBody>
      </p:sp>
      <p:sp>
        <p:nvSpPr>
          <p:cNvPr id="5124" name="矩形 7"/>
          <p:cNvSpPr/>
          <p:nvPr/>
        </p:nvSpPr>
        <p:spPr>
          <a:xfrm>
            <a:off x="2423745" y="2965951"/>
            <a:ext cx="8247380" cy="768350"/>
          </a:xfrm>
          <a:prstGeom prst="rect">
            <a:avLst/>
          </a:prstGeom>
          <a:noFill/>
          <a:ln w="9525">
            <a:noFill/>
          </a:ln>
        </p:spPr>
        <p:txBody>
          <a:bodyPr wrap="square">
            <a:spAutoFit/>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cs typeface="+mn-cs"/>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cs typeface="+mn-cs"/>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cs typeface="+mn-cs"/>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cs typeface="+mn-cs"/>
                <a:sym typeface="Calibri" panose="020F0502020204030204" charset="0"/>
              </a:defRPr>
            </a:lvl5pPr>
          </a:lstStyle>
          <a:p>
            <a:pPr marL="0" lvl="0" indent="0" defTabSz="914400">
              <a:spcBef>
                <a:spcPct val="0"/>
              </a:spcBef>
              <a:buFont typeface="Arial" panose="020B0604020202020204" pitchFamily="34" charset="0"/>
              <a:buNone/>
            </a:pPr>
            <a:r>
              <a:rPr lang="zh-CN" altLang="en-US" sz="44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44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44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a:t>
            </a:r>
          </a:p>
        </p:txBody>
      </p:sp>
      <p:sp>
        <p:nvSpPr>
          <p:cNvPr id="2" name="文本框 1"/>
          <p:cNvSpPr txBox="1"/>
          <p:nvPr/>
        </p:nvSpPr>
        <p:spPr>
          <a:xfrm>
            <a:off x="7929563" y="6429375"/>
            <a:ext cx="184731" cy="369332"/>
          </a:xfrm>
          <a:prstGeom prst="rect">
            <a:avLst/>
          </a:prstGeom>
          <a:noFill/>
        </p:spPr>
        <p:txBody>
          <a:bodyPr wrap="none" rtlCol="0">
            <a:spAutoFit/>
          </a:bodyPr>
          <a:lstStyle/>
          <a:p>
            <a:endParaRPr kumimoji="1"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22">
                                            <p:txEl>
                                              <p:pRg st="0" end="0"/>
                                            </p:txEl>
                                          </p:spTgt>
                                        </p:tgtEl>
                                        <p:attrNameLst>
                                          <p:attrName>style.visibility</p:attrName>
                                        </p:attrNameLst>
                                      </p:cBhvr>
                                      <p:to>
                                        <p:strVal val="visible"/>
                                      </p:to>
                                    </p:set>
                                    <p:anim calcmode="lin" valueType="num">
                                      <p:cBhvr additive="base">
                                        <p:cTn id="7" dur="500" fill="hold"/>
                                        <p:tgtEl>
                                          <p:spTgt spid="512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2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201" name="组合 5"/>
          <p:cNvGrpSpPr/>
          <p:nvPr/>
        </p:nvGrpSpPr>
        <p:grpSpPr>
          <a:xfrm>
            <a:off x="3709988" y="1989138"/>
            <a:ext cx="4662487" cy="2650363"/>
            <a:chOff x="0" y="0"/>
            <a:chExt cx="4662264" cy="2650025"/>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4" name="矩形 4"/>
            <p:cNvSpPr/>
            <p:nvPr/>
          </p:nvSpPr>
          <p:spPr>
            <a:xfrm>
              <a:off x="72008" y="2232248"/>
              <a:ext cx="4572000" cy="417777"/>
            </a:xfrm>
            <a:prstGeom prst="rect">
              <a:avLst/>
            </a:prstGeom>
            <a:noFill/>
            <a:ln w="9525">
              <a:noFill/>
            </a:ln>
          </p:spPr>
          <p:txBody>
            <a:bodyPr>
              <a:spAutoFit/>
            </a:bodyPr>
            <a:lstStyle/>
            <a:p>
              <a:pPr lvl="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4" name="TextBox 28"/>
          <p:cNvSpPr/>
          <p:nvPr/>
        </p:nvSpPr>
        <p:spPr>
          <a:xfrm>
            <a:off x="41945" y="185845"/>
            <a:ext cx="5450204" cy="584775"/>
          </a:xfrm>
          <a:prstGeom prst="rect">
            <a:avLst/>
          </a:prstGeom>
          <a:noFill/>
          <a:ln w="9525">
            <a:noFill/>
          </a:ln>
        </p:spPr>
        <p:txBody>
          <a:bodyPr wrap="square">
            <a:spAutoFit/>
          </a:bodyPr>
          <a:lstStyle/>
          <a:p>
            <a:pPr lvl="0">
              <a:lnSpc>
                <a:spcPct val="100000"/>
              </a:lnSpc>
            </a:pPr>
            <a:r>
              <a:rPr lang="zh-CN" altLang="en-US" sz="3200" b="1" dirty="0">
                <a:solidFill>
                  <a:schemeClr val="accent1"/>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chemeClr val="accent1"/>
                </a:solidFill>
                <a:latin typeface="微软雅黑" panose="020B0503020204020204" pitchFamily="2" charset="-122"/>
                <a:ea typeface="微软雅黑" panose="020B0503020204020204" pitchFamily="2" charset="-122"/>
                <a:sym typeface="微软雅黑" panose="020B0503020204020204" pitchFamily="2" charset="-122"/>
              </a:rPr>
              <a:t>建模</a:t>
            </a:r>
          </a:p>
        </p:txBody>
      </p:sp>
      <p:sp>
        <p:nvSpPr>
          <p:cNvPr id="6" name="TextBox 27"/>
          <p:cNvSpPr/>
          <p:nvPr/>
        </p:nvSpPr>
        <p:spPr>
          <a:xfrm>
            <a:off x="5979973" y="235062"/>
            <a:ext cx="545020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altLang="zh-CN" sz="2800" b="1" dirty="0">
                <a:latin typeface="微软雅黑" panose="020B0503020204020204" pitchFamily="2" charset="-122"/>
                <a:ea typeface="微软雅黑" panose="020B0503020204020204" pitchFamily="2" charset="-122"/>
                <a:sym typeface="微软雅黑" panose="020B0503020204020204" pitchFamily="2" charset="-122"/>
              </a:rPr>
              <a:t>6</a:t>
            </a:r>
            <a:r>
              <a:rPr lang="zh-CN" altLang="en-US" sz="2800" b="1" dirty="0">
                <a:latin typeface="微软雅黑" panose="020B0503020204020204" pitchFamily="2" charset="-122"/>
                <a:ea typeface="微软雅黑" panose="020B0503020204020204" pitchFamily="2" charset="-122"/>
                <a:sym typeface="微软雅黑" panose="020B0503020204020204" pitchFamily="2" charset="-122"/>
              </a:rPr>
              <a:t>主成分分析及</a:t>
            </a:r>
            <a:r>
              <a:rPr lang="en-US" altLang="zh-CN" sz="2800" b="1" dirty="0">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2800" b="1" dirty="0">
                <a:latin typeface="微软雅黑" panose="020B0503020204020204" pitchFamily="2" charset="-122"/>
                <a:ea typeface="微软雅黑" panose="020B0503020204020204" pitchFamily="2" charset="-122"/>
                <a:sym typeface="微软雅黑" panose="020B0503020204020204" pitchFamily="2" charset="-122"/>
              </a:rPr>
              <a:t>计算</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10" name="右箭头 10"/>
          <p:cNvSpPr/>
          <p:nvPr/>
        </p:nvSpPr>
        <p:spPr>
          <a:xfrm>
            <a:off x="5407346" y="429497"/>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pic>
        <p:nvPicPr>
          <p:cNvPr id="5" name="图片 4"/>
          <p:cNvPicPr>
            <a:picLocks noChangeAspect="1"/>
          </p:cNvPicPr>
          <p:nvPr>
            <p:custDataLst>
              <p:tags r:id="rId1"/>
            </p:custDataLst>
          </p:nvPr>
        </p:nvPicPr>
        <p:blipFill>
          <a:blip r:embed="rId4"/>
          <a:stretch>
            <a:fillRect/>
          </a:stretch>
        </p:blipFill>
        <p:spPr>
          <a:xfrm>
            <a:off x="2135505" y="1052830"/>
            <a:ext cx="7059295" cy="5784215"/>
          </a:xfrm>
          <a:prstGeom prst="rect">
            <a:avLst/>
          </a:prstGeom>
        </p:spPr>
      </p:pic>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201" name="组合 5"/>
          <p:cNvGrpSpPr/>
          <p:nvPr/>
        </p:nvGrpSpPr>
        <p:grpSpPr>
          <a:xfrm>
            <a:off x="3709988" y="1989138"/>
            <a:ext cx="4662487" cy="2650363"/>
            <a:chOff x="0" y="0"/>
            <a:chExt cx="4662264" cy="2650025"/>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4" name="矩形 4"/>
            <p:cNvSpPr/>
            <p:nvPr/>
          </p:nvSpPr>
          <p:spPr>
            <a:xfrm>
              <a:off x="72008" y="2232248"/>
              <a:ext cx="4572000" cy="417777"/>
            </a:xfrm>
            <a:prstGeom prst="rect">
              <a:avLst/>
            </a:prstGeom>
            <a:noFill/>
            <a:ln w="9525">
              <a:noFill/>
            </a:ln>
          </p:spPr>
          <p:txBody>
            <a:bodyPr>
              <a:spAutoFit/>
            </a:bodyPr>
            <a:lstStyle/>
            <a:p>
              <a:pPr lvl="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4" name="TextBox 28"/>
          <p:cNvSpPr/>
          <p:nvPr/>
        </p:nvSpPr>
        <p:spPr>
          <a:xfrm>
            <a:off x="41945" y="185845"/>
            <a:ext cx="5450204" cy="584775"/>
          </a:xfrm>
          <a:prstGeom prst="rect">
            <a:avLst/>
          </a:prstGeom>
          <a:noFill/>
          <a:ln w="9525">
            <a:noFill/>
          </a:ln>
        </p:spPr>
        <p:txBody>
          <a:bodyPr wrap="square">
            <a:spAutoFit/>
          </a:bodyPr>
          <a:lstStyle/>
          <a:p>
            <a:pPr lvl="0">
              <a:lnSpc>
                <a:spcPct val="100000"/>
              </a:lnSpc>
            </a:pPr>
            <a:r>
              <a:rPr lang="zh-CN" altLang="en-US" sz="3200" b="1" dirty="0">
                <a:solidFill>
                  <a:schemeClr val="accent1"/>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chemeClr val="accent1"/>
                </a:solidFill>
                <a:latin typeface="微软雅黑" panose="020B0503020204020204" pitchFamily="2" charset="-122"/>
                <a:ea typeface="微软雅黑" panose="020B0503020204020204" pitchFamily="2" charset="-122"/>
                <a:sym typeface="微软雅黑" panose="020B0503020204020204" pitchFamily="2" charset="-122"/>
              </a:rPr>
              <a:t>建模</a:t>
            </a:r>
          </a:p>
        </p:txBody>
      </p:sp>
      <p:sp>
        <p:nvSpPr>
          <p:cNvPr id="6" name="TextBox 27"/>
          <p:cNvSpPr/>
          <p:nvPr/>
        </p:nvSpPr>
        <p:spPr>
          <a:xfrm>
            <a:off x="5979973" y="235062"/>
            <a:ext cx="545020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altLang="zh-CN" sz="2800" b="1" dirty="0">
                <a:latin typeface="微软雅黑" panose="020B0503020204020204" pitchFamily="2" charset="-122"/>
                <a:ea typeface="微软雅黑" panose="020B0503020204020204" pitchFamily="2" charset="-122"/>
                <a:sym typeface="微软雅黑" panose="020B0503020204020204" pitchFamily="2" charset="-122"/>
              </a:rPr>
              <a:t>6</a:t>
            </a:r>
            <a:r>
              <a:rPr lang="zh-CN" altLang="en-US" sz="2800" b="1" dirty="0">
                <a:latin typeface="微软雅黑" panose="020B0503020204020204" pitchFamily="2" charset="-122"/>
                <a:ea typeface="微软雅黑" panose="020B0503020204020204" pitchFamily="2" charset="-122"/>
                <a:sym typeface="微软雅黑" panose="020B0503020204020204" pitchFamily="2" charset="-122"/>
              </a:rPr>
              <a:t>主成分分析及</a:t>
            </a:r>
            <a:r>
              <a:rPr lang="en-US" altLang="zh-CN" sz="2800" b="1" dirty="0">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2800" b="1" dirty="0">
                <a:latin typeface="微软雅黑" panose="020B0503020204020204" pitchFamily="2" charset="-122"/>
                <a:ea typeface="微软雅黑" panose="020B0503020204020204" pitchFamily="2" charset="-122"/>
                <a:sym typeface="微软雅黑" panose="020B0503020204020204" pitchFamily="2" charset="-122"/>
              </a:rPr>
              <a:t>计算</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10" name="右箭头 10"/>
          <p:cNvSpPr/>
          <p:nvPr/>
        </p:nvSpPr>
        <p:spPr>
          <a:xfrm>
            <a:off x="5407346" y="429497"/>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3"/>
          <a:stretch>
            <a:fillRect/>
          </a:stretch>
        </p:blipFill>
        <p:spPr>
          <a:xfrm>
            <a:off x="201247" y="1732211"/>
            <a:ext cx="11733721" cy="1848291"/>
          </a:xfrm>
          <a:prstGeom prst="rect">
            <a:avLst/>
          </a:prstGeom>
        </p:spPr>
      </p:pic>
      <p:pic>
        <p:nvPicPr>
          <p:cNvPr id="23" name="图片 22"/>
          <p:cNvPicPr>
            <a:picLocks noChangeAspect="1"/>
          </p:cNvPicPr>
          <p:nvPr/>
        </p:nvPicPr>
        <p:blipFill>
          <a:blip r:embed="rId4"/>
          <a:stretch>
            <a:fillRect/>
          </a:stretch>
        </p:blipFill>
        <p:spPr>
          <a:xfrm>
            <a:off x="201247" y="4115633"/>
            <a:ext cx="11948481" cy="1932843"/>
          </a:xfrm>
          <a:prstGeom prst="rect">
            <a:avLst/>
          </a:prstGeom>
        </p:spPr>
      </p:pic>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5951990" y="199687"/>
            <a:ext cx="4608320"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6.1</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主成分分析的概念</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47625" y="168910"/>
            <a:ext cx="5571490" cy="584775"/>
          </a:xfrm>
          <a:prstGeom prst="rect">
            <a:avLst/>
          </a:prstGeom>
          <a:noFill/>
          <a:ln w="9525">
            <a:noFill/>
          </a:ln>
        </p:spPr>
        <p:txBody>
          <a:bodyPr wrap="square">
            <a:spAutoFit/>
            <a:scene3d>
              <a:camera prst="orthographicFront"/>
              <a:lightRig rig="threePt" dir="t"/>
            </a:scene3d>
          </a:bodyPr>
          <a:lstStyle/>
          <a:p>
            <a:pPr lvl="0">
              <a:lnSpc>
                <a:spcPct val="100000"/>
              </a:lnSpc>
            </a:pP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6</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主成分分析及</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计算</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346487" y="393825"/>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dirty="0">
              <a:ln>
                <a:solidFill>
                  <a:sysClr val="windowText" lastClr="000000"/>
                </a:solidFill>
              </a:ln>
              <a:solidFill>
                <a:schemeClr val="accent6">
                  <a:lumMod val="60000"/>
                  <a:lumOff val="40000"/>
                </a:schemeClr>
              </a:solidFill>
              <a:effectLst/>
            </a:endParaRPr>
          </a:p>
        </p:txBody>
      </p:sp>
      <p:sp>
        <p:nvSpPr>
          <p:cNvPr id="5" name="矩形 4"/>
          <p:cNvSpPr/>
          <p:nvPr/>
        </p:nvSpPr>
        <p:spPr>
          <a:xfrm>
            <a:off x="587402" y="1151950"/>
            <a:ext cx="4491935" cy="584775"/>
          </a:xfrm>
          <a:prstGeom prst="rect">
            <a:avLst/>
          </a:prstGeom>
        </p:spPr>
        <p:txBody>
          <a:bodyPr wrap="none">
            <a:spAutoFit/>
          </a:bodyPr>
          <a:lstStyle/>
          <a:p>
            <a:r>
              <a:rPr lang="en-US" altLang="zh-CN" sz="3200" b="1" dirty="0">
                <a:solidFill>
                  <a:srgbClr val="3399FF"/>
                </a:solidFill>
              </a:rPr>
              <a:t>6.1.1</a:t>
            </a:r>
            <a:r>
              <a:rPr lang="zh-CN" altLang="en-US" sz="3200" b="1" dirty="0">
                <a:solidFill>
                  <a:srgbClr val="3399FF"/>
                </a:solidFill>
              </a:rPr>
              <a:t>主成分分析的提出</a:t>
            </a:r>
          </a:p>
        </p:txBody>
      </p:sp>
      <p:pic>
        <p:nvPicPr>
          <p:cNvPr id="7" name="图片 6"/>
          <p:cNvPicPr>
            <a:picLocks noChangeAspect="1"/>
          </p:cNvPicPr>
          <p:nvPr/>
        </p:nvPicPr>
        <p:blipFill>
          <a:blip r:embed="rId3"/>
          <a:stretch>
            <a:fillRect/>
          </a:stretch>
        </p:blipFill>
        <p:spPr>
          <a:xfrm>
            <a:off x="195937" y="2132910"/>
            <a:ext cx="11799141" cy="3068947"/>
          </a:xfrm>
          <a:prstGeom prst="rect">
            <a:avLst/>
          </a:prstGeom>
        </p:spPr>
      </p:pic>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9" name="TextBox 8"/>
          <p:cNvSpPr txBox="1"/>
          <p:nvPr/>
        </p:nvSpPr>
        <p:spPr>
          <a:xfrm>
            <a:off x="854128" y="1928736"/>
            <a:ext cx="11232780" cy="2031325"/>
          </a:xfrm>
          <a:prstGeom prst="rect">
            <a:avLst/>
          </a:prstGeom>
          <a:noFill/>
        </p:spPr>
        <p:txBody>
          <a:bodyPr wrap="square" rtlCol="0">
            <a:spAutoFit/>
          </a:bodyPr>
          <a:lstStyle/>
          <a:p>
            <a:pPr>
              <a:lnSpc>
                <a:spcPct val="150000"/>
              </a:lnSpc>
            </a:pPr>
            <a:r>
              <a:rPr lang="zh-CN" altLang="en-US" sz="2800" dirty="0">
                <a:solidFill>
                  <a:srgbClr val="0053EC"/>
                </a:solidFill>
                <a:latin typeface="微软雅黑" panose="020B0503020204020204" pitchFamily="2" charset="-122"/>
                <a:ea typeface="微软雅黑" panose="020B0503020204020204" pitchFamily="2" charset="-122"/>
              </a:rPr>
              <a:t>基本思想</a:t>
            </a:r>
            <a:r>
              <a:rPr lang="zh-CN" altLang="en-US" sz="2800" dirty="0">
                <a:latin typeface="微软雅黑" panose="020B0503020204020204" pitchFamily="2" charset="-122"/>
                <a:ea typeface="微软雅黑" panose="020B0503020204020204" pitchFamily="2" charset="-122"/>
              </a:rPr>
              <a:t>：将原来众多具有一定相关性的指标，重新组合成</a:t>
            </a:r>
            <a:endParaRPr lang="en-US" altLang="zh-CN" sz="2800" dirty="0">
              <a:latin typeface="微软雅黑" panose="020B0503020204020204" pitchFamily="2" charset="-122"/>
              <a:ea typeface="微软雅黑" panose="020B0503020204020204" pitchFamily="2" charset="-122"/>
            </a:endParaRPr>
          </a:p>
          <a:p>
            <a:pPr>
              <a:lnSpc>
                <a:spcPct val="150000"/>
              </a:lnSpc>
            </a:pPr>
            <a:r>
              <a:rPr lang="zh-CN" altLang="en-US" sz="2800" dirty="0">
                <a:latin typeface="微软雅黑" panose="020B0503020204020204" pitchFamily="2" charset="-122"/>
                <a:ea typeface="微软雅黑" panose="020B0503020204020204" pitchFamily="2" charset="-122"/>
              </a:rPr>
              <a:t>一组新的相互无关的综合指标来代替原来指标。</a:t>
            </a:r>
            <a:endParaRPr lang="en-US" altLang="zh-CN" sz="2800" dirty="0">
              <a:latin typeface="微软雅黑" panose="020B0503020204020204" pitchFamily="2" charset="-122"/>
              <a:ea typeface="微软雅黑" panose="020B0503020204020204" pitchFamily="2" charset="-122"/>
            </a:endParaRPr>
          </a:p>
          <a:p>
            <a:pPr>
              <a:lnSpc>
                <a:spcPct val="150000"/>
              </a:lnSpc>
            </a:pPr>
            <a:r>
              <a:rPr lang="zh-CN" altLang="en-US" sz="2800" dirty="0">
                <a:solidFill>
                  <a:srgbClr val="C00000"/>
                </a:solidFill>
                <a:latin typeface="微软雅黑" panose="020B0503020204020204" pitchFamily="2" charset="-122"/>
                <a:ea typeface="微软雅黑" panose="020B0503020204020204" pitchFamily="2" charset="-122"/>
              </a:rPr>
              <a:t>数学处理</a:t>
            </a:r>
            <a:r>
              <a:rPr lang="zh-CN" altLang="en-US" sz="2800" dirty="0">
                <a:latin typeface="微软雅黑" panose="020B0503020204020204" pitchFamily="2" charset="-122"/>
                <a:ea typeface="微软雅黑" panose="020B0503020204020204" pitchFamily="2" charset="-122"/>
              </a:rPr>
              <a:t>：就是将原来</a:t>
            </a:r>
            <a:r>
              <a:rPr lang="en-US" altLang="zh-CN" sz="2800" dirty="0">
                <a:latin typeface="微软雅黑" panose="020B0503020204020204" pitchFamily="2" charset="-122"/>
                <a:ea typeface="微软雅黑" panose="020B0503020204020204" pitchFamily="2" charset="-122"/>
              </a:rPr>
              <a:t>p</a:t>
            </a:r>
            <a:r>
              <a:rPr lang="zh-CN" altLang="en-US" sz="2800" dirty="0">
                <a:latin typeface="微软雅黑" panose="020B0503020204020204" pitchFamily="2" charset="-122"/>
                <a:ea typeface="微软雅黑" panose="020B0503020204020204" pitchFamily="2" charset="-122"/>
              </a:rPr>
              <a:t>个指标作线性组合，作为新的指标。</a:t>
            </a:r>
            <a:endParaRPr lang="en-US" altLang="zh-CN" sz="2800" dirty="0">
              <a:latin typeface="微软雅黑" panose="020B0503020204020204" pitchFamily="2" charset="-122"/>
              <a:ea typeface="微软雅黑" panose="020B0503020204020204" pitchFamily="2" charset="-122"/>
            </a:endParaRPr>
          </a:p>
        </p:txBody>
      </p:sp>
      <p:sp>
        <p:nvSpPr>
          <p:cNvPr id="5" name="矩形 4"/>
          <p:cNvSpPr/>
          <p:nvPr/>
        </p:nvSpPr>
        <p:spPr>
          <a:xfrm>
            <a:off x="479610" y="1084133"/>
            <a:ext cx="4378122" cy="584775"/>
          </a:xfrm>
          <a:prstGeom prst="rect">
            <a:avLst/>
          </a:prstGeom>
        </p:spPr>
        <p:txBody>
          <a:bodyPr wrap="none">
            <a:spAutoFit/>
          </a:bodyPr>
          <a:lstStyle/>
          <a:p>
            <a:r>
              <a:rPr lang="en-US" altLang="zh-CN" sz="3200" b="1" dirty="0">
                <a:solidFill>
                  <a:srgbClr val="3399FF"/>
                </a:solidFill>
              </a:rPr>
              <a:t>6.1.2</a:t>
            </a:r>
            <a:r>
              <a:rPr lang="zh-CN" altLang="en-US" sz="3200" b="1" dirty="0">
                <a:solidFill>
                  <a:srgbClr val="3399FF"/>
                </a:solidFill>
              </a:rPr>
              <a:t>主成分的直观解释</a:t>
            </a:r>
          </a:p>
        </p:txBody>
      </p:sp>
      <p:sp>
        <p:nvSpPr>
          <p:cNvPr id="6" name="TextBox 27"/>
          <p:cNvSpPr/>
          <p:nvPr/>
        </p:nvSpPr>
        <p:spPr>
          <a:xfrm>
            <a:off x="5898954" y="220083"/>
            <a:ext cx="4608320"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6.1</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主成分分析的概念</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10" name="TextBox 28"/>
          <p:cNvSpPr/>
          <p:nvPr/>
        </p:nvSpPr>
        <p:spPr>
          <a:xfrm>
            <a:off x="47625" y="168910"/>
            <a:ext cx="5571490" cy="584775"/>
          </a:xfrm>
          <a:prstGeom prst="rect">
            <a:avLst/>
          </a:prstGeom>
          <a:noFill/>
          <a:ln w="9525">
            <a:noFill/>
          </a:ln>
        </p:spPr>
        <p:txBody>
          <a:bodyPr wrap="square">
            <a:spAutoFit/>
            <a:scene3d>
              <a:camera prst="orthographicFront"/>
              <a:lightRig rig="threePt" dir="t"/>
            </a:scene3d>
          </a:bodyPr>
          <a:lstStyle/>
          <a:p>
            <a:pPr lvl="0">
              <a:lnSpc>
                <a:spcPct val="100000"/>
              </a:lnSpc>
            </a:pP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6</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主成分分析及</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计算</a:t>
            </a:r>
          </a:p>
        </p:txBody>
      </p:sp>
      <p:sp>
        <p:nvSpPr>
          <p:cNvPr id="11" name="右箭头 3"/>
          <p:cNvSpPr/>
          <p:nvPr/>
        </p:nvSpPr>
        <p:spPr>
          <a:xfrm>
            <a:off x="5369330" y="410983"/>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dirty="0">
              <a:ln>
                <a:solidFill>
                  <a:sysClr val="windowText" lastClr="000000"/>
                </a:solidFill>
              </a:ln>
              <a:solidFill>
                <a:schemeClr val="accent6">
                  <a:lumMod val="60000"/>
                  <a:lumOff val="40000"/>
                </a:schemeClr>
              </a:solidFill>
              <a:effectLst/>
            </a:endParaRPr>
          </a:p>
        </p:txBody>
      </p:sp>
      <p:pic>
        <p:nvPicPr>
          <p:cNvPr id="13" name="图片 12"/>
          <p:cNvPicPr>
            <a:picLocks noChangeAspect="1"/>
          </p:cNvPicPr>
          <p:nvPr/>
        </p:nvPicPr>
        <p:blipFill>
          <a:blip r:embed="rId3"/>
          <a:stretch>
            <a:fillRect/>
          </a:stretch>
        </p:blipFill>
        <p:spPr>
          <a:xfrm>
            <a:off x="1703695" y="4040005"/>
            <a:ext cx="5400375" cy="1541204"/>
          </a:xfrm>
          <a:prstGeom prst="rect">
            <a:avLst/>
          </a:prstGeom>
        </p:spPr>
      </p:pic>
      <p:pic>
        <p:nvPicPr>
          <p:cNvPr id="15" name="图片 14"/>
          <p:cNvPicPr>
            <a:picLocks noChangeAspect="1"/>
          </p:cNvPicPr>
          <p:nvPr/>
        </p:nvPicPr>
        <p:blipFill>
          <a:blip r:embed="rId4"/>
          <a:stretch>
            <a:fillRect/>
          </a:stretch>
        </p:blipFill>
        <p:spPr>
          <a:xfrm>
            <a:off x="7334765" y="1652358"/>
            <a:ext cx="4491935" cy="4048479"/>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anim calcmode="lin" valueType="num">
                                      <p:cBhvr additive="base">
                                        <p:cTn id="11"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 calcmode="lin" valueType="num">
                                      <p:cBhvr additive="base">
                                        <p:cTn id="17"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9602" y="1052835"/>
            <a:ext cx="12028706" cy="661848"/>
          </a:xfrm>
          <a:prstGeom prst="rect">
            <a:avLst/>
          </a:prstGeom>
        </p:spPr>
        <p:txBody>
          <a:bodyPr wrap="square">
            <a:spAutoFit/>
          </a:bodyPr>
          <a:lstStyle/>
          <a:p>
            <a:pPr>
              <a:lnSpc>
                <a:spcPct val="150000"/>
              </a:lnSpc>
            </a:pPr>
            <a:r>
              <a:rPr lang="en-US" altLang="zh-CN" sz="2800" dirty="0">
                <a:solidFill>
                  <a:srgbClr val="C00000"/>
                </a:solidFill>
                <a:effectLst>
                  <a:outerShdw blurRad="38100" dist="38100" dir="2700000" algn="tl">
                    <a:srgbClr val="000000">
                      <a:alpha val="43137"/>
                    </a:srgbClr>
                  </a:outerShdw>
                </a:effectLst>
                <a:latin typeface="微软雅黑" panose="020B0503020204020204" pitchFamily="2" charset="-122"/>
                <a:ea typeface="微软雅黑" panose="020B0503020204020204" pitchFamily="2" charset="-122"/>
              </a:rPr>
              <a:t>【</a:t>
            </a:r>
            <a:r>
              <a:rPr lang="zh-CN" altLang="en-US" sz="2800" dirty="0">
                <a:solidFill>
                  <a:srgbClr val="C00000"/>
                </a:solidFill>
                <a:effectLst>
                  <a:outerShdw blurRad="38100" dist="38100" dir="2700000" algn="tl">
                    <a:srgbClr val="000000">
                      <a:alpha val="43137"/>
                    </a:srgbClr>
                  </a:outerShdw>
                </a:effectLst>
                <a:latin typeface="微软雅黑" panose="020B0503020204020204" pitchFamily="2" charset="-122"/>
                <a:ea typeface="微软雅黑" panose="020B0503020204020204" pitchFamily="2" charset="-122"/>
              </a:rPr>
              <a:t>例</a:t>
            </a:r>
            <a:r>
              <a:rPr lang="en-US" altLang="zh-CN" sz="2800" dirty="0">
                <a:solidFill>
                  <a:srgbClr val="C00000"/>
                </a:solidFill>
                <a:effectLst>
                  <a:outerShdw blurRad="38100" dist="38100" dir="2700000" algn="tl">
                    <a:srgbClr val="000000">
                      <a:alpha val="43137"/>
                    </a:srgbClr>
                  </a:outerShdw>
                </a:effectLst>
                <a:latin typeface="微软雅黑" panose="020B0503020204020204" pitchFamily="2" charset="-122"/>
                <a:ea typeface="微软雅黑" panose="020B0503020204020204" pitchFamily="2" charset="-122"/>
              </a:rPr>
              <a:t>6.1】</a:t>
            </a:r>
            <a:r>
              <a:rPr lang="zh-CN" altLang="zh-CN" sz="2800" b="1" dirty="0"/>
              <a:t>今有</a:t>
            </a:r>
            <a:r>
              <a:rPr lang="en-US" altLang="zh-CN" sz="2800" b="1" dirty="0"/>
              <a:t>14</a:t>
            </a:r>
            <a:r>
              <a:rPr lang="zh-CN" altLang="zh-CN" sz="2800" b="1" dirty="0"/>
              <a:t>名学生的身高与体重数据，做相关图以显示变量间的关系</a:t>
            </a:r>
            <a:endParaRPr lang="en-US" altLang="zh-CN" sz="2800" dirty="0">
              <a:solidFill>
                <a:srgbClr val="C00000"/>
              </a:solidFill>
              <a:effectLst>
                <a:outerShdw blurRad="38100" dist="38100" dir="2700000" algn="tl">
                  <a:srgbClr val="000000">
                    <a:alpha val="43137"/>
                  </a:srgbClr>
                </a:outerShdw>
              </a:effectLst>
              <a:latin typeface="微软雅黑" panose="020B0503020204020204" pitchFamily="2" charset="-122"/>
              <a:ea typeface="微软雅黑" panose="020B0503020204020204" pitchFamily="2" charset="-122"/>
            </a:endParaRPr>
          </a:p>
        </p:txBody>
      </p:sp>
      <p:sp>
        <p:nvSpPr>
          <p:cNvPr id="8194" name="TextBox 27"/>
          <p:cNvSpPr/>
          <p:nvPr/>
        </p:nvSpPr>
        <p:spPr>
          <a:xfrm>
            <a:off x="5854388" y="190951"/>
            <a:ext cx="4608320"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6.1</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主成分分析的直观解释</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47625" y="168910"/>
            <a:ext cx="5571490" cy="584775"/>
          </a:xfrm>
          <a:prstGeom prst="rect">
            <a:avLst/>
          </a:prstGeom>
          <a:noFill/>
          <a:ln w="9525">
            <a:noFill/>
          </a:ln>
        </p:spPr>
        <p:txBody>
          <a:bodyPr wrap="square">
            <a:spAutoFit/>
            <a:scene3d>
              <a:camera prst="orthographicFront"/>
              <a:lightRig rig="threePt" dir="t"/>
            </a:scene3d>
          </a:bodyPr>
          <a:lstStyle/>
          <a:p>
            <a:pPr lvl="0"/>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6</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主成分分析及</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使用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350198" y="417146"/>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pic>
        <p:nvPicPr>
          <p:cNvPr id="6" name="图片 5"/>
          <p:cNvPicPr>
            <a:picLocks noChangeAspect="1"/>
          </p:cNvPicPr>
          <p:nvPr/>
        </p:nvPicPr>
        <p:blipFill rotWithShape="1">
          <a:blip r:embed="rId3"/>
          <a:srcRect b="9942"/>
          <a:stretch>
            <a:fillRect/>
          </a:stretch>
        </p:blipFill>
        <p:spPr>
          <a:xfrm>
            <a:off x="252588" y="1863167"/>
            <a:ext cx="10044100" cy="695807"/>
          </a:xfrm>
          <a:prstGeom prst="rect">
            <a:avLst/>
          </a:prstGeom>
          <a:ln w="12700">
            <a:solidFill>
              <a:schemeClr val="tx1"/>
            </a:solidFill>
          </a:ln>
        </p:spPr>
      </p:pic>
      <p:pic>
        <p:nvPicPr>
          <p:cNvPr id="12" name="图片 11"/>
          <p:cNvPicPr>
            <a:picLocks noChangeAspect="1"/>
          </p:cNvPicPr>
          <p:nvPr/>
        </p:nvPicPr>
        <p:blipFill>
          <a:blip r:embed="rId4"/>
          <a:stretch>
            <a:fillRect/>
          </a:stretch>
        </p:blipFill>
        <p:spPr>
          <a:xfrm>
            <a:off x="252588" y="2717475"/>
            <a:ext cx="5464857" cy="1089567"/>
          </a:xfrm>
          <a:prstGeom prst="rect">
            <a:avLst/>
          </a:prstGeom>
          <a:ln w="12700">
            <a:solidFill>
              <a:schemeClr val="tx1"/>
            </a:solidFill>
          </a:ln>
        </p:spPr>
      </p:pic>
      <p:pic>
        <p:nvPicPr>
          <p:cNvPr id="16" name="图片 15"/>
          <p:cNvPicPr>
            <a:picLocks noChangeAspect="1"/>
          </p:cNvPicPr>
          <p:nvPr/>
        </p:nvPicPr>
        <p:blipFill rotWithShape="1">
          <a:blip r:embed="rId5"/>
          <a:srcRect l="700" t="2363" r="1"/>
          <a:stretch>
            <a:fillRect/>
          </a:stretch>
        </p:blipFill>
        <p:spPr>
          <a:xfrm>
            <a:off x="252588" y="3987206"/>
            <a:ext cx="10818778" cy="2759790"/>
          </a:xfrm>
          <a:prstGeom prst="rect">
            <a:avLst/>
          </a:prstGeom>
          <a:ln w="12700">
            <a:solidFill>
              <a:schemeClr val="tx1"/>
            </a:solidFill>
          </a:ln>
        </p:spPr>
      </p:pic>
      <p:pic>
        <p:nvPicPr>
          <p:cNvPr id="10" name="图片 9"/>
          <p:cNvPicPr>
            <a:picLocks noChangeAspect="1"/>
          </p:cNvPicPr>
          <p:nvPr/>
        </p:nvPicPr>
        <p:blipFill>
          <a:blip r:embed="rId6"/>
          <a:stretch>
            <a:fillRect/>
          </a:stretch>
        </p:blipFill>
        <p:spPr>
          <a:xfrm>
            <a:off x="6607350" y="1484865"/>
            <a:ext cx="4994643" cy="3580905"/>
          </a:xfrm>
          <a:prstGeom prst="rect">
            <a:avLst/>
          </a:prstGeom>
        </p:spPr>
      </p:pic>
      <p:pic>
        <p:nvPicPr>
          <p:cNvPr id="8" name="图片 7"/>
          <p:cNvPicPr>
            <a:picLocks noChangeAspect="1"/>
          </p:cNvPicPr>
          <p:nvPr/>
        </p:nvPicPr>
        <p:blipFill>
          <a:blip r:embed="rId7"/>
          <a:stretch>
            <a:fillRect/>
          </a:stretch>
        </p:blipFill>
        <p:spPr>
          <a:xfrm>
            <a:off x="6358206" y="2794010"/>
            <a:ext cx="5266910" cy="3922939"/>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ppt_x"/>
                                          </p:val>
                                        </p:tav>
                                        <p:tav tm="100000">
                                          <p:val>
                                            <p:strVal val="#ppt_x"/>
                                          </p:val>
                                        </p:tav>
                                      </p:tavLst>
                                    </p:anim>
                                    <p:anim calcmode="lin" valueType="num">
                                      <p:cBhvr additive="base">
                                        <p:cTn id="1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466323" y="429248"/>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TextBox 4"/>
          <p:cNvSpPr txBox="1"/>
          <p:nvPr/>
        </p:nvSpPr>
        <p:spPr>
          <a:xfrm>
            <a:off x="368092" y="2060905"/>
            <a:ext cx="615553" cy="3528245"/>
          </a:xfrm>
          <a:prstGeom prst="rect">
            <a:avLst/>
          </a:prstGeom>
          <a:noFill/>
        </p:spPr>
        <p:txBody>
          <a:bodyPr vert="eaVert" wrap="square" rtlCol="0">
            <a:spAutoFit/>
          </a:bodyPr>
          <a:lstStyle/>
          <a:p>
            <a:r>
              <a:rPr lang="zh-CN" altLang="en-US" sz="2800" dirty="0">
                <a:solidFill>
                  <a:srgbClr val="0053EC"/>
                </a:solidFill>
                <a:effectLst>
                  <a:outerShdw blurRad="38100" dist="38100" dir="2700000" algn="tl">
                    <a:srgbClr val="000000">
                      <a:alpha val="43137"/>
                    </a:srgbClr>
                  </a:outerShdw>
                </a:effectLst>
                <a:latin typeface="微软雅黑" panose="020B0503020204020204" pitchFamily="2" charset="-122"/>
                <a:ea typeface="微软雅黑" panose="020B0503020204020204" pitchFamily="2" charset="-122"/>
              </a:rPr>
              <a:t>主成分的一些说明</a:t>
            </a:r>
          </a:p>
        </p:txBody>
      </p:sp>
      <p:sp>
        <p:nvSpPr>
          <p:cNvPr id="7" name="TextBox 6"/>
          <p:cNvSpPr txBox="1"/>
          <p:nvPr/>
        </p:nvSpPr>
        <p:spPr>
          <a:xfrm>
            <a:off x="1480354" y="1700880"/>
            <a:ext cx="10253787" cy="1689052"/>
          </a:xfrm>
          <a:prstGeom prst="rect">
            <a:avLst/>
          </a:prstGeom>
          <a:noFill/>
        </p:spPr>
        <p:txBody>
          <a:bodyPr wrap="square" rtlCol="0">
            <a:spAutoFit/>
          </a:bodyPr>
          <a:lstStyle/>
          <a:p>
            <a:pPr>
              <a:lnSpc>
                <a:spcPct val="150000"/>
              </a:lnSpc>
            </a:pPr>
            <a:r>
              <a:rPr lang="zh-CN" altLang="en-US" sz="2400" dirty="0">
                <a:solidFill>
                  <a:srgbClr val="00B050"/>
                </a:solidFill>
                <a:latin typeface="微软雅黑" panose="020B0503020204020204" pitchFamily="2" charset="-122"/>
                <a:ea typeface="微软雅黑" panose="020B0503020204020204" pitchFamily="2" charset="-122"/>
              </a:rPr>
              <a:t>主成分分析的主要目的是用较少的变量去解释原资料中的大部分变异，即期望能将手中许多相关性很高的变量转化成互相独立的变量，并能解释大部分资料之变异的几个新变量，也就是所谓的主成分。</a:t>
            </a:r>
            <a:endParaRPr lang="en-US" altLang="zh-CN" sz="2400" dirty="0">
              <a:solidFill>
                <a:srgbClr val="00B050"/>
              </a:solidFill>
              <a:latin typeface="微软雅黑" panose="020B0503020204020204" pitchFamily="2" charset="-122"/>
              <a:ea typeface="微软雅黑" panose="020B0503020204020204" pitchFamily="2" charset="-122"/>
            </a:endParaRPr>
          </a:p>
        </p:txBody>
      </p:sp>
      <p:sp>
        <p:nvSpPr>
          <p:cNvPr id="16" name="TextBox 6"/>
          <p:cNvSpPr txBox="1"/>
          <p:nvPr/>
        </p:nvSpPr>
        <p:spPr>
          <a:xfrm>
            <a:off x="1480353" y="1229330"/>
            <a:ext cx="10253787" cy="461665"/>
          </a:xfrm>
          <a:prstGeom prst="rect">
            <a:avLst/>
          </a:prstGeom>
          <a:noFill/>
        </p:spPr>
        <p:txBody>
          <a:bodyPr wrap="square" rtlCol="0">
            <a:spAutoFit/>
          </a:bodyPr>
          <a:lstStyle/>
          <a:p>
            <a:pPr marL="342900" indent="-342900">
              <a:buFont typeface="Wingdings" panose="05000000000000000000" pitchFamily="2" charset="2"/>
              <a:buChar char="l"/>
            </a:pPr>
            <a:r>
              <a:rPr lang="zh-CN" altLang="en-US" sz="2400">
                <a:solidFill>
                  <a:srgbClr val="C00000"/>
                </a:solidFill>
                <a:effectLst>
                  <a:outerShdw blurRad="38100" dist="38100" dir="2700000" algn="tl">
                    <a:srgbClr val="000000">
                      <a:alpha val="43137"/>
                    </a:srgbClr>
                  </a:outerShdw>
                </a:effectLst>
                <a:latin typeface="微软雅黑" panose="020B0503020204020204" pitchFamily="2" charset="-122"/>
                <a:ea typeface="微软雅黑" panose="020B0503020204020204" pitchFamily="2" charset="-122"/>
              </a:rPr>
              <a:t>目的</a:t>
            </a:r>
            <a:endParaRPr lang="en-US" altLang="zh-CN" sz="2400" dirty="0">
              <a:solidFill>
                <a:srgbClr val="C00000"/>
              </a:solidFill>
              <a:effectLst>
                <a:outerShdw blurRad="38100" dist="38100" dir="2700000" algn="tl">
                  <a:srgbClr val="000000">
                    <a:alpha val="43137"/>
                  </a:srgbClr>
                </a:outerShdw>
              </a:effectLst>
              <a:latin typeface="微软雅黑" panose="020B0503020204020204" pitchFamily="2" charset="-122"/>
              <a:ea typeface="微软雅黑" panose="020B0503020204020204" pitchFamily="2" charset="-122"/>
            </a:endParaRPr>
          </a:p>
        </p:txBody>
      </p:sp>
      <p:sp>
        <p:nvSpPr>
          <p:cNvPr id="9" name="TextBox 28"/>
          <p:cNvSpPr/>
          <p:nvPr/>
        </p:nvSpPr>
        <p:spPr>
          <a:xfrm>
            <a:off x="72708" y="202150"/>
            <a:ext cx="5571490" cy="584775"/>
          </a:xfrm>
          <a:prstGeom prst="rect">
            <a:avLst/>
          </a:prstGeom>
          <a:noFill/>
          <a:ln w="9525">
            <a:noFill/>
          </a:ln>
        </p:spPr>
        <p:txBody>
          <a:bodyPr wrap="square">
            <a:spAutoFit/>
            <a:scene3d>
              <a:camera prst="orthographicFront"/>
              <a:lightRig rig="threePt" dir="t"/>
            </a:scene3d>
          </a:bodyPr>
          <a:lstStyle/>
          <a:p>
            <a:pPr lvl="0">
              <a:lnSpc>
                <a:spcPct val="100000"/>
              </a:lnSpc>
            </a:pP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6</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主成分分析及</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计算</a:t>
            </a:r>
          </a:p>
        </p:txBody>
      </p:sp>
      <p:pic>
        <p:nvPicPr>
          <p:cNvPr id="17" name="图片 16"/>
          <p:cNvPicPr>
            <a:picLocks noChangeAspect="1"/>
          </p:cNvPicPr>
          <p:nvPr/>
        </p:nvPicPr>
        <p:blipFill>
          <a:blip r:embed="rId3"/>
          <a:stretch>
            <a:fillRect/>
          </a:stretch>
        </p:blipFill>
        <p:spPr>
          <a:xfrm>
            <a:off x="1524920" y="3498056"/>
            <a:ext cx="8242065" cy="1063781"/>
          </a:xfrm>
          <a:prstGeom prst="rect">
            <a:avLst/>
          </a:prstGeom>
          <a:ln w="12700">
            <a:solidFill>
              <a:schemeClr val="tx1"/>
            </a:solidFill>
          </a:ln>
        </p:spPr>
      </p:pic>
      <p:pic>
        <p:nvPicPr>
          <p:cNvPr id="19" name="图片 18"/>
          <p:cNvPicPr>
            <a:picLocks noChangeAspect="1"/>
          </p:cNvPicPr>
          <p:nvPr/>
        </p:nvPicPr>
        <p:blipFill>
          <a:blip r:embed="rId4"/>
          <a:stretch>
            <a:fillRect/>
          </a:stretch>
        </p:blipFill>
        <p:spPr>
          <a:xfrm>
            <a:off x="1527663" y="4751908"/>
            <a:ext cx="4567845" cy="405212"/>
          </a:xfrm>
          <a:prstGeom prst="rect">
            <a:avLst/>
          </a:prstGeom>
          <a:ln w="12700">
            <a:solidFill>
              <a:schemeClr val="tx1"/>
            </a:solidFill>
          </a:ln>
        </p:spPr>
      </p:pic>
      <p:pic>
        <p:nvPicPr>
          <p:cNvPr id="21" name="图片 20"/>
          <p:cNvPicPr>
            <a:picLocks noChangeAspect="1"/>
          </p:cNvPicPr>
          <p:nvPr/>
        </p:nvPicPr>
        <p:blipFill rotWithShape="1">
          <a:blip r:embed="rId5"/>
          <a:srcRect l="-861" t="17673" r="861" b="8068"/>
          <a:stretch>
            <a:fillRect/>
          </a:stretch>
        </p:blipFill>
        <p:spPr>
          <a:xfrm>
            <a:off x="6285221" y="4782397"/>
            <a:ext cx="4203083" cy="290499"/>
          </a:xfrm>
          <a:prstGeom prst="rect">
            <a:avLst/>
          </a:prstGeom>
          <a:ln w="12700">
            <a:solidFill>
              <a:schemeClr val="tx1"/>
            </a:solidFill>
          </a:ln>
        </p:spPr>
      </p:pic>
      <p:pic>
        <p:nvPicPr>
          <p:cNvPr id="23" name="图片 22"/>
          <p:cNvPicPr>
            <a:picLocks noChangeAspect="1"/>
          </p:cNvPicPr>
          <p:nvPr/>
        </p:nvPicPr>
        <p:blipFill>
          <a:blip r:embed="rId6"/>
          <a:stretch>
            <a:fillRect/>
          </a:stretch>
        </p:blipFill>
        <p:spPr>
          <a:xfrm>
            <a:off x="1537073" y="5365258"/>
            <a:ext cx="3991597" cy="1008230"/>
          </a:xfrm>
          <a:prstGeom prst="rect">
            <a:avLst/>
          </a:prstGeom>
          <a:ln w="12700">
            <a:solidFill>
              <a:schemeClr val="tx1"/>
            </a:solidFill>
          </a:ln>
        </p:spPr>
      </p:pic>
      <p:pic>
        <p:nvPicPr>
          <p:cNvPr id="25" name="图片 24"/>
          <p:cNvPicPr>
            <a:picLocks noChangeAspect="1"/>
          </p:cNvPicPr>
          <p:nvPr/>
        </p:nvPicPr>
        <p:blipFill>
          <a:blip r:embed="rId7"/>
          <a:stretch>
            <a:fillRect/>
          </a:stretch>
        </p:blipFill>
        <p:spPr>
          <a:xfrm>
            <a:off x="6816050" y="5395513"/>
            <a:ext cx="2715716" cy="1008230"/>
          </a:xfrm>
          <a:prstGeom prst="rect">
            <a:avLst/>
          </a:prstGeom>
          <a:ln w="12700">
            <a:solidFill>
              <a:schemeClr val="tx1"/>
            </a:solidFill>
          </a:ln>
        </p:spPr>
      </p:pic>
      <p:sp>
        <p:nvSpPr>
          <p:cNvPr id="6" name="TextBox 27"/>
          <p:cNvSpPr/>
          <p:nvPr/>
        </p:nvSpPr>
        <p:spPr>
          <a:xfrm>
            <a:off x="6002010" y="246137"/>
            <a:ext cx="4608320"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6.1</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主成分分析的概念</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7"/>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1000"/>
                                        <p:tgtEl>
                                          <p:spTgt spid="23"/>
                                        </p:tgtEl>
                                      </p:cBhvr>
                                    </p:animEffect>
                                    <p:anim calcmode="lin" valueType="num">
                                      <p:cBhvr>
                                        <p:cTn id="27" dur="1000" fill="hold"/>
                                        <p:tgtEl>
                                          <p:spTgt spid="23"/>
                                        </p:tgtEl>
                                        <p:attrNameLst>
                                          <p:attrName>ppt_x</p:attrName>
                                        </p:attrNameLst>
                                      </p:cBhvr>
                                      <p:tavLst>
                                        <p:tav tm="0">
                                          <p:val>
                                            <p:strVal val="#ppt_x"/>
                                          </p:val>
                                        </p:tav>
                                        <p:tav tm="100000">
                                          <p:val>
                                            <p:strVal val="#ppt_x"/>
                                          </p:val>
                                        </p:tav>
                                      </p:tavLst>
                                    </p:anim>
                                    <p:anim calcmode="lin" valueType="num">
                                      <p:cBhvr>
                                        <p:cTn id="28"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1000"/>
                                        <p:tgtEl>
                                          <p:spTgt spid="25"/>
                                        </p:tgtEl>
                                      </p:cBhvr>
                                    </p:animEffect>
                                    <p:anim calcmode="lin" valueType="num">
                                      <p:cBhvr>
                                        <p:cTn id="38" dur="1000" fill="hold"/>
                                        <p:tgtEl>
                                          <p:spTgt spid="25"/>
                                        </p:tgtEl>
                                        <p:attrNameLst>
                                          <p:attrName>ppt_x</p:attrName>
                                        </p:attrNameLst>
                                      </p:cBhvr>
                                      <p:tavLst>
                                        <p:tav tm="0">
                                          <p:val>
                                            <p:strVal val="#ppt_x"/>
                                          </p:val>
                                        </p:tav>
                                        <p:tav tm="100000">
                                          <p:val>
                                            <p:strVal val="#ppt_x"/>
                                          </p:val>
                                        </p:tav>
                                      </p:tavLst>
                                    </p:anim>
                                    <p:anim calcmode="lin" valueType="num">
                                      <p:cBhvr>
                                        <p:cTn id="39"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002010" y="159426"/>
            <a:ext cx="4608320"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6.2</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主成分分析的性质</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155054" y="946422"/>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pic>
        <p:nvPicPr>
          <p:cNvPr id="6" name="图片 5"/>
          <p:cNvPicPr>
            <a:picLocks noChangeAspect="1"/>
          </p:cNvPicPr>
          <p:nvPr/>
        </p:nvPicPr>
        <p:blipFill>
          <a:blip r:embed="rId3"/>
          <a:stretch>
            <a:fillRect/>
          </a:stretch>
        </p:blipFill>
        <p:spPr>
          <a:xfrm>
            <a:off x="869950" y="2107729"/>
            <a:ext cx="8559345" cy="3076889"/>
          </a:xfrm>
          <a:prstGeom prst="rect">
            <a:avLst/>
          </a:prstGeom>
        </p:spPr>
      </p:pic>
      <p:sp>
        <p:nvSpPr>
          <p:cNvPr id="8" name="矩形 7"/>
          <p:cNvSpPr/>
          <p:nvPr/>
        </p:nvSpPr>
        <p:spPr>
          <a:xfrm>
            <a:off x="9023934" y="2803715"/>
            <a:ext cx="1791727" cy="400110"/>
          </a:xfrm>
          <a:prstGeom prst="rect">
            <a:avLst/>
          </a:prstGeom>
        </p:spPr>
        <p:txBody>
          <a:bodyPr wrap="square">
            <a:spAutoFit/>
          </a:bodyPr>
          <a:lstStyle/>
          <a:p>
            <a:r>
              <a:rPr lang="en-US" altLang="zh-CN" sz="2000" dirty="0">
                <a:solidFill>
                  <a:srgbClr val="00B050"/>
                </a:solidFill>
              </a:rPr>
              <a:t>y</a:t>
            </a:r>
            <a:r>
              <a:rPr lang="en-US" altLang="zh-CN" sz="2000" baseline="-25000" dirty="0">
                <a:solidFill>
                  <a:srgbClr val="00B050"/>
                </a:solidFill>
              </a:rPr>
              <a:t>1</a:t>
            </a:r>
            <a:r>
              <a:rPr lang="zh-CN" altLang="en-US" sz="2000" dirty="0">
                <a:solidFill>
                  <a:srgbClr val="00B050"/>
                </a:solidFill>
              </a:rPr>
              <a:t>第</a:t>
            </a:r>
            <a:r>
              <a:rPr lang="en-US" altLang="zh-CN" sz="2000" dirty="0">
                <a:solidFill>
                  <a:srgbClr val="00B050"/>
                </a:solidFill>
              </a:rPr>
              <a:t>1</a:t>
            </a:r>
            <a:r>
              <a:rPr lang="zh-CN" altLang="en-US" sz="2000" dirty="0">
                <a:solidFill>
                  <a:srgbClr val="00B050"/>
                </a:solidFill>
              </a:rPr>
              <a:t>主成分</a:t>
            </a:r>
          </a:p>
        </p:txBody>
      </p:sp>
      <p:sp>
        <p:nvSpPr>
          <p:cNvPr id="12" name="矩形 11"/>
          <p:cNvSpPr/>
          <p:nvPr/>
        </p:nvSpPr>
        <p:spPr>
          <a:xfrm>
            <a:off x="9048313" y="3180732"/>
            <a:ext cx="2117496" cy="400110"/>
          </a:xfrm>
          <a:prstGeom prst="rect">
            <a:avLst/>
          </a:prstGeom>
        </p:spPr>
        <p:txBody>
          <a:bodyPr wrap="square">
            <a:spAutoFit/>
          </a:bodyPr>
          <a:lstStyle/>
          <a:p>
            <a:r>
              <a:rPr lang="en-US" altLang="zh-CN" sz="2000" dirty="0">
                <a:solidFill>
                  <a:srgbClr val="00B050"/>
                </a:solidFill>
              </a:rPr>
              <a:t>y</a:t>
            </a:r>
            <a:r>
              <a:rPr lang="en-US" altLang="zh-CN" sz="2000" baseline="-25000" dirty="0">
                <a:solidFill>
                  <a:srgbClr val="00B050"/>
                </a:solidFill>
              </a:rPr>
              <a:t>2</a:t>
            </a:r>
            <a:r>
              <a:rPr lang="zh-CN" altLang="en-US" sz="2000" dirty="0">
                <a:solidFill>
                  <a:srgbClr val="00B050"/>
                </a:solidFill>
              </a:rPr>
              <a:t>第</a:t>
            </a:r>
            <a:r>
              <a:rPr lang="en-US" altLang="zh-CN" sz="2000" dirty="0">
                <a:solidFill>
                  <a:srgbClr val="00B050"/>
                </a:solidFill>
              </a:rPr>
              <a:t>2</a:t>
            </a:r>
            <a:r>
              <a:rPr lang="zh-CN" altLang="en-US" sz="2000" dirty="0">
                <a:solidFill>
                  <a:srgbClr val="00B050"/>
                </a:solidFill>
              </a:rPr>
              <a:t>主成分</a:t>
            </a:r>
          </a:p>
        </p:txBody>
      </p:sp>
      <p:sp>
        <p:nvSpPr>
          <p:cNvPr id="13" name="矩形 12"/>
          <p:cNvSpPr/>
          <p:nvPr/>
        </p:nvSpPr>
        <p:spPr>
          <a:xfrm>
            <a:off x="9065558" y="4077045"/>
            <a:ext cx="1873170" cy="400110"/>
          </a:xfrm>
          <a:prstGeom prst="rect">
            <a:avLst/>
          </a:prstGeom>
        </p:spPr>
        <p:txBody>
          <a:bodyPr wrap="square">
            <a:spAutoFit/>
          </a:bodyPr>
          <a:lstStyle/>
          <a:p>
            <a:r>
              <a:rPr lang="en-US" altLang="zh-CN" sz="2000" dirty="0" err="1">
                <a:solidFill>
                  <a:srgbClr val="00B050"/>
                </a:solidFill>
              </a:rPr>
              <a:t>y</a:t>
            </a:r>
            <a:r>
              <a:rPr lang="en-US" altLang="zh-CN" sz="2000" baseline="-25000" dirty="0" err="1">
                <a:solidFill>
                  <a:srgbClr val="00B050"/>
                </a:solidFill>
              </a:rPr>
              <a:t>p</a:t>
            </a:r>
            <a:r>
              <a:rPr lang="zh-CN" altLang="en-US" sz="2000" dirty="0">
                <a:solidFill>
                  <a:srgbClr val="00B050"/>
                </a:solidFill>
              </a:rPr>
              <a:t>第</a:t>
            </a:r>
            <a:r>
              <a:rPr lang="en-US" altLang="zh-CN" sz="2000" dirty="0">
                <a:solidFill>
                  <a:srgbClr val="00B050"/>
                </a:solidFill>
              </a:rPr>
              <a:t>p</a:t>
            </a:r>
            <a:r>
              <a:rPr lang="zh-CN" altLang="en-US" sz="2000" dirty="0">
                <a:solidFill>
                  <a:srgbClr val="00B050"/>
                </a:solidFill>
              </a:rPr>
              <a:t>主成分</a:t>
            </a:r>
          </a:p>
        </p:txBody>
      </p:sp>
      <p:sp>
        <p:nvSpPr>
          <p:cNvPr id="9" name="右箭头 3"/>
          <p:cNvSpPr/>
          <p:nvPr/>
        </p:nvSpPr>
        <p:spPr>
          <a:xfrm>
            <a:off x="5466323" y="33753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0" name="TextBox 28"/>
          <p:cNvSpPr/>
          <p:nvPr/>
        </p:nvSpPr>
        <p:spPr>
          <a:xfrm>
            <a:off x="72708" y="110436"/>
            <a:ext cx="5571490" cy="584775"/>
          </a:xfrm>
          <a:prstGeom prst="rect">
            <a:avLst/>
          </a:prstGeom>
          <a:noFill/>
          <a:ln w="9525">
            <a:noFill/>
          </a:ln>
        </p:spPr>
        <p:txBody>
          <a:bodyPr wrap="square">
            <a:spAutoFit/>
            <a:scene3d>
              <a:camera prst="orthographicFront"/>
              <a:lightRig rig="threePt" dir="t"/>
            </a:scene3d>
          </a:bodyPr>
          <a:lstStyle/>
          <a:p>
            <a:pPr lvl="0">
              <a:lnSpc>
                <a:spcPct val="100000"/>
              </a:lnSpc>
            </a:pP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6</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主成分分析及</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计算</a:t>
            </a:r>
          </a:p>
        </p:txBody>
      </p:sp>
      <p:sp>
        <p:nvSpPr>
          <p:cNvPr id="11" name="矩形 10"/>
          <p:cNvSpPr/>
          <p:nvPr/>
        </p:nvSpPr>
        <p:spPr>
          <a:xfrm>
            <a:off x="479610" y="1137094"/>
            <a:ext cx="3557384" cy="584775"/>
          </a:xfrm>
          <a:prstGeom prst="rect">
            <a:avLst/>
          </a:prstGeom>
        </p:spPr>
        <p:txBody>
          <a:bodyPr wrap="none">
            <a:spAutoFit/>
          </a:bodyPr>
          <a:lstStyle/>
          <a:p>
            <a:r>
              <a:rPr lang="en-US" altLang="zh-CN" sz="3200" b="1" dirty="0">
                <a:solidFill>
                  <a:srgbClr val="3399FF"/>
                </a:solidFill>
              </a:rPr>
              <a:t>6.2.1</a:t>
            </a:r>
            <a:r>
              <a:rPr lang="zh-CN" altLang="en-US" sz="3200" b="1" dirty="0">
                <a:solidFill>
                  <a:srgbClr val="3399FF"/>
                </a:solidFill>
              </a:rPr>
              <a:t>主成分的说明</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157412" y="219795"/>
            <a:ext cx="4608320"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6.2</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主成分分析的性质</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47625" y="168910"/>
            <a:ext cx="5571490" cy="584775"/>
          </a:xfrm>
          <a:prstGeom prst="rect">
            <a:avLst/>
          </a:prstGeom>
          <a:noFill/>
          <a:ln w="9525">
            <a:noFill/>
          </a:ln>
        </p:spPr>
        <p:txBody>
          <a:bodyPr wrap="square">
            <a:spAutoFit/>
            <a:scene3d>
              <a:camera prst="orthographicFront"/>
              <a:lightRig rig="threePt" dir="t"/>
            </a:scene3d>
          </a:bodyPr>
          <a:lstStyle/>
          <a:p>
            <a:pPr lvl="0">
              <a:lnSpc>
                <a:spcPct val="100000"/>
              </a:lnSpc>
            </a:pP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6</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主成分分析及</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使用</a:t>
            </a:r>
          </a:p>
        </p:txBody>
      </p:sp>
      <p:grpSp>
        <p:nvGrpSpPr>
          <p:cNvPr id="8201" name="组合 5"/>
          <p:cNvGrpSpPr/>
          <p:nvPr/>
        </p:nvGrpSpPr>
        <p:grpSpPr>
          <a:xfrm>
            <a:off x="3709988" y="1989138"/>
            <a:ext cx="4662487" cy="2650363"/>
            <a:chOff x="0" y="0"/>
            <a:chExt cx="4662264" cy="2650025"/>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4" name="矩形 4"/>
            <p:cNvSpPr/>
            <p:nvPr/>
          </p:nvSpPr>
          <p:spPr>
            <a:xfrm>
              <a:off x="72008" y="2232248"/>
              <a:ext cx="4572000" cy="417777"/>
            </a:xfrm>
            <a:prstGeom prst="rect">
              <a:avLst/>
            </a:prstGeom>
            <a:noFill/>
            <a:ln w="9525">
              <a:noFill/>
            </a:ln>
          </p:spPr>
          <p:txBody>
            <a:bodyPr>
              <a:spAutoFit/>
            </a:bodyPr>
            <a:lstStyle/>
            <a:p>
              <a:pPr lvl="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495955" y="397903"/>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pic>
        <p:nvPicPr>
          <p:cNvPr id="8" name="图片 7"/>
          <p:cNvPicPr>
            <a:picLocks noChangeAspect="1"/>
          </p:cNvPicPr>
          <p:nvPr/>
        </p:nvPicPr>
        <p:blipFill>
          <a:blip r:embed="rId3"/>
          <a:stretch>
            <a:fillRect/>
          </a:stretch>
        </p:blipFill>
        <p:spPr>
          <a:xfrm>
            <a:off x="719860" y="3967166"/>
            <a:ext cx="10854489" cy="2742712"/>
          </a:xfrm>
          <a:prstGeom prst="rect">
            <a:avLst/>
          </a:prstGeom>
        </p:spPr>
      </p:pic>
      <p:pic>
        <p:nvPicPr>
          <p:cNvPr id="10" name="图片 9"/>
          <p:cNvPicPr>
            <a:picLocks noChangeAspect="1"/>
          </p:cNvPicPr>
          <p:nvPr/>
        </p:nvPicPr>
        <p:blipFill>
          <a:blip r:embed="rId4"/>
          <a:stretch>
            <a:fillRect/>
          </a:stretch>
        </p:blipFill>
        <p:spPr>
          <a:xfrm>
            <a:off x="464705" y="1615612"/>
            <a:ext cx="11626401" cy="2373977"/>
          </a:xfrm>
          <a:prstGeom prst="rect">
            <a:avLst/>
          </a:prstGeom>
        </p:spPr>
      </p:pic>
      <p:sp>
        <p:nvSpPr>
          <p:cNvPr id="11" name="矩形 10"/>
          <p:cNvSpPr/>
          <p:nvPr/>
        </p:nvSpPr>
        <p:spPr>
          <a:xfrm>
            <a:off x="238374" y="1030837"/>
            <a:ext cx="3671198" cy="584775"/>
          </a:xfrm>
          <a:prstGeom prst="rect">
            <a:avLst/>
          </a:prstGeom>
        </p:spPr>
        <p:txBody>
          <a:bodyPr wrap="none">
            <a:spAutoFit/>
          </a:bodyPr>
          <a:lstStyle/>
          <a:p>
            <a:r>
              <a:rPr lang="en-US" altLang="zh-CN" sz="3200" b="1" dirty="0">
                <a:solidFill>
                  <a:srgbClr val="3399FF"/>
                </a:solidFill>
              </a:rPr>
              <a:t>6.2.2</a:t>
            </a:r>
            <a:r>
              <a:rPr lang="zh-CN" altLang="en-US" sz="3200" b="1" dirty="0">
                <a:solidFill>
                  <a:srgbClr val="3399FF"/>
                </a:solidFill>
              </a:rPr>
              <a:t>主成分的推导</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157412" y="219795"/>
            <a:ext cx="4608320"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6.2</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主成分分析的性质</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47625" y="168910"/>
            <a:ext cx="5571490" cy="584775"/>
          </a:xfrm>
          <a:prstGeom prst="rect">
            <a:avLst/>
          </a:prstGeom>
          <a:noFill/>
          <a:ln w="9525">
            <a:noFill/>
          </a:ln>
        </p:spPr>
        <p:txBody>
          <a:bodyPr wrap="square">
            <a:spAutoFit/>
            <a:scene3d>
              <a:camera prst="orthographicFront"/>
              <a:lightRig rig="threePt" dir="t"/>
            </a:scene3d>
          </a:bodyPr>
          <a:lstStyle/>
          <a:p>
            <a:pPr lvl="0">
              <a:lnSpc>
                <a:spcPct val="100000"/>
              </a:lnSpc>
            </a:pP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6</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主成分分析及</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使用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495955" y="397903"/>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1" name="矩形 10"/>
          <p:cNvSpPr/>
          <p:nvPr/>
        </p:nvSpPr>
        <p:spPr>
          <a:xfrm>
            <a:off x="228415" y="1048339"/>
            <a:ext cx="3671198" cy="584775"/>
          </a:xfrm>
          <a:prstGeom prst="rect">
            <a:avLst/>
          </a:prstGeom>
        </p:spPr>
        <p:txBody>
          <a:bodyPr wrap="none">
            <a:spAutoFit/>
          </a:bodyPr>
          <a:lstStyle/>
          <a:p>
            <a:r>
              <a:rPr lang="en-US" altLang="zh-CN" sz="3200" b="1" dirty="0">
                <a:solidFill>
                  <a:srgbClr val="3399FF"/>
                </a:solidFill>
              </a:rPr>
              <a:t>6.2.2</a:t>
            </a:r>
            <a:r>
              <a:rPr lang="zh-CN" altLang="en-US" sz="3200" b="1" dirty="0">
                <a:solidFill>
                  <a:srgbClr val="3399FF"/>
                </a:solidFill>
              </a:rPr>
              <a:t>主成分的推导</a:t>
            </a:r>
          </a:p>
        </p:txBody>
      </p:sp>
      <p:pic>
        <p:nvPicPr>
          <p:cNvPr id="9" name="图片 8"/>
          <p:cNvPicPr>
            <a:picLocks noChangeAspect="1"/>
          </p:cNvPicPr>
          <p:nvPr/>
        </p:nvPicPr>
        <p:blipFill>
          <a:blip r:embed="rId3"/>
          <a:stretch>
            <a:fillRect/>
          </a:stretch>
        </p:blipFill>
        <p:spPr>
          <a:xfrm>
            <a:off x="1199660" y="1633114"/>
            <a:ext cx="9000625" cy="2724960"/>
          </a:xfrm>
          <a:prstGeom prst="rect">
            <a:avLst/>
          </a:prstGeom>
        </p:spPr>
      </p:pic>
      <p:pic>
        <p:nvPicPr>
          <p:cNvPr id="5" name="图片 4">
            <a:extLst>
              <a:ext uri="{FF2B5EF4-FFF2-40B4-BE49-F238E27FC236}">
                <a16:creationId xmlns:a16="http://schemas.microsoft.com/office/drawing/2014/main" id="{CDD07CB0-B049-2AEF-7D96-D9C568D68DE1}"/>
              </a:ext>
            </a:extLst>
          </p:cNvPr>
          <p:cNvPicPr>
            <a:picLocks noChangeAspect="1"/>
          </p:cNvPicPr>
          <p:nvPr/>
        </p:nvPicPr>
        <p:blipFill>
          <a:blip r:embed="rId4"/>
          <a:stretch>
            <a:fillRect/>
          </a:stretch>
        </p:blipFill>
        <p:spPr>
          <a:xfrm>
            <a:off x="1192498" y="4265590"/>
            <a:ext cx="9160108" cy="758825"/>
          </a:xfrm>
          <a:prstGeom prst="rect">
            <a:avLst/>
          </a:prstGeom>
        </p:spPr>
      </p:pic>
      <p:pic>
        <p:nvPicPr>
          <p:cNvPr id="7" name="图片 6">
            <a:extLst>
              <a:ext uri="{FF2B5EF4-FFF2-40B4-BE49-F238E27FC236}">
                <a16:creationId xmlns:a16="http://schemas.microsoft.com/office/drawing/2014/main" id="{8C2E23A4-9569-0ACD-536E-BB99FE75D23F}"/>
              </a:ext>
            </a:extLst>
          </p:cNvPr>
          <p:cNvPicPr>
            <a:picLocks noChangeAspect="1"/>
          </p:cNvPicPr>
          <p:nvPr/>
        </p:nvPicPr>
        <p:blipFill>
          <a:blip r:embed="rId5"/>
          <a:stretch>
            <a:fillRect/>
          </a:stretch>
        </p:blipFill>
        <p:spPr>
          <a:xfrm>
            <a:off x="664230" y="5033608"/>
            <a:ext cx="10695038" cy="882797"/>
          </a:xfrm>
          <a:prstGeom prst="rect">
            <a:avLst/>
          </a:prstGeom>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157412" y="219795"/>
            <a:ext cx="4608320"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6.2</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主成分分析的性质</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47625" y="168910"/>
            <a:ext cx="5571490" cy="584775"/>
          </a:xfrm>
          <a:prstGeom prst="rect">
            <a:avLst/>
          </a:prstGeom>
          <a:noFill/>
          <a:ln w="9525">
            <a:noFill/>
          </a:ln>
        </p:spPr>
        <p:txBody>
          <a:bodyPr wrap="square">
            <a:spAutoFit/>
            <a:scene3d>
              <a:camera prst="orthographicFront"/>
              <a:lightRig rig="threePt" dir="t"/>
            </a:scene3d>
          </a:bodyPr>
          <a:lstStyle/>
          <a:p>
            <a:pPr lvl="0">
              <a:lnSpc>
                <a:spcPct val="100000"/>
              </a:lnSpc>
            </a:pP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6</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主成分分析及</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使用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495955" y="397903"/>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1" name="矩形 10"/>
          <p:cNvSpPr/>
          <p:nvPr/>
        </p:nvSpPr>
        <p:spPr>
          <a:xfrm>
            <a:off x="228415" y="1048339"/>
            <a:ext cx="3671198" cy="584775"/>
          </a:xfrm>
          <a:prstGeom prst="rect">
            <a:avLst/>
          </a:prstGeom>
        </p:spPr>
        <p:txBody>
          <a:bodyPr wrap="none">
            <a:spAutoFit/>
          </a:bodyPr>
          <a:lstStyle/>
          <a:p>
            <a:r>
              <a:rPr lang="en-US" altLang="zh-CN" sz="3200" b="1" dirty="0">
                <a:solidFill>
                  <a:srgbClr val="3399FF"/>
                </a:solidFill>
              </a:rPr>
              <a:t>6.2.2</a:t>
            </a:r>
            <a:r>
              <a:rPr lang="zh-CN" altLang="en-US" sz="3200" b="1" dirty="0">
                <a:solidFill>
                  <a:srgbClr val="3399FF"/>
                </a:solidFill>
              </a:rPr>
              <a:t>主成分的推导</a:t>
            </a:r>
          </a:p>
        </p:txBody>
      </p:sp>
      <p:pic>
        <p:nvPicPr>
          <p:cNvPr id="6" name="图片 5"/>
          <p:cNvPicPr>
            <a:picLocks noChangeAspect="1"/>
          </p:cNvPicPr>
          <p:nvPr/>
        </p:nvPicPr>
        <p:blipFill>
          <a:blip r:embed="rId3"/>
          <a:stretch>
            <a:fillRect/>
          </a:stretch>
        </p:blipFill>
        <p:spPr>
          <a:xfrm>
            <a:off x="911640" y="1759271"/>
            <a:ext cx="9066862" cy="2289199"/>
          </a:xfrm>
          <a:prstGeom prst="rect">
            <a:avLst/>
          </a:prstGeom>
        </p:spPr>
      </p:pic>
      <p:pic>
        <p:nvPicPr>
          <p:cNvPr id="8" name="图片 7"/>
          <p:cNvPicPr>
            <a:picLocks noChangeAspect="1"/>
          </p:cNvPicPr>
          <p:nvPr/>
        </p:nvPicPr>
        <p:blipFill>
          <a:blip r:embed="rId4"/>
          <a:stretch>
            <a:fillRect/>
          </a:stretch>
        </p:blipFill>
        <p:spPr>
          <a:xfrm>
            <a:off x="494218" y="4161206"/>
            <a:ext cx="11624090" cy="1753669"/>
          </a:xfrm>
          <a:prstGeom prst="rect">
            <a:avLst/>
          </a:prstGeom>
        </p:spPr>
      </p:pic>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157412" y="219795"/>
            <a:ext cx="4608320"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6.2</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主成分分析的性质</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47625" y="168910"/>
            <a:ext cx="5571490" cy="584775"/>
          </a:xfrm>
          <a:prstGeom prst="rect">
            <a:avLst/>
          </a:prstGeom>
          <a:noFill/>
          <a:ln w="9525">
            <a:noFill/>
          </a:ln>
        </p:spPr>
        <p:txBody>
          <a:bodyPr wrap="square">
            <a:spAutoFit/>
            <a:scene3d>
              <a:camera prst="orthographicFront"/>
              <a:lightRig rig="threePt" dir="t"/>
            </a:scene3d>
          </a:bodyPr>
          <a:lstStyle/>
          <a:p>
            <a:pPr lvl="0">
              <a:lnSpc>
                <a:spcPct val="100000"/>
              </a:lnSpc>
            </a:pP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6</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主成分分析及</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使用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495955" y="397903"/>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1" name="矩形 10"/>
          <p:cNvSpPr/>
          <p:nvPr/>
        </p:nvSpPr>
        <p:spPr>
          <a:xfrm>
            <a:off x="228415" y="1048339"/>
            <a:ext cx="3671198" cy="584775"/>
          </a:xfrm>
          <a:prstGeom prst="rect">
            <a:avLst/>
          </a:prstGeom>
        </p:spPr>
        <p:txBody>
          <a:bodyPr wrap="none">
            <a:spAutoFit/>
          </a:bodyPr>
          <a:lstStyle/>
          <a:p>
            <a:r>
              <a:rPr lang="en-US" altLang="zh-CN" sz="3200" b="1" dirty="0">
                <a:solidFill>
                  <a:srgbClr val="3399FF"/>
                </a:solidFill>
              </a:rPr>
              <a:t>6.2.3</a:t>
            </a:r>
            <a:r>
              <a:rPr lang="zh-CN" altLang="en-US" sz="3200" b="1" dirty="0">
                <a:solidFill>
                  <a:srgbClr val="3399FF"/>
                </a:solidFill>
              </a:rPr>
              <a:t>主成分的计算</a:t>
            </a:r>
          </a:p>
        </p:txBody>
      </p:sp>
      <p:sp>
        <p:nvSpPr>
          <p:cNvPr id="7" name="文本框 6"/>
          <p:cNvSpPr txBox="1"/>
          <p:nvPr/>
        </p:nvSpPr>
        <p:spPr>
          <a:xfrm>
            <a:off x="695625" y="1667984"/>
            <a:ext cx="6179574" cy="461665"/>
          </a:xfrm>
          <a:prstGeom prst="rect">
            <a:avLst/>
          </a:prstGeom>
          <a:noFill/>
        </p:spPr>
        <p:txBody>
          <a:bodyPr wrap="square">
            <a:spAutoFit/>
          </a:bodyPr>
          <a:lstStyle/>
          <a:p>
            <a:r>
              <a:rPr lang="en-US" altLang="zh-CN" sz="2400" b="1" dirty="0"/>
              <a:t>1.</a:t>
            </a:r>
            <a:r>
              <a:rPr lang="zh-CN" altLang="en-US" sz="2400" b="1" dirty="0"/>
              <a:t>主成分方差</a:t>
            </a:r>
          </a:p>
        </p:txBody>
      </p:sp>
      <p:pic>
        <p:nvPicPr>
          <p:cNvPr id="10" name="图片 9"/>
          <p:cNvPicPr>
            <a:picLocks noChangeAspect="1"/>
          </p:cNvPicPr>
          <p:nvPr/>
        </p:nvPicPr>
        <p:blipFill>
          <a:blip r:embed="rId3"/>
          <a:stretch>
            <a:fillRect/>
          </a:stretch>
        </p:blipFill>
        <p:spPr>
          <a:xfrm>
            <a:off x="1379040" y="2188611"/>
            <a:ext cx="9943010" cy="3405581"/>
          </a:xfrm>
          <a:prstGeom prst="rect">
            <a:avLst/>
          </a:prstGeom>
        </p:spPr>
      </p:pic>
      <p:pic>
        <p:nvPicPr>
          <p:cNvPr id="13" name="图片 12"/>
          <p:cNvPicPr>
            <a:picLocks noChangeAspect="1"/>
          </p:cNvPicPr>
          <p:nvPr/>
        </p:nvPicPr>
        <p:blipFill>
          <a:blip r:embed="rId4"/>
          <a:stretch>
            <a:fillRect/>
          </a:stretch>
        </p:blipFill>
        <p:spPr>
          <a:xfrm>
            <a:off x="1403589" y="5701636"/>
            <a:ext cx="9931459" cy="814054"/>
          </a:xfrm>
          <a:prstGeom prst="rect">
            <a:avLst/>
          </a:prstGeom>
        </p:spPr>
      </p:pic>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157412" y="219795"/>
            <a:ext cx="4608320"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6.2</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主成分分析的性质</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47625" y="168910"/>
            <a:ext cx="5571490" cy="584775"/>
          </a:xfrm>
          <a:prstGeom prst="rect">
            <a:avLst/>
          </a:prstGeom>
          <a:noFill/>
          <a:ln w="9525">
            <a:noFill/>
          </a:ln>
        </p:spPr>
        <p:txBody>
          <a:bodyPr wrap="square">
            <a:spAutoFit/>
            <a:scene3d>
              <a:camera prst="orthographicFront"/>
              <a:lightRig rig="threePt" dir="t"/>
            </a:scene3d>
          </a:bodyPr>
          <a:lstStyle/>
          <a:p>
            <a:pPr lvl="0">
              <a:lnSpc>
                <a:spcPct val="100000"/>
              </a:lnSpc>
            </a:pP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6</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主成分分析及</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使用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495955" y="397903"/>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1" name="矩形 10"/>
          <p:cNvSpPr/>
          <p:nvPr/>
        </p:nvSpPr>
        <p:spPr>
          <a:xfrm>
            <a:off x="228415" y="1048339"/>
            <a:ext cx="3671198" cy="584775"/>
          </a:xfrm>
          <a:prstGeom prst="rect">
            <a:avLst/>
          </a:prstGeom>
        </p:spPr>
        <p:txBody>
          <a:bodyPr wrap="none">
            <a:spAutoFit/>
          </a:bodyPr>
          <a:lstStyle/>
          <a:p>
            <a:r>
              <a:rPr lang="en-US" altLang="zh-CN" sz="3200" b="1" dirty="0">
                <a:solidFill>
                  <a:srgbClr val="3399FF"/>
                </a:solidFill>
              </a:rPr>
              <a:t>6.2.3</a:t>
            </a:r>
            <a:r>
              <a:rPr lang="zh-CN" altLang="en-US" sz="3200" b="1" dirty="0">
                <a:solidFill>
                  <a:srgbClr val="3399FF"/>
                </a:solidFill>
              </a:rPr>
              <a:t>主成分的计算</a:t>
            </a:r>
          </a:p>
        </p:txBody>
      </p:sp>
      <p:sp>
        <p:nvSpPr>
          <p:cNvPr id="7" name="文本框 6"/>
          <p:cNvSpPr txBox="1"/>
          <p:nvPr/>
        </p:nvSpPr>
        <p:spPr>
          <a:xfrm>
            <a:off x="695625" y="1667984"/>
            <a:ext cx="6179574" cy="461665"/>
          </a:xfrm>
          <a:prstGeom prst="rect">
            <a:avLst/>
          </a:prstGeom>
          <a:noFill/>
        </p:spPr>
        <p:txBody>
          <a:bodyPr wrap="square">
            <a:spAutoFit/>
          </a:bodyPr>
          <a:lstStyle/>
          <a:p>
            <a:r>
              <a:rPr lang="en-US" altLang="zh-CN" sz="2400" b="1" dirty="0"/>
              <a:t>1.</a:t>
            </a:r>
            <a:r>
              <a:rPr lang="zh-CN" altLang="en-US" sz="2400" b="1" dirty="0"/>
              <a:t>主成分方差</a:t>
            </a:r>
          </a:p>
        </p:txBody>
      </p:sp>
      <p:pic>
        <p:nvPicPr>
          <p:cNvPr id="13" name="图片 12"/>
          <p:cNvPicPr>
            <a:picLocks noChangeAspect="1"/>
          </p:cNvPicPr>
          <p:nvPr/>
        </p:nvPicPr>
        <p:blipFill>
          <a:blip r:embed="rId3"/>
          <a:stretch>
            <a:fillRect/>
          </a:stretch>
        </p:blipFill>
        <p:spPr>
          <a:xfrm>
            <a:off x="990075" y="2355263"/>
            <a:ext cx="9258080" cy="1174243"/>
          </a:xfrm>
          <a:prstGeom prst="rect">
            <a:avLst/>
          </a:prstGeom>
          <a:ln w="12700">
            <a:solidFill>
              <a:schemeClr val="tx1"/>
            </a:solidFill>
          </a:ln>
        </p:spPr>
      </p:pic>
      <p:pic>
        <p:nvPicPr>
          <p:cNvPr id="16" name="图片 15"/>
          <p:cNvPicPr>
            <a:picLocks noChangeAspect="1"/>
          </p:cNvPicPr>
          <p:nvPr/>
        </p:nvPicPr>
        <p:blipFill>
          <a:blip r:embed="rId4"/>
          <a:stretch>
            <a:fillRect/>
          </a:stretch>
        </p:blipFill>
        <p:spPr>
          <a:xfrm>
            <a:off x="1015276" y="4289789"/>
            <a:ext cx="4968345" cy="447431"/>
          </a:xfrm>
          <a:prstGeom prst="rect">
            <a:avLst/>
          </a:prstGeom>
          <a:ln w="12700">
            <a:solidFill>
              <a:schemeClr val="tx1"/>
            </a:solidFill>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157412" y="219795"/>
            <a:ext cx="4608320"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6.2</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主成分分析的性质</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47625" y="168910"/>
            <a:ext cx="5571490" cy="584775"/>
          </a:xfrm>
          <a:prstGeom prst="rect">
            <a:avLst/>
          </a:prstGeom>
          <a:noFill/>
          <a:ln w="9525">
            <a:noFill/>
          </a:ln>
        </p:spPr>
        <p:txBody>
          <a:bodyPr wrap="square">
            <a:spAutoFit/>
            <a:scene3d>
              <a:camera prst="orthographicFront"/>
              <a:lightRig rig="threePt" dir="t"/>
            </a:scene3d>
          </a:bodyPr>
          <a:lstStyle/>
          <a:p>
            <a:pPr lvl="0">
              <a:lnSpc>
                <a:spcPct val="100000"/>
              </a:lnSpc>
            </a:pP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6</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主成分分析及</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使用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495955" y="397903"/>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1" name="矩形 10"/>
          <p:cNvSpPr/>
          <p:nvPr/>
        </p:nvSpPr>
        <p:spPr>
          <a:xfrm>
            <a:off x="228415" y="1048339"/>
            <a:ext cx="3671198" cy="584775"/>
          </a:xfrm>
          <a:prstGeom prst="rect">
            <a:avLst/>
          </a:prstGeom>
        </p:spPr>
        <p:txBody>
          <a:bodyPr wrap="none">
            <a:spAutoFit/>
          </a:bodyPr>
          <a:lstStyle/>
          <a:p>
            <a:r>
              <a:rPr lang="en-US" altLang="zh-CN" sz="3200" b="1" dirty="0">
                <a:solidFill>
                  <a:srgbClr val="3399FF"/>
                </a:solidFill>
              </a:rPr>
              <a:t>6.2.3</a:t>
            </a:r>
            <a:r>
              <a:rPr lang="zh-CN" altLang="en-US" sz="3200" b="1" dirty="0">
                <a:solidFill>
                  <a:srgbClr val="3399FF"/>
                </a:solidFill>
              </a:rPr>
              <a:t>主成分的计算</a:t>
            </a:r>
          </a:p>
        </p:txBody>
      </p:sp>
      <p:sp>
        <p:nvSpPr>
          <p:cNvPr id="7" name="文本框 6"/>
          <p:cNvSpPr txBox="1"/>
          <p:nvPr/>
        </p:nvSpPr>
        <p:spPr>
          <a:xfrm>
            <a:off x="695625" y="1667984"/>
            <a:ext cx="6179574" cy="461665"/>
          </a:xfrm>
          <a:prstGeom prst="rect">
            <a:avLst/>
          </a:prstGeom>
          <a:noFill/>
        </p:spPr>
        <p:txBody>
          <a:bodyPr wrap="square">
            <a:spAutoFit/>
          </a:bodyPr>
          <a:lstStyle/>
          <a:p>
            <a:r>
              <a:rPr lang="en-US" altLang="zh-CN" sz="2400" b="1" dirty="0"/>
              <a:t>2.</a:t>
            </a:r>
            <a:r>
              <a:rPr lang="zh-CN" altLang="en-US" sz="2400" b="1" dirty="0"/>
              <a:t>主成分系数</a:t>
            </a:r>
          </a:p>
        </p:txBody>
      </p:sp>
      <p:pic>
        <p:nvPicPr>
          <p:cNvPr id="6" name="图片 5"/>
          <p:cNvPicPr>
            <a:picLocks noChangeAspect="1"/>
          </p:cNvPicPr>
          <p:nvPr/>
        </p:nvPicPr>
        <p:blipFill>
          <a:blip r:embed="rId3"/>
          <a:stretch>
            <a:fillRect/>
          </a:stretch>
        </p:blipFill>
        <p:spPr>
          <a:xfrm>
            <a:off x="461673" y="2129649"/>
            <a:ext cx="11076943" cy="2072355"/>
          </a:xfrm>
          <a:prstGeom prst="rect">
            <a:avLst/>
          </a:prstGeom>
        </p:spPr>
      </p:pic>
      <p:pic>
        <p:nvPicPr>
          <p:cNvPr id="10" name="图片 9"/>
          <p:cNvPicPr>
            <a:picLocks noChangeAspect="1"/>
          </p:cNvPicPr>
          <p:nvPr/>
        </p:nvPicPr>
        <p:blipFill>
          <a:blip r:embed="rId4"/>
          <a:stretch>
            <a:fillRect/>
          </a:stretch>
        </p:blipFill>
        <p:spPr>
          <a:xfrm>
            <a:off x="551615" y="4256825"/>
            <a:ext cx="6552455" cy="1008712"/>
          </a:xfrm>
          <a:prstGeom prst="rect">
            <a:avLst/>
          </a:prstGeom>
        </p:spPr>
      </p:pic>
      <p:pic>
        <p:nvPicPr>
          <p:cNvPr id="13" name="图片 12"/>
          <p:cNvPicPr>
            <a:picLocks noChangeAspect="1"/>
          </p:cNvPicPr>
          <p:nvPr/>
        </p:nvPicPr>
        <p:blipFill>
          <a:blip r:embed="rId5"/>
          <a:stretch>
            <a:fillRect/>
          </a:stretch>
        </p:blipFill>
        <p:spPr>
          <a:xfrm>
            <a:off x="461084" y="5239327"/>
            <a:ext cx="10265030" cy="1341236"/>
          </a:xfrm>
          <a:prstGeom prst="rect">
            <a:avLst/>
          </a:prstGeom>
        </p:spPr>
      </p:pic>
      <p:pic>
        <p:nvPicPr>
          <p:cNvPr id="16" name="图片 15"/>
          <p:cNvPicPr>
            <a:picLocks noChangeAspect="1"/>
          </p:cNvPicPr>
          <p:nvPr/>
        </p:nvPicPr>
        <p:blipFill>
          <a:blip r:embed="rId6"/>
          <a:stretch>
            <a:fillRect/>
          </a:stretch>
        </p:blipFill>
        <p:spPr>
          <a:xfrm>
            <a:off x="6893328" y="4256825"/>
            <a:ext cx="5067739" cy="685859"/>
          </a:xfrm>
          <a:prstGeom prst="rect">
            <a:avLst/>
          </a:prstGeom>
        </p:spPr>
      </p:pic>
      <p:pic>
        <p:nvPicPr>
          <p:cNvPr id="5" name="图片 4"/>
          <p:cNvPicPr>
            <a:picLocks noChangeAspect="1"/>
          </p:cNvPicPr>
          <p:nvPr/>
        </p:nvPicPr>
        <p:blipFill>
          <a:blip r:embed="rId7"/>
          <a:stretch>
            <a:fillRect/>
          </a:stretch>
        </p:blipFill>
        <p:spPr>
          <a:xfrm>
            <a:off x="6157412" y="1215428"/>
            <a:ext cx="5724914" cy="339514"/>
          </a:xfrm>
          <a:prstGeom prst="rect">
            <a:avLst/>
          </a:prstGeom>
          <a:ln w="12700">
            <a:solidFill>
              <a:schemeClr val="tx1"/>
            </a:solidFill>
          </a:ln>
        </p:spPr>
      </p:pic>
      <p:pic>
        <p:nvPicPr>
          <p:cNvPr id="8" name="图片 7"/>
          <p:cNvPicPr>
            <a:picLocks noChangeAspect="1"/>
          </p:cNvPicPr>
          <p:nvPr/>
        </p:nvPicPr>
        <p:blipFill>
          <a:blip r:embed="rId8"/>
          <a:stretch>
            <a:fillRect/>
          </a:stretch>
        </p:blipFill>
        <p:spPr>
          <a:xfrm>
            <a:off x="7811604" y="1780338"/>
            <a:ext cx="4058206" cy="596229"/>
          </a:xfrm>
          <a:prstGeom prst="rect">
            <a:avLst/>
          </a:prstGeom>
          <a:ln w="12700">
            <a:solidFill>
              <a:schemeClr val="tx1"/>
            </a:solidFill>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anim calcmode="lin" valueType="num">
                                      <p:cBhvr additive="base">
                                        <p:cTn id="15" dur="500" fill="hold"/>
                                        <p:tgtEl>
                                          <p:spTgt spid="16"/>
                                        </p:tgtEl>
                                        <p:attrNameLst>
                                          <p:attrName>ppt_x</p:attrName>
                                        </p:attrNameLst>
                                      </p:cBhvr>
                                      <p:tavLst>
                                        <p:tav tm="0">
                                          <p:val>
                                            <p:strVal val="#ppt_x"/>
                                          </p:val>
                                        </p:tav>
                                        <p:tav tm="100000">
                                          <p:val>
                                            <p:strVal val="#ppt_x"/>
                                          </p:val>
                                        </p:tav>
                                      </p:tavLst>
                                    </p:anim>
                                    <p:anim calcmode="lin" valueType="num">
                                      <p:cBhvr additive="base">
                                        <p:cTn id="16"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157412" y="219795"/>
            <a:ext cx="4608320"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6.2</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主成分分析的性质</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47625" y="168910"/>
            <a:ext cx="5571490" cy="584775"/>
          </a:xfrm>
          <a:prstGeom prst="rect">
            <a:avLst/>
          </a:prstGeom>
          <a:noFill/>
          <a:ln w="9525">
            <a:noFill/>
          </a:ln>
        </p:spPr>
        <p:txBody>
          <a:bodyPr wrap="square">
            <a:spAutoFit/>
            <a:scene3d>
              <a:camera prst="orthographicFront"/>
              <a:lightRig rig="threePt" dir="t"/>
            </a:scene3d>
          </a:bodyPr>
          <a:lstStyle/>
          <a:p>
            <a:pPr lvl="0">
              <a:lnSpc>
                <a:spcPct val="100000"/>
              </a:lnSpc>
            </a:pP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6</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主成分分析及</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使用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495955" y="397903"/>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1" name="矩形 10"/>
          <p:cNvSpPr/>
          <p:nvPr/>
        </p:nvSpPr>
        <p:spPr>
          <a:xfrm>
            <a:off x="228415" y="1048339"/>
            <a:ext cx="3671198" cy="584775"/>
          </a:xfrm>
          <a:prstGeom prst="rect">
            <a:avLst/>
          </a:prstGeom>
        </p:spPr>
        <p:txBody>
          <a:bodyPr wrap="none">
            <a:spAutoFit/>
          </a:bodyPr>
          <a:lstStyle/>
          <a:p>
            <a:r>
              <a:rPr lang="en-US" altLang="zh-CN" sz="3200" b="1" dirty="0">
                <a:solidFill>
                  <a:srgbClr val="3399FF"/>
                </a:solidFill>
              </a:rPr>
              <a:t>6.2.3</a:t>
            </a:r>
            <a:r>
              <a:rPr lang="zh-CN" altLang="en-US" sz="3200" b="1" dirty="0">
                <a:solidFill>
                  <a:srgbClr val="3399FF"/>
                </a:solidFill>
              </a:rPr>
              <a:t>主成分的计算</a:t>
            </a:r>
          </a:p>
        </p:txBody>
      </p:sp>
      <p:sp>
        <p:nvSpPr>
          <p:cNvPr id="7" name="文本框 6"/>
          <p:cNvSpPr txBox="1"/>
          <p:nvPr/>
        </p:nvSpPr>
        <p:spPr>
          <a:xfrm>
            <a:off x="695625" y="1667984"/>
            <a:ext cx="6179574" cy="461665"/>
          </a:xfrm>
          <a:prstGeom prst="rect">
            <a:avLst/>
          </a:prstGeom>
          <a:noFill/>
        </p:spPr>
        <p:txBody>
          <a:bodyPr wrap="square">
            <a:spAutoFit/>
          </a:bodyPr>
          <a:lstStyle/>
          <a:p>
            <a:r>
              <a:rPr lang="en-US" altLang="zh-CN" sz="2400" b="1" dirty="0"/>
              <a:t>3.</a:t>
            </a:r>
            <a:r>
              <a:rPr lang="zh-CN" altLang="en-US" sz="2400" b="1" dirty="0"/>
              <a:t>主成分得分</a:t>
            </a:r>
          </a:p>
        </p:txBody>
      </p:sp>
      <p:pic>
        <p:nvPicPr>
          <p:cNvPr id="10" name="图片 9"/>
          <p:cNvPicPr>
            <a:picLocks noChangeAspect="1"/>
          </p:cNvPicPr>
          <p:nvPr/>
        </p:nvPicPr>
        <p:blipFill>
          <a:blip r:embed="rId3"/>
          <a:stretch>
            <a:fillRect/>
          </a:stretch>
        </p:blipFill>
        <p:spPr>
          <a:xfrm>
            <a:off x="927459" y="2196819"/>
            <a:ext cx="8408766" cy="382641"/>
          </a:xfrm>
          <a:prstGeom prst="rect">
            <a:avLst/>
          </a:prstGeom>
        </p:spPr>
      </p:pic>
      <p:pic>
        <p:nvPicPr>
          <p:cNvPr id="6" name="图片 5"/>
          <p:cNvPicPr>
            <a:picLocks noChangeAspect="1"/>
          </p:cNvPicPr>
          <p:nvPr/>
        </p:nvPicPr>
        <p:blipFill>
          <a:blip r:embed="rId4"/>
          <a:stretch>
            <a:fillRect/>
          </a:stretch>
        </p:blipFill>
        <p:spPr>
          <a:xfrm>
            <a:off x="1029870" y="2785789"/>
            <a:ext cx="8932170" cy="719600"/>
          </a:xfrm>
          <a:prstGeom prst="rect">
            <a:avLst/>
          </a:prstGeom>
          <a:ln w="12700">
            <a:solidFill>
              <a:schemeClr val="tx1"/>
            </a:solidFill>
          </a:ln>
        </p:spPr>
      </p:pic>
      <p:pic>
        <p:nvPicPr>
          <p:cNvPr id="9" name="图片 8"/>
          <p:cNvPicPr>
            <a:picLocks noChangeAspect="1"/>
          </p:cNvPicPr>
          <p:nvPr/>
        </p:nvPicPr>
        <p:blipFill>
          <a:blip r:embed="rId5"/>
          <a:stretch>
            <a:fillRect/>
          </a:stretch>
        </p:blipFill>
        <p:spPr>
          <a:xfrm>
            <a:off x="1029870" y="3929119"/>
            <a:ext cx="4058060" cy="2650640"/>
          </a:xfrm>
          <a:prstGeom prst="rect">
            <a:avLst/>
          </a:prstGeom>
          <a:ln w="12700">
            <a:solidFill>
              <a:schemeClr val="tx1"/>
            </a:solidFill>
          </a:ln>
        </p:spPr>
      </p:pic>
      <p:pic>
        <p:nvPicPr>
          <p:cNvPr id="19" name="图片 18"/>
          <p:cNvPicPr>
            <a:picLocks noChangeAspect="1"/>
          </p:cNvPicPr>
          <p:nvPr/>
        </p:nvPicPr>
        <p:blipFill>
          <a:blip r:embed="rId6"/>
          <a:stretch>
            <a:fillRect/>
          </a:stretch>
        </p:blipFill>
        <p:spPr>
          <a:xfrm>
            <a:off x="5761883" y="3902960"/>
            <a:ext cx="3480520" cy="2415999"/>
          </a:xfrm>
          <a:prstGeom prst="rect">
            <a:avLst/>
          </a:prstGeom>
          <a:ln w="12700">
            <a:solidFill>
              <a:schemeClr val="tx1"/>
            </a:solidFill>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par>
                                <p:cTn id="12" presetID="10" presetClass="entr" presetSubtype="0" fill="hold" nodeType="with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157412" y="219795"/>
            <a:ext cx="4608320"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6.2</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主成分分析的性质</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47625" y="168910"/>
            <a:ext cx="5571490" cy="584775"/>
          </a:xfrm>
          <a:prstGeom prst="rect">
            <a:avLst/>
          </a:prstGeom>
          <a:noFill/>
          <a:ln w="9525">
            <a:noFill/>
          </a:ln>
        </p:spPr>
        <p:txBody>
          <a:bodyPr wrap="square">
            <a:spAutoFit/>
            <a:scene3d>
              <a:camera prst="orthographicFront"/>
              <a:lightRig rig="threePt" dir="t"/>
            </a:scene3d>
          </a:bodyPr>
          <a:lstStyle/>
          <a:p>
            <a:pPr lvl="0">
              <a:lnSpc>
                <a:spcPct val="100000"/>
              </a:lnSpc>
            </a:pP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6</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主成分分析及</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使用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495955" y="397903"/>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1" name="矩形 10"/>
          <p:cNvSpPr/>
          <p:nvPr/>
        </p:nvSpPr>
        <p:spPr>
          <a:xfrm>
            <a:off x="228415" y="1048339"/>
            <a:ext cx="3671198" cy="584775"/>
          </a:xfrm>
          <a:prstGeom prst="rect">
            <a:avLst/>
          </a:prstGeom>
        </p:spPr>
        <p:txBody>
          <a:bodyPr wrap="none">
            <a:spAutoFit/>
          </a:bodyPr>
          <a:lstStyle/>
          <a:p>
            <a:r>
              <a:rPr lang="en-US" altLang="zh-CN" sz="3200" b="1" dirty="0">
                <a:solidFill>
                  <a:srgbClr val="3399FF"/>
                </a:solidFill>
              </a:rPr>
              <a:t>6.2.3</a:t>
            </a:r>
            <a:r>
              <a:rPr lang="zh-CN" altLang="en-US" sz="3200" b="1" dirty="0">
                <a:solidFill>
                  <a:srgbClr val="3399FF"/>
                </a:solidFill>
              </a:rPr>
              <a:t>主成分的计算</a:t>
            </a:r>
          </a:p>
        </p:txBody>
      </p:sp>
      <p:sp>
        <p:nvSpPr>
          <p:cNvPr id="7" name="文本框 6"/>
          <p:cNvSpPr txBox="1"/>
          <p:nvPr/>
        </p:nvSpPr>
        <p:spPr>
          <a:xfrm>
            <a:off x="695625" y="1667984"/>
            <a:ext cx="6179574" cy="461665"/>
          </a:xfrm>
          <a:prstGeom prst="rect">
            <a:avLst/>
          </a:prstGeom>
          <a:noFill/>
        </p:spPr>
        <p:txBody>
          <a:bodyPr wrap="square">
            <a:spAutoFit/>
          </a:bodyPr>
          <a:lstStyle/>
          <a:p>
            <a:r>
              <a:rPr lang="en-US" altLang="zh-CN" sz="2400" b="1" dirty="0"/>
              <a:t>3.</a:t>
            </a:r>
            <a:r>
              <a:rPr lang="zh-CN" altLang="en-US" sz="2400" b="1" dirty="0"/>
              <a:t>主成分得分</a:t>
            </a:r>
          </a:p>
        </p:txBody>
      </p:sp>
      <p:pic>
        <p:nvPicPr>
          <p:cNvPr id="8" name="图片 7"/>
          <p:cNvPicPr>
            <a:picLocks noChangeAspect="1"/>
          </p:cNvPicPr>
          <p:nvPr/>
        </p:nvPicPr>
        <p:blipFill>
          <a:blip r:embed="rId3"/>
          <a:stretch>
            <a:fillRect/>
          </a:stretch>
        </p:blipFill>
        <p:spPr>
          <a:xfrm>
            <a:off x="1172342" y="2238024"/>
            <a:ext cx="9655605" cy="660406"/>
          </a:xfrm>
          <a:prstGeom prst="rect">
            <a:avLst/>
          </a:prstGeom>
          <a:ln w="12700">
            <a:solidFill>
              <a:schemeClr val="tx1"/>
            </a:solidFill>
          </a:ln>
        </p:spPr>
      </p:pic>
      <p:pic>
        <p:nvPicPr>
          <p:cNvPr id="5" name="图片 4"/>
          <p:cNvPicPr>
            <a:picLocks noChangeAspect="1"/>
          </p:cNvPicPr>
          <p:nvPr/>
        </p:nvPicPr>
        <p:blipFill>
          <a:blip r:embed="rId4"/>
          <a:stretch>
            <a:fillRect/>
          </a:stretch>
        </p:blipFill>
        <p:spPr>
          <a:xfrm>
            <a:off x="3056172" y="3006805"/>
            <a:ext cx="5125886" cy="3851195"/>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157412" y="219795"/>
            <a:ext cx="4608320"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6.2</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主成分分析的性质</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47625" y="168910"/>
            <a:ext cx="5571490" cy="584775"/>
          </a:xfrm>
          <a:prstGeom prst="rect">
            <a:avLst/>
          </a:prstGeom>
          <a:noFill/>
          <a:ln w="9525">
            <a:noFill/>
          </a:ln>
        </p:spPr>
        <p:txBody>
          <a:bodyPr wrap="square">
            <a:spAutoFit/>
            <a:scene3d>
              <a:camera prst="orthographicFront"/>
              <a:lightRig rig="threePt" dir="t"/>
            </a:scene3d>
          </a:bodyPr>
          <a:lstStyle/>
          <a:p>
            <a:pPr lvl="0">
              <a:lnSpc>
                <a:spcPct val="100000"/>
              </a:lnSpc>
            </a:pP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6</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主成分分析及</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使用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495955" y="397903"/>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1" name="矩形 10"/>
          <p:cNvSpPr/>
          <p:nvPr/>
        </p:nvSpPr>
        <p:spPr>
          <a:xfrm>
            <a:off x="228415" y="1048339"/>
            <a:ext cx="3671198" cy="584775"/>
          </a:xfrm>
          <a:prstGeom prst="rect">
            <a:avLst/>
          </a:prstGeom>
        </p:spPr>
        <p:txBody>
          <a:bodyPr wrap="none">
            <a:spAutoFit/>
          </a:bodyPr>
          <a:lstStyle/>
          <a:p>
            <a:r>
              <a:rPr lang="en-US" altLang="zh-CN" sz="3200" b="1" dirty="0">
                <a:solidFill>
                  <a:srgbClr val="3399FF"/>
                </a:solidFill>
              </a:rPr>
              <a:t>6.2.3</a:t>
            </a:r>
            <a:r>
              <a:rPr lang="zh-CN" altLang="en-US" sz="3200" b="1" dirty="0">
                <a:solidFill>
                  <a:srgbClr val="3399FF"/>
                </a:solidFill>
              </a:rPr>
              <a:t>主成分的计算</a:t>
            </a:r>
          </a:p>
        </p:txBody>
      </p:sp>
      <p:sp>
        <p:nvSpPr>
          <p:cNvPr id="7" name="文本框 6"/>
          <p:cNvSpPr txBox="1"/>
          <p:nvPr/>
        </p:nvSpPr>
        <p:spPr>
          <a:xfrm>
            <a:off x="695625" y="1667984"/>
            <a:ext cx="6179574" cy="461665"/>
          </a:xfrm>
          <a:prstGeom prst="rect">
            <a:avLst/>
          </a:prstGeom>
          <a:noFill/>
        </p:spPr>
        <p:txBody>
          <a:bodyPr wrap="square">
            <a:spAutoFit/>
          </a:bodyPr>
          <a:lstStyle/>
          <a:p>
            <a:r>
              <a:rPr lang="en-US" altLang="zh-CN" sz="2400" b="1" dirty="0"/>
              <a:t>3.</a:t>
            </a:r>
            <a:r>
              <a:rPr lang="zh-CN" altLang="en-US" sz="2400" b="1" dirty="0"/>
              <a:t>主成分得分</a:t>
            </a:r>
          </a:p>
        </p:txBody>
      </p:sp>
      <p:pic>
        <p:nvPicPr>
          <p:cNvPr id="8" name="图片 7"/>
          <p:cNvPicPr>
            <a:picLocks noChangeAspect="1"/>
          </p:cNvPicPr>
          <p:nvPr/>
        </p:nvPicPr>
        <p:blipFill rotWithShape="1">
          <a:blip r:embed="rId3"/>
          <a:srcRect b="70184"/>
          <a:stretch>
            <a:fillRect/>
          </a:stretch>
        </p:blipFill>
        <p:spPr>
          <a:xfrm>
            <a:off x="542845" y="2177019"/>
            <a:ext cx="10410410" cy="350836"/>
          </a:xfrm>
          <a:prstGeom prst="rect">
            <a:avLst/>
          </a:prstGeom>
        </p:spPr>
      </p:pic>
      <p:pic>
        <p:nvPicPr>
          <p:cNvPr id="10" name="图片 9"/>
          <p:cNvPicPr>
            <a:picLocks noChangeAspect="1"/>
          </p:cNvPicPr>
          <p:nvPr/>
        </p:nvPicPr>
        <p:blipFill>
          <a:blip r:embed="rId4"/>
          <a:stretch>
            <a:fillRect/>
          </a:stretch>
        </p:blipFill>
        <p:spPr>
          <a:xfrm>
            <a:off x="542845" y="2655086"/>
            <a:ext cx="11197894" cy="681414"/>
          </a:xfrm>
          <a:prstGeom prst="rect">
            <a:avLst/>
          </a:prstGeom>
          <a:ln w="12700">
            <a:solidFill>
              <a:schemeClr val="tx1"/>
            </a:solidFill>
          </a:ln>
        </p:spPr>
      </p:pic>
      <p:pic>
        <p:nvPicPr>
          <p:cNvPr id="14" name="图片 13"/>
          <p:cNvPicPr>
            <a:picLocks noChangeAspect="1"/>
          </p:cNvPicPr>
          <p:nvPr/>
        </p:nvPicPr>
        <p:blipFill>
          <a:blip r:embed="rId5"/>
          <a:stretch>
            <a:fillRect/>
          </a:stretch>
        </p:blipFill>
        <p:spPr>
          <a:xfrm>
            <a:off x="542845" y="3827155"/>
            <a:ext cx="10953529" cy="1074986"/>
          </a:xfrm>
          <a:prstGeom prst="rect">
            <a:avLst/>
          </a:prstGeom>
          <a:ln w="12700">
            <a:solidFill>
              <a:schemeClr val="tx1"/>
            </a:solidFill>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157412" y="219795"/>
            <a:ext cx="4608320"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6.2</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主成分分析的性质</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47625" y="168910"/>
            <a:ext cx="5571490" cy="584775"/>
          </a:xfrm>
          <a:prstGeom prst="rect">
            <a:avLst/>
          </a:prstGeom>
          <a:noFill/>
          <a:ln w="9525">
            <a:noFill/>
          </a:ln>
        </p:spPr>
        <p:txBody>
          <a:bodyPr wrap="square">
            <a:spAutoFit/>
            <a:scene3d>
              <a:camera prst="orthographicFront"/>
              <a:lightRig rig="threePt" dir="t"/>
            </a:scene3d>
          </a:bodyPr>
          <a:lstStyle/>
          <a:p>
            <a:pPr lvl="0">
              <a:lnSpc>
                <a:spcPct val="100000"/>
              </a:lnSpc>
            </a:pP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6</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主成分分析及</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使用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495955" y="397903"/>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1" name="矩形 10"/>
          <p:cNvSpPr/>
          <p:nvPr/>
        </p:nvSpPr>
        <p:spPr>
          <a:xfrm>
            <a:off x="228415" y="1048339"/>
            <a:ext cx="3671198" cy="584775"/>
          </a:xfrm>
          <a:prstGeom prst="rect">
            <a:avLst/>
          </a:prstGeom>
        </p:spPr>
        <p:txBody>
          <a:bodyPr wrap="none">
            <a:spAutoFit/>
          </a:bodyPr>
          <a:lstStyle/>
          <a:p>
            <a:r>
              <a:rPr lang="en-US" altLang="zh-CN" sz="3200" b="1" dirty="0">
                <a:solidFill>
                  <a:srgbClr val="3399FF"/>
                </a:solidFill>
              </a:rPr>
              <a:t>6.2.3</a:t>
            </a:r>
            <a:r>
              <a:rPr lang="zh-CN" altLang="en-US" sz="3200" b="1" dirty="0">
                <a:solidFill>
                  <a:srgbClr val="3399FF"/>
                </a:solidFill>
              </a:rPr>
              <a:t>主成分的计算</a:t>
            </a:r>
          </a:p>
        </p:txBody>
      </p:sp>
      <p:sp>
        <p:nvSpPr>
          <p:cNvPr id="7" name="文本框 6"/>
          <p:cNvSpPr txBox="1"/>
          <p:nvPr/>
        </p:nvSpPr>
        <p:spPr>
          <a:xfrm>
            <a:off x="695625" y="1667984"/>
            <a:ext cx="6179574" cy="461665"/>
          </a:xfrm>
          <a:prstGeom prst="rect">
            <a:avLst/>
          </a:prstGeom>
          <a:noFill/>
        </p:spPr>
        <p:txBody>
          <a:bodyPr wrap="square">
            <a:spAutoFit/>
          </a:bodyPr>
          <a:lstStyle/>
          <a:p>
            <a:r>
              <a:rPr lang="en-US" altLang="zh-CN" sz="2400" b="1" dirty="0"/>
              <a:t>4.</a:t>
            </a:r>
            <a:r>
              <a:rPr lang="zh-CN" altLang="en-US" sz="2400" b="1" dirty="0"/>
              <a:t>方差贡献率</a:t>
            </a:r>
          </a:p>
        </p:txBody>
      </p:sp>
      <p:pic>
        <p:nvPicPr>
          <p:cNvPr id="6" name="图片 5"/>
          <p:cNvPicPr>
            <a:picLocks noChangeAspect="1"/>
          </p:cNvPicPr>
          <p:nvPr/>
        </p:nvPicPr>
        <p:blipFill rotWithShape="1">
          <a:blip r:embed="rId3"/>
          <a:srcRect b="5021"/>
          <a:stretch>
            <a:fillRect/>
          </a:stretch>
        </p:blipFill>
        <p:spPr>
          <a:xfrm>
            <a:off x="667330" y="2306961"/>
            <a:ext cx="10685985" cy="3108036"/>
          </a:xfrm>
          <a:prstGeom prst="rect">
            <a:avLst/>
          </a:prstGeom>
        </p:spPr>
      </p:pic>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157412" y="219795"/>
            <a:ext cx="4608320"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6.2</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主成分分析的性质</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47625" y="168910"/>
            <a:ext cx="5571490" cy="584775"/>
          </a:xfrm>
          <a:prstGeom prst="rect">
            <a:avLst/>
          </a:prstGeom>
          <a:noFill/>
          <a:ln w="9525">
            <a:noFill/>
          </a:ln>
        </p:spPr>
        <p:txBody>
          <a:bodyPr wrap="square">
            <a:spAutoFit/>
            <a:scene3d>
              <a:camera prst="orthographicFront"/>
              <a:lightRig rig="threePt" dir="t"/>
            </a:scene3d>
          </a:bodyPr>
          <a:lstStyle/>
          <a:p>
            <a:pPr lvl="0">
              <a:lnSpc>
                <a:spcPct val="100000"/>
              </a:lnSpc>
            </a:pP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6</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主成分分析及</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使用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495955" y="397903"/>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1" name="矩形 10"/>
          <p:cNvSpPr/>
          <p:nvPr/>
        </p:nvSpPr>
        <p:spPr>
          <a:xfrm>
            <a:off x="228415" y="1048339"/>
            <a:ext cx="3671198" cy="584775"/>
          </a:xfrm>
          <a:prstGeom prst="rect">
            <a:avLst/>
          </a:prstGeom>
        </p:spPr>
        <p:txBody>
          <a:bodyPr wrap="none">
            <a:spAutoFit/>
          </a:bodyPr>
          <a:lstStyle/>
          <a:p>
            <a:r>
              <a:rPr lang="en-US" altLang="zh-CN" sz="3200" b="1" dirty="0">
                <a:solidFill>
                  <a:srgbClr val="3399FF"/>
                </a:solidFill>
              </a:rPr>
              <a:t>6.2.3</a:t>
            </a:r>
            <a:r>
              <a:rPr lang="zh-CN" altLang="en-US" sz="3200" b="1" dirty="0">
                <a:solidFill>
                  <a:srgbClr val="3399FF"/>
                </a:solidFill>
              </a:rPr>
              <a:t>主成分的计算</a:t>
            </a:r>
          </a:p>
        </p:txBody>
      </p:sp>
      <p:sp>
        <p:nvSpPr>
          <p:cNvPr id="7" name="文本框 6"/>
          <p:cNvSpPr txBox="1"/>
          <p:nvPr/>
        </p:nvSpPr>
        <p:spPr>
          <a:xfrm>
            <a:off x="695625" y="1667984"/>
            <a:ext cx="6179574" cy="461665"/>
          </a:xfrm>
          <a:prstGeom prst="rect">
            <a:avLst/>
          </a:prstGeom>
          <a:noFill/>
        </p:spPr>
        <p:txBody>
          <a:bodyPr wrap="square">
            <a:spAutoFit/>
          </a:bodyPr>
          <a:lstStyle/>
          <a:p>
            <a:r>
              <a:rPr lang="en-US" altLang="zh-CN" sz="2400" b="1" dirty="0"/>
              <a:t>4.</a:t>
            </a:r>
            <a:r>
              <a:rPr lang="zh-CN" altLang="en-US" sz="2400" b="1" dirty="0"/>
              <a:t>方差贡献率</a:t>
            </a:r>
          </a:p>
        </p:txBody>
      </p:sp>
      <p:pic>
        <p:nvPicPr>
          <p:cNvPr id="8" name="图片 7"/>
          <p:cNvPicPr>
            <a:picLocks noChangeAspect="1"/>
          </p:cNvPicPr>
          <p:nvPr/>
        </p:nvPicPr>
        <p:blipFill>
          <a:blip r:embed="rId3"/>
          <a:stretch>
            <a:fillRect/>
          </a:stretch>
        </p:blipFill>
        <p:spPr>
          <a:xfrm>
            <a:off x="72708" y="2181431"/>
            <a:ext cx="12169648" cy="2306276"/>
          </a:xfrm>
          <a:prstGeom prst="rect">
            <a:avLst/>
          </a:prstGeom>
        </p:spPr>
      </p:pic>
      <p:pic>
        <p:nvPicPr>
          <p:cNvPr id="6" name="图片 5"/>
          <p:cNvPicPr>
            <a:picLocks noChangeAspect="1"/>
          </p:cNvPicPr>
          <p:nvPr/>
        </p:nvPicPr>
        <p:blipFill>
          <a:blip r:embed="rId4"/>
          <a:stretch>
            <a:fillRect/>
          </a:stretch>
        </p:blipFill>
        <p:spPr>
          <a:xfrm>
            <a:off x="2019220" y="5025035"/>
            <a:ext cx="7961849" cy="679796"/>
          </a:xfrm>
          <a:prstGeom prst="rect">
            <a:avLst/>
          </a:prstGeom>
          <a:ln w="12700">
            <a:solidFill>
              <a:schemeClr val="tx1"/>
            </a:solidFill>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157412" y="219795"/>
            <a:ext cx="4608320"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6.2</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主成分分析的性质</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47625" y="168910"/>
            <a:ext cx="5571490" cy="584775"/>
          </a:xfrm>
          <a:prstGeom prst="rect">
            <a:avLst/>
          </a:prstGeom>
          <a:noFill/>
          <a:ln w="9525">
            <a:noFill/>
          </a:ln>
        </p:spPr>
        <p:txBody>
          <a:bodyPr wrap="square">
            <a:spAutoFit/>
            <a:scene3d>
              <a:camera prst="orthographicFront"/>
              <a:lightRig rig="threePt" dir="t"/>
            </a:scene3d>
          </a:bodyPr>
          <a:lstStyle/>
          <a:p>
            <a:pPr lvl="0">
              <a:lnSpc>
                <a:spcPct val="100000"/>
              </a:lnSpc>
            </a:pP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6</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主成分分析及</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使用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495955" y="397903"/>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1" name="矩形 10"/>
          <p:cNvSpPr/>
          <p:nvPr/>
        </p:nvSpPr>
        <p:spPr>
          <a:xfrm>
            <a:off x="228415" y="1048339"/>
            <a:ext cx="3671198" cy="584775"/>
          </a:xfrm>
          <a:prstGeom prst="rect">
            <a:avLst/>
          </a:prstGeom>
        </p:spPr>
        <p:txBody>
          <a:bodyPr wrap="none">
            <a:spAutoFit/>
          </a:bodyPr>
          <a:lstStyle/>
          <a:p>
            <a:r>
              <a:rPr lang="en-US" altLang="zh-CN" sz="3200" b="1" dirty="0">
                <a:solidFill>
                  <a:srgbClr val="3399FF"/>
                </a:solidFill>
              </a:rPr>
              <a:t>6.2.3</a:t>
            </a:r>
            <a:r>
              <a:rPr lang="zh-CN" altLang="en-US" sz="3200" b="1" dirty="0">
                <a:solidFill>
                  <a:srgbClr val="3399FF"/>
                </a:solidFill>
              </a:rPr>
              <a:t>主成分的计算</a:t>
            </a:r>
          </a:p>
        </p:txBody>
      </p:sp>
      <p:sp>
        <p:nvSpPr>
          <p:cNvPr id="7" name="文本框 6"/>
          <p:cNvSpPr txBox="1"/>
          <p:nvPr/>
        </p:nvSpPr>
        <p:spPr>
          <a:xfrm>
            <a:off x="695625" y="1667984"/>
            <a:ext cx="6179574" cy="461665"/>
          </a:xfrm>
          <a:prstGeom prst="rect">
            <a:avLst/>
          </a:prstGeom>
          <a:noFill/>
        </p:spPr>
        <p:txBody>
          <a:bodyPr wrap="square">
            <a:spAutoFit/>
          </a:bodyPr>
          <a:lstStyle/>
          <a:p>
            <a:r>
              <a:rPr lang="en-US" altLang="zh-CN" sz="2400" b="1" dirty="0"/>
              <a:t>4.</a:t>
            </a:r>
            <a:r>
              <a:rPr lang="zh-CN" altLang="en-US" sz="2400" b="1" dirty="0"/>
              <a:t>方差贡献率</a:t>
            </a:r>
          </a:p>
        </p:txBody>
      </p:sp>
      <p:pic>
        <p:nvPicPr>
          <p:cNvPr id="6" name="图片 5"/>
          <p:cNvPicPr>
            <a:picLocks noChangeAspect="1"/>
          </p:cNvPicPr>
          <p:nvPr/>
        </p:nvPicPr>
        <p:blipFill>
          <a:blip r:embed="rId3"/>
          <a:stretch>
            <a:fillRect/>
          </a:stretch>
        </p:blipFill>
        <p:spPr>
          <a:xfrm>
            <a:off x="983645" y="2276920"/>
            <a:ext cx="2636748" cy="373412"/>
          </a:xfrm>
          <a:prstGeom prst="rect">
            <a:avLst/>
          </a:prstGeom>
        </p:spPr>
      </p:pic>
      <p:pic>
        <p:nvPicPr>
          <p:cNvPr id="12" name="图片 11"/>
          <p:cNvPicPr>
            <a:picLocks noChangeAspect="1"/>
          </p:cNvPicPr>
          <p:nvPr/>
        </p:nvPicPr>
        <p:blipFill>
          <a:blip r:embed="rId4"/>
          <a:stretch>
            <a:fillRect/>
          </a:stretch>
        </p:blipFill>
        <p:spPr>
          <a:xfrm>
            <a:off x="551615" y="2712658"/>
            <a:ext cx="11363676" cy="1495011"/>
          </a:xfrm>
          <a:prstGeom prst="rect">
            <a:avLst/>
          </a:prstGeom>
        </p:spPr>
      </p:pic>
      <p:pic>
        <p:nvPicPr>
          <p:cNvPr id="8" name="图片 7"/>
          <p:cNvPicPr>
            <a:picLocks noChangeAspect="1"/>
          </p:cNvPicPr>
          <p:nvPr/>
        </p:nvPicPr>
        <p:blipFill>
          <a:blip r:embed="rId5"/>
          <a:stretch>
            <a:fillRect/>
          </a:stretch>
        </p:blipFill>
        <p:spPr>
          <a:xfrm>
            <a:off x="2828363" y="4765223"/>
            <a:ext cx="6343564" cy="849585"/>
          </a:xfrm>
          <a:prstGeom prst="rect">
            <a:avLst/>
          </a:prstGeom>
          <a:ln w="12700">
            <a:solidFill>
              <a:schemeClr val="tx1"/>
            </a:solidFill>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157412" y="219795"/>
            <a:ext cx="4608320"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6.3</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主成分分析步骤</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47625" y="168910"/>
            <a:ext cx="5571490" cy="584775"/>
          </a:xfrm>
          <a:prstGeom prst="rect">
            <a:avLst/>
          </a:prstGeom>
          <a:noFill/>
          <a:ln w="9525">
            <a:noFill/>
          </a:ln>
        </p:spPr>
        <p:txBody>
          <a:bodyPr wrap="square">
            <a:spAutoFit/>
            <a:scene3d>
              <a:camera prst="orthographicFront"/>
              <a:lightRig rig="threePt" dir="t"/>
            </a:scene3d>
          </a:bodyPr>
          <a:lstStyle/>
          <a:p>
            <a:pPr lvl="0">
              <a:lnSpc>
                <a:spcPct val="100000"/>
              </a:lnSpc>
            </a:pP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6</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主成分分析及</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使用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495955" y="397903"/>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1" name="矩形 10"/>
          <p:cNvSpPr/>
          <p:nvPr/>
        </p:nvSpPr>
        <p:spPr>
          <a:xfrm>
            <a:off x="228415" y="1048339"/>
            <a:ext cx="2736647" cy="584775"/>
          </a:xfrm>
          <a:prstGeom prst="rect">
            <a:avLst/>
          </a:prstGeom>
        </p:spPr>
        <p:txBody>
          <a:bodyPr wrap="none">
            <a:spAutoFit/>
          </a:bodyPr>
          <a:lstStyle/>
          <a:p>
            <a:r>
              <a:rPr lang="en-US" altLang="zh-CN" sz="3200" b="1" dirty="0">
                <a:solidFill>
                  <a:srgbClr val="3399FF"/>
                </a:solidFill>
              </a:rPr>
              <a:t>6.3.1</a:t>
            </a:r>
            <a:r>
              <a:rPr lang="zh-CN" altLang="en-US" sz="3200" b="1" dirty="0">
                <a:solidFill>
                  <a:srgbClr val="3399FF"/>
                </a:solidFill>
              </a:rPr>
              <a:t>计算过程</a:t>
            </a:r>
          </a:p>
        </p:txBody>
      </p:sp>
      <p:pic>
        <p:nvPicPr>
          <p:cNvPr id="15" name="图片 14"/>
          <p:cNvPicPr>
            <a:picLocks noChangeAspect="1"/>
          </p:cNvPicPr>
          <p:nvPr/>
        </p:nvPicPr>
        <p:blipFill>
          <a:blip r:embed="rId3"/>
          <a:stretch>
            <a:fillRect/>
          </a:stretch>
        </p:blipFill>
        <p:spPr>
          <a:xfrm>
            <a:off x="551616" y="1694287"/>
            <a:ext cx="2304159" cy="313433"/>
          </a:xfrm>
          <a:prstGeom prst="rect">
            <a:avLst/>
          </a:prstGeom>
        </p:spPr>
      </p:pic>
      <p:pic>
        <p:nvPicPr>
          <p:cNvPr id="21" name="图片 20"/>
          <p:cNvPicPr>
            <a:picLocks noChangeAspect="1"/>
          </p:cNvPicPr>
          <p:nvPr/>
        </p:nvPicPr>
        <p:blipFill>
          <a:blip r:embed="rId4"/>
          <a:stretch>
            <a:fillRect/>
          </a:stretch>
        </p:blipFill>
        <p:spPr>
          <a:xfrm>
            <a:off x="517296" y="3709734"/>
            <a:ext cx="3240225" cy="405028"/>
          </a:xfrm>
          <a:prstGeom prst="rect">
            <a:avLst/>
          </a:prstGeom>
        </p:spPr>
      </p:pic>
      <p:pic>
        <p:nvPicPr>
          <p:cNvPr id="23" name="图片 22"/>
          <p:cNvPicPr>
            <a:picLocks noChangeAspect="1"/>
          </p:cNvPicPr>
          <p:nvPr/>
        </p:nvPicPr>
        <p:blipFill>
          <a:blip r:embed="rId5"/>
          <a:stretch>
            <a:fillRect/>
          </a:stretch>
        </p:blipFill>
        <p:spPr>
          <a:xfrm>
            <a:off x="911640" y="4204755"/>
            <a:ext cx="9967824" cy="2484335"/>
          </a:xfrm>
          <a:prstGeom prst="rect">
            <a:avLst/>
          </a:prstGeom>
        </p:spPr>
      </p:pic>
      <p:pic>
        <p:nvPicPr>
          <p:cNvPr id="25" name="图片 24"/>
          <p:cNvPicPr>
            <a:picLocks noChangeAspect="1"/>
          </p:cNvPicPr>
          <p:nvPr/>
        </p:nvPicPr>
        <p:blipFill>
          <a:blip r:embed="rId6"/>
          <a:stretch>
            <a:fillRect/>
          </a:stretch>
        </p:blipFill>
        <p:spPr>
          <a:xfrm>
            <a:off x="810159" y="2131064"/>
            <a:ext cx="8958096" cy="1553654"/>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157412" y="219795"/>
            <a:ext cx="4608320"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6.3</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主成分分析步骤</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47625" y="168910"/>
            <a:ext cx="5571490" cy="584775"/>
          </a:xfrm>
          <a:prstGeom prst="rect">
            <a:avLst/>
          </a:prstGeom>
          <a:noFill/>
          <a:ln w="9525">
            <a:noFill/>
          </a:ln>
        </p:spPr>
        <p:txBody>
          <a:bodyPr wrap="square">
            <a:spAutoFit/>
            <a:scene3d>
              <a:camera prst="orthographicFront"/>
              <a:lightRig rig="threePt" dir="t"/>
            </a:scene3d>
          </a:bodyPr>
          <a:lstStyle/>
          <a:p>
            <a:pPr lvl="0">
              <a:lnSpc>
                <a:spcPct val="100000"/>
              </a:lnSpc>
            </a:pP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6</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主成分分析及</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使用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495955" y="397903"/>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1" name="矩形 10"/>
          <p:cNvSpPr/>
          <p:nvPr/>
        </p:nvSpPr>
        <p:spPr>
          <a:xfrm>
            <a:off x="228415" y="1048339"/>
            <a:ext cx="2736647" cy="584775"/>
          </a:xfrm>
          <a:prstGeom prst="rect">
            <a:avLst/>
          </a:prstGeom>
        </p:spPr>
        <p:txBody>
          <a:bodyPr wrap="none">
            <a:spAutoFit/>
          </a:bodyPr>
          <a:lstStyle/>
          <a:p>
            <a:r>
              <a:rPr lang="en-US" altLang="zh-CN" sz="3200" b="1" dirty="0">
                <a:solidFill>
                  <a:srgbClr val="3399FF"/>
                </a:solidFill>
              </a:rPr>
              <a:t>6.3.1</a:t>
            </a:r>
            <a:r>
              <a:rPr lang="zh-CN" altLang="en-US" sz="3200" b="1" dirty="0">
                <a:solidFill>
                  <a:srgbClr val="3399FF"/>
                </a:solidFill>
              </a:rPr>
              <a:t>计算过程</a:t>
            </a:r>
          </a:p>
        </p:txBody>
      </p:sp>
      <p:pic>
        <p:nvPicPr>
          <p:cNvPr id="8" name="图片 7"/>
          <p:cNvPicPr>
            <a:picLocks noChangeAspect="1"/>
          </p:cNvPicPr>
          <p:nvPr/>
        </p:nvPicPr>
        <p:blipFill>
          <a:blip r:embed="rId3"/>
          <a:stretch>
            <a:fillRect/>
          </a:stretch>
        </p:blipFill>
        <p:spPr>
          <a:xfrm>
            <a:off x="3398923" y="1308771"/>
            <a:ext cx="8816019" cy="5287952"/>
          </a:xfrm>
          <a:prstGeom prst="rect">
            <a:avLst/>
          </a:prstGeom>
        </p:spPr>
      </p:pic>
      <p:sp>
        <p:nvSpPr>
          <p:cNvPr id="12" name="文本框 11"/>
          <p:cNvSpPr txBox="1"/>
          <p:nvPr/>
        </p:nvSpPr>
        <p:spPr>
          <a:xfrm>
            <a:off x="353700" y="3053876"/>
            <a:ext cx="6179574" cy="400110"/>
          </a:xfrm>
          <a:prstGeom prst="rect">
            <a:avLst/>
          </a:prstGeom>
          <a:noFill/>
        </p:spPr>
        <p:txBody>
          <a:bodyPr wrap="square">
            <a:spAutoFit/>
          </a:bodyPr>
          <a:lstStyle/>
          <a:p>
            <a:r>
              <a:rPr lang="en-US" altLang="zh-CN" sz="2000" dirty="0"/>
              <a:t>Python</a:t>
            </a:r>
            <a:r>
              <a:rPr lang="zh-CN" altLang="en-US" sz="2000" dirty="0"/>
              <a:t>实现计算过程</a:t>
            </a:r>
          </a:p>
        </p:txBody>
      </p:sp>
      <p:sp>
        <p:nvSpPr>
          <p:cNvPr id="14" name="文本框 13"/>
          <p:cNvSpPr txBox="1"/>
          <p:nvPr/>
        </p:nvSpPr>
        <p:spPr>
          <a:xfrm>
            <a:off x="353700" y="3629581"/>
            <a:ext cx="3024210" cy="646331"/>
          </a:xfrm>
          <a:prstGeom prst="rect">
            <a:avLst/>
          </a:prstGeom>
          <a:noFill/>
        </p:spPr>
        <p:txBody>
          <a:bodyPr wrap="square">
            <a:spAutoFit/>
          </a:bodyPr>
          <a:lstStyle/>
          <a:p>
            <a:r>
              <a:rPr lang="zh-CN" altLang="en-US" dirty="0">
                <a:latin typeface="微软雅黑" panose="020B0503020204020204" pitchFamily="2" charset="-122"/>
                <a:ea typeface="微软雅黑" panose="020B0503020204020204" pitchFamily="2" charset="-122"/>
              </a:rPr>
              <a:t>其中</a:t>
            </a:r>
            <a:r>
              <a:rPr lang="en-US" altLang="zh-CN" dirty="0">
                <a:latin typeface="微软雅黑" panose="020B0503020204020204" pitchFamily="2" charset="-122"/>
                <a:ea typeface="微软雅黑" panose="020B0503020204020204" pitchFamily="2" charset="-122"/>
              </a:rPr>
              <a:t>X</a:t>
            </a:r>
            <a:r>
              <a:rPr lang="zh-CN" altLang="en-US" dirty="0">
                <a:latin typeface="微软雅黑" panose="020B0503020204020204" pitchFamily="2" charset="-122"/>
                <a:ea typeface="微软雅黑" panose="020B0503020204020204" pitchFamily="2" charset="-122"/>
              </a:rPr>
              <a:t>为分析用数据框，</a:t>
            </a:r>
            <a:r>
              <a:rPr lang="en-US" altLang="zh-CN" dirty="0">
                <a:latin typeface="微软雅黑" panose="020B0503020204020204" pitchFamily="2" charset="-122"/>
                <a:ea typeface="微软雅黑" panose="020B0503020204020204" pitchFamily="2" charset="-122"/>
              </a:rPr>
              <a:t>m</a:t>
            </a:r>
            <a:r>
              <a:rPr lang="zh-CN" altLang="en-US" dirty="0">
                <a:latin typeface="微软雅黑" panose="020B0503020204020204" pitchFamily="2" charset="-122"/>
                <a:ea typeface="微软雅黑" panose="020B0503020204020204" pitchFamily="2" charset="-122"/>
              </a:rPr>
              <a:t>取为主成分个数，默认取</a:t>
            </a:r>
            <a:r>
              <a:rPr lang="en-US" altLang="zh-CN" dirty="0">
                <a:latin typeface="微软雅黑" panose="020B0503020204020204" pitchFamily="2" charset="-122"/>
                <a:ea typeface="微软雅黑" panose="020B0503020204020204" pitchFamily="2" charset="-122"/>
              </a:rPr>
              <a:t>2</a:t>
            </a:r>
            <a:r>
              <a:rPr lang="zh-CN" altLang="en-US" dirty="0"/>
              <a:t>。</a:t>
            </a: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157412" y="219795"/>
            <a:ext cx="4608320"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6.3</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主成分分析步骤</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47625" y="168910"/>
            <a:ext cx="5571490" cy="584775"/>
          </a:xfrm>
          <a:prstGeom prst="rect">
            <a:avLst/>
          </a:prstGeom>
          <a:noFill/>
          <a:ln w="9525">
            <a:noFill/>
          </a:ln>
        </p:spPr>
        <p:txBody>
          <a:bodyPr wrap="square">
            <a:spAutoFit/>
            <a:scene3d>
              <a:camera prst="orthographicFront"/>
              <a:lightRig rig="threePt" dir="t"/>
            </a:scene3d>
          </a:bodyPr>
          <a:lstStyle/>
          <a:p>
            <a:pPr lvl="0">
              <a:lnSpc>
                <a:spcPct val="100000"/>
              </a:lnSpc>
            </a:pP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6</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主成分分析及</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使用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495955" y="397903"/>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1" name="矩形 10"/>
          <p:cNvSpPr/>
          <p:nvPr/>
        </p:nvSpPr>
        <p:spPr>
          <a:xfrm>
            <a:off x="228415" y="1048339"/>
            <a:ext cx="5448928" cy="584775"/>
          </a:xfrm>
          <a:prstGeom prst="rect">
            <a:avLst/>
          </a:prstGeom>
        </p:spPr>
        <p:txBody>
          <a:bodyPr wrap="none">
            <a:spAutoFit/>
          </a:bodyPr>
          <a:lstStyle/>
          <a:p>
            <a:r>
              <a:rPr lang="en-US" altLang="zh-CN" sz="3200" b="1" dirty="0">
                <a:solidFill>
                  <a:srgbClr val="3399FF"/>
                </a:solidFill>
              </a:rPr>
              <a:t>6.3.2</a:t>
            </a:r>
            <a:r>
              <a:rPr lang="zh-CN" altLang="en-US" sz="3200" b="1" dirty="0">
                <a:solidFill>
                  <a:srgbClr val="3399FF"/>
                </a:solidFill>
              </a:rPr>
              <a:t>实证分析</a:t>
            </a:r>
            <a:r>
              <a:rPr lang="en-US" altLang="zh-CN" sz="3200" b="1" dirty="0">
                <a:solidFill>
                  <a:srgbClr val="3399FF"/>
                </a:solidFill>
              </a:rPr>
              <a:t>-</a:t>
            </a:r>
            <a:r>
              <a:rPr lang="zh-CN" altLang="en-US" sz="3200" b="1" dirty="0">
                <a:solidFill>
                  <a:srgbClr val="3399FF"/>
                </a:solidFill>
              </a:rPr>
              <a:t>居民消费指数</a:t>
            </a:r>
          </a:p>
        </p:txBody>
      </p:sp>
      <p:pic>
        <p:nvPicPr>
          <p:cNvPr id="22" name="图片 21"/>
          <p:cNvPicPr>
            <a:picLocks noChangeAspect="1"/>
          </p:cNvPicPr>
          <p:nvPr/>
        </p:nvPicPr>
        <p:blipFill>
          <a:blip r:embed="rId3"/>
          <a:stretch>
            <a:fillRect/>
          </a:stretch>
        </p:blipFill>
        <p:spPr>
          <a:xfrm>
            <a:off x="695625" y="1748649"/>
            <a:ext cx="7560525" cy="398578"/>
          </a:xfrm>
          <a:prstGeom prst="rect">
            <a:avLst/>
          </a:prstGeom>
        </p:spPr>
      </p:pic>
      <p:pic>
        <p:nvPicPr>
          <p:cNvPr id="26" name="图片 25"/>
          <p:cNvPicPr>
            <a:picLocks noChangeAspect="1"/>
          </p:cNvPicPr>
          <p:nvPr/>
        </p:nvPicPr>
        <p:blipFill>
          <a:blip r:embed="rId4"/>
          <a:stretch>
            <a:fillRect/>
          </a:stretch>
        </p:blipFill>
        <p:spPr>
          <a:xfrm>
            <a:off x="695625" y="2262762"/>
            <a:ext cx="4392306" cy="323513"/>
          </a:xfrm>
          <a:prstGeom prst="rect">
            <a:avLst/>
          </a:prstGeom>
        </p:spPr>
      </p:pic>
      <p:pic>
        <p:nvPicPr>
          <p:cNvPr id="30" name="图片 29"/>
          <p:cNvPicPr>
            <a:picLocks noChangeAspect="1"/>
          </p:cNvPicPr>
          <p:nvPr/>
        </p:nvPicPr>
        <p:blipFill>
          <a:blip r:embed="rId5"/>
          <a:stretch>
            <a:fillRect/>
          </a:stretch>
        </p:blipFill>
        <p:spPr>
          <a:xfrm>
            <a:off x="117238" y="2858338"/>
            <a:ext cx="4940669" cy="3069930"/>
          </a:xfrm>
          <a:prstGeom prst="rect">
            <a:avLst/>
          </a:prstGeom>
        </p:spPr>
      </p:pic>
      <p:pic>
        <p:nvPicPr>
          <p:cNvPr id="8196" name="图片 8195"/>
          <p:cNvPicPr>
            <a:picLocks noChangeAspect="1"/>
          </p:cNvPicPr>
          <p:nvPr/>
        </p:nvPicPr>
        <p:blipFill>
          <a:blip r:embed="rId6"/>
          <a:stretch>
            <a:fillRect/>
          </a:stretch>
        </p:blipFill>
        <p:spPr>
          <a:xfrm>
            <a:off x="5191691" y="2858338"/>
            <a:ext cx="2795720" cy="3078434"/>
          </a:xfrm>
          <a:prstGeom prst="rect">
            <a:avLst/>
          </a:prstGeom>
        </p:spPr>
      </p:pic>
      <p:pic>
        <p:nvPicPr>
          <p:cNvPr id="8201" name="图片 8200"/>
          <p:cNvPicPr>
            <a:picLocks noChangeAspect="1"/>
          </p:cNvPicPr>
          <p:nvPr/>
        </p:nvPicPr>
        <p:blipFill>
          <a:blip r:embed="rId7"/>
          <a:stretch>
            <a:fillRect/>
          </a:stretch>
        </p:blipFill>
        <p:spPr>
          <a:xfrm>
            <a:off x="8082051" y="2636945"/>
            <a:ext cx="3992711" cy="3725209"/>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2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157412" y="219795"/>
            <a:ext cx="4608320"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6.3</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主成分分析步骤</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47625" y="168910"/>
            <a:ext cx="5571490" cy="584775"/>
          </a:xfrm>
          <a:prstGeom prst="rect">
            <a:avLst/>
          </a:prstGeom>
          <a:noFill/>
          <a:ln w="9525">
            <a:noFill/>
          </a:ln>
        </p:spPr>
        <p:txBody>
          <a:bodyPr wrap="square">
            <a:spAutoFit/>
            <a:scene3d>
              <a:camera prst="orthographicFront"/>
              <a:lightRig rig="threePt" dir="t"/>
            </a:scene3d>
          </a:bodyPr>
          <a:lstStyle/>
          <a:p>
            <a:pPr lvl="0">
              <a:lnSpc>
                <a:spcPct val="100000"/>
              </a:lnSpc>
            </a:pP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6</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主成分分析及</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使用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495955" y="397903"/>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1" name="矩形 10"/>
          <p:cNvSpPr/>
          <p:nvPr/>
        </p:nvSpPr>
        <p:spPr>
          <a:xfrm>
            <a:off x="228415" y="1048339"/>
            <a:ext cx="5448928" cy="584775"/>
          </a:xfrm>
          <a:prstGeom prst="rect">
            <a:avLst/>
          </a:prstGeom>
        </p:spPr>
        <p:txBody>
          <a:bodyPr wrap="none">
            <a:spAutoFit/>
          </a:bodyPr>
          <a:lstStyle/>
          <a:p>
            <a:r>
              <a:rPr lang="en-US" altLang="zh-CN" sz="3200" b="1" dirty="0">
                <a:solidFill>
                  <a:srgbClr val="3399FF"/>
                </a:solidFill>
              </a:rPr>
              <a:t>6.3.2</a:t>
            </a:r>
            <a:r>
              <a:rPr lang="zh-CN" altLang="en-US" sz="3200" b="1" dirty="0">
                <a:solidFill>
                  <a:srgbClr val="3399FF"/>
                </a:solidFill>
              </a:rPr>
              <a:t>实证分析</a:t>
            </a:r>
            <a:r>
              <a:rPr lang="en-US" altLang="zh-CN" sz="3200" b="1" dirty="0">
                <a:solidFill>
                  <a:srgbClr val="3399FF"/>
                </a:solidFill>
              </a:rPr>
              <a:t>-</a:t>
            </a:r>
            <a:r>
              <a:rPr lang="zh-CN" altLang="en-US" sz="3200" b="1" dirty="0">
                <a:solidFill>
                  <a:srgbClr val="3399FF"/>
                </a:solidFill>
              </a:rPr>
              <a:t>居民消费指数</a:t>
            </a:r>
          </a:p>
        </p:txBody>
      </p:sp>
      <p:pic>
        <p:nvPicPr>
          <p:cNvPr id="6" name="图片 5"/>
          <p:cNvPicPr>
            <a:picLocks noChangeAspect="1"/>
          </p:cNvPicPr>
          <p:nvPr/>
        </p:nvPicPr>
        <p:blipFill>
          <a:blip r:embed="rId3"/>
          <a:stretch>
            <a:fillRect/>
          </a:stretch>
        </p:blipFill>
        <p:spPr>
          <a:xfrm>
            <a:off x="503230" y="1633114"/>
            <a:ext cx="9700411" cy="346788"/>
          </a:xfrm>
          <a:prstGeom prst="rect">
            <a:avLst/>
          </a:prstGeom>
        </p:spPr>
      </p:pic>
      <p:pic>
        <p:nvPicPr>
          <p:cNvPr id="8" name="图片 7"/>
          <p:cNvPicPr>
            <a:picLocks noChangeAspect="1"/>
          </p:cNvPicPr>
          <p:nvPr/>
        </p:nvPicPr>
        <p:blipFill>
          <a:blip r:embed="rId4"/>
          <a:stretch>
            <a:fillRect/>
          </a:stretch>
        </p:blipFill>
        <p:spPr>
          <a:xfrm>
            <a:off x="767630" y="2163106"/>
            <a:ext cx="3600250" cy="361230"/>
          </a:xfrm>
          <a:prstGeom prst="rect">
            <a:avLst/>
          </a:prstGeom>
        </p:spPr>
      </p:pic>
      <p:pic>
        <p:nvPicPr>
          <p:cNvPr id="10" name="图片 9"/>
          <p:cNvPicPr>
            <a:picLocks noChangeAspect="1"/>
          </p:cNvPicPr>
          <p:nvPr/>
        </p:nvPicPr>
        <p:blipFill>
          <a:blip r:embed="rId5"/>
          <a:stretch>
            <a:fillRect/>
          </a:stretch>
        </p:blipFill>
        <p:spPr>
          <a:xfrm>
            <a:off x="4735069" y="2163106"/>
            <a:ext cx="3809101" cy="4176122"/>
          </a:xfrm>
          <a:prstGeom prst="rect">
            <a:avLst/>
          </a:prstGeom>
        </p:spPr>
      </p:pic>
      <p:pic>
        <p:nvPicPr>
          <p:cNvPr id="17" name="图片 16"/>
          <p:cNvPicPr>
            <a:picLocks noChangeAspect="1"/>
          </p:cNvPicPr>
          <p:nvPr/>
        </p:nvPicPr>
        <p:blipFill>
          <a:blip r:embed="rId6"/>
          <a:stretch>
            <a:fillRect/>
          </a:stretch>
        </p:blipFill>
        <p:spPr>
          <a:xfrm>
            <a:off x="8488060" y="2163106"/>
            <a:ext cx="3382405" cy="4237197"/>
          </a:xfrm>
          <a:prstGeom prst="rect">
            <a:avLst/>
          </a:prstGeom>
        </p:spPr>
      </p:pic>
      <p:sp>
        <p:nvSpPr>
          <p:cNvPr id="19" name="文本框 18"/>
          <p:cNvSpPr txBox="1"/>
          <p:nvPr/>
        </p:nvSpPr>
        <p:spPr>
          <a:xfrm>
            <a:off x="659622" y="2973894"/>
            <a:ext cx="3816265" cy="2246769"/>
          </a:xfrm>
          <a:prstGeom prst="rect">
            <a:avLst/>
          </a:prstGeom>
          <a:noFill/>
        </p:spPr>
        <p:txBody>
          <a:bodyPr wrap="square">
            <a:spAutoFit/>
          </a:bodyPr>
          <a:lstStyle/>
          <a:p>
            <a:r>
              <a:rPr lang="zh-CN" altLang="en-US" sz="2000" dirty="0">
                <a:latin typeface="微软雅黑" panose="020B0503020204020204" pitchFamily="2" charset="-122"/>
                <a:ea typeface="微软雅黑" panose="020B0503020204020204" pitchFamily="2" charset="-122"/>
              </a:rPr>
              <a:t>在主成分</a:t>
            </a:r>
            <a:r>
              <a:rPr lang="en-US" altLang="zh-CN" sz="2000" dirty="0">
                <a:latin typeface="微软雅黑" panose="020B0503020204020204" pitchFamily="2" charset="-122"/>
                <a:ea typeface="微软雅黑" panose="020B0503020204020204" pitchFamily="2" charset="-122"/>
              </a:rPr>
              <a:t>PC1</a:t>
            </a:r>
            <a:r>
              <a:rPr lang="zh-CN" altLang="en-US" sz="2000" dirty="0">
                <a:latin typeface="微软雅黑" panose="020B0503020204020204" pitchFamily="2" charset="-122"/>
                <a:ea typeface="微软雅黑" panose="020B0503020204020204" pitchFamily="2" charset="-122"/>
              </a:rPr>
              <a:t>上得分最高的前六个地区依次是上海、北京、天津、浙江、广东和江苏，且上海、北京绝对值明显地高于其它地区，说明上海、北京的消费水平远远高于其它地区；而云南、贵州和西藏在这方面的消费相对较小些。</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157412" y="219795"/>
            <a:ext cx="4608320"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6.3</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主成分分析步骤</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47625" y="168910"/>
            <a:ext cx="5571490" cy="584775"/>
          </a:xfrm>
          <a:prstGeom prst="rect">
            <a:avLst/>
          </a:prstGeom>
          <a:noFill/>
          <a:ln w="9525">
            <a:noFill/>
          </a:ln>
        </p:spPr>
        <p:txBody>
          <a:bodyPr wrap="square">
            <a:spAutoFit/>
            <a:scene3d>
              <a:camera prst="orthographicFront"/>
              <a:lightRig rig="threePt" dir="t"/>
            </a:scene3d>
          </a:bodyPr>
          <a:lstStyle/>
          <a:p>
            <a:pPr lvl="0">
              <a:lnSpc>
                <a:spcPct val="100000"/>
              </a:lnSpc>
            </a:pP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6</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主成分分析及</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使用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495955" y="397903"/>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1" name="矩形 10"/>
          <p:cNvSpPr/>
          <p:nvPr/>
        </p:nvSpPr>
        <p:spPr>
          <a:xfrm>
            <a:off x="228415" y="1048339"/>
            <a:ext cx="5448928" cy="584775"/>
          </a:xfrm>
          <a:prstGeom prst="rect">
            <a:avLst/>
          </a:prstGeom>
        </p:spPr>
        <p:txBody>
          <a:bodyPr wrap="none">
            <a:spAutoFit/>
          </a:bodyPr>
          <a:lstStyle/>
          <a:p>
            <a:r>
              <a:rPr lang="en-US" altLang="zh-CN" sz="3200" b="1" dirty="0">
                <a:solidFill>
                  <a:srgbClr val="3399FF"/>
                </a:solidFill>
              </a:rPr>
              <a:t>6.3.2</a:t>
            </a:r>
            <a:r>
              <a:rPr lang="zh-CN" altLang="en-US" sz="3200" b="1" dirty="0">
                <a:solidFill>
                  <a:srgbClr val="3399FF"/>
                </a:solidFill>
              </a:rPr>
              <a:t>实证分析</a:t>
            </a:r>
            <a:r>
              <a:rPr lang="en-US" altLang="zh-CN" sz="3200" b="1" dirty="0">
                <a:solidFill>
                  <a:srgbClr val="3399FF"/>
                </a:solidFill>
              </a:rPr>
              <a:t>-</a:t>
            </a:r>
            <a:r>
              <a:rPr lang="zh-CN" altLang="en-US" sz="3200" b="1" dirty="0">
                <a:solidFill>
                  <a:srgbClr val="3399FF"/>
                </a:solidFill>
              </a:rPr>
              <a:t>居民消费指数</a:t>
            </a:r>
          </a:p>
        </p:txBody>
      </p:sp>
      <p:pic>
        <p:nvPicPr>
          <p:cNvPr id="6" name="图片 5"/>
          <p:cNvPicPr>
            <a:picLocks noChangeAspect="1"/>
          </p:cNvPicPr>
          <p:nvPr/>
        </p:nvPicPr>
        <p:blipFill>
          <a:blip r:embed="rId3"/>
          <a:stretch>
            <a:fillRect/>
          </a:stretch>
        </p:blipFill>
        <p:spPr>
          <a:xfrm>
            <a:off x="335600" y="1787786"/>
            <a:ext cx="8153331" cy="2811829"/>
          </a:xfrm>
          <a:prstGeom prst="rect">
            <a:avLst/>
          </a:prstGeom>
          <a:ln w="12700">
            <a:solidFill>
              <a:schemeClr val="tx1"/>
            </a:solidFill>
          </a:ln>
        </p:spPr>
      </p:pic>
      <p:pic>
        <p:nvPicPr>
          <p:cNvPr id="5" name="图片 4"/>
          <p:cNvPicPr>
            <a:picLocks noChangeAspect="1"/>
          </p:cNvPicPr>
          <p:nvPr/>
        </p:nvPicPr>
        <p:blipFill>
          <a:blip r:embed="rId4"/>
          <a:stretch>
            <a:fillRect/>
          </a:stretch>
        </p:blipFill>
        <p:spPr>
          <a:xfrm>
            <a:off x="4799910" y="1726348"/>
            <a:ext cx="7056490" cy="5086404"/>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157412" y="219795"/>
            <a:ext cx="4608320"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6.4</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主成分分析注意事项</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47625" y="168910"/>
            <a:ext cx="5571490" cy="584775"/>
          </a:xfrm>
          <a:prstGeom prst="rect">
            <a:avLst/>
          </a:prstGeom>
          <a:noFill/>
          <a:ln w="9525">
            <a:noFill/>
          </a:ln>
        </p:spPr>
        <p:txBody>
          <a:bodyPr wrap="square">
            <a:spAutoFit/>
            <a:scene3d>
              <a:camera prst="orthographicFront"/>
              <a:lightRig rig="threePt" dir="t"/>
            </a:scene3d>
          </a:bodyPr>
          <a:lstStyle/>
          <a:p>
            <a:pPr lvl="0">
              <a:lnSpc>
                <a:spcPct val="100000"/>
              </a:lnSpc>
            </a:pP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6</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主成分分析及</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使用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495955" y="397903"/>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pic>
        <p:nvPicPr>
          <p:cNvPr id="6" name="图片 5"/>
          <p:cNvPicPr>
            <a:picLocks noChangeAspect="1"/>
          </p:cNvPicPr>
          <p:nvPr/>
        </p:nvPicPr>
        <p:blipFill rotWithShape="1">
          <a:blip r:embed="rId3"/>
          <a:srcRect b="67690"/>
          <a:stretch>
            <a:fillRect/>
          </a:stretch>
        </p:blipFill>
        <p:spPr>
          <a:xfrm>
            <a:off x="282163" y="1484865"/>
            <a:ext cx="10931773" cy="1517435"/>
          </a:xfrm>
          <a:prstGeom prst="rect">
            <a:avLst/>
          </a:prstGeom>
        </p:spPr>
      </p:pic>
      <p:pic>
        <p:nvPicPr>
          <p:cNvPr id="7" name="图片 6"/>
          <p:cNvPicPr>
            <a:picLocks noChangeAspect="1"/>
          </p:cNvPicPr>
          <p:nvPr/>
        </p:nvPicPr>
        <p:blipFill>
          <a:blip r:embed="rId4"/>
          <a:stretch>
            <a:fillRect/>
          </a:stretch>
        </p:blipFill>
        <p:spPr>
          <a:xfrm>
            <a:off x="789134" y="3013086"/>
            <a:ext cx="10422022" cy="3221173"/>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157412" y="219795"/>
            <a:ext cx="4608320"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操作案例</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47625" y="168910"/>
            <a:ext cx="5571490" cy="584775"/>
          </a:xfrm>
          <a:prstGeom prst="rect">
            <a:avLst/>
          </a:prstGeom>
          <a:noFill/>
          <a:ln w="9525">
            <a:noFill/>
          </a:ln>
        </p:spPr>
        <p:txBody>
          <a:bodyPr wrap="square">
            <a:spAutoFit/>
            <a:scene3d>
              <a:camera prst="orthographicFront"/>
              <a:lightRig rig="threePt" dir="t"/>
            </a:scene3d>
          </a:bodyPr>
          <a:lstStyle/>
          <a:p>
            <a:pPr lvl="0">
              <a:lnSpc>
                <a:spcPct val="100000"/>
              </a:lnSpc>
            </a:pP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6</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主成分分析及</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使用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495955" y="397903"/>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7" name="文本框 6"/>
          <p:cNvSpPr txBox="1"/>
          <p:nvPr/>
        </p:nvSpPr>
        <p:spPr>
          <a:xfrm>
            <a:off x="407605" y="1090295"/>
            <a:ext cx="6179574" cy="461665"/>
          </a:xfrm>
          <a:prstGeom prst="rect">
            <a:avLst/>
          </a:prstGeom>
          <a:noFill/>
        </p:spPr>
        <p:txBody>
          <a:bodyPr wrap="square">
            <a:spAutoFit/>
          </a:bodyPr>
          <a:lstStyle/>
          <a:p>
            <a:r>
              <a:rPr lang="zh-CN" altLang="en-US" sz="2400" b="1" dirty="0"/>
              <a:t>案例</a:t>
            </a:r>
            <a:r>
              <a:rPr lang="en-US" altLang="zh-CN" sz="2400" b="1" dirty="0"/>
              <a:t>6--</a:t>
            </a:r>
            <a:r>
              <a:rPr lang="zh-CN" altLang="en-US" sz="2400" b="1" dirty="0"/>
              <a:t>地区电信业发展的主成分分析</a:t>
            </a:r>
          </a:p>
        </p:txBody>
      </p:sp>
      <p:pic>
        <p:nvPicPr>
          <p:cNvPr id="9" name="图片 8"/>
          <p:cNvPicPr>
            <a:picLocks noChangeAspect="1"/>
          </p:cNvPicPr>
          <p:nvPr/>
        </p:nvPicPr>
        <p:blipFill>
          <a:blip r:embed="rId3"/>
          <a:stretch>
            <a:fillRect/>
          </a:stretch>
        </p:blipFill>
        <p:spPr>
          <a:xfrm>
            <a:off x="407605" y="1658084"/>
            <a:ext cx="1384994" cy="461665"/>
          </a:xfrm>
          <a:prstGeom prst="rect">
            <a:avLst/>
          </a:prstGeom>
        </p:spPr>
      </p:pic>
      <p:pic>
        <p:nvPicPr>
          <p:cNvPr id="11" name="图片 10"/>
          <p:cNvPicPr>
            <a:picLocks noChangeAspect="1"/>
          </p:cNvPicPr>
          <p:nvPr/>
        </p:nvPicPr>
        <p:blipFill>
          <a:blip r:embed="rId4"/>
          <a:stretch>
            <a:fillRect/>
          </a:stretch>
        </p:blipFill>
        <p:spPr>
          <a:xfrm>
            <a:off x="541340" y="2182330"/>
            <a:ext cx="10917610" cy="3971911"/>
          </a:xfrm>
          <a:prstGeom prst="rect">
            <a:avLst/>
          </a:prstGeom>
        </p:spPr>
      </p:pic>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157412" y="219795"/>
            <a:ext cx="4608320"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操作案例</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47625" y="168910"/>
            <a:ext cx="5571490" cy="584775"/>
          </a:xfrm>
          <a:prstGeom prst="rect">
            <a:avLst/>
          </a:prstGeom>
          <a:noFill/>
          <a:ln w="9525">
            <a:noFill/>
          </a:ln>
        </p:spPr>
        <p:txBody>
          <a:bodyPr wrap="square">
            <a:spAutoFit/>
            <a:scene3d>
              <a:camera prst="orthographicFront"/>
              <a:lightRig rig="threePt" dir="t"/>
            </a:scene3d>
          </a:bodyPr>
          <a:lstStyle/>
          <a:p>
            <a:pPr lvl="0">
              <a:lnSpc>
                <a:spcPct val="100000"/>
              </a:lnSpc>
            </a:pP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6</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主成分分析及</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使用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495955" y="397903"/>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7" name="文本框 6"/>
          <p:cNvSpPr txBox="1"/>
          <p:nvPr/>
        </p:nvSpPr>
        <p:spPr>
          <a:xfrm>
            <a:off x="407605" y="1090295"/>
            <a:ext cx="6179574" cy="461665"/>
          </a:xfrm>
          <a:prstGeom prst="rect">
            <a:avLst/>
          </a:prstGeom>
          <a:noFill/>
        </p:spPr>
        <p:txBody>
          <a:bodyPr wrap="square">
            <a:spAutoFit/>
          </a:bodyPr>
          <a:lstStyle/>
          <a:p>
            <a:r>
              <a:rPr lang="zh-CN" altLang="en-US" sz="2400" b="1" dirty="0"/>
              <a:t>案例</a:t>
            </a:r>
            <a:r>
              <a:rPr lang="en-US" altLang="zh-CN" sz="2400" b="1" dirty="0"/>
              <a:t>6--</a:t>
            </a:r>
            <a:r>
              <a:rPr lang="zh-CN" altLang="en-US" sz="2400" b="1" dirty="0"/>
              <a:t>地区电信业发展的主成分分析</a:t>
            </a:r>
          </a:p>
        </p:txBody>
      </p:sp>
      <p:pic>
        <p:nvPicPr>
          <p:cNvPr id="6" name="图片 5"/>
          <p:cNvPicPr>
            <a:picLocks noChangeAspect="1"/>
          </p:cNvPicPr>
          <p:nvPr/>
        </p:nvPicPr>
        <p:blipFill>
          <a:blip r:embed="rId3"/>
          <a:stretch>
            <a:fillRect/>
          </a:stretch>
        </p:blipFill>
        <p:spPr>
          <a:xfrm>
            <a:off x="335600" y="1604029"/>
            <a:ext cx="2579861" cy="376230"/>
          </a:xfrm>
          <a:prstGeom prst="rect">
            <a:avLst/>
          </a:prstGeom>
        </p:spPr>
      </p:pic>
      <p:sp>
        <p:nvSpPr>
          <p:cNvPr id="12" name="文本框 11"/>
          <p:cNvSpPr txBox="1"/>
          <p:nvPr/>
        </p:nvSpPr>
        <p:spPr>
          <a:xfrm>
            <a:off x="876653" y="2044355"/>
            <a:ext cx="4748650" cy="369332"/>
          </a:xfrm>
          <a:prstGeom prst="rect">
            <a:avLst/>
          </a:prstGeom>
          <a:noFill/>
        </p:spPr>
        <p:txBody>
          <a:bodyPr wrap="square" rtlCol="0">
            <a:spAutoFit/>
          </a:bodyPr>
          <a:lstStyle/>
          <a:p>
            <a:r>
              <a:rPr lang="zh-CN" altLang="en-US" dirty="0">
                <a:latin typeface="微软雅黑" panose="020B0503020204020204" pitchFamily="2" charset="-122"/>
                <a:ea typeface="微软雅黑" panose="020B0503020204020204" pitchFamily="2" charset="-122"/>
              </a:rPr>
              <a:t>收集数据并整理为</a:t>
            </a:r>
            <a:r>
              <a:rPr lang="en-US" altLang="zh-CN" dirty="0">
                <a:latin typeface="微软雅黑" panose="020B0503020204020204" pitchFamily="2" charset="-122"/>
                <a:ea typeface="微软雅黑" panose="020B0503020204020204" pitchFamily="2" charset="-122"/>
              </a:rPr>
              <a:t>excel</a:t>
            </a:r>
            <a:r>
              <a:rPr lang="zh-CN" altLang="en-US" dirty="0">
                <a:latin typeface="微软雅黑" panose="020B0503020204020204" pitchFamily="2" charset="-122"/>
                <a:ea typeface="微软雅黑" panose="020B0503020204020204" pitchFamily="2" charset="-122"/>
              </a:rPr>
              <a:t>文件</a:t>
            </a:r>
          </a:p>
        </p:txBody>
      </p:sp>
      <p:pic>
        <p:nvPicPr>
          <p:cNvPr id="14" name="图片 13"/>
          <p:cNvPicPr>
            <a:picLocks noChangeAspect="1"/>
          </p:cNvPicPr>
          <p:nvPr/>
        </p:nvPicPr>
        <p:blipFill>
          <a:blip r:embed="rId4"/>
          <a:stretch>
            <a:fillRect/>
          </a:stretch>
        </p:blipFill>
        <p:spPr>
          <a:xfrm>
            <a:off x="348640" y="2514055"/>
            <a:ext cx="2088146" cy="392027"/>
          </a:xfrm>
          <a:prstGeom prst="rect">
            <a:avLst/>
          </a:prstGeom>
        </p:spPr>
      </p:pic>
      <p:pic>
        <p:nvPicPr>
          <p:cNvPr id="16" name="图片 15"/>
          <p:cNvPicPr>
            <a:picLocks noChangeAspect="1"/>
          </p:cNvPicPr>
          <p:nvPr/>
        </p:nvPicPr>
        <p:blipFill rotWithShape="1">
          <a:blip r:embed="rId5"/>
          <a:srcRect b="53931"/>
          <a:stretch>
            <a:fillRect/>
          </a:stretch>
        </p:blipFill>
        <p:spPr>
          <a:xfrm>
            <a:off x="477886" y="3013095"/>
            <a:ext cx="7641263" cy="333000"/>
          </a:xfrm>
          <a:prstGeom prst="rect">
            <a:avLst/>
          </a:prstGeom>
        </p:spPr>
      </p:pic>
      <p:pic>
        <p:nvPicPr>
          <p:cNvPr id="18" name="图片 17"/>
          <p:cNvPicPr>
            <a:picLocks noChangeAspect="1"/>
          </p:cNvPicPr>
          <p:nvPr/>
        </p:nvPicPr>
        <p:blipFill rotWithShape="1">
          <a:blip r:embed="rId6"/>
          <a:srcRect b="83354"/>
          <a:stretch>
            <a:fillRect/>
          </a:stretch>
        </p:blipFill>
        <p:spPr>
          <a:xfrm>
            <a:off x="512213" y="3868632"/>
            <a:ext cx="8175968" cy="436192"/>
          </a:xfrm>
          <a:prstGeom prst="rect">
            <a:avLst/>
          </a:prstGeom>
        </p:spPr>
      </p:pic>
      <p:pic>
        <p:nvPicPr>
          <p:cNvPr id="5" name="图片 4"/>
          <p:cNvPicPr>
            <a:picLocks noChangeAspect="1"/>
          </p:cNvPicPr>
          <p:nvPr/>
        </p:nvPicPr>
        <p:blipFill>
          <a:blip r:embed="rId7"/>
          <a:stretch>
            <a:fillRect/>
          </a:stretch>
        </p:blipFill>
        <p:spPr>
          <a:xfrm>
            <a:off x="876653" y="4335325"/>
            <a:ext cx="7691752" cy="1874755"/>
          </a:xfrm>
          <a:prstGeom prst="rect">
            <a:avLst/>
          </a:prstGeom>
        </p:spPr>
      </p:pic>
      <p:pic>
        <p:nvPicPr>
          <p:cNvPr id="9" name="图片 8"/>
          <p:cNvPicPr>
            <a:picLocks noChangeAspect="1"/>
          </p:cNvPicPr>
          <p:nvPr/>
        </p:nvPicPr>
        <p:blipFill>
          <a:blip r:embed="rId8"/>
          <a:stretch>
            <a:fillRect/>
          </a:stretch>
        </p:blipFill>
        <p:spPr>
          <a:xfrm>
            <a:off x="849867" y="3413545"/>
            <a:ext cx="7269282" cy="376229"/>
          </a:xfrm>
          <a:prstGeom prst="rect">
            <a:avLst/>
          </a:prstGeom>
        </p:spPr>
      </p:pic>
      <p:pic>
        <p:nvPicPr>
          <p:cNvPr id="8" name="图片 7"/>
          <p:cNvPicPr>
            <a:picLocks noChangeAspect="1"/>
          </p:cNvPicPr>
          <p:nvPr/>
        </p:nvPicPr>
        <p:blipFill>
          <a:blip r:embed="rId9"/>
          <a:stretch>
            <a:fillRect/>
          </a:stretch>
        </p:blipFill>
        <p:spPr>
          <a:xfrm>
            <a:off x="5413823" y="1160327"/>
            <a:ext cx="6747062" cy="3983205"/>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dissolve">
                                      <p:cBhvr>
                                        <p:cTn id="11" dur="500"/>
                                        <p:tgtEl>
                                          <p:spTgt spid="12"/>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dissolve">
                                      <p:cBhvr>
                                        <p:cTn id="20" dur="500"/>
                                        <p:tgtEl>
                                          <p:spTgt spid="16"/>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dissolve">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18"/>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dissolve">
                                      <p:cBhvr>
                                        <p:cTn id="34" dur="500"/>
                                        <p:tgtEl>
                                          <p:spTgt spid="5"/>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8"/>
                                        </p:tgtEl>
                                        <p:attrNameLst>
                                          <p:attrName>style.visibility</p:attrName>
                                        </p:attrNameLst>
                                      </p:cBhvr>
                                      <p:to>
                                        <p:strVal val="visible"/>
                                      </p:to>
                                    </p:set>
                                    <p:anim calcmode="lin" valueType="num">
                                      <p:cBhvr additive="base">
                                        <p:cTn id="39" dur="500" fill="hold"/>
                                        <p:tgtEl>
                                          <p:spTgt spid="8"/>
                                        </p:tgtEl>
                                        <p:attrNameLst>
                                          <p:attrName>ppt_x</p:attrName>
                                        </p:attrNameLst>
                                      </p:cBhvr>
                                      <p:tavLst>
                                        <p:tav tm="0">
                                          <p:val>
                                            <p:strVal val="#ppt_x"/>
                                          </p:val>
                                        </p:tav>
                                        <p:tav tm="100000">
                                          <p:val>
                                            <p:strVal val="#ppt_x"/>
                                          </p:val>
                                        </p:tav>
                                      </p:tavLst>
                                    </p:anim>
                                    <p:anim calcmode="lin" valueType="num">
                                      <p:cBhvr additive="base">
                                        <p:cTn id="4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157412" y="219795"/>
            <a:ext cx="4608320"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操作案例</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47625" y="168910"/>
            <a:ext cx="5571490" cy="584775"/>
          </a:xfrm>
          <a:prstGeom prst="rect">
            <a:avLst/>
          </a:prstGeom>
          <a:noFill/>
          <a:ln w="9525">
            <a:noFill/>
          </a:ln>
        </p:spPr>
        <p:txBody>
          <a:bodyPr wrap="square">
            <a:spAutoFit/>
            <a:scene3d>
              <a:camera prst="orthographicFront"/>
              <a:lightRig rig="threePt" dir="t"/>
            </a:scene3d>
          </a:bodyPr>
          <a:lstStyle/>
          <a:p>
            <a:pPr lvl="0">
              <a:lnSpc>
                <a:spcPct val="100000"/>
              </a:lnSpc>
            </a:pP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6</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主成分分析及</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使用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495955" y="397903"/>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7" name="文本框 6"/>
          <p:cNvSpPr txBox="1"/>
          <p:nvPr/>
        </p:nvSpPr>
        <p:spPr>
          <a:xfrm>
            <a:off x="407605" y="1090295"/>
            <a:ext cx="6179574" cy="461665"/>
          </a:xfrm>
          <a:prstGeom prst="rect">
            <a:avLst/>
          </a:prstGeom>
          <a:noFill/>
        </p:spPr>
        <p:txBody>
          <a:bodyPr wrap="square">
            <a:spAutoFit/>
          </a:bodyPr>
          <a:lstStyle/>
          <a:p>
            <a:r>
              <a:rPr lang="zh-CN" altLang="en-US" sz="2400" b="1" dirty="0"/>
              <a:t>案例</a:t>
            </a:r>
            <a:r>
              <a:rPr lang="en-US" altLang="zh-CN" sz="2400" b="1" dirty="0"/>
              <a:t>6--</a:t>
            </a:r>
            <a:r>
              <a:rPr lang="zh-CN" altLang="en-US" sz="2400" b="1" dirty="0"/>
              <a:t>地区电信业发展的主成分分析</a:t>
            </a:r>
          </a:p>
        </p:txBody>
      </p:sp>
      <p:pic>
        <p:nvPicPr>
          <p:cNvPr id="8" name="图片 7"/>
          <p:cNvPicPr>
            <a:picLocks noChangeAspect="1"/>
          </p:cNvPicPr>
          <p:nvPr/>
        </p:nvPicPr>
        <p:blipFill rotWithShape="1">
          <a:blip r:embed="rId3"/>
          <a:srcRect t="19107"/>
          <a:stretch>
            <a:fillRect/>
          </a:stretch>
        </p:blipFill>
        <p:spPr>
          <a:xfrm>
            <a:off x="407605" y="1684675"/>
            <a:ext cx="4410046" cy="288430"/>
          </a:xfrm>
          <a:prstGeom prst="rect">
            <a:avLst/>
          </a:prstGeom>
        </p:spPr>
      </p:pic>
      <p:sp>
        <p:nvSpPr>
          <p:cNvPr id="17" name="文本框 16"/>
          <p:cNvSpPr txBox="1"/>
          <p:nvPr/>
        </p:nvSpPr>
        <p:spPr>
          <a:xfrm>
            <a:off x="531150" y="5203186"/>
            <a:ext cx="5087965" cy="1015663"/>
          </a:xfrm>
          <a:prstGeom prst="rect">
            <a:avLst/>
          </a:prstGeom>
          <a:noFill/>
        </p:spPr>
        <p:txBody>
          <a:bodyPr wrap="square">
            <a:spAutoFit/>
          </a:bodyPr>
          <a:lstStyle/>
          <a:p>
            <a:r>
              <a:rPr lang="zh-CN" altLang="en-US" sz="2000" dirty="0">
                <a:latin typeface="微软雅黑" panose="020B0503020204020204" pitchFamily="2" charset="-122"/>
                <a:ea typeface="微软雅黑" panose="020B0503020204020204" pitchFamily="2" charset="-122"/>
              </a:rPr>
              <a:t>我们发现可以提取两个主要成分，这两个成分占全部的</a:t>
            </a:r>
            <a:r>
              <a:rPr lang="en-US" altLang="zh-CN" sz="2000" dirty="0">
                <a:latin typeface="微软雅黑" panose="020B0503020204020204" pitchFamily="2" charset="-122"/>
                <a:ea typeface="微软雅黑" panose="020B0503020204020204" pitchFamily="2" charset="-122"/>
              </a:rPr>
              <a:t>96.14%</a:t>
            </a:r>
            <a:r>
              <a:rPr lang="zh-CN" altLang="en-US" sz="2000" dirty="0">
                <a:latin typeface="微软雅黑" panose="020B0503020204020204" pitchFamily="2" charset="-122"/>
                <a:ea typeface="微软雅黑" panose="020B0503020204020204" pitchFamily="2" charset="-122"/>
              </a:rPr>
              <a:t>，可以说是基本代表了全部指标的信息量。</a:t>
            </a:r>
          </a:p>
        </p:txBody>
      </p:sp>
      <p:sp>
        <p:nvSpPr>
          <p:cNvPr id="23" name="文本框 22"/>
          <p:cNvSpPr txBox="1"/>
          <p:nvPr/>
        </p:nvSpPr>
        <p:spPr>
          <a:xfrm>
            <a:off x="5981311" y="4489363"/>
            <a:ext cx="6179574" cy="2308324"/>
          </a:xfrm>
          <a:prstGeom prst="rect">
            <a:avLst/>
          </a:prstGeom>
          <a:noFill/>
        </p:spPr>
        <p:txBody>
          <a:bodyPr wrap="square">
            <a:spAutoFit/>
          </a:bodyPr>
          <a:lstStyle/>
          <a:p>
            <a:r>
              <a:rPr lang="zh-CN" altLang="en-US" dirty="0"/>
              <a:t>第一个主成分</a:t>
            </a:r>
            <a:r>
              <a:rPr lang="en-US" altLang="zh-CN" dirty="0"/>
              <a:t>PC1</a:t>
            </a:r>
            <a:r>
              <a:rPr lang="zh-CN" altLang="en-US" dirty="0"/>
              <a:t>主要由</a:t>
            </a:r>
            <a:r>
              <a:rPr lang="en-US" altLang="zh-CN" dirty="0"/>
              <a:t>X1</a:t>
            </a:r>
            <a:r>
              <a:rPr lang="zh-CN" altLang="en-US" dirty="0"/>
              <a:t>（电信业务总量），</a:t>
            </a:r>
            <a:r>
              <a:rPr lang="en-US" altLang="zh-CN" dirty="0"/>
              <a:t>X4</a:t>
            </a:r>
            <a:r>
              <a:rPr lang="zh-CN" altLang="en-US" dirty="0"/>
              <a:t>（国际互联网络用户），</a:t>
            </a:r>
            <a:r>
              <a:rPr lang="en-US" altLang="zh-CN" dirty="0"/>
              <a:t>X5</a:t>
            </a:r>
            <a:r>
              <a:rPr lang="zh-CN" altLang="en-US" dirty="0"/>
              <a:t>（互联网用户使用时长），</a:t>
            </a:r>
            <a:r>
              <a:rPr lang="en-US" altLang="zh-CN" dirty="0"/>
              <a:t>X6</a:t>
            </a:r>
            <a:r>
              <a:rPr lang="zh-CN" altLang="en-US" dirty="0"/>
              <a:t>（长途电话通话量），</a:t>
            </a:r>
            <a:r>
              <a:rPr lang="en-US" altLang="zh-CN" dirty="0"/>
              <a:t>X7</a:t>
            </a:r>
            <a:r>
              <a:rPr lang="zh-CN" altLang="en-US" dirty="0"/>
              <a:t>（长途电话通话时长决定），这</a:t>
            </a:r>
            <a:r>
              <a:rPr lang="en-US" altLang="zh-CN" dirty="0"/>
              <a:t>5</a:t>
            </a:r>
            <a:r>
              <a:rPr lang="zh-CN" altLang="en-US" dirty="0"/>
              <a:t>个指标是总量因素，说明一个城市的电信业规模和电信通信业务发展水平。</a:t>
            </a:r>
            <a:endParaRPr lang="en-US" altLang="zh-CN" dirty="0"/>
          </a:p>
          <a:p>
            <a:r>
              <a:rPr lang="zh-CN" altLang="en-US" dirty="0"/>
              <a:t>第二个主成分</a:t>
            </a:r>
            <a:r>
              <a:rPr lang="en-US" altLang="zh-CN" dirty="0"/>
              <a:t>PC22</a:t>
            </a:r>
            <a:r>
              <a:rPr lang="zh-CN" altLang="en-US" dirty="0"/>
              <a:t>主要由</a:t>
            </a:r>
            <a:r>
              <a:rPr lang="en-US" altLang="zh-CN" dirty="0"/>
              <a:t>XX2</a:t>
            </a:r>
            <a:r>
              <a:rPr lang="zh-CN" altLang="en-US" dirty="0"/>
              <a:t>（每百人拥有固定电话数），</a:t>
            </a:r>
            <a:r>
              <a:rPr lang="en-US" altLang="zh-CN" dirty="0"/>
              <a:t>XX3</a:t>
            </a:r>
            <a:r>
              <a:rPr lang="zh-CN" altLang="en-US" dirty="0"/>
              <a:t>（每百人拥有移动电话数决定）。这两个指标是平均量成分，反映了电信行业中的电话人均普及情况。</a:t>
            </a:r>
          </a:p>
        </p:txBody>
      </p:sp>
      <p:pic>
        <p:nvPicPr>
          <p:cNvPr id="5" name="图片 4"/>
          <p:cNvPicPr>
            <a:picLocks noChangeAspect="1"/>
          </p:cNvPicPr>
          <p:nvPr/>
        </p:nvPicPr>
        <p:blipFill>
          <a:blip r:embed="rId4"/>
          <a:stretch>
            <a:fillRect/>
          </a:stretch>
        </p:blipFill>
        <p:spPr>
          <a:xfrm>
            <a:off x="567556" y="2009947"/>
            <a:ext cx="5321300" cy="457200"/>
          </a:xfrm>
          <a:prstGeom prst="rect">
            <a:avLst/>
          </a:prstGeom>
        </p:spPr>
      </p:pic>
      <p:pic>
        <p:nvPicPr>
          <p:cNvPr id="6" name="图片 5"/>
          <p:cNvPicPr>
            <a:picLocks noChangeAspect="1"/>
          </p:cNvPicPr>
          <p:nvPr/>
        </p:nvPicPr>
        <p:blipFill>
          <a:blip r:embed="rId5"/>
          <a:stretch>
            <a:fillRect/>
          </a:stretch>
        </p:blipFill>
        <p:spPr>
          <a:xfrm>
            <a:off x="545982" y="2547386"/>
            <a:ext cx="5177370" cy="2424663"/>
          </a:xfrm>
          <a:prstGeom prst="rect">
            <a:avLst/>
          </a:prstGeom>
        </p:spPr>
      </p:pic>
      <p:pic>
        <p:nvPicPr>
          <p:cNvPr id="9" name="图片 8"/>
          <p:cNvPicPr>
            <a:picLocks noChangeAspect="1"/>
          </p:cNvPicPr>
          <p:nvPr/>
        </p:nvPicPr>
        <p:blipFill>
          <a:blip r:embed="rId6"/>
          <a:stretch>
            <a:fillRect/>
          </a:stretch>
        </p:blipFill>
        <p:spPr>
          <a:xfrm>
            <a:off x="6888055" y="1511322"/>
            <a:ext cx="3672255" cy="2905716"/>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 presetClass="entr" presetSubtype="1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checkerboard(across)">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5" presetClass="entr" presetSubtype="10"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checkerboard(across)">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157412" y="219795"/>
            <a:ext cx="4608320"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操作案例</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47625" y="168910"/>
            <a:ext cx="5571490" cy="584775"/>
          </a:xfrm>
          <a:prstGeom prst="rect">
            <a:avLst/>
          </a:prstGeom>
          <a:noFill/>
          <a:ln w="9525">
            <a:noFill/>
          </a:ln>
        </p:spPr>
        <p:txBody>
          <a:bodyPr wrap="square">
            <a:spAutoFit/>
            <a:scene3d>
              <a:camera prst="orthographicFront"/>
              <a:lightRig rig="threePt" dir="t"/>
            </a:scene3d>
          </a:bodyPr>
          <a:lstStyle/>
          <a:p>
            <a:pPr lvl="0">
              <a:lnSpc>
                <a:spcPct val="100000"/>
              </a:lnSpc>
            </a:pP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6</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主成分分析及</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使用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495955" y="397903"/>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7" name="文本框 6"/>
          <p:cNvSpPr txBox="1"/>
          <p:nvPr/>
        </p:nvSpPr>
        <p:spPr>
          <a:xfrm>
            <a:off x="407605" y="1090295"/>
            <a:ext cx="6179574" cy="461665"/>
          </a:xfrm>
          <a:prstGeom prst="rect">
            <a:avLst/>
          </a:prstGeom>
          <a:noFill/>
        </p:spPr>
        <p:txBody>
          <a:bodyPr wrap="square">
            <a:spAutoFit/>
          </a:bodyPr>
          <a:lstStyle/>
          <a:p>
            <a:r>
              <a:rPr lang="zh-CN" altLang="en-US" sz="2400" b="1" dirty="0"/>
              <a:t>案例</a:t>
            </a:r>
            <a:r>
              <a:rPr lang="en-US" altLang="zh-CN" sz="2400" b="1" dirty="0"/>
              <a:t>6--</a:t>
            </a:r>
            <a:r>
              <a:rPr lang="zh-CN" altLang="en-US" sz="2400" b="1" dirty="0"/>
              <a:t>地区电信业发展的主成分分析</a:t>
            </a:r>
          </a:p>
        </p:txBody>
      </p:sp>
      <p:sp>
        <p:nvSpPr>
          <p:cNvPr id="24" name="文本框 23"/>
          <p:cNvSpPr txBox="1"/>
          <p:nvPr/>
        </p:nvSpPr>
        <p:spPr>
          <a:xfrm>
            <a:off x="5619115" y="5765760"/>
            <a:ext cx="6179574" cy="923330"/>
          </a:xfrm>
          <a:prstGeom prst="rect">
            <a:avLst/>
          </a:prstGeom>
          <a:noFill/>
        </p:spPr>
        <p:txBody>
          <a:bodyPr wrap="square">
            <a:spAutoFit/>
          </a:bodyPr>
          <a:lstStyle/>
          <a:p>
            <a:r>
              <a:rPr lang="zh-CN" altLang="en-US" dirty="0"/>
              <a:t>第一主成分</a:t>
            </a:r>
            <a:r>
              <a:rPr lang="en-US" altLang="zh-CN" dirty="0"/>
              <a:t>PC1</a:t>
            </a:r>
            <a:r>
              <a:rPr lang="zh-CN" altLang="en-US" dirty="0"/>
              <a:t>和第二主成分</a:t>
            </a:r>
            <a:r>
              <a:rPr lang="en-US" altLang="zh-CN" dirty="0"/>
              <a:t>PC2</a:t>
            </a:r>
            <a:r>
              <a:rPr lang="zh-CN" altLang="en-US" dirty="0"/>
              <a:t>得分最高的均为深圳。而广东各城市排名中稍有争议的是惠州、中山和茂名，根据主成分得分图对地区电信业发展情况进行进一步分析。</a:t>
            </a:r>
          </a:p>
        </p:txBody>
      </p:sp>
      <p:pic>
        <p:nvPicPr>
          <p:cNvPr id="5" name="图片 4"/>
          <p:cNvPicPr>
            <a:picLocks noChangeAspect="1"/>
          </p:cNvPicPr>
          <p:nvPr/>
        </p:nvPicPr>
        <p:blipFill rotWithShape="1">
          <a:blip r:embed="rId3"/>
          <a:srcRect b="23437"/>
          <a:stretch>
            <a:fillRect/>
          </a:stretch>
        </p:blipFill>
        <p:spPr>
          <a:xfrm>
            <a:off x="767630" y="1559007"/>
            <a:ext cx="3952315" cy="4873206"/>
          </a:xfrm>
          <a:prstGeom prst="rect">
            <a:avLst/>
          </a:prstGeom>
        </p:spPr>
      </p:pic>
      <p:pic>
        <p:nvPicPr>
          <p:cNvPr id="6" name="图片 5"/>
          <p:cNvPicPr>
            <a:picLocks noChangeAspect="1"/>
          </p:cNvPicPr>
          <p:nvPr/>
        </p:nvPicPr>
        <p:blipFill>
          <a:blip r:embed="rId4"/>
          <a:stretch>
            <a:fillRect/>
          </a:stretch>
        </p:blipFill>
        <p:spPr>
          <a:xfrm>
            <a:off x="7468329" y="1380510"/>
            <a:ext cx="2197100" cy="342900"/>
          </a:xfrm>
          <a:prstGeom prst="rect">
            <a:avLst/>
          </a:prstGeom>
        </p:spPr>
      </p:pic>
      <p:pic>
        <p:nvPicPr>
          <p:cNvPr id="8" name="图片 7"/>
          <p:cNvPicPr>
            <a:picLocks noChangeAspect="1"/>
          </p:cNvPicPr>
          <p:nvPr/>
        </p:nvPicPr>
        <p:blipFill>
          <a:blip r:embed="rId5"/>
          <a:stretch>
            <a:fillRect/>
          </a:stretch>
        </p:blipFill>
        <p:spPr>
          <a:xfrm>
            <a:off x="5619115" y="1795699"/>
            <a:ext cx="5407416" cy="4010736"/>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2" presetClass="entr" presetSubtype="4"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p:tgtEl>
                                          <p:spTgt spid="6"/>
                                        </p:tgtEl>
                                        <p:attrNameLst>
                                          <p:attrName>ppt_y</p:attrName>
                                        </p:attrNameLst>
                                      </p:cBhvr>
                                      <p:tavLst>
                                        <p:tav tm="0">
                                          <p:val>
                                            <p:strVal val="#ppt_y+#ppt_h*1.125000"/>
                                          </p:val>
                                        </p:tav>
                                        <p:tav tm="100000">
                                          <p:val>
                                            <p:strVal val="#ppt_y"/>
                                          </p:val>
                                        </p:tav>
                                      </p:tavLst>
                                    </p:anim>
                                    <p:animEffect transition="in" filter="wipe(up)">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arn(inVertic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dissolve">
                                      <p:cBhvr>
                                        <p:cTn id="2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6" name="矩形 5"/>
          <p:cNvSpPr/>
          <p:nvPr/>
        </p:nvSpPr>
        <p:spPr>
          <a:xfrm>
            <a:off x="2927780" y="2276920"/>
            <a:ext cx="6417141" cy="2585323"/>
          </a:xfrm>
          <a:prstGeom prst="rect">
            <a:avLst/>
          </a:prstGeom>
          <a:noFill/>
        </p:spPr>
        <p:txBody>
          <a:bodyPr wrap="none" lIns="91440" tIns="45720" rIns="91440" bIns="45720">
            <a:spAutoFit/>
          </a:bodyPr>
          <a:lstStyle/>
          <a:p>
            <a:pPr algn="ctr"/>
            <a:r>
              <a:rPr lang="zh-CN" altLang="en-US" sz="5400" b="1" cap="none" spc="0" dirty="0">
                <a:ln w="22225">
                  <a:solidFill>
                    <a:schemeClr val="accent2"/>
                  </a:solidFill>
                  <a:prstDash val="solid"/>
                </a:ln>
                <a:solidFill>
                  <a:srgbClr val="66CCFF"/>
                </a:solidFill>
                <a:effectLst/>
              </a:rPr>
              <a:t>第</a:t>
            </a:r>
            <a:r>
              <a:rPr lang="en-US" altLang="zh-CN" sz="5400" b="1" dirty="0">
                <a:ln w="22225">
                  <a:solidFill>
                    <a:schemeClr val="accent2"/>
                  </a:solidFill>
                  <a:prstDash val="solid"/>
                </a:ln>
                <a:solidFill>
                  <a:srgbClr val="66CCFF"/>
                </a:solidFill>
              </a:rPr>
              <a:t>6</a:t>
            </a:r>
            <a:r>
              <a:rPr lang="zh-CN" altLang="en-US" sz="5400" b="1" cap="none" spc="0" dirty="0">
                <a:ln w="22225">
                  <a:solidFill>
                    <a:schemeClr val="accent2"/>
                  </a:solidFill>
                  <a:prstDash val="solid"/>
                </a:ln>
                <a:solidFill>
                  <a:srgbClr val="66CCFF"/>
                </a:solidFill>
                <a:effectLst/>
              </a:rPr>
              <a:t>章主成分分析</a:t>
            </a:r>
            <a:endParaRPr lang="en-US" altLang="zh-CN" sz="5400" b="1" cap="none" spc="0" dirty="0">
              <a:ln w="22225">
                <a:solidFill>
                  <a:schemeClr val="accent2"/>
                </a:solidFill>
                <a:prstDash val="solid"/>
              </a:ln>
              <a:solidFill>
                <a:srgbClr val="66CCFF"/>
              </a:solidFill>
              <a:effectLst/>
            </a:endParaRPr>
          </a:p>
          <a:p>
            <a:pPr algn="ctr"/>
            <a:r>
              <a:rPr lang="zh-CN" altLang="en-US" sz="5400" b="1" cap="none" spc="0" dirty="0">
                <a:ln w="22225">
                  <a:solidFill>
                    <a:schemeClr val="accent2"/>
                  </a:solidFill>
                  <a:prstDash val="solid"/>
                </a:ln>
                <a:solidFill>
                  <a:srgbClr val="66CCFF"/>
                </a:solidFill>
                <a:effectLst/>
              </a:rPr>
              <a:t>就讲到这里</a:t>
            </a:r>
            <a:endParaRPr lang="en-US" altLang="zh-CN" sz="5400" b="1" cap="none" spc="0" dirty="0">
              <a:ln w="22225">
                <a:solidFill>
                  <a:schemeClr val="accent2"/>
                </a:solidFill>
                <a:prstDash val="solid"/>
              </a:ln>
              <a:solidFill>
                <a:srgbClr val="66CCFF"/>
              </a:solidFill>
              <a:effectLst/>
            </a:endParaRPr>
          </a:p>
          <a:p>
            <a:pPr algn="ctr"/>
            <a:r>
              <a:rPr lang="zh-CN" altLang="en-US" sz="5400" b="1" cap="none" spc="0" dirty="0">
                <a:ln w="22225">
                  <a:solidFill>
                    <a:schemeClr val="accent2"/>
                  </a:solidFill>
                  <a:prstDash val="solid"/>
                </a:ln>
                <a:solidFill>
                  <a:srgbClr val="66CCFF"/>
                </a:solidFill>
                <a:effectLst/>
              </a:rPr>
              <a:t>欢迎大家继续学习！</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98acd5b9-ed79-4ce8-a3d8-cbf60917e7b9"/>
  <p:tag name="COMMONDATA" val="eyJoZGlkIjoiZjZiNTVmYWQxZDAwNTY5YjQ0ZjYxYTE3OGU0OTdhODE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自定义设计方案">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Calibri"/>
        <a:ea typeface="宋体"/>
        <a:cs typeface=""/>
      </a:majorFont>
      <a:minorFont>
        <a:latin typeface="Calibri"/>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自定义设计方案">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Calibri"/>
        <a:ea typeface="宋体"/>
        <a:cs typeface=""/>
      </a:majorFont>
      <a:minorFont>
        <a:latin typeface="Calibri"/>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自定义设计方案">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Calibri"/>
        <a:ea typeface="宋体"/>
        <a:cs typeface=""/>
      </a:majorFont>
      <a:minorFont>
        <a:latin typeface="Calibri"/>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1164</TotalTime>
  <Words>1041</Words>
  <Application>Microsoft Macintosh PowerPoint</Application>
  <PresentationFormat>宽屏</PresentationFormat>
  <Paragraphs>144</Paragraphs>
  <Slides>31</Slides>
  <Notes>30</Notes>
  <HiddenSlides>0</HiddenSlides>
  <MMClips>0</MMClips>
  <ScaleCrop>false</ScaleCrop>
  <HeadingPairs>
    <vt:vector size="6" baseType="variant">
      <vt:variant>
        <vt:lpstr>已用的字体</vt:lpstr>
      </vt:variant>
      <vt:variant>
        <vt:i4>6</vt:i4>
      </vt:variant>
      <vt:variant>
        <vt:lpstr>主题</vt:lpstr>
      </vt:variant>
      <vt:variant>
        <vt:i4>4</vt:i4>
      </vt:variant>
      <vt:variant>
        <vt:lpstr>幻灯片标题</vt:lpstr>
      </vt:variant>
      <vt:variant>
        <vt:i4>31</vt:i4>
      </vt:variant>
    </vt:vector>
  </HeadingPairs>
  <TitlesOfParts>
    <vt:vector size="41" baseType="lpstr">
      <vt:lpstr>宋体</vt:lpstr>
      <vt:lpstr>微软雅黑</vt:lpstr>
      <vt:lpstr>Arial</vt:lpstr>
      <vt:lpstr>Calibri</vt:lpstr>
      <vt:lpstr>Calibri Light</vt:lpstr>
      <vt:lpstr>Wingdings</vt:lpstr>
      <vt:lpstr>自定义设计方案</vt:lpstr>
      <vt:lpstr>3_自定义设计方案</vt:lpstr>
      <vt:lpstr>2_自定义设计方案</vt:lpstr>
      <vt:lpstr>1_自定义设计方案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你随便坐  我学学 做</dc:title>
  <dc:creator>Course contributors</dc:creator>
  <cp:lastModifiedBy>Course contributors</cp:lastModifiedBy>
  <cp:revision>235</cp:revision>
  <dcterms:created xsi:type="dcterms:W3CDTF">2015-05-24T15:13:00Z</dcterms:created>
  <dcterms:modified xsi:type="dcterms:W3CDTF">2025-03-10T05:26:03Z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2052-11.1.0.14309</vt:lpwstr>
  </property>
  <property fmtid="{D5CDD505-2E9C-101B-9397-08002B2CF9AE}" pid="3" name="ICV">
    <vt:lpwstr>CBB60063BDAC477CA5730703FDD04F83_12</vt:lpwstr>
  </property>
</Properties>
</file>